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e0642d90c4fb2" /><Relationship Type="http://schemas.openxmlformats.org/officeDocument/2006/relationships/extended-properties" Target="/docProps/app.xml" Id="R0a8def07d4eb471d" /><Relationship Type="http://schemas.openxmlformats.org/officeDocument/2006/relationships/officeDocument" Target="/ppt/presentation.xml" Id="R6b948debf4be4d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315032bcc4d28"/>
  </p:sldMasterIdLst>
  <p:notesMasterIdLst>
    <p:notesMasterId xmlns:r="http://schemas.openxmlformats.org/officeDocument/2006/relationships" r:id="R963930d736c34f6c"/>
  </p:notesMasterIdLst>
  <p:sldIdLst>
    <p:sldId xmlns:r="http://schemas.openxmlformats.org/officeDocument/2006/relationships" id="256" r:id="R36b98185047444d6"/>
    <p:sldId xmlns:r="http://schemas.openxmlformats.org/officeDocument/2006/relationships" id="257" r:id="R67ff97cc683e4a69"/>
    <p:sldId xmlns:r="http://schemas.openxmlformats.org/officeDocument/2006/relationships" id="258" r:id="R3069425ac53646c1"/>
    <p:sldId xmlns:r="http://schemas.openxmlformats.org/officeDocument/2006/relationships" id="259" r:id="Rbdd6a1751b7f4567"/>
    <p:sldId xmlns:r="http://schemas.openxmlformats.org/officeDocument/2006/relationships" id="260" r:id="Rda3c45308607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ce3b8566364297" /><Relationship Type="http://schemas.openxmlformats.org/officeDocument/2006/relationships/slideMaster" Target="/ppt/slideMasters/slideMaster1.xml" Id="Ra38315032bcc4d28" /><Relationship Type="http://schemas.openxmlformats.org/officeDocument/2006/relationships/notesMaster" Target="/ppt/notesMasters/notesMaster1.xml" Id="R963930d736c34f6c" /><Relationship Type="http://schemas.openxmlformats.org/officeDocument/2006/relationships/presProps" Target="/ppt/presProps.xml" Id="Re61ceaa9efa64f1c" /><Relationship Type="http://schemas.openxmlformats.org/officeDocument/2006/relationships/tableStyles" Target="/ppt/tableStyles.xml" Id="R7a46fc977b9941d8" /><Relationship Type="http://schemas.openxmlformats.org/officeDocument/2006/relationships/slide" Target="/ppt/slides/slide1.xml" Id="R36b98185047444d6" /><Relationship Type="http://schemas.openxmlformats.org/officeDocument/2006/relationships/slide" Target="/ppt/slides/slide2.xml" Id="R67ff97cc683e4a69" /><Relationship Type="http://schemas.openxmlformats.org/officeDocument/2006/relationships/slide" Target="/ppt/slides/slide3.xml" Id="R3069425ac53646c1" /><Relationship Type="http://schemas.openxmlformats.org/officeDocument/2006/relationships/slide" Target="/ppt/slides/slide4.xml" Id="Rbdd6a1751b7f4567" /><Relationship Type="http://schemas.openxmlformats.org/officeDocument/2006/relationships/slide" Target="/ppt/slides/slide5.xml" Id="Rda3c45308607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90ab809cb40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cdf0d379d4bb6" /><Relationship Type="http://schemas.openxmlformats.org/officeDocument/2006/relationships/notesMaster" Target="/ppt/notesMasters/notesMaster1.xml" Id="Ree03b85375e4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3c0c2adb1f4f79" /><Relationship Type="http://schemas.openxmlformats.org/officeDocument/2006/relationships/notesMaster" Target="/ppt/notesMasters/notesMaster1.xml" Id="R1c9f132859bc44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2f908fb88490e" /><Relationship Type="http://schemas.openxmlformats.org/officeDocument/2006/relationships/notesMaster" Target="/ppt/notesMasters/notesMaster1.xml" Id="R18010907ea0e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498ca03724fd6" /><Relationship Type="http://schemas.openxmlformats.org/officeDocument/2006/relationships/notesMaster" Target="/ppt/notesMasters/notesMaster1.xml" Id="Re762886e3408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ef21d7d9f45bd" /><Relationship Type="http://schemas.openxmlformats.org/officeDocument/2006/relationships/notesMaster" Target="/ppt/notesMasters/notesMaster1.xml" Id="R0f00eba468a9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a658d441741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385f215e947ed" /><Relationship Type="http://schemas.openxmlformats.org/officeDocument/2006/relationships/slideLayout" Target="/ppt/slideLayouts/slideLayout1.xml" Id="R6514e92ce79348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14e92ce79348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dd6629ed24867" /><Relationship Type="http://schemas.openxmlformats.org/officeDocument/2006/relationships/notesSlide" Target="/ppt/notesSlides/notesSlide1.xml" Id="Ra902dda40e7e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3e91ad71043ca" /><Relationship Type="http://schemas.openxmlformats.org/officeDocument/2006/relationships/chart" Target="/ppt/slides/charts/chart1.xml" Id="R32d1a41e16484c32" /><Relationship Type="http://schemas.openxmlformats.org/officeDocument/2006/relationships/notesSlide" Target="/ppt/notesSlides/notesSlide2.xml" Id="Rc3605c212886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520e309134253" /><Relationship Type="http://schemas.openxmlformats.org/officeDocument/2006/relationships/notesSlide" Target="/ppt/notesSlides/notesSlide3.xml" Id="Rb16a3c18458645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4258f4ded409c" /><Relationship Type="http://schemas.openxmlformats.org/officeDocument/2006/relationships/notesSlide" Target="/ppt/notesSlides/notesSlide4.xml" Id="Rd754f5d0cbe248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2fcb263454d27" /><Relationship Type="http://schemas.openxmlformats.org/officeDocument/2006/relationships/notesSlide" Target="/ppt/notesSlides/notesSlide5.xml" Id="Re31999efaf6646a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Unfavorable JPY 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Receipt timing</c:v>
              </c:pt>
              <c:pt idx="1">
                <c:v>Vendor timing</c:v>
              </c:pt>
              <c:pt idx="2">
                <c:v>Bank fees</c:v>
              </c:pt>
              <c:pt idx="3">
                <c:v>FX</c:v>
              </c:pt>
            </c:strLit>
          </c:cat>
          <c:val>
            <c:numLit>
              <c:formatCode>General</c:formatCode>
              <c:ptCount val="4"/>
              <c:pt idx="0">
                <c:v>7.2</c:v>
              </c:pt>
              <c:pt idx="1">
                <c:v>3.1</c:v>
              </c:pt>
              <c:pt idx="2">
                <c:v>1.3</c:v>
              </c:pt>
              <c:pt idx="3">
                <c:v>0.8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F923-99CD-4BB5-AF06-CB3BBE69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FY2026 Q1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1E068-5CDC-431D-80B4-D249522F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36E"/>
                </a:solidFill>
              </a:defRPr>
            </a:pPr>
            <a:r>
              <a:rPr sz="1875" b="0">
                <a:solidFill>
                  <a:srgbClr val="59636E"/>
                </a:solidFill>
              </a:rPr>
              <a:t>A completed close, a reconciled cash story, and clear owner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93420-230B-4131-A322-7ACAFD9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"/>
            <a:ext cx="4267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3AC99-A9A1-4561-9A4F-499A07B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90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MARCH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DE0B9-2FE9-42E0-9375-D2C4433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Completed</a:t>
            </a:r>
          </a:p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2026-04-06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0CA1B-4578-4900-9FD9-E51FC58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</a:defRPr>
            </a:pPr>
            <a:r>
              <a:rPr sz="1200" b="1">
                <a:solidFill>
                  <a:srgbClr val="59636E"/>
                </a:solidFill>
              </a:rPr>
              <a:t>Q1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0A3FB-755C-4152-8A9B-244180D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JPY 1,842m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2984B-F534-4E4C-A1E7-1F62762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</a:defRPr>
            </a:pPr>
            <a:r>
              <a:rPr sz="1200" b="1">
                <a:solidFill>
                  <a:srgbClr val="59636E"/>
                </a:solidFill>
              </a:rPr>
              <a:t>Q1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918C2-FBE1-4E1A-8209-D4A57497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JPY 222m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9328C-12DC-4A08-A535-24F2BF91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Cash variance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A2027-6093-42B6-A3F8-6143048A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JPY 12.4m unfavorable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1954D-13F6-4490-A479-2B21194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9BA0D-6F80-4DD0-ACA0-5E341A91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CEDAR WORKS  |  FY2026 Q1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2D1B2-10F5-46BF-AE11-3A08974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98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FE5DE-D435-40AE-8A76-A884142C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Cash needs a sharper operating response.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7C686-C248-40A9-A195-361CAE4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The JPY 12.4m unfavorable variance is fully explained and points to timing actions owned across Finance.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6667500" cy="3133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1a41e16484c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4A1CF-9424-45AA-A538-8DCB3BF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69570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B8147-BFEF-4AA7-BDB7-9760614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WHAT THE BRIDGE SAYS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F0204-ADDA-4758-8F0E-76A40D71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7.2m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7DDA2-F9F7-4BC1-AF90-A4DB3F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Receipt timing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Treasury Analyst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55AC3-651B-4C4E-8B92-CF59AA19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3.1m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7D7EA-0532-4297-AB2B-E26BB74B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528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Vendor timing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AP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7CE05-A0AF-47FD-8009-DE7874C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95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1.3m + 0.8m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B31F6-4B32-46F1-BD20-47D4F4D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Bank fees and FX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55F17-84D6-4E1F-A5F5-0FAAEFC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95AF1-646B-4B52-8DD9-06ECA35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CEDAR WORKS  |  FY2026 Q1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3087C-54E7-40DE-99E3-98C1E7E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3244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0BFADE-87AF-4535-A88E-E57D219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Evidence, review, and publication follow one close rhythm.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59E26-9F4D-43AB-BDAF-29DCF3A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The next-cycle sequence keeps decisions visible before the final close package.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C03CE-B41D-4BFB-B74F-D5634784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954ED-3C13-430E-AC18-83192500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E3DC-83C2-4134-92CF-711BC4DD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Lock ledgers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52058-5917-4660-90B6-1EE7FE6B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F4262-7957-4C9A-A005-EC2B8EC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48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</a:defRPr>
            </a:pPr>
            <a:r>
              <a:rPr sz="1350" b="1">
                <a:solidFill>
                  <a:srgbClr val="59636E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CEAA9-4215-462C-A9E1-642A376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E3A2E-5711-4916-91C3-BB29BD9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2B053-0E9E-43A7-88D1-A5BDFE2B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Cash &amp; accruals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B9578-D439-4B1C-A22C-E5E7D901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Treasury Analyst / Department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CE2E6-C6BC-458A-9251-4B91125A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48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</a:defRPr>
            </a:pPr>
            <a:r>
              <a:rPr sz="1350" b="1">
                <a:solidFill>
                  <a:srgbClr val="5963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B4FF1-7759-4D96-9C7D-585B355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74918-15E1-490E-B92F-6E3A9B1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828B9-ED7E-45FF-AEF4-0FA6C87E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80A7C-E6FA-455D-AFCD-2E9AFC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CA951-06BA-44A9-BA67-12ECD65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48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</a:defRPr>
            </a:pPr>
            <a:r>
              <a:rPr sz="1350" b="1">
                <a:solidFill>
                  <a:srgbClr val="59636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ED531-9E61-4325-880C-57E05B4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1BA9A-BF44-4B4F-B3DF-6683574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6121D-4A1C-4CB0-BCDA-C5383BA0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Bridge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92D08-B4D6-4BD2-9E3D-F456EA0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FP&amp;A Lead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46F44-72AD-4AA7-9C11-8EE9414B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48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</a:defRPr>
            </a:pPr>
            <a:r>
              <a:rPr sz="1350" b="1">
                <a:solidFill>
                  <a:srgbClr val="59636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016BE-9C78-4794-8A43-00A4204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A5218-9662-4E47-8294-948B7358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72D8C-2382-495D-83E9-02A09B8A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Package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C855F-312E-4E66-ADA4-211E43C7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6F84E-842A-4B08-9EDF-C542D0A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48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</a:defRPr>
            </a:pPr>
            <a:r>
              <a:rPr sz="1350" b="1">
                <a:solidFill>
                  <a:srgbClr val="59636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35D32-D94C-48A9-BC68-50F41E43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152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2781B-0562-4706-8E6A-77BED5C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</a:defRPr>
            </a:pPr>
            <a:r>
              <a:rPr sz="975" b="1">
                <a:solidFill>
                  <a:srgbClr val="59636E"/>
                </a:solidFill>
              </a:rPr>
              <a:t>APR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01CCB-F5F4-4696-A234-7E3EC59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71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Publish pack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84BEA-DB6C-400F-AA69-8B702EE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</a:defRPr>
            </a:pPr>
            <a:r>
              <a:rPr sz="1125" b="0">
                <a:solidFill>
                  <a:srgbClr val="59636E"/>
                </a:solidFill>
              </a:rPr>
              <a:t>Controller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475136-37AB-4322-AE4B-2780A73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Decision rule: a cash variance above JPY 10.0m unfavorable is escalated to the Controller by 12:00 with a driver view and recovery action.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A92D1-F128-49D8-ACA4-AFC0ED4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D54F65-126C-4D24-B90D-1AA0948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CEDAR WORKS  |  FY2026 Q1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9987E-30DD-456D-A77E-C12FFE8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772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AE38C-9C23-4BB7-9CA6-F5C59AEE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RACI clarifies accountability at every hand-off.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6BD2-7C33-4A24-9767-2E07B867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Accountable roles lead the decision; responsible roles deliver the evidence and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514F-9DFF-49FB-8F99-4180B71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22FC1-F80D-414E-960D-13AAAD8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E67D4-8800-4C32-A0FB-F347B310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D4CA0-C62B-4130-8575-FA19A36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Accountable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30B0-6EDF-4D85-AD74-C8563F83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15346-205B-40F7-8823-A4E6F8C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Responsible contributors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0CE55-ACC6-4D9C-BB3D-B1175237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4E1D6-BD68-44E0-BA39-89AF67B7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Review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5AA67-78E5-49A7-A4F2-C8884772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BF1AF-A42F-422B-860E-F419309B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Cash 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46AE7-7E0D-43CF-AA31-6058057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90037-25F4-4626-92C8-832B9C97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63225-6F08-4BFF-AEF7-F42E9F2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65E14-5CEC-4060-9A79-03FD1939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Treasury Analyst; Accounting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61777-81FE-45D9-97DB-6697614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17EBC-C209-4749-812B-61ABBCED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Variance &gt; JPY 10.0m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AE74B-E7AA-4765-99BD-0E5417DD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A0166-5C0A-4473-9A5C-7E029FBE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Preliminary flash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4E59C-85F5-408B-A3EF-A09C9A6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D7EC9-B670-48EE-8A1E-1BBAFD6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Controller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6DDAB-C5B3-4465-9317-9A2671A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0A4F6-1624-4F72-B4E6-7935D48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52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Accounting Lead; FP&amp;A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11C9A-CEB3-4C8A-A013-E06022B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4A098-59B6-4D60-80AE-017EE3C4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17:00 sign-off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F27A5-23E8-4C7D-A988-3B34866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D2465-BEBF-462C-8801-BE6CAB38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Variance 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33C0C-D652-4D5B-BF51-1BFFA50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0FB0D-46FA-4EC5-9B76-F9783A63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Controller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6E830-D366-4FBE-B659-49C356D6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DFE7C-868E-41B5-987B-6503ADC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624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FP&amp;A Lead; Treasury Analyst; AP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98158A-1AEB-47F3-A3A9-62BC161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82ECE1-A94D-4C93-B45B-652867D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624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Ties to JPY 12.4m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011D03-E44C-48A4-A754-0682084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3EC5DC-4B0D-40F6-A109-EA557D8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Close package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4F2DB-0B09-4C8E-8500-7CB7ED77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405772-28DA-40A6-8723-254DCD3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Controller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70933-70C3-42FE-8EAF-FAEF365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19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017D24-10AC-4AA1-B9AB-26290EB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All Finance leads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67C57-62FA-4D03-9EEC-AC1A916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37B0A2-FE76-49E6-8050-4783877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Reviewer clears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966BA0-C7D8-4F65-AAD7-0B33DA7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EF9AA9-69CC-4060-87C2-30A99728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Town hall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1DEE3-E6C2-47F2-883C-F31E22C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C6F20-A083-4C15-8C05-6062CE9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816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Controller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D623C4-45BA-4AB3-989B-AA65BFE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292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2BB201-D480-413F-9AED-BECF5C1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81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FP&amp;A Lead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B84AAA-4F1D-4348-89BB-82B1631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29200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D1E66B-2DB4-4C4B-9BD3-20D29D4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816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Owners confirm actions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28F732-443D-4CF7-A340-876F6E8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B849E4-5225-4F61-9CB6-1C03FD2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CEDAR WORKS  |  FY2026 Q1 CLOSE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E55CB9-218E-4BD7-9BF3-2BDC8A0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1137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2902B0-409E-494B-B680-537B1DA7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Four actions strengthen the April close cycle.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1E62B-CE1C-4D54-A9D7-F0D5242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Bring the same evidence discipline to operating follow-through.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ACA30-29B2-42E3-B596-59BE5C9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D01AE-DB2E-4C3C-81AB-92723A67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Confirm collections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08BC6-BD18-4266-90D1-6A68AB1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Treasury Analyst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34F8F-684D-4EDD-B223-F28E50C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669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F42B0-5494-4B69-AFF3-F717DF64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By Apr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13CCF-2CC6-4C23-9EE8-1877BD59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CAB23-DA18-4AFC-A2C3-80648C1B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432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Validate vendor settlement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61EF3-FAF6-4E9B-B809-959F92AB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051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AP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D7CA7-1DB0-4869-A49E-9231429F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4ADB9-56FD-45FC-A1D7-D47C2CD0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765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By Apr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E36A1-6CC7-4AFC-8ECD-F8BD1A2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B23C1-768C-4533-9A84-AFD7A4B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Close remaining control exceptions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2BD22-DA3E-4911-94FA-07794557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814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Accounting Lead + Reviewer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4DC53-0BCD-46EC-8E09-F623E93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95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53E1B-C3A2-4E3A-A3E8-656F99D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528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By Apr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9BF49-47D9-4737-A013-170BCA9F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B4EC9-F963-4FB5-90CC-27D5C90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Refresh operating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EA569-5AFB-4516-853E-CB2F409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6E"/>
                </a:solidFill>
              </a:defRPr>
            </a:pPr>
            <a:r>
              <a:rPr sz="1200" b="0">
                <a:solidFill>
                  <a:srgbClr val="59636E"/>
                </a:solidFill>
              </a:rPr>
              <a:t>FP&amp;A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87900-451B-48FF-A762-54D5CD8B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D0FB9-3DC7-4966-AB27-EE7B3E86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291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By Apr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691AC-436E-47F0-8F0B-C3E608EE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13924-84AE-4CE9-8B54-83B7E862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Close criterion for the next cycle: the bridge, ownership, review evidence, and published pack agree on the same story.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FC052-3E57-4CA4-8E01-155E0FDD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A4C6B-A2A9-4059-811C-874019F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CEDAR WORKS  |  FY2026 Q1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62EE0-59B4-4B32-83AE-6487AA7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E"/>
                </a:solidFill>
              </a:defRPr>
            </a:pPr>
            <a:r>
              <a:rPr sz="750" b="1">
                <a:solidFill>
                  <a:srgbClr val="5963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3295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2026-08-23T19:07:37.3630000Z</dcterms:created>
  <dcterms:modified xsi:type="dcterms:W3CDTF">2026-08-23T19:07:37.3630000Z</dcterms:modified>
</coreProperties>
</file>