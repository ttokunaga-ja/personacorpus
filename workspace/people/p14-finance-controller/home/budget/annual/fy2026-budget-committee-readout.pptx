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70177a738b3432c" /><Relationship Type="http://schemas.openxmlformats.org/officeDocument/2006/relationships/extended-properties" Target="/docProps/app.xml" Id="Rde9196c2dcb8457f" /><Relationship Type="http://schemas.openxmlformats.org/officeDocument/2006/relationships/officeDocument" Target="/ppt/presentation.xml" Id="Rbaaa629a10f348e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d23ec94eacd47b9"/>
  </p:sldMasterIdLst>
  <p:notesMasterIdLst>
    <p:notesMasterId xmlns:r="http://schemas.openxmlformats.org/officeDocument/2006/relationships" r:id="R7d54b8b6583044db"/>
  </p:notesMasterIdLst>
  <p:sldIdLst>
    <p:sldId xmlns:r="http://schemas.openxmlformats.org/officeDocument/2006/relationships" id="256" r:id="R42fda235017242b1"/>
    <p:sldId xmlns:r="http://schemas.openxmlformats.org/officeDocument/2006/relationships" id="257" r:id="R803ea40e02c44510"/>
    <p:sldId xmlns:r="http://schemas.openxmlformats.org/officeDocument/2006/relationships" id="258" r:id="R672f566b02a84906"/>
    <p:sldId xmlns:r="http://schemas.openxmlformats.org/officeDocument/2006/relationships" id="259" r:id="Ra412f4ce8c4a414b"/>
    <p:sldId xmlns:r="http://schemas.openxmlformats.org/officeDocument/2006/relationships" id="260" r:id="R2f54969abea9439c"/>
    <p:sldId xmlns:r="http://schemas.openxmlformats.org/officeDocument/2006/relationships" id="261" r:id="Rd8ee9f5df4b84c8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0a0b6fcbc2e4f71" /><Relationship Type="http://schemas.openxmlformats.org/officeDocument/2006/relationships/slideMaster" Target="/ppt/slideMasters/slideMaster1.xml" Id="R4d23ec94eacd47b9" /><Relationship Type="http://schemas.openxmlformats.org/officeDocument/2006/relationships/notesMaster" Target="/ppt/notesMasters/notesMaster1.xml" Id="R7d54b8b6583044db" /><Relationship Type="http://schemas.openxmlformats.org/officeDocument/2006/relationships/presProps" Target="/ppt/presProps.xml" Id="Rf40554083c694d0a" /><Relationship Type="http://schemas.openxmlformats.org/officeDocument/2006/relationships/tableStyles" Target="/ppt/tableStyles.xml" Id="R9f346d924ec1415e" /><Relationship Type="http://schemas.openxmlformats.org/officeDocument/2006/relationships/slide" Target="/ppt/slides/slide1.xml" Id="R42fda235017242b1" /><Relationship Type="http://schemas.openxmlformats.org/officeDocument/2006/relationships/slide" Target="/ppt/slides/slide2.xml" Id="R803ea40e02c44510" /><Relationship Type="http://schemas.openxmlformats.org/officeDocument/2006/relationships/slide" Target="/ppt/slides/slide3.xml" Id="R672f566b02a84906" /><Relationship Type="http://schemas.openxmlformats.org/officeDocument/2006/relationships/slide" Target="/ppt/slides/slide4.xml" Id="Ra412f4ce8c4a414b" /><Relationship Type="http://schemas.openxmlformats.org/officeDocument/2006/relationships/slide" Target="/ppt/slides/slide5.xml" Id="R2f54969abea9439c" /><Relationship Type="http://schemas.openxmlformats.org/officeDocument/2006/relationships/slide" Target="/ppt/slides/slide6.xml" Id="Rd8ee9f5df4b84c8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e0e458dd4ab4ec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eccef3de9ca4375" /><Relationship Type="http://schemas.openxmlformats.org/officeDocument/2006/relationships/notesMaster" Target="/ppt/notesMasters/notesMaster1.xml" Id="R73caed24fbc14be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e8dc829675a4fb7" /><Relationship Type="http://schemas.openxmlformats.org/officeDocument/2006/relationships/notesMaster" Target="/ppt/notesMasters/notesMaster1.xml" Id="Rb811637928a046f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5e6c25dc0db4595" /><Relationship Type="http://schemas.openxmlformats.org/officeDocument/2006/relationships/notesMaster" Target="/ppt/notesMasters/notesMaster1.xml" Id="R6e85bcd1a0fe44a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f8a30a6e1bb444e" /><Relationship Type="http://schemas.openxmlformats.org/officeDocument/2006/relationships/notesMaster" Target="/ppt/notesMasters/notesMaster1.xml" Id="R85615ea34bfc4ed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c75076ad73e4a09" /><Relationship Type="http://schemas.openxmlformats.org/officeDocument/2006/relationships/notesMaster" Target="/ppt/notesMasters/notesMaster1.xml" Id="R16ddb2b040df4e9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8b6667e30d14363" /><Relationship Type="http://schemas.openxmlformats.org/officeDocument/2006/relationships/notesMaster" Target="/ppt/notesMasters/notesMaster1.xml" Id="R8d44b53b29b3418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50d50f644e470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d5e5d3ec04b4ef9" /><Relationship Type="http://schemas.openxmlformats.org/officeDocument/2006/relationships/slideLayout" Target="/ppt/slideLayouts/slideLayout1.xml" Id="R9015ef9d24e64c1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015ef9d24e64c1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80a95121254c0d" /><Relationship Type="http://schemas.openxmlformats.org/officeDocument/2006/relationships/notesSlide" Target="/ppt/notesSlides/notesSlide1.xml" Id="Rf1c35b7c0ea4454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3e3c7cb7cb49cc" /><Relationship Type="http://schemas.openxmlformats.org/officeDocument/2006/relationships/notesSlide" Target="/ppt/notesSlides/notesSlide2.xml" Id="Rd3feda1c13be42e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7a7f9a862b41ad" /><Relationship Type="http://schemas.openxmlformats.org/officeDocument/2006/relationships/notesSlide" Target="/ppt/notesSlides/notesSlide3.xml" Id="R4e38a88748f64c1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ca8294b2254552" /><Relationship Type="http://schemas.openxmlformats.org/officeDocument/2006/relationships/notesSlide" Target="/ppt/notesSlides/notesSlide4.xml" Id="R0276df6459c6421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d93ebe27254ac6" /><Relationship Type="http://schemas.openxmlformats.org/officeDocument/2006/relationships/notesSlide" Target="/ppt/notesSlides/notesSlide5.xml" Id="Rd04d5da4603c4ef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f8ff325e6a45d4" /><Relationship Type="http://schemas.openxmlformats.org/officeDocument/2006/relationships/notesSlide" Target="/ppt/notesSlides/notesSlide6.xml" Id="R845e3965a1b8499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2868E8-8A73-4D6B-99A3-529010C0F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B7280"/>
                </a:solidFill>
              </a:defRPr>
            </a:pPr>
            <a:r>
              <a:rPr sz="1050" b="1">
                <a:solidFill>
                  <a:srgbClr val="6B7280"/>
                </a:solidFill>
              </a:rPr>
              <a:t>FY2026 | Cedar Works | Finance Controller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F9169E-A156-4439-BF2A-896FD1683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FY2026 baseline seeks approval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2A6314-4398-4D6F-99C3-A6DBF8A59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371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B8DB22-9C09-4729-A939-DF336BDBD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Revenue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CA8168-2026-4206-87BF-98A8A3C78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9875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JPY 7,400m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BFDECB-A8FB-4EDB-8AA5-19A159D50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765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EBITDA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CC8D62-B07E-474E-99D4-6B36578AC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09875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JPY 860m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AE2E52-5D08-495A-B8F6-162D36F19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857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74151"/>
                </a:solidFill>
              </a:defRPr>
            </a:pPr>
            <a:r>
              <a:rPr sz="1800" b="0">
                <a:solidFill>
                  <a:srgbClr val="374151"/>
                </a:solidFill>
              </a:rPr>
              <a:t>Q1 actuals are ahead of plan; approve the disciplined annual baseline.</a:t>
            </a:r>
          </a:p>
        </p:txBody>
      </p:sp>
    </p:spTree>
    <p:extLst>
      <p:ext uri="{BB962C8B-B14F-4D97-AF65-F5344CB8AC3E}">
        <p14:creationId xmlns:p14="http://schemas.microsoft.com/office/powerpoint/2010/main" val="13901220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02F2A8-9FCB-4161-A3E6-62C77E2AD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B7280"/>
                </a:solidFill>
              </a:defRPr>
            </a:pPr>
            <a:r>
              <a:rPr sz="1050" b="1">
                <a:solidFill>
                  <a:srgbClr val="6B7280"/>
                </a:solidFill>
              </a:rPr>
              <a:t>FY2026 | Cedar Works | Finance Controller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5A90C1-10FC-4107-A4B5-A8D643E5F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Q1 performance supports the base case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23AAFE-945E-402A-B69F-AB262815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371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6A97EC-DA92-4E72-BEEB-739D7E63F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0820400" cy="2524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960AFB-6860-47AD-84C1-8336F271D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574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Metric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C3AD4D-1C30-4488-B55D-A74CD879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574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Budget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925695-21F5-4914-801D-301FAA819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574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Actual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B484F7-DF3E-49E5-AA4B-AA1BD9DC5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574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Variance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2A8C09-E0A8-46D5-970A-4E0A27CFA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4325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Revenue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00D26F-E387-4348-A918-00A11A039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43250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JPY 1,800m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C391D4-031C-44AA-8861-4317C6499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43250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JPY 1,842m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58BAA7-52F7-4247-8752-27121E098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14325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D6B4F"/>
                </a:solidFill>
              </a:defRPr>
            </a:pPr>
            <a:r>
              <a:rPr sz="1575" b="1">
                <a:solidFill>
                  <a:srgbClr val="1D6B4F"/>
                </a:solidFill>
              </a:rPr>
              <a:t>JPY 42m favorable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B18E4F-8835-4A03-9E1B-98B79BBB5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0525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EBITDA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572DF9-6EF6-4563-B3F3-9A139F3E7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905250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JPY 210m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8F5133-491D-4462-824F-B026261C4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05250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JPY 222m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80F7DE-B79C-4AE2-9A7F-CC02CD28C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90525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D6B4F"/>
                </a:solidFill>
              </a:defRPr>
            </a:pPr>
            <a:r>
              <a:rPr sz="1575" b="1">
                <a:solidFill>
                  <a:srgbClr val="1D6B4F"/>
                </a:solidFill>
              </a:rPr>
              <a:t>JPY 12m favorable</a:t>
            </a:r>
          </a:p>
        </p:txBody>
      </p:sp>
    </p:spTree>
    <p:extLst>
      <p:ext uri="{BB962C8B-B14F-4D97-AF65-F5344CB8AC3E}">
        <p14:creationId xmlns:p14="http://schemas.microsoft.com/office/powerpoint/2010/main" val="6976077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32DF96-6CF4-4287-9683-670278168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B7280"/>
                </a:solidFill>
              </a:defRPr>
            </a:pPr>
            <a:r>
              <a:rPr sz="1050" b="1">
                <a:solidFill>
                  <a:srgbClr val="6B7280"/>
                </a:solidFill>
              </a:rPr>
              <a:t>FY2026 | Cedar Works | Finance Controller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DA95CB-4C28-4160-9585-9F547A678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Base forecast creates measured headroom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8A2DDF-F87A-4F5D-9104-CCBB0EA2D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371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EBE308-B7DB-4948-965D-EBC615FAF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361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3D8DFF"/>
                </a:solidFill>
              </a:defRPr>
            </a:pPr>
            <a:r>
              <a:rPr sz="3450" b="1">
                <a:solidFill>
                  <a:srgbClr val="3D8DFF"/>
                </a:solidFill>
              </a:rPr>
              <a:t>JPY 7,560m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2021B0-6FE9-4AE9-A794-4D542C9AB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342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Revenue base forecast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FA3AD7-84DC-42C7-A761-A6E37C3AF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476500"/>
            <a:ext cx="361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3D8DFF"/>
                </a:solidFill>
              </a:defRPr>
            </a:pPr>
            <a:r>
              <a:rPr sz="3450" b="1">
                <a:solidFill>
                  <a:srgbClr val="3D8DFF"/>
                </a:solidFill>
              </a:rPr>
              <a:t>JPY 900m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2E1558-34B1-4823-810B-8A487C6E8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43250"/>
            <a:ext cx="342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EBITDA base forecast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36C47B-751B-4006-A982-6BA3DBAF3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8150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74151"/>
                </a:solidFill>
              </a:defRPr>
            </a:pPr>
            <a:r>
              <a:rPr sz="1800" b="0">
                <a:solidFill>
                  <a:srgbClr val="374151"/>
                </a:solidFill>
              </a:rPr>
              <a:t>Operating expense discipline is preserved across the monthly plan.</a:t>
            </a:r>
          </a:p>
        </p:txBody>
      </p:sp>
    </p:spTree>
    <p:extLst>
      <p:ext uri="{BB962C8B-B14F-4D97-AF65-F5344CB8AC3E}">
        <p14:creationId xmlns:p14="http://schemas.microsoft.com/office/powerpoint/2010/main" val="8033256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9AD809-B5DE-4177-BA8C-4D1B5112C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B7280"/>
                </a:solidFill>
              </a:defRPr>
            </a:pPr>
            <a:r>
              <a:rPr sz="1050" b="1">
                <a:solidFill>
                  <a:srgbClr val="6B7280"/>
                </a:solidFill>
              </a:rPr>
              <a:t>FY2026 | Cedar Works | Finance Controller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2C4381-EA1C-4463-BBEF-56FF1ED69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Allocation focuses on operating capacity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902E0A-54DB-4756-AE66-254788B52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371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08D89D-4AA1-49CF-8808-4D43D8727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10820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B15909-8CBA-4C94-B65C-D4F16973E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574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FIN-100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654671-9DB0-4A88-8618-03D324FBE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574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Close, controls and governance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6F739F-CE90-4AE5-B256-9910D8757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9875"/>
            <a:ext cx="10820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7D7363-94E9-44B3-81C5-B43473C9C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2417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OPS-210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6C98D4-C680-443E-A236-65A68499A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2417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Delivery capacity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432064-39B3-4AB6-80FA-4F0AFE59D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10820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9896A8-4770-416E-9790-4CBB1159C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909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ENG-310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11C3B4-C3E5-42EC-B9C9-53D6DA5CF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5909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Product and platform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E44807-176A-49EE-A79D-96BF73C1E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43375"/>
            <a:ext cx="10820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44FE47-A0AD-4B06-ABB1-067F980DB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5767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SALES-410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F72DE1-B4F9-4BD3-9CC6-27704F9CD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25767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Growth execution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19059F-8BC6-400A-BBEF-F52FC34D2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0125"/>
            <a:ext cx="10820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360763-BDE8-45EA-AFAF-45A00EA4F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244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FAC-510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E6C86B-7474-420F-A570-301A10E57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9244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Workplace services</a:t>
            </a:r>
          </a:p>
        </p:txBody>
      </p:sp>
    </p:spTree>
    <p:extLst>
      <p:ext uri="{BB962C8B-B14F-4D97-AF65-F5344CB8AC3E}">
        <p14:creationId xmlns:p14="http://schemas.microsoft.com/office/powerpoint/2010/main" val="12630030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017BBF-D058-4386-AECB-97242C033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B7280"/>
                </a:solidFill>
              </a:defRPr>
            </a:pPr>
            <a:r>
              <a:rPr sz="1050" b="1">
                <a:solidFill>
                  <a:srgbClr val="6B7280"/>
                </a:solidFill>
              </a:rPr>
              <a:t>FY2026 | Cedar Works | Finance Controller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9C8089-CF3D-4DF3-A51C-9586308B0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March cash variance requires closure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C71637-213E-4CF1-B3EE-E2D21AE88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371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5DFFA4-0613-4C48-9B7B-C58372F25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08204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D569A5-FD9E-4156-862A-E221FC409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19375"/>
            <a:ext cx="1000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Bank JPY 486.2m  |  Ledger JPY 498.6m  |  Variance JPY 12.4m unfavorable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96214D-BBAD-4E51-97B8-F4E8C29CD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1009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74151"/>
                </a:solidFill>
              </a:defRPr>
            </a:pPr>
            <a:r>
              <a:rPr sz="1800" b="0">
                <a:solidFill>
                  <a:srgbClr val="374151"/>
                </a:solidFill>
              </a:rPr>
              <a:t>Open items: receipt JPY 7.2m; vendor JPY 3.1m; fees JPY 1.3m; FX JPY 0.8m.</a:t>
            </a:r>
          </a:p>
        </p:txBody>
      </p:sp>
    </p:spTree>
    <p:extLst>
      <p:ext uri="{BB962C8B-B14F-4D97-AF65-F5344CB8AC3E}">
        <p14:creationId xmlns:p14="http://schemas.microsoft.com/office/powerpoint/2010/main" val="16774835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BC6999-DFAF-498A-861C-710314A20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B7280"/>
                </a:solidFill>
              </a:defRPr>
            </a:pPr>
            <a:r>
              <a:rPr sz="1050" b="1">
                <a:solidFill>
                  <a:srgbClr val="6B7280"/>
                </a:solidFill>
              </a:rPr>
              <a:t>FY2026 | Cedar Works | Finance Controller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5E4890-EE49-4D36-8F2C-468515A85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Decision and next steps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235D9D-6B45-4345-91BC-6E5217DB9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371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3BD2F9-FE42-40EA-A4AF-ACD8CD3C0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Approve the FY2026 baseline and authorize controlled departmental releases.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C73D44-46B7-4292-9D00-90FDA0EE1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33750"/>
            <a:ext cx="762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74151"/>
                </a:solidFill>
              </a:defRPr>
            </a:pPr>
            <a:r>
              <a:rPr sz="1875" b="0">
                <a:solidFill>
                  <a:srgbClr val="374151"/>
                </a:solidFill>
              </a:rPr>
              <a:t>1. Departments certify allocations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4347E5-393F-48BC-8FF6-EB2CDF7C5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24300"/>
            <a:ext cx="762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74151"/>
                </a:solidFill>
              </a:defRPr>
            </a:pPr>
            <a:r>
              <a:rPr sz="1875" b="0">
                <a:solidFill>
                  <a:srgbClr val="374151"/>
                </a:solidFill>
              </a:rPr>
              <a:t>2. Treasury closes reconciliation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E1F582-7601-488A-86F5-B6F60F497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14850"/>
            <a:ext cx="762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74151"/>
                </a:solidFill>
              </a:defRPr>
            </a:pPr>
            <a:r>
              <a:rPr sz="1875" b="0">
                <a:solidFill>
                  <a:srgbClr val="374151"/>
                </a:solidFill>
              </a:rPr>
              <a:t>3. CFO provides final sign-off</a:t>
            </a:r>
          </a:p>
        </p:txBody>
      </p:sp>
    </p:spTree>
    <p:extLst>
      <p:ext uri="{BB962C8B-B14F-4D97-AF65-F5344CB8AC3E}">
        <p14:creationId xmlns:p14="http://schemas.microsoft.com/office/powerpoint/2010/main" val="4607983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2026-08-23T18:52:31.4680000Z</dcterms:created>
  <dcterms:modified xsi:type="dcterms:W3CDTF">2026-08-23T18:52:31.4680000Z</dcterms:modified>
</coreProperties>
</file>