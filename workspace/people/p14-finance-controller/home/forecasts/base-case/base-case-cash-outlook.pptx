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8b814c43ae4ed0" /><Relationship Type="http://schemas.openxmlformats.org/officeDocument/2006/relationships/extended-properties" Target="/docProps/app.xml" Id="R23480ee961994ef7" /><Relationship Type="http://schemas.openxmlformats.org/officeDocument/2006/relationships/officeDocument" Target="/ppt/presentation.xml" Id="R0b206a1b2f1446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8d815ea1d34d47"/>
  </p:sldMasterIdLst>
  <p:notesMasterIdLst>
    <p:notesMasterId xmlns:r="http://schemas.openxmlformats.org/officeDocument/2006/relationships" r:id="Rb8d86cf0582f416a"/>
  </p:notesMasterIdLst>
  <p:sldIdLst>
    <p:sldId xmlns:r="http://schemas.openxmlformats.org/officeDocument/2006/relationships" id="256" r:id="R02de404884da4891"/>
    <p:sldId xmlns:r="http://schemas.openxmlformats.org/officeDocument/2006/relationships" id="257" r:id="R349d15d36a6348fa"/>
    <p:sldId xmlns:r="http://schemas.openxmlformats.org/officeDocument/2006/relationships" id="258" r:id="R0ab9fb2259204f5c"/>
    <p:sldId xmlns:r="http://schemas.openxmlformats.org/officeDocument/2006/relationships" id="259" r:id="Rc96af58484f8443e"/>
    <p:sldId xmlns:r="http://schemas.openxmlformats.org/officeDocument/2006/relationships" id="260" r:id="R3fc36888571042c2"/>
    <p:sldId xmlns:r="http://schemas.openxmlformats.org/officeDocument/2006/relationships" id="261" r:id="R010f220633a24a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f4a7ad4ead4540" /><Relationship Type="http://schemas.openxmlformats.org/officeDocument/2006/relationships/slideMaster" Target="/ppt/slideMasters/slideMaster1.xml" Id="Rcd8d815ea1d34d47" /><Relationship Type="http://schemas.openxmlformats.org/officeDocument/2006/relationships/notesMaster" Target="/ppt/notesMasters/notesMaster1.xml" Id="Rb8d86cf0582f416a" /><Relationship Type="http://schemas.openxmlformats.org/officeDocument/2006/relationships/presProps" Target="/ppt/presProps.xml" Id="R2c280b2a141c4f22" /><Relationship Type="http://schemas.openxmlformats.org/officeDocument/2006/relationships/tableStyles" Target="/ppt/tableStyles.xml" Id="R7c91cad440684e4b" /><Relationship Type="http://schemas.openxmlformats.org/officeDocument/2006/relationships/slide" Target="/ppt/slides/slide1.xml" Id="R02de404884da4891" /><Relationship Type="http://schemas.openxmlformats.org/officeDocument/2006/relationships/slide" Target="/ppt/slides/slide2.xml" Id="R349d15d36a6348fa" /><Relationship Type="http://schemas.openxmlformats.org/officeDocument/2006/relationships/slide" Target="/ppt/slides/slide3.xml" Id="R0ab9fb2259204f5c" /><Relationship Type="http://schemas.openxmlformats.org/officeDocument/2006/relationships/slide" Target="/ppt/slides/slide4.xml" Id="Rc96af58484f8443e" /><Relationship Type="http://schemas.openxmlformats.org/officeDocument/2006/relationships/slide" Target="/ppt/slides/slide5.xml" Id="R3fc36888571042c2" /><Relationship Type="http://schemas.openxmlformats.org/officeDocument/2006/relationships/slide" Target="/ppt/slides/slide6.xml" Id="R010f220633a24a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07a18ba13044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93f7a2b43442ca" /><Relationship Type="http://schemas.openxmlformats.org/officeDocument/2006/relationships/notesMaster" Target="/ppt/notesMasters/notesMaster1.xml" Id="R72462a48086543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7906c880774a9c" /><Relationship Type="http://schemas.openxmlformats.org/officeDocument/2006/relationships/notesMaster" Target="/ppt/notesMasters/notesMaster1.xml" Id="R727dbebd8a6946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500380d87d4b49" /><Relationship Type="http://schemas.openxmlformats.org/officeDocument/2006/relationships/notesMaster" Target="/ppt/notesMasters/notesMaster1.xml" Id="R8218068ac16948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b1c3398a084d8c" /><Relationship Type="http://schemas.openxmlformats.org/officeDocument/2006/relationships/notesMaster" Target="/ppt/notesMasters/notesMaster1.xml" Id="R093f314b3c954c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637a8a043a433d" /><Relationship Type="http://schemas.openxmlformats.org/officeDocument/2006/relationships/notesMaster" Target="/ppt/notesMasters/notesMaster1.xml" Id="Rc0dd9fa4a77544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544847257441e3" /><Relationship Type="http://schemas.openxmlformats.org/officeDocument/2006/relationships/notesMaster" Target="/ppt/notesMasters/notesMaster1.xml" Id="R1781fe436cee42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704a437c4e4f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609574f321482c" /><Relationship Type="http://schemas.openxmlformats.org/officeDocument/2006/relationships/slideLayout" Target="/ppt/slideLayouts/slideLayout1.xml" Id="Re2c89972e35f4f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c89972e35f4f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f18e1c3804d29" /><Relationship Type="http://schemas.openxmlformats.org/officeDocument/2006/relationships/notesSlide" Target="/ppt/notesSlides/notesSlide1.xml" Id="Re1f17a586b8442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4f70d87ef4b91" /><Relationship Type="http://schemas.openxmlformats.org/officeDocument/2006/relationships/chart" Target="/ppt/slides/charts/chart1.xml" Id="Rc15ddc3d9d2f482f" /><Relationship Type="http://schemas.openxmlformats.org/officeDocument/2006/relationships/notesSlide" Target="/ppt/notesSlides/notesSlide2.xml" Id="R3e09b12307e144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8231799b747f8" /><Relationship Type="http://schemas.openxmlformats.org/officeDocument/2006/relationships/chart" Target="/ppt/slides/charts/chart2.xml" Id="R25d8fdfcf52641e3" /><Relationship Type="http://schemas.openxmlformats.org/officeDocument/2006/relationships/notesSlide" Target="/ppt/notesSlides/notesSlide3.xml" Id="R218f2a5cccf44f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4dfc253c54ba3" /><Relationship Type="http://schemas.openxmlformats.org/officeDocument/2006/relationships/chart" Target="/ppt/slides/charts/chart3.xml" Id="Rca1abf929f2a4b71" /><Relationship Type="http://schemas.openxmlformats.org/officeDocument/2006/relationships/notesSlide" Target="/ppt/notesSlides/notesSlide4.xml" Id="R791040cc7ef74f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47b7f55c34469" /><Relationship Type="http://schemas.openxmlformats.org/officeDocument/2006/relationships/notesSlide" Target="/ppt/notesSlides/notesSlide5.xml" Id="R59bfc66a99de42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e3e4603604664" /><Relationship Type="http://schemas.openxmlformats.org/officeDocument/2006/relationships/notesSlide" Target="/ppt/notesSlides/notesSlide6.xml" Id="Rddc926e2a05a4136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Revenue</c:v>
          </c:tx>
          <c:spPr>
            <a:solidFill xmlns:a="http://schemas.openxmlformats.org/drawingml/2006/main">
              <a:schemeClr val="accent1"/>
            </a:solidFill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General</c:formatCode>
              <c:ptCount val="12"/>
              <c:pt idx="0">
                <c:v>600</c:v>
              </c:pt>
              <c:pt idx="1">
                <c:v>615</c:v>
              </c:pt>
              <c:pt idx="2">
                <c:v>627</c:v>
              </c:pt>
              <c:pt idx="3">
                <c:v>610</c:v>
              </c:pt>
              <c:pt idx="4">
                <c:v>620</c:v>
              </c:pt>
              <c:pt idx="5">
                <c:v>630</c:v>
              </c:pt>
              <c:pt idx="6">
                <c:v>630</c:v>
              </c:pt>
              <c:pt idx="7">
                <c:v>635</c:v>
              </c:pt>
              <c:pt idx="8">
                <c:v>645</c:v>
              </c:pt>
              <c:pt idx="9">
                <c:v>640</c:v>
              </c:pt>
              <c:pt idx="10">
                <c:v>650</c:v>
              </c:pt>
              <c:pt idx="11">
                <c:v>658</c:v>
              </c:pt>
            </c:numLit>
          </c:val>
        </c:ser>
        <c:ser>
          <c:idx val="1"/>
          <c:order val="1"/>
          <c:tx>
            <c:v>EBITDA</c:v>
          </c:tx>
          <c:spPr>
            <a:solidFill xmlns:a="http://schemas.openxmlformats.org/drawingml/2006/main">
              <a:schemeClr val="accent2"/>
            </a:solidFill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General</c:formatCode>
              <c:ptCount val="12"/>
              <c:pt idx="0">
                <c:v>73</c:v>
              </c:pt>
              <c:pt idx="1">
                <c:v>74</c:v>
              </c:pt>
              <c:pt idx="2">
                <c:v>75</c:v>
              </c:pt>
              <c:pt idx="3">
                <c:v>76</c:v>
              </c:pt>
              <c:pt idx="4">
                <c:v>75</c:v>
              </c:pt>
              <c:pt idx="5">
                <c:v>76</c:v>
              </c:pt>
              <c:pt idx="6">
                <c:v>78</c:v>
              </c:pt>
              <c:pt idx="7">
                <c:v>76</c:v>
              </c:pt>
              <c:pt idx="8">
                <c:v>77</c:v>
              </c:pt>
              <c:pt idx="9">
                <c:v>77</c:v>
              </c:pt>
              <c:pt idx="10">
                <c:v>76</c:v>
              </c:pt>
              <c:pt idx="11">
                <c:v>67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Revenue</c:v>
          </c:tx>
          <c:spPr>
            <a:solidFill xmlns:a="http://schemas.openxmlformats.org/drawingml/2006/main">
              <a:schemeClr val="accent1"/>
            </a:solidFill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General</c:formatCode>
              <c:ptCount val="12"/>
              <c:pt idx="0">
                <c:v>600</c:v>
              </c:pt>
              <c:pt idx="1">
                <c:v>615</c:v>
              </c:pt>
              <c:pt idx="2">
                <c:v>627</c:v>
              </c:pt>
              <c:pt idx="3">
                <c:v>610</c:v>
              </c:pt>
              <c:pt idx="4">
                <c:v>620</c:v>
              </c:pt>
              <c:pt idx="5">
                <c:v>630</c:v>
              </c:pt>
              <c:pt idx="6">
                <c:v>630</c:v>
              </c:pt>
              <c:pt idx="7">
                <c:v>635</c:v>
              </c:pt>
              <c:pt idx="8">
                <c:v>645</c:v>
              </c:pt>
              <c:pt idx="9">
                <c:v>640</c:v>
              </c:pt>
              <c:pt idx="10">
                <c:v>650</c:v>
              </c:pt>
              <c:pt idx="11">
                <c:v>658</c:v>
              </c:pt>
            </c:numLit>
          </c:val>
        </c:ser>
        <c:ser>
          <c:idx val="1"/>
          <c:order val="1"/>
          <c:tx>
            <c:v>EBITDA</c:v>
          </c:tx>
          <c:spPr>
            <a:solidFill xmlns:a="http://schemas.openxmlformats.org/drawingml/2006/main">
              <a:schemeClr val="accent2"/>
            </a:solidFill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General</c:formatCode>
              <c:ptCount val="12"/>
              <c:pt idx="0">
                <c:v>73</c:v>
              </c:pt>
              <c:pt idx="1">
                <c:v>74</c:v>
              </c:pt>
              <c:pt idx="2">
                <c:v>75</c:v>
              </c:pt>
              <c:pt idx="3">
                <c:v>76</c:v>
              </c:pt>
              <c:pt idx="4">
                <c:v>75</c:v>
              </c:pt>
              <c:pt idx="5">
                <c:v>76</c:v>
              </c:pt>
              <c:pt idx="6">
                <c:v>78</c:v>
              </c:pt>
              <c:pt idx="7">
                <c:v>76</c:v>
              </c:pt>
              <c:pt idx="8">
                <c:v>77</c:v>
              </c:pt>
              <c:pt idx="9">
                <c:v>77</c:v>
              </c:pt>
              <c:pt idx="10">
                <c:v>76</c:v>
              </c:pt>
              <c:pt idx="11">
                <c:v>67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Revenue</c:v>
          </c:tx>
          <c:spPr>
            <a:solidFill xmlns:a="http://schemas.openxmlformats.org/drawingml/2006/main">
              <a:schemeClr val="accent1"/>
            </a:solidFill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General</c:formatCode>
              <c:ptCount val="12"/>
              <c:pt idx="0">
                <c:v>600</c:v>
              </c:pt>
              <c:pt idx="1">
                <c:v>615</c:v>
              </c:pt>
              <c:pt idx="2">
                <c:v>627</c:v>
              </c:pt>
              <c:pt idx="3">
                <c:v>610</c:v>
              </c:pt>
              <c:pt idx="4">
                <c:v>620</c:v>
              </c:pt>
              <c:pt idx="5">
                <c:v>630</c:v>
              </c:pt>
              <c:pt idx="6">
                <c:v>630</c:v>
              </c:pt>
              <c:pt idx="7">
                <c:v>635</c:v>
              </c:pt>
              <c:pt idx="8">
                <c:v>645</c:v>
              </c:pt>
              <c:pt idx="9">
                <c:v>640</c:v>
              </c:pt>
              <c:pt idx="10">
                <c:v>650</c:v>
              </c:pt>
              <c:pt idx="11">
                <c:v>658</c:v>
              </c:pt>
            </c:numLit>
          </c:val>
        </c:ser>
        <c:ser>
          <c:idx val="1"/>
          <c:order val="1"/>
          <c:tx>
            <c:v>EBITDA</c:v>
          </c:tx>
          <c:spPr>
            <a:solidFill xmlns:a="http://schemas.openxmlformats.org/drawingml/2006/main">
              <a:schemeClr val="accent2"/>
            </a:solidFill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General</c:formatCode>
              <c:ptCount val="12"/>
              <c:pt idx="0">
                <c:v>73</c:v>
              </c:pt>
              <c:pt idx="1">
                <c:v>74</c:v>
              </c:pt>
              <c:pt idx="2">
                <c:v>75</c:v>
              </c:pt>
              <c:pt idx="3">
                <c:v>76</c:v>
              </c:pt>
              <c:pt idx="4">
                <c:v>75</c:v>
              </c:pt>
              <c:pt idx="5">
                <c:v>76</c:v>
              </c:pt>
              <c:pt idx="6">
                <c:v>78</c:v>
              </c:pt>
              <c:pt idx="7">
                <c:v>76</c:v>
              </c:pt>
              <c:pt idx="8">
                <c:v>77</c:v>
              </c:pt>
              <c:pt idx="9">
                <c:v>77</c:v>
              </c:pt>
              <c:pt idx="10">
                <c:v>76</c:v>
              </c:pt>
              <c:pt idx="11">
                <c:v>67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3B822-77F1-4C6C-B633-6A1AE0C7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Cash outlook: close the JPY 12.4m timing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9ED3B-E856-406A-B026-38C0478E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5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7C7B9-8088-4B64-A503-2B8930FB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762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Bank cash 486.2 vs ledger 498.6.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JPY 12.4m unfavorable.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4B7F6-7608-48A9-80A9-9E8CB2CD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762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C31EB-99F2-4D2E-A573-E460792B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B"/>
                </a:solidFill>
              </a:defRPr>
            </a:pPr>
            <a:r>
              <a:rPr sz="1950" b="1">
                <a:solidFill>
                  <a:srgbClr val="0F172B"/>
                </a:solidFill>
              </a:rPr>
              <a:t>FY2026</a:t>
            </a:r>
          </a:p>
          <a:p xmlns:a="http://schemas.openxmlformats.org/drawingml/2006/main">
            <a:pPr>
              <a:defRPr sz="1950" b="1">
                <a:solidFill>
                  <a:srgbClr val="0F172B"/>
                </a:solidFill>
              </a:defRPr>
            </a:pPr>
            <a:r>
              <a:rPr sz="1950" b="1">
                <a:solidFill>
                  <a:srgbClr val="0F172B"/>
                </a:solidFill>
              </a:rPr>
              <a:t>Revenue 7,560 | EBITDA 900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3337D-F068-476F-8D79-99B500A1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Cedar Works | FY2026 Base Case | 01</a:t>
            </a:r>
          </a:p>
        </p:txBody>
      </p:sp>
    </p:spTree>
    <p:extLst>
      <p:ext uri="{BB962C8B-B14F-4D97-AF65-F5344CB8AC3E}">
        <p14:creationId xmlns:p14="http://schemas.microsoft.com/office/powerpoint/2010/main" val="18202542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B03D9-13BA-4781-B287-ADEC07BE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Cash outlook: close the JPY 12.4m timing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9CBC2-B55A-4766-96F3-03938412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5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B4C56-269C-4182-ACB1-E59CED28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762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The variance is timing-led, not structural.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Receipt timing 7.2; vendor timing 3.1.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905500" y="1762125"/>
          <a:ext xmlns:a="http://schemas.openxmlformats.org/drawingml/2006/main" cx="5143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5ddc3d9d2f482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F0F9D-948B-429E-AAF5-EB183426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Cedar Works | FY2026 Base Case | 02</a:t>
            </a:r>
          </a:p>
        </p:txBody>
      </p:sp>
    </p:spTree>
    <p:extLst>
      <p:ext uri="{BB962C8B-B14F-4D97-AF65-F5344CB8AC3E}">
        <p14:creationId xmlns:p14="http://schemas.microsoft.com/office/powerpoint/2010/main" val="12970514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A2F9E-A8E6-41FF-A282-36FD612F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Cash outlook: close the JPY 12.4m timing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F3E8F-1BD3-49FD-9BDB-43C317D0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5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70B9F-41E1-449F-93BF-E2A49D6D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762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March working capital: AR 312; AP 226; inventory 418.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905500" y="1762125"/>
          <a:ext xmlns:a="http://schemas.openxmlformats.org/drawingml/2006/main" cx="5143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d8fdfcf52641e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687BB-1850-489C-9CA6-BA3632E8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Cedar Works | FY2026 Base Case | 03</a:t>
            </a:r>
          </a:p>
        </p:txBody>
      </p:sp>
    </p:spTree>
    <p:extLst>
      <p:ext uri="{BB962C8B-B14F-4D97-AF65-F5344CB8AC3E}">
        <p14:creationId xmlns:p14="http://schemas.microsoft.com/office/powerpoint/2010/main" val="5977338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56B30-5992-47A3-9EDD-D4224F5C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Cash outlook: close the JPY 12.4m timing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7C253-D6BB-40DC-B1BC-170CB83C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5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BB6E9-C830-4508-9168-D87D5CE5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762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Base case supports a steady cash cadence through Q4.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905500" y="1762125"/>
          <a:ext xmlns:a="http://schemas.openxmlformats.org/drawingml/2006/main" cx="5143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1abf929f2a4b7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A04F0-A9A2-477E-8EF4-A39D9A7B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Cedar Works | FY2026 Base Case | 04</a:t>
            </a:r>
          </a:p>
        </p:txBody>
      </p:sp>
    </p:spTree>
    <p:extLst>
      <p:ext uri="{BB962C8B-B14F-4D97-AF65-F5344CB8AC3E}">
        <p14:creationId xmlns:p14="http://schemas.microsoft.com/office/powerpoint/2010/main" val="7224800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7F6DC-B2CD-4F8A-8733-E20F8579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Cash outlook: close the JPY 12.4m timing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CEC1D-BCD1-42EF-A8BF-AE44CA63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5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ED7C4-4CAA-4104-B211-67772FF1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762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Next close actions: verify receipts, clear vendors, book fees and FX.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C32A1-5920-452A-8D1A-CBF879C0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762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47DB8-A76B-4C91-BC4F-431799AA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B"/>
                </a:solidFill>
              </a:defRPr>
            </a:pPr>
            <a:r>
              <a:rPr sz="1950" b="1">
                <a:solidFill>
                  <a:srgbClr val="0F172B"/>
                </a:solidFill>
              </a:rPr>
              <a:t>Management focus</a:t>
            </a:r>
          </a:p>
          <a:p xmlns:a="http://schemas.openxmlformats.org/drawingml/2006/main">
            <a:pPr>
              <a:defRPr sz="1950" b="1">
                <a:solidFill>
                  <a:srgbClr val="0F172B"/>
                </a:solidFill>
              </a:defRPr>
            </a:pPr>
            <a:r>
              <a:rPr sz="1950" b="1">
                <a:solidFill>
                  <a:srgbClr val="0F172B"/>
                </a:solidFill>
              </a:rPr>
              <a:t>Plan, monitor, close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A8623-CC72-41CD-9EBA-F819FD63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Cedar Works | FY2026 Base Case | 05</a:t>
            </a:r>
          </a:p>
        </p:txBody>
      </p:sp>
    </p:spTree>
    <p:extLst>
      <p:ext uri="{BB962C8B-B14F-4D97-AF65-F5344CB8AC3E}">
        <p14:creationId xmlns:p14="http://schemas.microsoft.com/office/powerpoint/2010/main" val="17947534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BD259-0DA7-4084-9CAC-84969823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Cash outlook: close the JPY 12.4m timing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B1843-04BD-45DA-9B9D-BB4BB529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5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09390-86C6-441D-B862-419C2C6C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762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Decision request: endorse the base case and track bridge closure.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F2038-F9E7-4B9E-9A09-0AC23763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762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F131B-7771-44BF-ABEF-0C988299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B"/>
                </a:solidFill>
              </a:defRPr>
            </a:pPr>
            <a:r>
              <a:rPr sz="1950" b="1">
                <a:solidFill>
                  <a:srgbClr val="0F172B"/>
                </a:solidFill>
              </a:rPr>
              <a:t>Management focus</a:t>
            </a:r>
          </a:p>
          <a:p xmlns:a="http://schemas.openxmlformats.org/drawingml/2006/main">
            <a:pPr>
              <a:defRPr sz="1950" b="1">
                <a:solidFill>
                  <a:srgbClr val="0F172B"/>
                </a:solidFill>
              </a:defRPr>
            </a:pPr>
            <a:r>
              <a:rPr sz="1950" b="1">
                <a:solidFill>
                  <a:srgbClr val="0F172B"/>
                </a:solidFill>
              </a:rPr>
              <a:t>Plan, monitor, close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9FC53-10B0-4209-AA4E-FAAE6687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Cedar Works | FY2026 Base Case | 06</a:t>
            </a:r>
          </a:p>
        </p:txBody>
      </p:sp>
    </p:spTree>
    <p:extLst>
      <p:ext uri="{BB962C8B-B14F-4D97-AF65-F5344CB8AC3E}">
        <p14:creationId xmlns:p14="http://schemas.microsoft.com/office/powerpoint/2010/main" val="13497894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2026-08-23T18:53:22.2990000Z</dcterms:created>
  <dcterms:modified xsi:type="dcterms:W3CDTF">2026-08-23T18:53:22.2990000Z</dcterms:modified>
</coreProperties>
</file>