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b354f979c34412" /><Relationship Type="http://schemas.openxmlformats.org/officeDocument/2006/relationships/extended-properties" Target="/docProps/app.xml" Id="Rc1df81e6c67a411e" /><Relationship Type="http://schemas.openxmlformats.org/officeDocument/2006/relationships/officeDocument" Target="/ppt/presentation.xml" Id="R1cb40171419240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03a888e8d04279"/>
  </p:sldMasterIdLst>
  <p:notesMasterIdLst>
    <p:notesMasterId xmlns:r="http://schemas.openxmlformats.org/officeDocument/2006/relationships" r:id="Rad30af3b3f4b4610"/>
  </p:notesMasterIdLst>
  <p:sldIdLst>
    <p:sldId xmlns:r="http://schemas.openxmlformats.org/officeDocument/2006/relationships" id="256" r:id="R1b7889ef5bbf4dfd"/>
    <p:sldId xmlns:r="http://schemas.openxmlformats.org/officeDocument/2006/relationships" id="257" r:id="R1f3ea78a6bf34906"/>
    <p:sldId xmlns:r="http://schemas.openxmlformats.org/officeDocument/2006/relationships" id="258" r:id="R297de187883c44e3"/>
    <p:sldId xmlns:r="http://schemas.openxmlformats.org/officeDocument/2006/relationships" id="259" r:id="R2c86febd727646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ed273c2d98446b" /><Relationship Type="http://schemas.openxmlformats.org/officeDocument/2006/relationships/slideMaster" Target="/ppt/slideMasters/slideMaster1.xml" Id="R7203a888e8d04279" /><Relationship Type="http://schemas.openxmlformats.org/officeDocument/2006/relationships/notesMaster" Target="/ppt/notesMasters/notesMaster1.xml" Id="Rad30af3b3f4b4610" /><Relationship Type="http://schemas.openxmlformats.org/officeDocument/2006/relationships/presProps" Target="/ppt/presProps.xml" Id="R88a7c31ca8aa4dfb" /><Relationship Type="http://schemas.openxmlformats.org/officeDocument/2006/relationships/tableStyles" Target="/ppt/tableStyles.xml" Id="R14fdf4427e1841ff" /><Relationship Type="http://schemas.openxmlformats.org/officeDocument/2006/relationships/slide" Target="/ppt/slides/slide1.xml" Id="R1b7889ef5bbf4dfd" /><Relationship Type="http://schemas.openxmlformats.org/officeDocument/2006/relationships/slide" Target="/ppt/slides/slide2.xml" Id="R1f3ea78a6bf34906" /><Relationship Type="http://schemas.openxmlformats.org/officeDocument/2006/relationships/slide" Target="/ppt/slides/slide3.xml" Id="R297de187883c44e3" /><Relationship Type="http://schemas.openxmlformats.org/officeDocument/2006/relationships/slide" Target="/ppt/slides/slide4.xml" Id="R2c86febd727646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d365d218e844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c4bf36a0514f67" /><Relationship Type="http://schemas.openxmlformats.org/officeDocument/2006/relationships/notesMaster" Target="/ppt/notesMasters/notesMaster1.xml" Id="R0a67ebccbd894b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cab9a788b945d4" /><Relationship Type="http://schemas.openxmlformats.org/officeDocument/2006/relationships/notesMaster" Target="/ppt/notesMasters/notesMaster1.xml" Id="R19f12f9afd0146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e659301be34447" /><Relationship Type="http://schemas.openxmlformats.org/officeDocument/2006/relationships/notesMaster" Target="/ppt/notesMasters/notesMaster1.xml" Id="R2d3ac15f42ed47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ecb38289184731" /><Relationship Type="http://schemas.openxmlformats.org/officeDocument/2006/relationships/notesMaster" Target="/ppt/notesMasters/notesMaster1.xml" Id="R2926cb96887a44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9c08af94fd4f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4b83eeed9b467c" /><Relationship Type="http://schemas.openxmlformats.org/officeDocument/2006/relationships/slideLayout" Target="/ppt/slideLayouts/slideLayout1.xml" Id="Raf7df2f2fc8f47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7df2f2fc8f47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9e3876b5d49ba" /><Relationship Type="http://schemas.openxmlformats.org/officeDocument/2006/relationships/chart" Target="/ppt/slides/charts/chart1.xml" Id="R972fa73ec4064abe" /><Relationship Type="http://schemas.openxmlformats.org/officeDocument/2006/relationships/notesSlide" Target="/ppt/notesSlides/notesSlide1.xml" Id="R3d13d03120be4d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59412603a4b1b" /><Relationship Type="http://schemas.openxmlformats.org/officeDocument/2006/relationships/notesSlide" Target="/ppt/notesSlides/notesSlide2.xml" Id="R0c018d2d668d44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503c8ea7044ee" /><Relationship Type="http://schemas.openxmlformats.org/officeDocument/2006/relationships/notesSlide" Target="/ppt/notesSlides/notesSlide3.xml" Id="R4709622f30204a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720e157a14346" /><Relationship Type="http://schemas.openxmlformats.org/officeDocument/2006/relationships/notesSlide" Target="/ppt/notesSlides/notesSlide4.xml" Id="R77072fbf43a14b6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Revenue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Budget</c:v>
              </c:pt>
              <c:pt idx="1">
                <c:v>Downside</c:v>
              </c:pt>
              <c:pt idx="2">
                <c:v>Base</c:v>
              </c:pt>
              <c:pt idx="3">
                <c:v>Upside</c:v>
              </c:pt>
            </c:strLit>
          </c:cat>
          <c:val>
            <c:numLit>
              <c:formatCode>General</c:formatCode>
              <c:ptCount val="4"/>
              <c:pt idx="0">
                <c:v>7400</c:v>
              </c:pt>
              <c:pt idx="1">
                <c:v>7050</c:v>
              </c:pt>
              <c:pt idx="2">
                <c:v>7560</c:v>
              </c:pt>
              <c:pt idx="3">
                <c:v>7920</c:v>
              </c:pt>
            </c:numLit>
          </c:val>
        </c:ser>
        <c:ser>
          <c:idx val="1"/>
          <c:order val="1"/>
          <c:tx>
            <c:v>EBITDA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Budget</c:v>
              </c:pt>
              <c:pt idx="1">
                <c:v>Downside</c:v>
              </c:pt>
              <c:pt idx="2">
                <c:v>Base</c:v>
              </c:pt>
              <c:pt idx="3">
                <c:v>Upside</c:v>
              </c:pt>
            </c:strLit>
          </c:cat>
          <c:val>
            <c:numLit>
              <c:formatCode>General</c:formatCode>
              <c:ptCount val="4"/>
              <c:pt idx="0">
                <c:v>860</c:v>
              </c:pt>
              <c:pt idx="1">
                <c:v>720</c:v>
              </c:pt>
              <c:pt idx="2">
                <c:v>900</c:v>
              </c:pt>
              <c:pt idx="3">
                <c:v>1020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50373-F6AB-4DF4-BEF8-0490993D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4E78"/>
                </a:solidFill>
              </a:defRPr>
            </a:pPr>
            <a:r>
              <a:rPr sz="1050" b="1">
                <a:solidFill>
                  <a:srgbClr val="1F4E78"/>
                </a:solidFill>
              </a:rPr>
              <a:t>CEDAR WORKS | FY2026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E92BC-B2AB-48DE-A50D-CADA502E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Downside liquidity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6243F-D263-49AB-AB97-386AE709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FY2026 decision frame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Budget: revenue 7,400 | EBITDA 860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Base: revenue 7,560 | EBITDA 900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Q1 actual revenue 1,842 and EBITDA 222 establish the starting point.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0" y="1714500"/>
          <a:ext xmlns:a="http://schemas.openxmlformats.org/drawingml/2006/main" cx="49530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2fa73ec4064ab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EC83F-82ED-41DE-B701-9EAE60F7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080"/>
                </a:solidFill>
              </a:defRPr>
            </a:pPr>
            <a:r>
              <a:rPr sz="1050" b="0">
                <a:solidFill>
                  <a:srgbClr val="607080"/>
                </a:solidFill>
              </a:rPr>
              <a:t>JPY millions | Synthetic planning model</a:t>
            </a:r>
          </a:p>
        </p:txBody>
      </p:sp>
    </p:spTree>
    <p:extLst>
      <p:ext uri="{BB962C8B-B14F-4D97-AF65-F5344CB8AC3E}">
        <p14:creationId xmlns:p14="http://schemas.microsoft.com/office/powerpoint/2010/main" val="92639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4FA23-7D92-462B-A396-CEA199F8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4E78"/>
                </a:solidFill>
              </a:defRPr>
            </a:pPr>
            <a:r>
              <a:rPr sz="1050" b="1">
                <a:solidFill>
                  <a:srgbClr val="1F4E78"/>
                </a:solidFill>
              </a:rPr>
              <a:t>CEDAR WORKS | FY2026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66C5D-9163-4F04-B2C4-15B4DAC7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Downside remains above the liquidity floor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5229D-9A24-41D8-A486-B1155F33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Downside: revenue 7,050 | EBITDA 720 | ending cash 310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Minimum liquidity: 250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Headroom: 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Control: PASS, but the buffer requires weekly cash visibility.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1B6B6-7EA2-4F6A-9EB1-4965F8BB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080"/>
                </a:solidFill>
              </a:defRPr>
            </a:pPr>
            <a:r>
              <a:rPr sz="1050" b="0">
                <a:solidFill>
                  <a:srgbClr val="607080"/>
                </a:solidFill>
              </a:rPr>
              <a:t>JPY millions | Synthetic planning model</a:t>
            </a:r>
          </a:p>
        </p:txBody>
      </p:sp>
    </p:spTree>
    <p:extLst>
      <p:ext uri="{BB962C8B-B14F-4D97-AF65-F5344CB8AC3E}">
        <p14:creationId xmlns:p14="http://schemas.microsoft.com/office/powerpoint/2010/main" val="14742953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F5785-B74A-48A9-AEA9-14197DA2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4E78"/>
                </a:solidFill>
              </a:defRPr>
            </a:pPr>
            <a:r>
              <a:rPr sz="1050" b="1">
                <a:solidFill>
                  <a:srgbClr val="1F4E78"/>
                </a:solidFill>
              </a:rPr>
              <a:t>CEDAR WORKS | FY2026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B9E24-31F8-4CBA-A440-12F6DD24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March cash variance is fully explained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A2D10-FE6C-4DFF-A346-BDDEE986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Bank cash 486.2 vs ledger 498.6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Unfavorable variance: 12.4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Receipt timing 7.2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Vendor timing 3.1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Bank fees 1.3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FX 0.8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Reconciliation control: PASS.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A1F48-911C-4854-8BB3-D642F08C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080"/>
                </a:solidFill>
              </a:defRPr>
            </a:pPr>
            <a:r>
              <a:rPr sz="1050" b="0">
                <a:solidFill>
                  <a:srgbClr val="607080"/>
                </a:solidFill>
              </a:rPr>
              <a:t>JPY millions | Synthetic planning model</a:t>
            </a:r>
          </a:p>
        </p:txBody>
      </p:sp>
    </p:spTree>
    <p:extLst>
      <p:ext uri="{BB962C8B-B14F-4D97-AF65-F5344CB8AC3E}">
        <p14:creationId xmlns:p14="http://schemas.microsoft.com/office/powerpoint/2010/main" val="8448344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5B14A-5320-4D94-AA85-7C4ED64A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4E78"/>
                </a:solidFill>
              </a:defRPr>
            </a:pPr>
            <a:r>
              <a:rPr sz="1050" b="1">
                <a:solidFill>
                  <a:srgbClr val="1F4E78"/>
                </a:solidFill>
              </a:rPr>
              <a:t>CEDAR WORKS | FY2026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20FD3-5E4B-42DC-A035-85E7D53D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Response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D1C21-F5B9-4C14-97D4-71ECB884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Approve a downside trigger at 300 ending cash and a weekly treasury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Owner: Finance Controller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Decision cadence: monthly scenario committee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No real accounts, counterparties, or personal data are included.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50325-73F6-4FF4-93A3-B503B1A3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080"/>
                </a:solidFill>
              </a:defRPr>
            </a:pPr>
            <a:r>
              <a:rPr sz="1050" b="0">
                <a:solidFill>
                  <a:srgbClr val="607080"/>
                </a:solidFill>
              </a:rPr>
              <a:t>JPY millions | Synthetic planning model</a:t>
            </a:r>
          </a:p>
        </p:txBody>
      </p:sp>
    </p:spTree>
    <p:extLst>
      <p:ext uri="{BB962C8B-B14F-4D97-AF65-F5344CB8AC3E}">
        <p14:creationId xmlns:p14="http://schemas.microsoft.com/office/powerpoint/2010/main" val="911132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2026-08-23T18:47:59.3520000Z</dcterms:created>
  <dcterms:modified xsi:type="dcterms:W3CDTF">2026-08-23T18:47:59.3520000Z</dcterms:modified>
</coreProperties>
</file>