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306b204905450e" /><Relationship Type="http://schemas.openxmlformats.org/officeDocument/2006/relationships/extended-properties" Target="/docProps/app.xml" Id="R164d3aac533e4a87" /><Relationship Type="http://schemas.openxmlformats.org/officeDocument/2006/relationships/officeDocument" Target="/ppt/presentation.xml" Id="R99ccf7e4e4354f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6ea352d75c4867"/>
  </p:sldMasterIdLst>
  <p:notesMasterIdLst>
    <p:notesMasterId xmlns:r="http://schemas.openxmlformats.org/officeDocument/2006/relationships" r:id="R9027635b8ba3415c"/>
  </p:notesMasterIdLst>
  <p:sldIdLst>
    <p:sldId xmlns:r="http://schemas.openxmlformats.org/officeDocument/2006/relationships" id="256" r:id="R433f1672ff2a4968"/>
    <p:sldId xmlns:r="http://schemas.openxmlformats.org/officeDocument/2006/relationships" id="257" r:id="Rbc5b0a005c3c4e4c"/>
    <p:sldId xmlns:r="http://schemas.openxmlformats.org/officeDocument/2006/relationships" id="258" r:id="Rede4623567d64edd"/>
    <p:sldId xmlns:r="http://schemas.openxmlformats.org/officeDocument/2006/relationships" id="259" r:id="Rb205210e6e624e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a9d6ff0fde48df" /><Relationship Type="http://schemas.openxmlformats.org/officeDocument/2006/relationships/slideMaster" Target="/ppt/slideMasters/slideMaster1.xml" Id="R4f6ea352d75c4867" /><Relationship Type="http://schemas.openxmlformats.org/officeDocument/2006/relationships/notesMaster" Target="/ppt/notesMasters/notesMaster1.xml" Id="R9027635b8ba3415c" /><Relationship Type="http://schemas.openxmlformats.org/officeDocument/2006/relationships/presProps" Target="/ppt/presProps.xml" Id="Rcddca0b57abf4c01" /><Relationship Type="http://schemas.openxmlformats.org/officeDocument/2006/relationships/tableStyles" Target="/ppt/tableStyles.xml" Id="R857f4ccdef85450e" /><Relationship Type="http://schemas.openxmlformats.org/officeDocument/2006/relationships/slide" Target="/ppt/slides/slide1.xml" Id="R433f1672ff2a4968" /><Relationship Type="http://schemas.openxmlformats.org/officeDocument/2006/relationships/slide" Target="/ppt/slides/slide2.xml" Id="Rbc5b0a005c3c4e4c" /><Relationship Type="http://schemas.openxmlformats.org/officeDocument/2006/relationships/slide" Target="/ppt/slides/slide3.xml" Id="Rede4623567d64edd" /><Relationship Type="http://schemas.openxmlformats.org/officeDocument/2006/relationships/slide" Target="/ppt/slides/slide4.xml" Id="Rb205210e6e624e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41ed5021694d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d29313bcf44857" /><Relationship Type="http://schemas.openxmlformats.org/officeDocument/2006/relationships/notesMaster" Target="/ppt/notesMasters/notesMaster1.xml" Id="R76219638542041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c88680d4a44942" /><Relationship Type="http://schemas.openxmlformats.org/officeDocument/2006/relationships/notesMaster" Target="/ppt/notesMasters/notesMaster1.xml" Id="Rdf404642ccd24f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3d0d356eff4bf5" /><Relationship Type="http://schemas.openxmlformats.org/officeDocument/2006/relationships/notesMaster" Target="/ppt/notesMasters/notesMaster1.xml" Id="Ra1b108fcc98a48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1618880f3b4092" /><Relationship Type="http://schemas.openxmlformats.org/officeDocument/2006/relationships/notesMaster" Target="/ppt/notesMasters/notesMaster1.xml" Id="R647c7cfddb8443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899732bd2c49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d8b52fefd54d51" /><Relationship Type="http://schemas.openxmlformats.org/officeDocument/2006/relationships/slideLayout" Target="/ppt/slideLayouts/slideLayout1.xml" Id="Rb32e8e4402a749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2e8e4402a749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9274506e64974" /><Relationship Type="http://schemas.openxmlformats.org/officeDocument/2006/relationships/chart" Target="/ppt/slides/charts/chart1.xml" Id="R9e633b3923ee4e2b" /><Relationship Type="http://schemas.openxmlformats.org/officeDocument/2006/relationships/notesSlide" Target="/ppt/notesSlides/notesSlide1.xml" Id="R90dc4df7e47f4c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717678b644b76" /><Relationship Type="http://schemas.openxmlformats.org/officeDocument/2006/relationships/notesSlide" Target="/ppt/notesSlides/notesSlide2.xml" Id="R4a46a716389043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6116186cf4c26" /><Relationship Type="http://schemas.openxmlformats.org/officeDocument/2006/relationships/notesSlide" Target="/ppt/notesSlides/notesSlide3.xml" Id="R1a674c3590024e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5298dca234709" /><Relationship Type="http://schemas.openxmlformats.org/officeDocument/2006/relationships/notesSlide" Target="/ppt/notesSlides/notesSlide4.xml" Id="R4ac72a298304436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Revenue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Budget</c:v>
              </c:pt>
              <c:pt idx="1">
                <c:v>Downside</c:v>
              </c:pt>
              <c:pt idx="2">
                <c:v>Base</c:v>
              </c:pt>
              <c:pt idx="3">
                <c:v>Upside</c:v>
              </c:pt>
            </c:strLit>
          </c:cat>
          <c:val>
            <c:numLit>
              <c:formatCode>General</c:formatCode>
              <c:ptCount val="4"/>
              <c:pt idx="0">
                <c:v>7400</c:v>
              </c:pt>
              <c:pt idx="1">
                <c:v>7050</c:v>
              </c:pt>
              <c:pt idx="2">
                <c:v>7560</c:v>
              </c:pt>
              <c:pt idx="3">
                <c:v>7920</c:v>
              </c:pt>
            </c:numLit>
          </c:val>
        </c:ser>
        <c:ser>
          <c:idx val="1"/>
          <c:order val="1"/>
          <c:tx>
            <c:v>EBITDA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Budget</c:v>
              </c:pt>
              <c:pt idx="1">
                <c:v>Downside</c:v>
              </c:pt>
              <c:pt idx="2">
                <c:v>Base</c:v>
              </c:pt>
              <c:pt idx="3">
                <c:v>Upside</c:v>
              </c:pt>
            </c:strLit>
          </c:cat>
          <c:val>
            <c:numLit>
              <c:formatCode>General</c:formatCode>
              <c:ptCount val="4"/>
              <c:pt idx="0">
                <c:v>860</c:v>
              </c:pt>
              <c:pt idx="1">
                <c:v>720</c:v>
              </c:pt>
              <c:pt idx="2">
                <c:v>900</c:v>
              </c:pt>
              <c:pt idx="3">
                <c:v>1020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664AD-3604-464D-9811-40ECA815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4E78"/>
                </a:solidFill>
              </a:defRPr>
            </a:pPr>
            <a:r>
              <a:rPr sz="1050" b="1">
                <a:solidFill>
                  <a:srgbClr val="1F4E78"/>
                </a:solidFill>
              </a:rPr>
              <a:t>CEDAR WORKS | FY2026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8F1D3-F189-4552-B7CC-607166A3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Scenario committee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97EA1-BB14-43C1-938C-20AD705D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FY2026 decision frame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Budget: revenue 7,400 | EBITDA 860</a:t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Base: revenue 7,560 | EBITDA 900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Q1 actual revenue 1,842 and EBITDA 222 establish the starting point.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0" y="1714500"/>
          <a:ext xmlns:a="http://schemas.openxmlformats.org/drawingml/2006/main" cx="49530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633b3923ee4e2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B4AFB-848B-4C90-9969-3C480277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080"/>
                </a:solidFill>
              </a:defRPr>
            </a:pPr>
            <a:r>
              <a:rPr sz="1050" b="0">
                <a:solidFill>
                  <a:srgbClr val="607080"/>
                </a:solidFill>
              </a:rPr>
              <a:t>JPY millions | Synthetic planning model</a:t>
            </a:r>
          </a:p>
        </p:txBody>
      </p:sp>
    </p:spTree>
    <p:extLst>
      <p:ext uri="{BB962C8B-B14F-4D97-AF65-F5344CB8AC3E}">
        <p14:creationId xmlns:p14="http://schemas.microsoft.com/office/powerpoint/2010/main" val="985452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5E048-A030-4E82-82B9-287B5DE7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4E78"/>
                </a:solidFill>
              </a:defRPr>
            </a:pPr>
            <a:r>
              <a:rPr sz="1050" b="1">
                <a:solidFill>
                  <a:srgbClr val="1F4E78"/>
                </a:solidFill>
              </a:rPr>
              <a:t>CEDAR WORKS | FY2026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17791-8BC2-4F59-9094-58BD31ED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Downside remains above the liquidity floor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65FC7-9595-4C6D-8752-32038363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Downside: revenue 7,050 | EBITDA 720 | ending cash 310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Minimum liquidity: 250</a:t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Headroom: 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Control: PASS, but the buffer requires weekly cash visibility.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3A397-E601-4199-807A-47564F7D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080"/>
                </a:solidFill>
              </a:defRPr>
            </a:pPr>
            <a:r>
              <a:rPr sz="1050" b="0">
                <a:solidFill>
                  <a:srgbClr val="607080"/>
                </a:solidFill>
              </a:rPr>
              <a:t>JPY millions | Synthetic planning model</a:t>
            </a:r>
          </a:p>
        </p:txBody>
      </p:sp>
    </p:spTree>
    <p:extLst>
      <p:ext uri="{BB962C8B-B14F-4D97-AF65-F5344CB8AC3E}">
        <p14:creationId xmlns:p14="http://schemas.microsoft.com/office/powerpoint/2010/main" val="18763585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F2E78-DF35-4EEB-A905-95294190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4E78"/>
                </a:solidFill>
              </a:defRPr>
            </a:pPr>
            <a:r>
              <a:rPr sz="1050" b="1">
                <a:solidFill>
                  <a:srgbClr val="1F4E78"/>
                </a:solidFill>
              </a:rPr>
              <a:t>CEDAR WORKS | FY2026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AFE51-6938-46D1-9384-B30FCB19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March cash variance is fully explained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F89BA-C963-4C5C-B217-0DE6F096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Bank cash 486.2 vs ledger 498.6</a:t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Unfavorable variance: 12.4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Receipt timing 7.2</a:t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Vendor timing 3.1</a:t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Bank fees 1.3</a:t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FX 0.8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Reconciliation control: PASS.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107F8-F249-415E-B9EF-DC9554AB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080"/>
                </a:solidFill>
              </a:defRPr>
            </a:pPr>
            <a:r>
              <a:rPr sz="1050" b="0">
                <a:solidFill>
                  <a:srgbClr val="607080"/>
                </a:solidFill>
              </a:rPr>
              <a:t>JPY millions | Synthetic planning model</a:t>
            </a:r>
          </a:p>
        </p:txBody>
      </p:sp>
    </p:spTree>
    <p:extLst>
      <p:ext uri="{BB962C8B-B14F-4D97-AF65-F5344CB8AC3E}">
        <p14:creationId xmlns:p14="http://schemas.microsoft.com/office/powerpoint/2010/main" val="743254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DC4C5-CFB3-49FB-A666-DE8EA05E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4E78"/>
                </a:solidFill>
              </a:defRPr>
            </a:pPr>
            <a:r>
              <a:rPr sz="1050" b="1">
                <a:solidFill>
                  <a:srgbClr val="1F4E78"/>
                </a:solidFill>
              </a:rPr>
              <a:t>CEDAR WORKS | FY2026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66D9B-2D71-48B4-80AC-C35A03E4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Decision request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1A538-2529-445D-8C4C-120EC632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Approve a downside trigger at 300 ending cash and a weekly treasury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Owner: Finance Controller</a:t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Decision cadence: monthly scenario committee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</a:defRPr>
            </a:pPr>
            <a:r>
              <a:rPr sz="1650" b="0">
                <a:solidFill>
                  <a:srgbClr val="263238"/>
                </a:solidFill>
              </a:rPr>
              <a:t>No real accounts, counterparties, or personal data are included.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5D30C-E13B-4B99-B992-49E2BB89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080"/>
                </a:solidFill>
              </a:defRPr>
            </a:pPr>
            <a:r>
              <a:rPr sz="1050" b="0">
                <a:solidFill>
                  <a:srgbClr val="607080"/>
                </a:solidFill>
              </a:rPr>
              <a:t>JPY millions | Synthetic planning model</a:t>
            </a:r>
          </a:p>
        </p:txBody>
      </p:sp>
    </p:spTree>
    <p:extLst>
      <p:ext uri="{BB962C8B-B14F-4D97-AF65-F5344CB8AC3E}">
        <p14:creationId xmlns:p14="http://schemas.microsoft.com/office/powerpoint/2010/main" val="636487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2026-08-23T18:47:59.5050000Z</dcterms:created>
  <dcterms:modified xsi:type="dcterms:W3CDTF">2026-08-23T18:47:59.5050000Z</dcterms:modified>
</coreProperties>
</file>