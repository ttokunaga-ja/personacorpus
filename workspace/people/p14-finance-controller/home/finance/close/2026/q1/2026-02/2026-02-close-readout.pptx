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1b9105b9844145" /><Relationship Type="http://schemas.openxmlformats.org/officeDocument/2006/relationships/extended-properties" Target="/docProps/app.xml" Id="R211f48c2b8434c7b" /><Relationship Type="http://schemas.openxmlformats.org/officeDocument/2006/relationships/officeDocument" Target="/ppt/presentation.xml" Id="R84999a74ab9048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6410a44c0f4224"/>
  </p:sldMasterIdLst>
  <p:notesMasterIdLst>
    <p:notesMasterId xmlns:r="http://schemas.openxmlformats.org/officeDocument/2006/relationships" r:id="R44bce20723b44cba"/>
  </p:notesMasterIdLst>
  <p:sldIdLst>
    <p:sldId xmlns:r="http://schemas.openxmlformats.org/officeDocument/2006/relationships" id="256" r:id="R5c075de33f324ab0"/>
    <p:sldId xmlns:r="http://schemas.openxmlformats.org/officeDocument/2006/relationships" id="257" r:id="R55be058ac5bc4eda"/>
    <p:sldId xmlns:r="http://schemas.openxmlformats.org/officeDocument/2006/relationships" id="258" r:id="R56c64eb3889e4a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eea53e3844475c" /><Relationship Type="http://schemas.openxmlformats.org/officeDocument/2006/relationships/slideMaster" Target="/ppt/slideMasters/slideMaster1.xml" Id="R4e6410a44c0f4224" /><Relationship Type="http://schemas.openxmlformats.org/officeDocument/2006/relationships/notesMaster" Target="/ppt/notesMasters/notesMaster1.xml" Id="R44bce20723b44cba" /><Relationship Type="http://schemas.openxmlformats.org/officeDocument/2006/relationships/presProps" Target="/ppt/presProps.xml" Id="R269cd9eaf14e4448" /><Relationship Type="http://schemas.openxmlformats.org/officeDocument/2006/relationships/tableStyles" Target="/ppt/tableStyles.xml" Id="Raf3b16d47a1f43ba" /><Relationship Type="http://schemas.openxmlformats.org/officeDocument/2006/relationships/slide" Target="/ppt/slides/slide1.xml" Id="R5c075de33f324ab0" /><Relationship Type="http://schemas.openxmlformats.org/officeDocument/2006/relationships/slide" Target="/ppt/slides/slide2.xml" Id="R55be058ac5bc4eda" /><Relationship Type="http://schemas.openxmlformats.org/officeDocument/2006/relationships/slide" Target="/ppt/slides/slide3.xml" Id="R56c64eb3889e4a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29a4e6340941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odex Grid Cedar Works">
      <a:dk1>
        <a:srgbClr val="000000"/>
      </a:dk1>
      <a:lt1>
        <a:srgbClr val="FFFFFF"/>
      </a:lt1>
      <a:dk2>
        <a:srgbClr val="17365D"/>
      </a:dk2>
      <a:lt2>
        <a:srgbClr val="F6F8FA"/>
      </a:lt2>
      <a:accent1>
        <a:srgbClr val="3D8DFF"/>
      </a:accent1>
      <a:accent2>
        <a:srgbClr val="6DCBF4"/>
      </a:accent2>
      <a:accent3>
        <a:srgbClr val="D0EDFA"/>
      </a:accent3>
      <a:accent4>
        <a:srgbClr val="17365D"/>
      </a:accent4>
      <a:accent5>
        <a:srgbClr val="B8BCC4"/>
      </a:accent5>
      <a:accent6>
        <a:srgbClr val="207245"/>
      </a:accent6>
      <a:hlink>
        <a:srgbClr val="3D8DFF"/>
      </a:hlink>
      <a:folHlink>
        <a:srgbClr val="1736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dex Grid Cedar Work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1dd8c91b594111" /><Relationship Type="http://schemas.openxmlformats.org/officeDocument/2006/relationships/notesMaster" Target="/ppt/notesMasters/notesMaster1.xml" Id="Rf633f9ef9a7349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49fd057f31457c" /><Relationship Type="http://schemas.openxmlformats.org/officeDocument/2006/relationships/notesMaster" Target="/ppt/notesMasters/notesMaster1.xml" Id="Ra75cd2390c2a40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ff0dc0ef3d44fb" /><Relationship Type="http://schemas.openxmlformats.org/officeDocument/2006/relationships/notesMaster" Target="/ppt/notesMasters/notesMaster1.xml" Id="Re6db323d3e4a4a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72ced15ed44c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5032c866654b5d" /><Relationship Type="http://schemas.openxmlformats.org/officeDocument/2006/relationships/slideLayout" Target="/ppt/slideLayouts/slideLayout1.xml" Id="R0d1e53f9d36242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1e53f9d36242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odex Grid Cedar Works">
      <a:dk1>
        <a:srgbClr val="000000"/>
      </a:dk1>
      <a:lt1>
        <a:srgbClr val="FFFFFF"/>
      </a:lt1>
      <a:dk2>
        <a:srgbClr val="17365D"/>
      </a:dk2>
      <a:lt2>
        <a:srgbClr val="F6F8FA"/>
      </a:lt2>
      <a:accent1>
        <a:srgbClr val="3D8DFF"/>
      </a:accent1>
      <a:accent2>
        <a:srgbClr val="6DCBF4"/>
      </a:accent2>
      <a:accent3>
        <a:srgbClr val="D0EDFA"/>
      </a:accent3>
      <a:accent4>
        <a:srgbClr val="17365D"/>
      </a:accent4>
      <a:accent5>
        <a:srgbClr val="B8BCC4"/>
      </a:accent5>
      <a:accent6>
        <a:srgbClr val="207245"/>
      </a:accent6>
      <a:hlink>
        <a:srgbClr val="3D8DFF"/>
      </a:hlink>
      <a:folHlink>
        <a:srgbClr val="1736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dex Grid Cedar Work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3de3e57974fa0" /><Relationship Type="http://schemas.openxmlformats.org/officeDocument/2006/relationships/notesSlide" Target="/ppt/notesSlides/notesSlide1.xml" Id="R3e2499d1b43c45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78d65866c40ab" /><Relationship Type="http://schemas.openxmlformats.org/officeDocument/2006/relationships/notesSlide" Target="/ppt/notesSlides/notesSlide2.xml" Id="Rfd28382cc17947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e58b3c1bb4f7f" /><Relationship Type="http://schemas.openxmlformats.org/officeDocument/2006/relationships/notesSlide" Target="/ppt/notesSlides/notesSlide3.xml" Id="R8a4b17a67abd40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00D7B3-F9CC-4E55-887C-CA7BA7BF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CLOSE READOUT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EE55A-3A99-448C-9CE6-2C88ED2F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February close is certified for management reporting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16F4E-00EA-46C3-8E79-714843C1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1AC52-1B47-4F1E-85D8-1BBFA2CB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Q1 revenue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65280-9AF4-46A6-B9CF-DD7E6314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JPY 1,842.0m versus budget JPY 1,800.0m — JPY 42.0m favorable.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1D52C-569B-4942-B25B-D4E10F8A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Q1 EBITDA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5FBE7-6789-43C7-95DA-D3250CB8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194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JPY 222.0m versus budget JPY 210.0m — JPY 12.0m favorable.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6130F-C1FA-460F-891A-943E6098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Close 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1B7A3-CDE6-4EF9-9B16-36076278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434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Controls completed and role approval recorded on 2026-03-05.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725C6-31B7-4472-9BB8-88807DF0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CEDAR WORKS  /  FY2026 Q1  /  FEBRUARY CLOSE  /  01</a:t>
            </a:r>
          </a:p>
        </p:txBody>
      </p:sp>
    </p:spTree>
    <p:extLst>
      <p:ext uri="{BB962C8B-B14F-4D97-AF65-F5344CB8AC3E}">
        <p14:creationId xmlns:p14="http://schemas.microsoft.com/office/powerpoint/2010/main" val="19345206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DFAAF-2900-458D-80B8-E430BD8A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FINANCIAL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419C0-8559-4088-ABA8-91F97E1F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Revenue strength offsets focused cost pressure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53336-1271-4BC4-97AD-146BE49A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FCAB8-EA6A-4E1F-84D3-0DDB7812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Gross profit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974A0-DA83-4CC7-9992-4D6E13C7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JPY 711.0m, reflecting revenue above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E69DF-4810-488D-AE04-1419C01D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Operating expenses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2FE88-AF80-423D-979D-56510231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194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JPY 489.0m, JPY 1.0m favorable to budget.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55B58-A691-451B-862B-DAE5D659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Management focus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B77C88-6F96-4280-ABD8-D37AE492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434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Keep logistics and materials in the next operating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AA8A5-3790-4FF0-8939-C9231166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CEDAR WORKS  /  FY2026 Q1  /  FEBRUARY CLOSE  /  02</a:t>
            </a:r>
          </a:p>
        </p:txBody>
      </p:sp>
    </p:spTree>
    <p:extLst>
      <p:ext uri="{BB962C8B-B14F-4D97-AF65-F5344CB8AC3E}">
        <p14:creationId xmlns:p14="http://schemas.microsoft.com/office/powerpoint/2010/main" val="1415538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A672D-3FB8-421E-9516-D2CC5E60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CONTROLS &amp;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32841-48C7-45F6-9EAA-AC479185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Cash timing: March context only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A5C77-92F4-4462-93F9-11DEFE0C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A0F72-9037-448F-A2CE-9F9102CF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Balance sheet anchors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6F5FE-05C7-4613-80F5-91413B53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AR JPY 312.0m | AP JPY 226.0m | Inventory JPY 418.0m.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8B578-1DFE-49D7-8BCB-B91B18A9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March context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1A546-5B48-4949-810C-8D83A3E8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194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Bank cash JPY 486.2m vs ledger JPY 498.6m — JPY 12.4m timing variance.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2D918-B29B-469B-9578-166ED0CC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CAD0E-2140-4660-98D6-8530229F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434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</a:defRPr>
            </a:pPr>
            <a:r>
              <a:rPr sz="1425" b="0">
                <a:solidFill>
                  <a:srgbClr val="475569"/>
                </a:solidFill>
              </a:rPr>
              <a:t>Clear receipt and vendor timing evidence; monitor cost trend.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8FEA8-6BCC-453F-A7F0-7DF0050F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75569"/>
                </a:solidFill>
              </a:defRPr>
            </a:pPr>
            <a:r>
              <a:rPr sz="825" b="1">
                <a:solidFill>
                  <a:srgbClr val="475569"/>
                </a:solidFill>
              </a:rPr>
              <a:t>CEDAR WORKS  /  FY2026 Q1  /  FEBRUARY CLOSE  /  03</a:t>
            </a:r>
          </a:p>
        </p:txBody>
      </p:sp>
    </p:spTree>
    <p:extLst>
      <p:ext uri="{BB962C8B-B14F-4D97-AF65-F5344CB8AC3E}">
        <p14:creationId xmlns:p14="http://schemas.microsoft.com/office/powerpoint/2010/main" val="932240160"/>
      </p:ext>
    </p:extLst>
  </p:cSld>
</p:sld>
</file>

<file path=ppt/theme/theme1.xml><?xml version="1.0" encoding="utf-8"?>
<a:theme xmlns:a="http://schemas.openxmlformats.org/drawingml/2006/main" name="ChatGPT">
  <a:themeElements>
    <a:clrScheme name="Codex Grid Cedar Works">
      <a:dk1>
        <a:srgbClr val="000000"/>
      </a:dk1>
      <a:lt1>
        <a:srgbClr val="FFFFFF"/>
      </a:lt1>
      <a:dk2>
        <a:srgbClr val="17365D"/>
      </a:dk2>
      <a:lt2>
        <a:srgbClr val="F6F8FA"/>
      </a:lt2>
      <a:accent1>
        <a:srgbClr val="3D8DFF"/>
      </a:accent1>
      <a:accent2>
        <a:srgbClr val="6DCBF4"/>
      </a:accent2>
      <a:accent3>
        <a:srgbClr val="D0EDFA"/>
      </a:accent3>
      <a:accent4>
        <a:srgbClr val="17365D"/>
      </a:accent4>
      <a:accent5>
        <a:srgbClr val="B8BCC4"/>
      </a:accent5>
      <a:accent6>
        <a:srgbClr val="207245"/>
      </a:accent6>
      <a:hlink>
        <a:srgbClr val="3D8DFF"/>
      </a:hlink>
      <a:folHlink>
        <a:srgbClr val="17365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odex Grid Cedar Work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2026-08-23T18:53:31.1210000Z</dcterms:created>
  <dcterms:modified xsi:type="dcterms:W3CDTF">2026-08-23T18:53:31.1210000Z</dcterms:modified>
</coreProperties>
</file>