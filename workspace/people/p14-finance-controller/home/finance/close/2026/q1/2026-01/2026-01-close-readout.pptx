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f9ac7891b94250" /><Relationship Type="http://schemas.openxmlformats.org/officeDocument/2006/relationships/extended-properties" Target="/docProps/app.xml" Id="R5862068f72b442d2" /><Relationship Type="http://schemas.openxmlformats.org/officeDocument/2006/relationships/officeDocument" Target="/ppt/presentation.xml" Id="Re3f7220f6eb949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6067b7a15b41e0"/>
  </p:sldMasterIdLst>
  <p:notesMasterIdLst>
    <p:notesMasterId xmlns:r="http://schemas.openxmlformats.org/officeDocument/2006/relationships" r:id="R6d8696715c27472f"/>
  </p:notesMasterIdLst>
  <p:sldIdLst>
    <p:sldId xmlns:r="http://schemas.openxmlformats.org/officeDocument/2006/relationships" id="256" r:id="R60ef2b9d8eef4e3b"/>
    <p:sldId xmlns:r="http://schemas.openxmlformats.org/officeDocument/2006/relationships" id="257" r:id="R1da4da59e04d4d37"/>
    <p:sldId xmlns:r="http://schemas.openxmlformats.org/officeDocument/2006/relationships" id="258" r:id="Rdcf4a099315d4464"/>
    <p:sldId xmlns:r="http://schemas.openxmlformats.org/officeDocument/2006/relationships" id="259" r:id="Ra68d207d73884d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ab923f01cc4031" /><Relationship Type="http://schemas.openxmlformats.org/officeDocument/2006/relationships/slideMaster" Target="/ppt/slideMasters/slideMaster1.xml" Id="Rcb6067b7a15b41e0" /><Relationship Type="http://schemas.openxmlformats.org/officeDocument/2006/relationships/notesMaster" Target="/ppt/notesMasters/notesMaster1.xml" Id="R6d8696715c27472f" /><Relationship Type="http://schemas.openxmlformats.org/officeDocument/2006/relationships/presProps" Target="/ppt/presProps.xml" Id="Re87196af9ce0412a" /><Relationship Type="http://schemas.openxmlformats.org/officeDocument/2006/relationships/tableStyles" Target="/ppt/tableStyles.xml" Id="Rf5d8af9cd4a94735" /><Relationship Type="http://schemas.openxmlformats.org/officeDocument/2006/relationships/slide" Target="/ppt/slides/slide1.xml" Id="R60ef2b9d8eef4e3b" /><Relationship Type="http://schemas.openxmlformats.org/officeDocument/2006/relationships/slide" Target="/ppt/slides/slide2.xml" Id="R1da4da59e04d4d37" /><Relationship Type="http://schemas.openxmlformats.org/officeDocument/2006/relationships/slide" Target="/ppt/slides/slide3.xml" Id="Rdcf4a099315d4464" /><Relationship Type="http://schemas.openxmlformats.org/officeDocument/2006/relationships/slide" Target="/ppt/slides/slide4.xml" Id="Ra68d207d73884d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310c72064b4e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a757c81adb4fb4" /><Relationship Type="http://schemas.openxmlformats.org/officeDocument/2006/relationships/notesMaster" Target="/ppt/notesMasters/notesMaster1.xml" Id="R1ff917fb28144f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414d7ba7b64b6a" /><Relationship Type="http://schemas.openxmlformats.org/officeDocument/2006/relationships/notesMaster" Target="/ppt/notesMasters/notesMaster1.xml" Id="Rce0f1b6d8e2048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323d5029674edb" /><Relationship Type="http://schemas.openxmlformats.org/officeDocument/2006/relationships/notesMaster" Target="/ppt/notesMasters/notesMaster1.xml" Id="Re94367c9b2db49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bda25fbd774635" /><Relationship Type="http://schemas.openxmlformats.org/officeDocument/2006/relationships/notesMaster" Target="/ppt/notesMasters/notesMaster1.xml" Id="R7b5e668b1d8e44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21f8bb49242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457c839d0b4bd1" /><Relationship Type="http://schemas.openxmlformats.org/officeDocument/2006/relationships/slideLayout" Target="/ppt/slideLayouts/slideLayout1.xml" Id="Rf90685b109a34e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0685b109a34e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0770bb44240e0" /><Relationship Type="http://schemas.openxmlformats.org/officeDocument/2006/relationships/notesSlide" Target="/ppt/notesSlides/notesSlide1.xml" Id="R05b6201b6d1b41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7bfaaca6c42d9" /><Relationship Type="http://schemas.openxmlformats.org/officeDocument/2006/relationships/chart" Target="/ppt/slides/charts/chart1.xml" Id="R2d266fc1f258455c" /><Relationship Type="http://schemas.openxmlformats.org/officeDocument/2006/relationships/notesSlide" Target="/ppt/notesSlides/notesSlide2.xml" Id="Rca3ab3d8bbde4e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540ecd6454a2a" /><Relationship Type="http://schemas.openxmlformats.org/officeDocument/2006/relationships/notesSlide" Target="/ppt/notesSlides/notesSlide3.xml" Id="R6aa90314ab6d4a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431cde14a4e40" /><Relationship Type="http://schemas.openxmlformats.org/officeDocument/2006/relationships/notesSlide" Target="/ppt/notesSlides/notesSlide4.xml" Id="R19eb4d645259486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Actual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3"/>
              <c:pt idx="0">
                <c:v>Revenue</c:v>
              </c:pt>
              <c:pt idx="1">
                <c:v>Gross profit</c:v>
              </c:pt>
              <c:pt idx="2">
                <c:v>EBITDA</c:v>
              </c:pt>
            </c:strLit>
          </c:cat>
          <c:val>
            <c:numLit>
              <c:formatCode>General</c:formatCode>
              <c:ptCount val="3"/>
              <c:pt idx="0">
                <c:v>1842</c:v>
              </c:pt>
              <c:pt idx="1">
                <c:v>711</c:v>
              </c:pt>
              <c:pt idx="2">
                <c:v>222</c:v>
              </c:pt>
            </c:numLit>
          </c:val>
        </c:ser>
        <c:ser>
          <c:idx val="1"/>
          <c:order val="1"/>
          <c:tx>
            <c:v>Budget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3"/>
              <c:pt idx="0">
                <c:v>Revenue</c:v>
              </c:pt>
              <c:pt idx="1">
                <c:v>Gross profit</c:v>
              </c:pt>
              <c:pt idx="2">
                <c:v>EBITDA</c:v>
              </c:pt>
            </c:strLit>
          </c:cat>
          <c:val>
            <c:numLit>
              <c:formatCode>General</c:formatCode>
              <c:ptCount val="3"/>
              <c:pt idx="0">
                <c:v>1800</c:v>
              </c:pt>
              <c:pt idx="1">
                <c:v>696</c:v>
              </c:pt>
              <c:pt idx="2">
                <c:v>210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3383E-B834-4F49-9AF2-96B3FEF9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CEDAR WORKS |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1238A-9743-447A-A006-CBDE425B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B"/>
                </a:solidFill>
              </a:defRPr>
            </a:pPr>
            <a:r>
              <a:rPr sz="3150" b="1">
                <a:solidFill>
                  <a:srgbClr val="0F172B"/>
                </a:solidFill>
              </a:rPr>
              <a:t>January close: Q1 plan delivered, cash follow-up controlled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0F967-EEE3-41AB-8DE4-C86F3F56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Executive close readout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EAD05-92CA-40AA-9176-69403B40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FY2026 Q1 | Currency: JPY | January close certified 2026-02-05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CF8F9-5D30-41E8-A519-413D061D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Revenue</a:t>
            </a:r>
          </a:p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1,842,000,000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30080-6522-4E07-A16D-E0767F1B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EBITDA</a:t>
            </a:r>
          </a:p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222,000,000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DE9DC-0113-4F68-BCB3-E2398EAD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575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Close status</a:t>
            </a:r>
          </a:p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CERTIFIED</a:t>
            </a:r>
          </a:p>
        </p:txBody>
      </p:sp>
    </p:spTree>
    <p:extLst>
      <p:ext uri="{BB962C8B-B14F-4D97-AF65-F5344CB8AC3E}">
        <p14:creationId xmlns:p14="http://schemas.microsoft.com/office/powerpoint/2010/main" val="1429578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2DE20-D35F-4E90-B220-739F4773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CEDAR WORKS |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52B47-5EC0-415D-A04F-FB4D5D1F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B"/>
                </a:solidFill>
              </a:defRPr>
            </a:pPr>
            <a:r>
              <a:rPr sz="3150" b="1">
                <a:solidFill>
                  <a:srgbClr val="0F172B"/>
                </a:solidFill>
              </a:rPr>
              <a:t>Q1 EBITDA exceeded budget by JPY 12,000,000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A816E-EE49-4421-9F64-7A92C946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Performance stayed on plan while gross profit grew with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BB1B6-B625-441F-9893-4B1F4D72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FY2026 Q1 | Currency: JPY | January close certified 2026-02-05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63817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266fc1f258455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851DC-F8D7-4F2D-B242-FECF35A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Interpretation</a:t>
            </a:r>
          </a:p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• Revenue ahead of budget by JPY 42m</a:t>
            </a:r>
          </a:p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• Gross profit ahead by JPY 15m</a:t>
            </a:r>
          </a:p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• Opex remained within the operating envelope</a:t>
            </a:r>
          </a:p>
        </p:txBody>
      </p:sp>
    </p:spTree>
    <p:extLst>
      <p:ext uri="{BB962C8B-B14F-4D97-AF65-F5344CB8AC3E}">
        <p14:creationId xmlns:p14="http://schemas.microsoft.com/office/powerpoint/2010/main" val="18214424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BA5F1-ABE3-40F3-9522-76B22E6D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CEDAR WORKS |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B804C-0955-44D5-AF3B-85CF5340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B"/>
                </a:solidFill>
              </a:defRPr>
            </a:pPr>
            <a:r>
              <a:rPr sz="3150" b="1">
                <a:solidFill>
                  <a:srgbClr val="0F172B"/>
                </a:solidFill>
              </a:rPr>
              <a:t>March bank-to-ledger variance is fully bridged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BB1ED-CFDC-4114-9E3B-4E9AD2E5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Bank cash JPY 486.2m vs ledger cash JPY 498.6m: JPY 12.4m unfavorable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9F48D-26A5-4D45-A541-BFDD6B37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FY2026 Q1 | Currency: JPY | January close certified 2026-02-05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0BB97-A66E-404C-95D3-DA1E6D91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Receipt timing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824EE-5882-49CD-8626-C70BDC53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7.2m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FBA29-24F5-4A0F-80F2-4B4F52E9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Vendor timing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872C8-C885-4CFA-B7E0-041CB565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908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3.1m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66E2A-99F5-4925-B885-980CD750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Bank fees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F734D-D4D4-4B14-9AAD-EFEEB2C3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1.3m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E50B1-F476-4319-A9BB-5A2C6B24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FX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74E63-22B5-4EF1-844A-34FEEB66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291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0.8m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3D091-79DE-4513-84EC-F94EBA0B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Timing and remeasurement bridge; no January certification impact.</a:t>
            </a:r>
          </a:p>
        </p:txBody>
      </p:sp>
    </p:spTree>
    <p:extLst>
      <p:ext uri="{BB962C8B-B14F-4D97-AF65-F5344CB8AC3E}">
        <p14:creationId xmlns:p14="http://schemas.microsoft.com/office/powerpoint/2010/main" val="19992833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176B0-BDE1-40D4-9803-54C7A512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CEDAR WORKS |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2C684-604D-48DB-8A0B-94E6F7C5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B"/>
                </a:solidFill>
              </a:defRPr>
            </a:pPr>
            <a:r>
              <a:rPr sz="3150" b="1">
                <a:solidFill>
                  <a:srgbClr val="0F172B"/>
                </a:solidFill>
              </a:rPr>
              <a:t>Close controls are complete; March clearing remains owned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15E43-9E6B-498F-B73D-8E2BBB45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Role-based control evidence supports certification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72090-03AC-4C36-BC80-760379BA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FY2026 Q1 | Currency: JPY | January close certified 2026-02-05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E7767-15B8-4F10-B78A-D77F0724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Completed</a:t>
            </a:r>
          </a:p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Revenue cutoff</a:t>
            </a:r>
          </a:p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AP accruals</a:t>
            </a:r>
          </a:p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Fixed asset rollforward</a:t>
            </a:r>
          </a:p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Trial balance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172CB-0A3A-49EA-84B6-DE7AD3AF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Next actions</a:t>
            </a:r>
          </a:p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Clear receipt and vendor timing</a:t>
            </a:r>
          </a:p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Post bank fees</a:t>
            </a:r>
          </a:p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Confirm FX remeasurement</a:t>
            </a:r>
          </a:p>
          <a:p xmlns:a="http://schemas.openxmlformats.org/drawingml/2006/main">
            <a:pPr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Report closure in April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38F99-ED26-4DAC-9DFE-21427624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Decision: accept January close certification and monitor March cash bridge to clearance.</a:t>
            </a:r>
          </a:p>
        </p:txBody>
      </p:sp>
    </p:spTree>
    <p:extLst>
      <p:ext uri="{BB962C8B-B14F-4D97-AF65-F5344CB8AC3E}">
        <p14:creationId xmlns:p14="http://schemas.microsoft.com/office/powerpoint/2010/main" val="2143512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2026-08-23T18:59:36.3230000Z</dcterms:created>
  <dcterms:modified xsi:type="dcterms:W3CDTF">2026-08-23T18:59:36.3230000Z</dcterms:modified>
</coreProperties>
</file>