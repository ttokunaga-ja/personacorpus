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ec9afc40bc4bdd" /><Relationship Type="http://schemas.openxmlformats.org/officeDocument/2006/relationships/extended-properties" Target="/docProps/app.xml" Id="R931ad7a545eb42c9" /><Relationship Type="http://schemas.openxmlformats.org/officeDocument/2006/relationships/officeDocument" Target="/ppt/presentation.xml" Id="Ref37addbf98643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f0296c339b4a66"/>
  </p:sldMasterIdLst>
  <p:notesMasterIdLst>
    <p:notesMasterId xmlns:r="http://schemas.openxmlformats.org/officeDocument/2006/relationships" r:id="Ra7920567e84446a0"/>
  </p:notesMasterIdLst>
  <p:sldIdLst>
    <p:sldId xmlns:r="http://schemas.openxmlformats.org/officeDocument/2006/relationships" id="256" r:id="Rd5292e56b30a4752"/>
    <p:sldId xmlns:r="http://schemas.openxmlformats.org/officeDocument/2006/relationships" id="257" r:id="Ra4b5f56105f143a3"/>
    <p:sldId xmlns:r="http://schemas.openxmlformats.org/officeDocument/2006/relationships" id="258" r:id="R2a0a1eac730d41c0"/>
    <p:sldId xmlns:r="http://schemas.openxmlformats.org/officeDocument/2006/relationships" id="259" r:id="R427512c248784925"/>
    <p:sldId xmlns:r="http://schemas.openxmlformats.org/officeDocument/2006/relationships" id="260" r:id="Re5142c25ebc045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df55566f8e4a9c" /><Relationship Type="http://schemas.openxmlformats.org/officeDocument/2006/relationships/slideMaster" Target="/ppt/slideMasters/slideMaster1.xml" Id="R9af0296c339b4a66" /><Relationship Type="http://schemas.openxmlformats.org/officeDocument/2006/relationships/notesMaster" Target="/ppt/notesMasters/notesMaster1.xml" Id="Ra7920567e84446a0" /><Relationship Type="http://schemas.openxmlformats.org/officeDocument/2006/relationships/presProps" Target="/ppt/presProps.xml" Id="R62f0aa6a7acc4ae8" /><Relationship Type="http://schemas.openxmlformats.org/officeDocument/2006/relationships/tableStyles" Target="/ppt/tableStyles.xml" Id="Rbaa7967594634101" /><Relationship Type="http://schemas.openxmlformats.org/officeDocument/2006/relationships/slide" Target="/ppt/slides/slide1.xml" Id="Rd5292e56b30a4752" /><Relationship Type="http://schemas.openxmlformats.org/officeDocument/2006/relationships/slide" Target="/ppt/slides/slide2.xml" Id="Ra4b5f56105f143a3" /><Relationship Type="http://schemas.openxmlformats.org/officeDocument/2006/relationships/slide" Target="/ppt/slides/slide3.xml" Id="R2a0a1eac730d41c0" /><Relationship Type="http://schemas.openxmlformats.org/officeDocument/2006/relationships/slide" Target="/ppt/slides/slide4.xml" Id="R427512c248784925" /><Relationship Type="http://schemas.openxmlformats.org/officeDocument/2006/relationships/slide" Target="/ppt/slides/slide5.xml" Id="Re5142c25ebc045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0b848b6c524e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9af17f73574dc0" /><Relationship Type="http://schemas.openxmlformats.org/officeDocument/2006/relationships/notesMaster" Target="/ppt/notesMasters/notesMaster1.xml" Id="Rb1b034afc5e34b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3587a5a9774f40" /><Relationship Type="http://schemas.openxmlformats.org/officeDocument/2006/relationships/notesMaster" Target="/ppt/notesMasters/notesMaster1.xml" Id="Rfaa67837f77349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74bf1cec414ee5" /><Relationship Type="http://schemas.openxmlformats.org/officeDocument/2006/relationships/notesMaster" Target="/ppt/notesMasters/notesMaster1.xml" Id="R26ceb09bcd064b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4c2cfe3f534e3e" /><Relationship Type="http://schemas.openxmlformats.org/officeDocument/2006/relationships/notesMaster" Target="/ppt/notesMasters/notesMaster1.xml" Id="R1133e772f33649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ea6adc85b94d73" /><Relationship Type="http://schemas.openxmlformats.org/officeDocument/2006/relationships/notesMaster" Target="/ppt/notesMasters/notesMaster1.xml" Id="Rc1dcfa73bf9c45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92902b6c2e4d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34dd29feaa4629" /><Relationship Type="http://schemas.openxmlformats.org/officeDocument/2006/relationships/slideLayout" Target="/ppt/slideLayouts/slideLayout1.xml" Id="R329e435b667d41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9e435b667d41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de81b0467461b" /><Relationship Type="http://schemas.openxmlformats.org/officeDocument/2006/relationships/notesSlide" Target="/ppt/notesSlides/notesSlide1.xml" Id="R26063980254b49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19131b6ae4637" /><Relationship Type="http://schemas.openxmlformats.org/officeDocument/2006/relationships/notesSlide" Target="/ppt/notesSlides/notesSlide2.xml" Id="R67baf745059344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f4cba37a544f6" /><Relationship Type="http://schemas.openxmlformats.org/officeDocument/2006/relationships/chart" Target="/ppt/slides/charts/chart1.xml" Id="R91c88785bad444c1" /><Relationship Type="http://schemas.openxmlformats.org/officeDocument/2006/relationships/notesSlide" Target="/ppt/notesSlides/notesSlide3.xml" Id="R4eacfd8ffbc149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6f82689e94a32" /><Relationship Type="http://schemas.openxmlformats.org/officeDocument/2006/relationships/notesSlide" Target="/ppt/notesSlides/notesSlide4.xml" Id="R623c58a746aa41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a8384567747fc" /><Relationship Type="http://schemas.openxmlformats.org/officeDocument/2006/relationships/notesSlide" Target="/ppt/notesSlides/notesSlide5.xml" Id="Rb3a1fddbf979450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Revenue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Budget</c:v>
              </c:pt>
              <c:pt idx="1">
                <c:v>Downside</c:v>
              </c:pt>
              <c:pt idx="2">
                <c:v>Base</c:v>
              </c:pt>
              <c:pt idx="3">
                <c:v>Upside</c:v>
              </c:pt>
            </c:strLit>
          </c:cat>
          <c:val>
            <c:numLit>
              <c:formatCode>General</c:formatCode>
              <c:ptCount val="4"/>
              <c:pt idx="0">
                <c:v>7400</c:v>
              </c:pt>
              <c:pt idx="1">
                <c:v>7050</c:v>
              </c:pt>
              <c:pt idx="2">
                <c:v>7560</c:v>
              </c:pt>
              <c:pt idx="3">
                <c:v>7920</c:v>
              </c:pt>
            </c:numLit>
          </c:val>
        </c:ser>
        <c:ser>
          <c:idx val="1"/>
          <c:order val="1"/>
          <c:tx>
            <c:v>EBITDA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Budget</c:v>
              </c:pt>
              <c:pt idx="1">
                <c:v>Downside</c:v>
              </c:pt>
              <c:pt idx="2">
                <c:v>Base</c:v>
              </c:pt>
              <c:pt idx="3">
                <c:v>Upside</c:v>
              </c:pt>
            </c:strLit>
          </c:cat>
          <c:val>
            <c:numLit>
              <c:formatCode>General</c:formatCode>
              <c:ptCount val="4"/>
              <c:pt idx="0">
                <c:v>860</c:v>
              </c:pt>
              <c:pt idx="1">
                <c:v>720</c:v>
              </c:pt>
              <c:pt idx="2">
                <c:v>900</c:v>
              </c:pt>
              <c:pt idx="3">
                <c:v>1020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6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2E002-5099-436B-B998-1098790F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CEDAR WORKS • BOARD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D9BDC-B55B-484E-B258-AD01DEE6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Q1 Forecast Outlook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FD9E7-B7B2-462D-8F5A-238D5A11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FY2026 Q1 • March 2026 close • JPY millions unless noted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CB91C-1475-4F9B-B505-3D8D1B9E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03463-924D-4B15-AA62-066F33DA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57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12B"/>
                </a:solidFill>
              </a:defRPr>
            </a:pPr>
            <a:r>
              <a:rPr sz="4350" b="1">
                <a:solidFill>
                  <a:srgbClr val="17212B"/>
                </a:solidFill>
              </a:rPr>
              <a:t>Q1 Forecast Outlook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6A296-E497-4103-84CE-F816004F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0606D"/>
                </a:solidFill>
              </a:defRPr>
            </a:pPr>
            <a:r>
              <a:rPr sz="1800" b="0">
                <a:solidFill>
                  <a:srgbClr val="50606D"/>
                </a:solidFill>
              </a:rPr>
              <a:t>Decision-ready view of Q1 performance, cash control and the FY2026 operating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D3656-B92A-44A6-A798-71C8B48E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Synthetic internal board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402C0-5A67-4D27-AB19-21DE3C0E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41CE0-3F74-499B-BA53-13D80647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0714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87F7A8-AEA3-4D65-AC36-FC8FD153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Q1 PERFORMANCE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9BA9B-039A-4563-91D3-860A6F53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Q1 closes ahead of plan while cash execution needs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E1E1B-1463-42AA-95E4-1EBFABC7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FY2026 Q1 • Board Finance • JPY millions unless noted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1E449-F440-4BF4-A534-361EA3E7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69D08-FB67-4C65-9B3F-CDF52AD6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6402C-8A4A-4700-8A06-88C7ADB2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Revenue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AF3F1-C56E-4E4A-BCCA-419182A2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1,842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D35F7-9786-4B18-8E3E-5C2B9687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431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96584-DFCE-4AF3-833D-BF555B42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955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Gross margin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C099D-AF42-4902-BBDA-33F9FCCC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6222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6E4F"/>
                </a:solidFill>
              </a:defRPr>
            </a:pPr>
            <a:r>
              <a:rPr sz="2175" b="1">
                <a:solidFill>
                  <a:srgbClr val="0B6E4F"/>
                </a:solidFill>
              </a:rPr>
              <a:t>38.6%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E2BC4-D8FF-49F0-B1D6-5CE8581B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43125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CE596-8FEB-4A27-9231-7844B412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9552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EBITDA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3EB61-78AF-40DD-8F4E-15ACA430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6222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6E4F"/>
                </a:solidFill>
              </a:defRPr>
            </a:pPr>
            <a:r>
              <a:rPr sz="2175" b="1">
                <a:solidFill>
                  <a:srgbClr val="0B6E4F"/>
                </a:solidFill>
              </a:rPr>
              <a:t>222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A46C7-A8A8-4C2E-BC71-A0F191FA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22E5E-EB02-4C22-8F17-4131D405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95525"/>
            <a:ext cx="2228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Cash variance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97FDC-8477-441E-B861-8F636F01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62225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63A3A"/>
                </a:solidFill>
              </a:defRPr>
            </a:pPr>
            <a:r>
              <a:rPr sz="2175" b="1">
                <a:solidFill>
                  <a:srgbClr val="B63A3A"/>
                </a:solidFill>
              </a:rPr>
              <a:t>12.4 U/F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A38A79-1BD3-4707-833C-BC4C1F8A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Q1 revenue is JPY 42m above budget and EBITDA is JPY 12m above budget. The board’s near-term question is whether working-capital and receipt timing discipline can preserve the base-case trajectory.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3BD67B-501D-4E17-9DFB-2D93D4AE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6FC613-C1E4-451D-B4BF-A286D911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626941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E4D74-BC9D-4644-9E7E-889E828B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FORECAST OUTLOOK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4B5FE-AF8F-4A37-8DBD-D16E512E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Base case supports FY2026 EBITDA of JPY 900m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E6349-DC80-4400-B5AA-CD4C7F2B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Scenario lens • JPY millions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B34D9-5D28-460D-AEC4-E3E9035F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6191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c88785bad444c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C971D-F9A0-4B90-BFC1-5ABB1D86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F3755-82FA-45E9-A7DD-47C0828D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24790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Base revenue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74F3B-C5B6-4D2E-BEEC-583940AB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5146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D8DFF"/>
                </a:solidFill>
              </a:defRPr>
            </a:pPr>
            <a:r>
              <a:rPr sz="2175" b="1">
                <a:solidFill>
                  <a:srgbClr val="3D8DFF"/>
                </a:solidFill>
              </a:rPr>
              <a:t>7,560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78903-2E8F-4670-A521-58509FA9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337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1B835-175F-47A8-BCDC-F8E60701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486150"/>
            <a:ext cx="2514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Base EBITDA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61574-8CC9-4130-B5ED-0BECE1BA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528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6E4F"/>
                </a:solidFill>
              </a:defRPr>
            </a:pPr>
            <a:r>
              <a:rPr sz="2175" b="1">
                <a:solidFill>
                  <a:srgbClr val="0B6E4F"/>
                </a:solidFill>
              </a:rPr>
              <a:t>900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1E061-DE26-4125-894A-7F85CCFE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6250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Board action: approve the base case as the operating plan and preserve the downside trigger at JPY 300m ending cash.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0825B-CCAF-4A44-94AF-EE4A8B32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A5141-4E65-45B2-ACAE-50147C5D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44023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C7EAC9-9DBC-44BD-A926-5EAA1A40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CASH RECONCILIATION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79E5C-06C2-4300-A27D-6EB9F0AA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March bank balance trails ledger by JPY 12.4m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ABB45-82DE-43C0-BBC5-6EA7E7BB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March 2026 close • JPY millions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6A35C-BED1-4B78-9F17-B7E232C6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5D955-3762-40D8-9C73-A240D345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D7378-D366-4143-95A6-EE87274A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05025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Bank balance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31890-50D7-49E0-B12A-2C4D3394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B5B"/>
                </a:solidFill>
              </a:defRPr>
            </a:pPr>
            <a:r>
              <a:rPr sz="2175" b="1">
                <a:solidFill>
                  <a:srgbClr val="153B5B"/>
                </a:solidFill>
              </a:rPr>
              <a:t>486.2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D76397-894E-4F75-9A78-D6AAA307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2C905-6C38-4B79-8DC4-88577933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05025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Ledger cash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40CE2-32B6-48D3-A00B-363F9CDD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71725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B5B"/>
                </a:solidFill>
              </a:defRPr>
            </a:pPr>
            <a:r>
              <a:rPr sz="2175" b="1">
                <a:solidFill>
                  <a:srgbClr val="153B5B"/>
                </a:solidFill>
              </a:rPr>
              <a:t>498.6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30C56-DCB1-4FD7-86A1-6E2DEF8E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797DF-9DF5-4E75-A597-63E24E7C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05025"/>
            <a:ext cx="1990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0606D"/>
                </a:solidFill>
              </a:defRPr>
            </a:pPr>
            <a:r>
              <a:rPr sz="1050" b="1">
                <a:solidFill>
                  <a:srgbClr val="50606D"/>
                </a:solidFill>
              </a:rPr>
              <a:t>Unfavorable variance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55E12-BC04-4686-AC84-82F8C409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71725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63A3A"/>
                </a:solidFill>
              </a:defRPr>
            </a:pPr>
            <a:r>
              <a:rPr sz="2175" b="1">
                <a:solidFill>
                  <a:srgbClr val="B63A3A"/>
                </a:solidFill>
              </a:rPr>
              <a:t>12.4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69424-1FA2-4188-A048-E309779B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Variance drivers — full reconciliation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CB8B4-F72E-4258-89BC-5A28DFA5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Receipt timing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F4B0D1-9A14-42B2-B6AB-AE513B30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57625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F6CBCF-929A-4806-8527-A8B40342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862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7.2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C5EC60-59BD-4D3F-B902-34BC4999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Vendor timing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FBB49-933D-4961-A32E-005AB09D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241961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27582-5E2E-4794-BFCB-C644326A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115" y="43148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3.1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07524D-2676-4953-A714-6B6C52C4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Bank fees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CFF82E-D7BB-48D9-A691-A1A15F39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14875"/>
            <a:ext cx="101467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B6C4E1-69DB-4B10-978E-E438D51B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177" y="4743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1.3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BE7216-E31F-4AD6-85B8-77E2A728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212B"/>
                </a:solidFill>
              </a:defRPr>
            </a:pPr>
            <a:r>
              <a:rPr sz="1050" b="0">
                <a:solidFill>
                  <a:srgbClr val="17212B"/>
                </a:solidFill>
              </a:rPr>
              <a:t>FX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52AD75-2A73-4C0E-BB03-992C6349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43500"/>
            <a:ext cx="62441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B6A2B3-41F5-4072-8C45-9CE9A6DE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917" y="517207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212B"/>
                </a:solidFill>
              </a:defRPr>
            </a:pPr>
            <a:r>
              <a:rPr sz="975" b="1">
                <a:solidFill>
                  <a:srgbClr val="17212B"/>
                </a:solidFill>
              </a:rPr>
              <a:t>0.8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EF5E95-95E5-4F14-99CA-1D70369C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Decision: ratify the reconciliation and retain weekly Treasury review until receipt timing normalizes.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E46854-C4AB-4E6A-ADCA-052E66E7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1B3287-89C9-4144-AA9A-12F9197F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358858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DB006-EB3C-45A1-A17A-5488472A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3B5B"/>
                </a:solidFill>
              </a:defRPr>
            </a:pPr>
            <a:r>
              <a:rPr sz="975" b="1">
                <a:solidFill>
                  <a:srgbClr val="153B5B"/>
                </a:solidFill>
              </a:rPr>
              <a:t>Q1 FORECAST OUTLOOK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BD105-9384-4242-A270-5C95E437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212B"/>
                </a:solidFill>
              </a:defRPr>
            </a:pPr>
            <a:r>
              <a:rPr sz="2625" b="1">
                <a:solidFill>
                  <a:srgbClr val="17212B"/>
                </a:solidFill>
              </a:rPr>
              <a:t>Decisions requested to protect the FY2026 base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3B0CC-0123-493B-B906-1517CB91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0606D"/>
                </a:solidFill>
              </a:defRPr>
            </a:pPr>
            <a:r>
              <a:rPr sz="1125" b="0">
                <a:solidFill>
                  <a:srgbClr val="50606D"/>
                </a:solidFill>
              </a:rPr>
              <a:t>Actions and ownership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B90FA-C437-4FCC-8E95-389B8DA2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4120C-C75D-48F4-A687-C121963F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C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89749-F9F2-4D68-B9B8-AD527771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B5B"/>
                </a:solidFill>
              </a:defRPr>
            </a:pPr>
            <a:r>
              <a:rPr sz="1350" b="1">
                <a:solidFill>
                  <a:srgbClr val="153B5B"/>
                </a:solidFill>
              </a:rPr>
              <a:t>Approve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FE604-1237-4BCF-AEF9-466D543D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431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Base FY2026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49E1D-88A7-4BDC-A2CD-A37FCE8D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43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06D"/>
                </a:solidFill>
              </a:defRPr>
            </a:pPr>
            <a:r>
              <a:rPr sz="1200" b="0">
                <a:solidFill>
                  <a:srgbClr val="50606D"/>
                </a:solidFill>
              </a:rPr>
              <a:t>7,560 revenue / 900 EBITDA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7B9C7-76F7-4131-96A2-8E8C644A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907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37AF6-E0BC-48D7-9C4E-3CBE1545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32F7C-C820-4554-AB25-D7667F6F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B5B"/>
                </a:solidFill>
              </a:defRPr>
            </a:pPr>
            <a:r>
              <a:rPr sz="1350" b="1">
                <a:solidFill>
                  <a:srgbClr val="153B5B"/>
                </a:solidFill>
              </a:rPr>
              <a:t>Ratify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8A5A5-8FCC-4BCD-8DC7-012034F4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432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March cash reconciliation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9419E-78B9-4508-BCD6-95F40FC3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432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06D"/>
                </a:solidFill>
              </a:defRPr>
            </a:pPr>
            <a:r>
              <a:rPr sz="1200" b="0">
                <a:solidFill>
                  <a:srgbClr val="50606D"/>
                </a:solidFill>
              </a:rPr>
              <a:t>12.4m fully explained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DFE23-E826-4662-8792-F56017C6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90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86369-5A80-4A8E-9714-BD2E5CA2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1028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4DF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310E71-7C85-4711-B4FA-E1201407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B5B"/>
                </a:solidFill>
              </a:defRPr>
            </a:pPr>
            <a:r>
              <a:rPr sz="1350" b="1">
                <a:solidFill>
                  <a:srgbClr val="153B5B"/>
                </a:solidFill>
              </a:rPr>
              <a:t>Endorse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658CD1-4280-426B-AF02-EBBD8152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434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Q2 cash-conversion cadence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C7D90-AC1C-448F-B1AC-9978C390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434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06D"/>
                </a:solidFill>
              </a:defRPr>
            </a:pPr>
            <a:r>
              <a:rPr sz="1200" b="0">
                <a:solidFill>
                  <a:srgbClr val="50606D"/>
                </a:solidFill>
              </a:rPr>
              <a:t>AR / inventory / AP focus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A41CD-4063-42F7-9075-ABE7EEDA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910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Finance + 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694B2B-DE5D-458F-9859-5ABB0066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Next board update: April close with cash conversion and downside-trigger readout.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D0BD7F-CD95-476A-88B1-1A1F158A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28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Cedar Works | Synthetic management package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8EA3C0-4777-48B0-AE42-55DE025D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080"/>
                </a:solidFill>
              </a:defRPr>
            </a:pPr>
            <a:r>
              <a:rPr sz="825" b="0">
                <a:solidFill>
                  <a:srgbClr val="60708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70844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2026-08-23T18:50:26.4230000Z</dcterms:created>
  <dcterms:modified xsi:type="dcterms:W3CDTF">2026-08-23T18:50:26.4230000Z</dcterms:modified>
</coreProperties>
</file>