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88170a16854fd0" /><Relationship Type="http://schemas.openxmlformats.org/officeDocument/2006/relationships/extended-properties" Target="/docProps/app.xml" Id="R24216d36f457409a" /><Relationship Type="http://schemas.openxmlformats.org/officeDocument/2006/relationships/officeDocument" Target="/ppt/presentation.xml" Id="R942966d38b014a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280d39ba2740f5"/>
  </p:sldMasterIdLst>
  <p:notesMasterIdLst>
    <p:notesMasterId xmlns:r="http://schemas.openxmlformats.org/officeDocument/2006/relationships" r:id="R466f3b308bb54680"/>
  </p:notesMasterIdLst>
  <p:sldIdLst>
    <p:sldId xmlns:r="http://schemas.openxmlformats.org/officeDocument/2006/relationships" id="256" r:id="R7dcc9b8f43304096"/>
    <p:sldId xmlns:r="http://schemas.openxmlformats.org/officeDocument/2006/relationships" id="257" r:id="R7b9de551feac447c"/>
    <p:sldId xmlns:r="http://schemas.openxmlformats.org/officeDocument/2006/relationships" id="258" r:id="R0d93fd0f5c9b4d1b"/>
    <p:sldId xmlns:r="http://schemas.openxmlformats.org/officeDocument/2006/relationships" id="259" r:id="R6c2e5ce5788d4d6c"/>
    <p:sldId xmlns:r="http://schemas.openxmlformats.org/officeDocument/2006/relationships" id="260" r:id="Rf3d5fd0e05fc4e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4b0d3be57f4c1e" /><Relationship Type="http://schemas.openxmlformats.org/officeDocument/2006/relationships/slideMaster" Target="/ppt/slideMasters/slideMaster1.xml" Id="R90280d39ba2740f5" /><Relationship Type="http://schemas.openxmlformats.org/officeDocument/2006/relationships/notesMaster" Target="/ppt/notesMasters/notesMaster1.xml" Id="R466f3b308bb54680" /><Relationship Type="http://schemas.openxmlformats.org/officeDocument/2006/relationships/presProps" Target="/ppt/presProps.xml" Id="Rad0e270768434c12" /><Relationship Type="http://schemas.openxmlformats.org/officeDocument/2006/relationships/tableStyles" Target="/ppt/tableStyles.xml" Id="R93c7f0f382484685" /><Relationship Type="http://schemas.openxmlformats.org/officeDocument/2006/relationships/slide" Target="/ppt/slides/slide1.xml" Id="R7dcc9b8f43304096" /><Relationship Type="http://schemas.openxmlformats.org/officeDocument/2006/relationships/slide" Target="/ppt/slides/slide2.xml" Id="R7b9de551feac447c" /><Relationship Type="http://schemas.openxmlformats.org/officeDocument/2006/relationships/slide" Target="/ppt/slides/slide3.xml" Id="R0d93fd0f5c9b4d1b" /><Relationship Type="http://schemas.openxmlformats.org/officeDocument/2006/relationships/slide" Target="/ppt/slides/slide4.xml" Id="R6c2e5ce5788d4d6c" /><Relationship Type="http://schemas.openxmlformats.org/officeDocument/2006/relationships/slide" Target="/ppt/slides/slide5.xml" Id="Rf3d5fd0e05fc4e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19bb37dae444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00db5a3ed34a67" /><Relationship Type="http://schemas.openxmlformats.org/officeDocument/2006/relationships/notesMaster" Target="/ppt/notesMasters/notesMaster1.xml" Id="R25afe5af167a45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2585e3f0834b4c" /><Relationship Type="http://schemas.openxmlformats.org/officeDocument/2006/relationships/notesMaster" Target="/ppt/notesMasters/notesMaster1.xml" Id="R2885e068224c4f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ad313126244634" /><Relationship Type="http://schemas.openxmlformats.org/officeDocument/2006/relationships/notesMaster" Target="/ppt/notesMasters/notesMaster1.xml" Id="R9b3a93f0da6242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8428598aeb4f5b" /><Relationship Type="http://schemas.openxmlformats.org/officeDocument/2006/relationships/notesMaster" Target="/ppt/notesMasters/notesMaster1.xml" Id="R96c9a312890947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5a42a759b94391" /><Relationship Type="http://schemas.openxmlformats.org/officeDocument/2006/relationships/notesMaster" Target="/ppt/notesMasters/notesMaster1.xml" Id="Rf2fbf06b62124d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68afd06e344c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b9f628384d47e0" /><Relationship Type="http://schemas.openxmlformats.org/officeDocument/2006/relationships/slideLayout" Target="/ppt/slideLayouts/slideLayout1.xml" Id="Rf1d2cbeab46a45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d2cbeab46a45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087c65aa04d3c" /><Relationship Type="http://schemas.openxmlformats.org/officeDocument/2006/relationships/notesSlide" Target="/ppt/notesSlides/notesSlide1.xml" Id="R96885c7483ed4e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f9b9cb2b748ec" /><Relationship Type="http://schemas.openxmlformats.org/officeDocument/2006/relationships/notesSlide" Target="/ppt/notesSlides/notesSlide2.xml" Id="Ra273eeeefc7146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37fbe7aa14795" /><Relationship Type="http://schemas.openxmlformats.org/officeDocument/2006/relationships/notesSlide" Target="/ppt/notesSlides/notesSlide3.xml" Id="Rf527e81d8fd444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9e0b3185c4e89" /><Relationship Type="http://schemas.openxmlformats.org/officeDocument/2006/relationships/chart" Target="/ppt/slides/charts/chart1.xml" Id="Rd7506c86a7414c58" /><Relationship Type="http://schemas.openxmlformats.org/officeDocument/2006/relationships/notesSlide" Target="/ppt/notesSlides/notesSlide4.xml" Id="R78da44ed8e7e4f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462866b444c9d" /><Relationship Type="http://schemas.openxmlformats.org/officeDocument/2006/relationships/notesSlide" Target="/ppt/notesSlides/notesSlide5.xml" Id="Rb058060ca89d4d8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Revenue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Budget</c:v>
              </c:pt>
              <c:pt idx="1">
                <c:v>Downside</c:v>
              </c:pt>
              <c:pt idx="2">
                <c:v>Base</c:v>
              </c:pt>
              <c:pt idx="3">
                <c:v>Upside</c:v>
              </c:pt>
            </c:strLit>
          </c:cat>
          <c:val>
            <c:numLit>
              <c:formatCode>General</c:formatCode>
              <c:ptCount val="4"/>
              <c:pt idx="0">
                <c:v>7400</c:v>
              </c:pt>
              <c:pt idx="1">
                <c:v>7050</c:v>
              </c:pt>
              <c:pt idx="2">
                <c:v>7560</c:v>
              </c:pt>
              <c:pt idx="3">
                <c:v>7920</c:v>
              </c:pt>
            </c:numLit>
          </c:val>
        </c:ser>
        <c:ser>
          <c:idx val="1"/>
          <c:order val="1"/>
          <c:tx>
            <c:v>EBITDA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Budget</c:v>
              </c:pt>
              <c:pt idx="1">
                <c:v>Downside</c:v>
              </c:pt>
              <c:pt idx="2">
                <c:v>Base</c:v>
              </c:pt>
              <c:pt idx="3">
                <c:v>Upside</c:v>
              </c:pt>
            </c:strLit>
          </c:cat>
          <c:val>
            <c:numLit>
              <c:formatCode>General</c:formatCode>
              <c:ptCount val="4"/>
              <c:pt idx="0">
                <c:v>860</c:v>
              </c:pt>
              <c:pt idx="1">
                <c:v>720</c:v>
              </c:pt>
              <c:pt idx="2">
                <c:v>900</c:v>
              </c:pt>
              <c:pt idx="3">
                <c:v>1020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6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EE301-E72B-4228-89A1-4392630C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CEDAR WORKS • BOARD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9E3B1-D741-4C39-AB81-77E112F4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March Board Finance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BA376-9E0B-4119-9B90-550E9E0C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FY2026 Q1 • March 2026 close • JPY millions unless noted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B1634-F55C-499E-B246-82BC3BCD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B8C9A-C89F-4319-85FE-FA9E8783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57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12B"/>
                </a:solidFill>
              </a:defRPr>
            </a:pPr>
            <a:r>
              <a:rPr sz="4350" b="1">
                <a:solidFill>
                  <a:srgbClr val="17212B"/>
                </a:solidFill>
              </a:rPr>
              <a:t>March Board Finance Pack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8C4D7-6AAA-434F-B26C-EFFAF4D1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0606D"/>
                </a:solidFill>
              </a:defRPr>
            </a:pPr>
            <a:r>
              <a:rPr sz="1800" b="0">
                <a:solidFill>
                  <a:srgbClr val="50606D"/>
                </a:solidFill>
              </a:rPr>
              <a:t>Decision-ready view of Q1 performance, cash control and the FY2026 operating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23578-EEE7-42C3-81C9-D2DCE3DF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Synthetic internal board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C88A9-09C2-4F79-B790-A1202A44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015A5-71F4-4BF6-AAAA-FEF9E359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058266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43693A-9102-416F-A5B4-28631740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Q1 PERFORMANCE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A79A5-8C81-4691-81CB-EA094FCE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Q1 closes ahead of plan while cash execution needs attention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CB3AF-DFB0-43FA-98B8-A67BE8AD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FY2026 Q1 • Board Finance • JPY millions unless noted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41EF0-B635-4B5C-A1C0-6C097928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42E36-4BDD-4984-A0B8-2074DBBA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74151-AE5F-44B7-A730-8D5901CC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Revenue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3F117-73B2-4234-8ED2-5D6BA67A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D8DFF"/>
                </a:solidFill>
              </a:defRPr>
            </a:pPr>
            <a:r>
              <a:rPr sz="2175" b="1">
                <a:solidFill>
                  <a:srgbClr val="3D8DFF"/>
                </a:solidFill>
              </a:rPr>
              <a:t>1,842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E8D20-8E05-4BF7-A0F5-14E19C1E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431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84E79-CC7F-4ABE-AD87-BD2D8FFC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9552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Gross margin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821C0-FC48-42B0-ADCB-FA6F0F56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6222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6E4F"/>
                </a:solidFill>
              </a:defRPr>
            </a:pPr>
            <a:r>
              <a:rPr sz="2175" b="1">
                <a:solidFill>
                  <a:srgbClr val="0B6E4F"/>
                </a:solidFill>
              </a:rPr>
              <a:t>38.6%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81064-7492-4187-81F5-666A9AD8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431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B363C-0E17-437A-AC64-11078201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9552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EBITDA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097C7-67D8-42F5-A1A9-F2B31DFB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6222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6E4F"/>
                </a:solidFill>
              </a:defRPr>
            </a:pPr>
            <a:r>
              <a:rPr sz="2175" b="1">
                <a:solidFill>
                  <a:srgbClr val="0B6E4F"/>
                </a:solidFill>
              </a:rPr>
              <a:t>222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AA2923-610A-4303-8DB4-25C72654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5EA6F-25A5-40C6-9429-D312E9D4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95525"/>
            <a:ext cx="2228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Cash variance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40996-4290-47A4-9D84-2DBFBEAB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62225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63A3A"/>
                </a:solidFill>
              </a:defRPr>
            </a:pPr>
            <a:r>
              <a:rPr sz="2175" b="1">
                <a:solidFill>
                  <a:srgbClr val="B63A3A"/>
                </a:solidFill>
              </a:rPr>
              <a:t>12.4 U/F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F1236-0415-4EE4-BF87-1BF235E8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Q1 revenue is JPY 42m above budget and EBITDA is JPY 12m above budget. The board’s near-term question is whether working-capital and receipt timing discipline can preserve the base-case trajectory.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BDAB31-B673-4C07-A562-A90B1629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AAD26-DA1B-4424-A4FE-FD8D7447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35937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9FCCAD-97F4-43B5-973E-F51C3120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MARGIN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8F6D6-2909-4E6A-8E4D-D76A16F3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Q1 gross margin is 38.6%, converting revenue outperformance into EBITDA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A15B2-B6C9-4EDA-B6DF-E3FFDC14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Q1 actual vs budget • JPY millions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A99E2-8C0E-428E-B554-021FC3BE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23732-0E7E-4981-9339-8A63505F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5478F-D284-4399-BFFF-B8AE0F04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Revenue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B5971-3C54-4028-8103-746A7B3C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D8DFF"/>
                </a:solidFill>
              </a:defRPr>
            </a:pPr>
            <a:r>
              <a:rPr sz="2175" b="1">
                <a:solidFill>
                  <a:srgbClr val="3D8DFF"/>
                </a:solidFill>
              </a:rPr>
              <a:t>1,842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8D57B8-5C8A-4A3C-A06B-D580FBC4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00250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D1416-0BB0-4E73-8DD4-49602E86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526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Gross profit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188CE-A5B2-4093-9EF5-E6B4C399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193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6E4F"/>
                </a:solidFill>
              </a:defRPr>
            </a:pPr>
            <a:r>
              <a:rPr sz="2175" b="1">
                <a:solidFill>
                  <a:srgbClr val="0B6E4F"/>
                </a:solidFill>
              </a:rPr>
              <a:t>711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CB0E3-B27A-463E-B85B-8EF4E7EB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1E0C3-DDD2-4988-97D7-615B3024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526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EBITDA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B258D-BEBB-4A10-B0D1-CF0CBE75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193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6E4F"/>
                </a:solidFill>
              </a:defRPr>
            </a:pPr>
            <a:r>
              <a:rPr sz="2175" b="1">
                <a:solidFill>
                  <a:srgbClr val="0B6E4F"/>
                </a:solidFill>
              </a:rPr>
              <a:t>222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ED57EA-9C72-4782-AE1C-0A39A7FE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Q1 P&amp;L bridge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475145-822F-4A5A-AE4A-D40EE412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Revenue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4F7FCA-C554-4150-BC10-925ED590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05250"/>
            <a:ext cx="523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BC68BF-F8ED-4D2E-8A4C-D0E47C4B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1842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EFF55B-8DC6-4EFF-9C74-0FD542E9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COGS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D27848-1E05-4DB5-955A-04254341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10050"/>
            <a:ext cx="321662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0E5FC7-9CCA-40D5-AD04-9EDB3E8A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127" y="42386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1131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C673B6-E983-4F3B-9DD9-976A0BD1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Gross profit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E54FF8-869A-48F9-A6FA-980F0FD8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202212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245588-A267-43AC-9E27-09532D16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623" y="45434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711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2A2B81-01DE-4C52-9444-17F401CD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Opex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426BA8-7B7E-498E-9865-5CF7024D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139074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7D4AA9-DED2-4698-833D-EAF475C6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243" y="48482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489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80BAC0-7930-4CDE-B290-E900CEFB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EBITDA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1A5439-A4AD-4D51-A73C-534EC789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24450"/>
            <a:ext cx="631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41933C-589C-498A-84EC-997F28E8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880" y="51530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222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590849-8A86-4C5C-9FB8-9FC672E6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52875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Revenue is JPY 42m above budget; EBITDA is JPY 12m above budget. Maintain price discipline and cost pacing through Q2.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9170CD-A1B8-4B01-B8EA-3A9D4D8A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AC73AA-401C-4971-8D8D-F4E21911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154057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AE47A-6376-4FC3-A154-4FE407C3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FORECAST OUTLOOK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CCB54-8324-4246-9DBB-24DF6757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Base case supports FY2026 EBITDA of JPY 900m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5092B-7391-4834-B4C6-8053996F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Scenario lens • JPY millions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C9249-FE54-4702-AEB6-6A34F52B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6191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506c86a7414c5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F5162-86AC-462C-8F0B-21A6383E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F1C16-8686-4DCA-8B32-399DCDF5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479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Base revenue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33B16-D4D8-4B05-B756-651DF730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5146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D8DFF"/>
                </a:solidFill>
              </a:defRPr>
            </a:pPr>
            <a:r>
              <a:rPr sz="2175" b="1">
                <a:solidFill>
                  <a:srgbClr val="3D8DFF"/>
                </a:solidFill>
              </a:rPr>
              <a:t>7,560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9F3D5-ECC7-4BB3-B521-28B18BF3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337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37669-5FC2-4AFA-9635-FFA74A74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48615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Base EBITDA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DB96E-6A32-4139-9037-4DB3F332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7528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6E4F"/>
                </a:solidFill>
              </a:defRPr>
            </a:pPr>
            <a:r>
              <a:rPr sz="2175" b="1">
                <a:solidFill>
                  <a:srgbClr val="0B6E4F"/>
                </a:solidFill>
              </a:rPr>
              <a:t>900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B03CB-E91A-4826-9062-892C66F7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76250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Board action: approve the base case as the operating plan and preserve the downside trigger at JPY 300m ending cash.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FC5E8-3E6B-4FF0-A01D-13ECF0C7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9A6E0C-518D-4CF4-8413-3E5A446D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49062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36E362-EA75-4E27-9B03-87747388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MARCH BOARD FINANCE PACK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C0343-D4DA-4CDA-93E3-BB7F45AF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Decisions requested to protect the FY2026 base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9FC6F-801C-40CD-A1EB-7716A728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Actions and ownership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537D0-D65F-4D35-89FD-24EC571E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67B6D-85E6-4257-8B32-729CB43B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C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06978-F323-48A0-ABC8-912ECC62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B5B"/>
                </a:solidFill>
              </a:defRPr>
            </a:pPr>
            <a:r>
              <a:rPr sz="1350" b="1">
                <a:solidFill>
                  <a:srgbClr val="153B5B"/>
                </a:solidFill>
              </a:rPr>
              <a:t>Approve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C58D3-AD10-4ED6-9BFB-2236EE52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431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Base FY2026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BC909-F555-4B7B-A422-66048CBD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43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06D"/>
                </a:solidFill>
              </a:defRPr>
            </a:pPr>
            <a:r>
              <a:rPr sz="1200" b="0">
                <a:solidFill>
                  <a:srgbClr val="50606D"/>
                </a:solidFill>
              </a:rPr>
              <a:t>7,560 revenue / 900 EBITDA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6DBD0-CE65-4EF2-BFDE-10BAE12D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907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38CB6-8EF1-4C3C-8163-D5590A95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CBF69-5F24-4ACA-A272-D71215C2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B5B"/>
                </a:solidFill>
              </a:defRPr>
            </a:pPr>
            <a:r>
              <a:rPr sz="1350" b="1">
                <a:solidFill>
                  <a:srgbClr val="153B5B"/>
                </a:solidFill>
              </a:rPr>
              <a:t>Ratify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13D61-97CA-42A8-9CD4-609848E7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432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March cash reconciliation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8C877-EEB7-4E28-9759-3FD3049C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43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06D"/>
                </a:solidFill>
              </a:defRPr>
            </a:pPr>
            <a:r>
              <a:rPr sz="1200" b="0">
                <a:solidFill>
                  <a:srgbClr val="50606D"/>
                </a:solidFill>
              </a:rPr>
              <a:t>12.4m fully explained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BDA60-9B15-40A7-8A28-82F23065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90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5ACD2-26FC-44BE-B307-BE030ADA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786D7-392B-452A-B597-48EC7DEC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B5B"/>
                </a:solidFill>
              </a:defRPr>
            </a:pPr>
            <a:r>
              <a:rPr sz="1350" b="1">
                <a:solidFill>
                  <a:srgbClr val="153B5B"/>
                </a:solidFill>
              </a:rPr>
              <a:t>Endorse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09AB2-D6B9-4D22-95C7-5DDCD2B4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434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Q2 cash-conversion cadence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E46C08-E686-4ABC-851D-0813F474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434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06D"/>
                </a:solidFill>
              </a:defRPr>
            </a:pPr>
            <a:r>
              <a:rPr sz="1200" b="0">
                <a:solidFill>
                  <a:srgbClr val="50606D"/>
                </a:solidFill>
              </a:rPr>
              <a:t>AR / inventory / AP focus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DB1414-630C-4F0E-9B8C-C379E132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910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Finance + Operations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D44698-9D40-4357-BDED-2DD76DF2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Next board update: April close with cash conversion and downside-trigger readout.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22C27E-F1B6-4BE6-9AF6-B17D1C93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0DF20-28C1-43ED-BF33-35948CA8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4529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2026-08-23T18:50:25.0920000Z</dcterms:created>
  <dcterms:modified xsi:type="dcterms:W3CDTF">2026-08-23T18:50:25.0920000Z</dcterms:modified>
</coreProperties>
</file>