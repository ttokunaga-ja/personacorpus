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76ab8298ba44ad" /><Relationship Type="http://schemas.openxmlformats.org/officeDocument/2006/relationships/extended-properties" Target="/docProps/app.xml" Id="R139ea6ee6a044ad9" /><Relationship Type="http://schemas.openxmlformats.org/officeDocument/2006/relationships/officeDocument" Target="/ppt/presentation.xml" Id="R093eeb048d31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1416b487345f9"/>
  </p:sldMasterIdLst>
  <p:notesMasterIdLst>
    <p:notesMasterId xmlns:r="http://schemas.openxmlformats.org/officeDocument/2006/relationships" r:id="R7228141f1fcc4b6a"/>
  </p:notesMasterIdLst>
  <p:sldIdLst>
    <p:sldId xmlns:r="http://schemas.openxmlformats.org/officeDocument/2006/relationships" id="256" r:id="Re143a57ed2704ad9"/>
    <p:sldId xmlns:r="http://schemas.openxmlformats.org/officeDocument/2006/relationships" id="257" r:id="R5e279b6fd23940f0"/>
    <p:sldId xmlns:r="http://schemas.openxmlformats.org/officeDocument/2006/relationships" id="258" r:id="R22a21a6cc0064680"/>
    <p:sldId xmlns:r="http://schemas.openxmlformats.org/officeDocument/2006/relationships" id="259" r:id="Rfaa4c93b4c8d4041"/>
    <p:sldId xmlns:r="http://schemas.openxmlformats.org/officeDocument/2006/relationships" id="260" r:id="Rca2baeb329b345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3d0cb60894b8c" /><Relationship Type="http://schemas.openxmlformats.org/officeDocument/2006/relationships/slideMaster" Target="/ppt/slideMasters/slideMaster1.xml" Id="R4b11416b487345f9" /><Relationship Type="http://schemas.openxmlformats.org/officeDocument/2006/relationships/notesMaster" Target="/ppt/notesMasters/notesMaster1.xml" Id="R7228141f1fcc4b6a" /><Relationship Type="http://schemas.openxmlformats.org/officeDocument/2006/relationships/presProps" Target="/ppt/presProps.xml" Id="Rfa65131d60384816" /><Relationship Type="http://schemas.openxmlformats.org/officeDocument/2006/relationships/tableStyles" Target="/ppt/tableStyles.xml" Id="Rf79fb7406e0743bb" /><Relationship Type="http://schemas.openxmlformats.org/officeDocument/2006/relationships/slide" Target="/ppt/slides/slide1.xml" Id="Re143a57ed2704ad9" /><Relationship Type="http://schemas.openxmlformats.org/officeDocument/2006/relationships/slide" Target="/ppt/slides/slide2.xml" Id="R5e279b6fd23940f0" /><Relationship Type="http://schemas.openxmlformats.org/officeDocument/2006/relationships/slide" Target="/ppt/slides/slide3.xml" Id="R22a21a6cc0064680" /><Relationship Type="http://schemas.openxmlformats.org/officeDocument/2006/relationships/slide" Target="/ppt/slides/slide4.xml" Id="Rfaa4c93b4c8d4041" /><Relationship Type="http://schemas.openxmlformats.org/officeDocument/2006/relationships/slide" Target="/ppt/slides/slide5.xml" Id="Rca2baeb329b345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a89f3fd88d48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576cf0ad04ecf" /><Relationship Type="http://schemas.openxmlformats.org/officeDocument/2006/relationships/notesMaster" Target="/ppt/notesMasters/notesMaster1.xml" Id="R2352c98b6f97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7c77cb5da94643" /><Relationship Type="http://schemas.openxmlformats.org/officeDocument/2006/relationships/notesMaster" Target="/ppt/notesMasters/notesMaster1.xml" Id="Rb0f1bdebe7774e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04af12000481b" /><Relationship Type="http://schemas.openxmlformats.org/officeDocument/2006/relationships/notesMaster" Target="/ppt/notesMasters/notesMaster1.xml" Id="R31cb404e1e6643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1b76ef06104ae2" /><Relationship Type="http://schemas.openxmlformats.org/officeDocument/2006/relationships/notesMaster" Target="/ppt/notesMasters/notesMaster1.xml" Id="R56838b602ad94a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9486c7aa74b54" /><Relationship Type="http://schemas.openxmlformats.org/officeDocument/2006/relationships/notesMaster" Target="/ppt/notesMasters/notesMaster1.xml" Id="R50e388f78bf5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37a346095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4559d50024183" /><Relationship Type="http://schemas.openxmlformats.org/officeDocument/2006/relationships/slideLayout" Target="/ppt/slideLayouts/slideLayout1.xml" Id="R46e4a1494fd4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4a1494fd4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7fc583b584ae0" /><Relationship Type="http://schemas.openxmlformats.org/officeDocument/2006/relationships/notesSlide" Target="/ppt/notesSlides/notesSlide1.xml" Id="R770dcc41f47d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787ab7d904c54" /><Relationship Type="http://schemas.openxmlformats.org/officeDocument/2006/relationships/notesSlide" Target="/ppt/notesSlides/notesSlide2.xml" Id="Rca36a67da710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01bf77973454e" /><Relationship Type="http://schemas.openxmlformats.org/officeDocument/2006/relationships/notesSlide" Target="/ppt/notesSlides/notesSlide3.xml" Id="R1a0370a59cba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6c7bd943f4d0f" /><Relationship Type="http://schemas.openxmlformats.org/officeDocument/2006/relationships/notesSlide" Target="/ppt/notesSlides/notesSlide4.xml" Id="R205c56976b0e4a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97eb0c0524338" /><Relationship Type="http://schemas.openxmlformats.org/officeDocument/2006/relationships/notesSlide" Target="/ppt/notesSlides/notesSlide5.xml" Id="R8db6f0f90e30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D9AAB-BDD4-4E4B-AB0F-0C8F8419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CEDAR WORKS • BOARD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78235-0B53-429F-BEC9-3BAA7649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Working Capital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CD56C-F259-4746-8DB7-13487FAE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March 2026 close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94EC-4C57-4E0E-BAFF-DBBEB00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DA179-8275-4BE2-BAE7-977907C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Q1 Working Capital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1EABA-B56A-43B4-BF97-9F3DDA5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06D"/>
                </a:solidFill>
              </a:defRPr>
            </a:pPr>
            <a:r>
              <a:rPr sz="1800" b="0">
                <a:solidFill>
                  <a:srgbClr val="50606D"/>
                </a:solidFill>
              </a:rPr>
              <a:t>Decision-ready view of Q1 performance, cash control and the FY2026 operating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F4E22-8FC6-4F66-BE18-AF68630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Synthetic internal board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6362D-6D1D-418B-AB64-976559A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887A5-131F-4750-A0CD-5BDCEC47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20296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E9DBC-AFBF-42D6-872E-B1B3D5BC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PERFORMANCE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F1CB6-6CDC-438B-9F61-F52E439E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closes ahead of plan while cash execution needs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33B60-114B-4509-A23D-15ED4620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Board Finance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DE595-E156-489F-B4D0-93AAE64D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14EC-9C5C-4EB3-9902-9DA194D4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FD951-504A-4C89-89E5-28454C26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F2ADB-B413-4580-A5FD-E677127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53BC0-C910-473F-9063-CD06121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562D3-30E7-429C-9907-7FFD57E6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50C0B-52C7-4B17-86FF-FE0350D7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38.6%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0C5AA-DDA8-4930-AD7B-74B475C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5194A-A964-45C0-B447-25EC0167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05FF5-7C80-4F09-A4F7-5BAC7EBD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DE3BE-6E2E-4975-BB13-E51EE27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733E4-8314-4D36-8199-D94D385D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Cash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5F31B-3D9A-4734-A4E8-9C6A55A9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6222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 U/F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2DA07-3A89-48C6-AB5D-441ECD90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Q1 revenue is JPY 42m above budget and EBITDA is JPY 12m above budget. The board’s near-term question is whether working-capital and receipt timing discipline can preserve the base-case trajectory.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09A4A-B58D-41E3-A9BE-E8DDFE8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49697-B58A-4B28-A0F2-03AEBC3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8007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69189-51B5-4449-9D5D-29A93D4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WORKING CAPITAL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2BD3-4564-481A-BFA5-7E91B055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AR, inventory and AP require a controlled cash-conversion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3B27F-9688-4C7F-A2E4-7B0F9837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Q1 closing balances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865D4-67C1-4EE7-BCE2-DAF713B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68CD8-2A2B-41CE-8E89-2C7B068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28035-631A-44F9-9FFD-C2EB4D1D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Accounts receivable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74930-85FA-4DF1-B59F-51780DD4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312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38E9C-450F-41EA-A091-D8AFE696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478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A16CF-4782-4E5A-8417-05FAF67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002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AD134-8ABA-4D31-BFFF-2D0FB3C5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669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5E00"/>
                </a:solidFill>
              </a:defRPr>
            </a:pPr>
            <a:r>
              <a:rPr sz="2175" b="1">
                <a:solidFill>
                  <a:srgbClr val="A85E00"/>
                </a:solidFill>
              </a:rPr>
              <a:t>418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0961A-345E-4B44-9DFC-59B6B4F4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F4FC5-C8F7-487C-9E11-7748604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Accounts payable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E26C6-A155-418C-B6EC-866E11E0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669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226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B0C8D-D371-4588-917B-0BB8A6E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B5B"/>
                </a:solidFill>
              </a:defRPr>
            </a:pPr>
            <a:r>
              <a:rPr sz="1650" b="1">
                <a:solidFill>
                  <a:srgbClr val="153B5B"/>
                </a:solidFill>
              </a:rPr>
              <a:t>Focus for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01DB6-429C-412A-AC51-FEA817CD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1. Accelerate disputed receivable resolution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2. Gate replenishment to demand signals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3. Protect supplier terms while clearing timing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BB753-A3E3-4FC7-965D-7F7C3D18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Board action: endorse the Q2 cash-conversion operating cadence with monthly exception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1A925-0F24-4755-9538-1AD6B10F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F333F-4DFD-4EE8-B119-3E58D716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7314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306A30-5E8A-48EA-B680-050B0F19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CASH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F2BD5-4773-4BA9-86FA-AB2B9824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March bank balance trails ledger by JPY 12.4m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40B64-1747-460B-8D2D-215DEBB5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March 2026 close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B9B93-8D02-4A95-BAEF-3DC75AB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DAF9A-4FB8-4BBF-8000-94452DF2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36403-7F42-4BF3-ACD8-8ABEDC70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Bank 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BEC5A-FA24-45CD-AA17-4098971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486.2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2F300-543F-47E0-8F5A-72995BD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B72B3-C5F2-4425-AF69-FB071DA1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Ledger cash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49F99-43FE-4AC5-B422-AF75D3B2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498.6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1F200-5FDB-4746-98A1-6C096D5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8CDA9-B992-46E0-A3D7-2A38B01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Unfavorable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1B4A8-9FD1-45ED-B1CF-E366A0E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D1332-2264-429F-9B3C-24A6D18A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Variance drivers — full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2754C-4AEB-453A-A60F-FCEC8E6F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Receipt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8401-FFE8-4AB4-A6EA-E826A04E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57625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67CB4-9C13-494C-AF76-65650337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7.2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C7ED1-8BAE-440B-BAEF-6737DC1E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Vendor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ABDD0-CCAC-44EF-A37D-0BA0EB9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241961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8A888-8815-45D8-91D3-4B3E7220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115" y="43148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3.1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08378-F62F-4A9F-8ACB-BBDB8D7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Bank fees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92509-614F-481B-A511-8C74886F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10146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DEAC6-4E1A-4AD2-98ED-81969F11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77" y="4743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C31D7-5DC4-47E4-BB25-D6D0B06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FX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D2E9-5BEA-4A04-948F-E5E6B06F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6244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222C89-F784-4B0B-92FB-C959E929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917" y="51720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0.8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2FEF6-8C47-420A-8C02-AE7E95C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Decision: ratify the reconciliation and retain weekly Treasury review until receipt timing normalizes.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EF73E-6B9D-4E45-B906-3A0E9A2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D8173-5792-484B-AFB7-3B9B73B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2622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1D98D-782D-4827-BE57-D578EF7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WORKING CAPITAL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E0CC4-B4AD-4893-8486-9F7CB6E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Decisions requested to protect the FY2026 base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438F-89D6-44D4-B792-DB23510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Actions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D75C2-FBC4-4E85-8F2E-B8D4BF6E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334EC-3CCC-4740-8407-BB9BCDDB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A6703-A6F7-464A-A754-11E50AC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145B1-EF84-4B99-BEA6-A3C3F425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Base FY2026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E26C9-8468-47FD-B1A5-6445A39E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7,560 revenue / 900 EBITDA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5D67D-1872-4257-AB19-FAFFC2AC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9D11B-CFEF-4A6F-AF7C-88905BAD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6E4F5-0CD8-44D3-8ADA-5DC4BA3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Ratify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C3A08-A6C8-4CA5-BCB4-F5DD2E0D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3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March cash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642CF-81DB-4D06-9750-34A97EE5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43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12.4m fully explained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D0FCB-47B6-4241-9F30-2C5F14C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6BCDC-ACCB-4B67-AB4E-231F698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5FAB1-B777-4836-88BD-A2252F0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Endorse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89530-22E3-4D52-A73D-9400133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Q2 cash-conversion cadence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4ABF7-8D54-4ECE-8E45-C47EA83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AR / inventory / AP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1601D-DBE2-456B-A88D-241CE91B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910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Finance +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8BC1D-C539-480D-B5CE-A9235EC0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Next board update: April close with cash conversion and downside-trigger readout.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1CCA0-F0ED-4938-A2F5-6346FF2A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4E6E6-4B4F-4E5B-9B68-2F7D131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9859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2026-08-23T18:50:27.0810000Z</dcterms:created>
  <dcterms:modified xsi:type="dcterms:W3CDTF">2026-08-23T18:50:27.0810000Z</dcterms:modified>
</coreProperties>
</file>