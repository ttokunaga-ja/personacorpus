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65da5ec824476e" /><Relationship Type="http://schemas.openxmlformats.org/officeDocument/2006/relationships/extended-properties" Target="/docProps/app.xml" Id="Rc97eb34abdc3467c" /><Relationship Type="http://schemas.openxmlformats.org/officeDocument/2006/relationships/officeDocument" Target="/ppt/presentation.xml" Id="Rfccb5fcc7073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17130b05344f07"/>
  </p:sldMasterIdLst>
  <p:notesMasterIdLst>
    <p:notesMasterId xmlns:r="http://schemas.openxmlformats.org/officeDocument/2006/relationships" r:id="Rca2420edd5514d63"/>
  </p:notesMasterIdLst>
  <p:sldIdLst>
    <p:sldId xmlns:r="http://schemas.openxmlformats.org/officeDocument/2006/relationships" id="256" r:id="R322d9db0e7c44c1a"/>
    <p:sldId xmlns:r="http://schemas.openxmlformats.org/officeDocument/2006/relationships" id="257" r:id="R33edb7e56cee458c"/>
    <p:sldId xmlns:r="http://schemas.openxmlformats.org/officeDocument/2006/relationships" id="258" r:id="R0e155c3351e04fdb"/>
    <p:sldId xmlns:r="http://schemas.openxmlformats.org/officeDocument/2006/relationships" id="259" r:id="Rdcb809e040bb406c"/>
    <p:sldId xmlns:r="http://schemas.openxmlformats.org/officeDocument/2006/relationships" id="260" r:id="Rcd0915a5c27f47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e8fa41e52a4193" /><Relationship Type="http://schemas.openxmlformats.org/officeDocument/2006/relationships/slideMaster" Target="/ppt/slideMasters/slideMaster1.xml" Id="Rb117130b05344f07" /><Relationship Type="http://schemas.openxmlformats.org/officeDocument/2006/relationships/notesMaster" Target="/ppt/notesMasters/notesMaster1.xml" Id="Rca2420edd5514d63" /><Relationship Type="http://schemas.openxmlformats.org/officeDocument/2006/relationships/presProps" Target="/ppt/presProps.xml" Id="R5449067ad94e4a8d" /><Relationship Type="http://schemas.openxmlformats.org/officeDocument/2006/relationships/tableStyles" Target="/ppt/tableStyles.xml" Id="R41ed15a2ba954da1" /><Relationship Type="http://schemas.openxmlformats.org/officeDocument/2006/relationships/slide" Target="/ppt/slides/slide1.xml" Id="R322d9db0e7c44c1a" /><Relationship Type="http://schemas.openxmlformats.org/officeDocument/2006/relationships/slide" Target="/ppt/slides/slide2.xml" Id="R33edb7e56cee458c" /><Relationship Type="http://schemas.openxmlformats.org/officeDocument/2006/relationships/slide" Target="/ppt/slides/slide3.xml" Id="R0e155c3351e04fdb" /><Relationship Type="http://schemas.openxmlformats.org/officeDocument/2006/relationships/slide" Target="/ppt/slides/slide4.xml" Id="Rdcb809e040bb406c" /><Relationship Type="http://schemas.openxmlformats.org/officeDocument/2006/relationships/slide" Target="/ppt/slides/slide5.xml" Id="Rcd0915a5c27f47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d9996abe646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9771c2f3c4261" /><Relationship Type="http://schemas.openxmlformats.org/officeDocument/2006/relationships/notesMaster" Target="/ppt/notesMasters/notesMaster1.xml" Id="R0a41cb1ad98045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b28ad1bad641b3" /><Relationship Type="http://schemas.openxmlformats.org/officeDocument/2006/relationships/notesMaster" Target="/ppt/notesMasters/notesMaster1.xml" Id="Rbe3fe02f04724d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ae270a15f4b31" /><Relationship Type="http://schemas.openxmlformats.org/officeDocument/2006/relationships/notesMaster" Target="/ppt/notesMasters/notesMaster1.xml" Id="R790402b57198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af75639c94c98" /><Relationship Type="http://schemas.openxmlformats.org/officeDocument/2006/relationships/notesMaster" Target="/ppt/notesMasters/notesMaster1.xml" Id="Rb8f3b9ff7b1546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d882e60d245c2" /><Relationship Type="http://schemas.openxmlformats.org/officeDocument/2006/relationships/notesMaster" Target="/ppt/notesMasters/notesMaster1.xml" Id="R3731a661bb574f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78891edcd4d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dc2f63d3a04a5c" /><Relationship Type="http://schemas.openxmlformats.org/officeDocument/2006/relationships/slideLayout" Target="/ppt/slideLayouts/slideLayout1.xml" Id="Ra12a74b90c4a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a74b90c4a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dedac638942d5" /><Relationship Type="http://schemas.openxmlformats.org/officeDocument/2006/relationships/notesSlide" Target="/ppt/notesSlides/notesSlide1.xml" Id="Rc44989e4e272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752ff0ae5486c" /><Relationship Type="http://schemas.openxmlformats.org/officeDocument/2006/relationships/notesSlide" Target="/ppt/notesSlides/notesSlide2.xml" Id="R5dd4583724f4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c60d182f64b96" /><Relationship Type="http://schemas.openxmlformats.org/officeDocument/2006/relationships/notesSlide" Target="/ppt/notesSlides/notesSlide3.xml" Id="R2f8172d87c2543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5e491a0414690" /><Relationship Type="http://schemas.openxmlformats.org/officeDocument/2006/relationships/notesSlide" Target="/ppt/notesSlides/notesSlide4.xml" Id="R14a7050edc154f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e781c52be475b" /><Relationship Type="http://schemas.openxmlformats.org/officeDocument/2006/relationships/notesSlide" Target="/ppt/notesSlides/notesSlide5.xml" Id="Rf14f44c9ca3c41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E1F14-865D-4B53-BF7D-78306F3C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CEDAR WORKS • BOARD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611CB-240F-4CBB-B104-B7575471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Cash Variance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F5F5D-6717-4847-831B-46BE5BB4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March 2026 close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5ACEB-D9D4-4B7C-B310-F84622E7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78DFB-CA28-4D54-8FC3-F99DB2AC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Q1 Cash Variance Deep Dive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00B25-FF9B-425F-A29C-BE1484AE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06D"/>
                </a:solidFill>
              </a:defRPr>
            </a:pPr>
            <a:r>
              <a:rPr sz="1800" b="0">
                <a:solidFill>
                  <a:srgbClr val="50606D"/>
                </a:solidFill>
              </a:rPr>
              <a:t>Decision-ready view of Q1 performance, cash control and the FY2026 operating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32A7A-D1D3-4A95-9F4E-FB4D3829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Synthetic internal board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C7BE8-1AE1-4972-80E1-4D2A45D2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FE649-60F1-46FC-98E7-42990786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38567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475A3-94E4-450B-BE9C-BA009D14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PERFORMANCE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1A43D-EEA7-41E7-BE83-E1FA2E2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closes ahead of plan while cash execution needs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739EC-B2F0-45FD-89C2-C073C0E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Board Finance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93022-A552-40AD-B525-FCA5FB53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B7FA1-7338-4DB5-9880-B4631FE3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BC73D-0616-43F3-B1DA-22EC2A14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D3246-7489-438F-A6DE-2F964BBE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1,842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09A2C-8415-40A5-A1F4-DB198ACE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5A7C0-7FCE-45BC-A92F-50428D4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Gross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9631C-3D29-4A37-A85C-0F571441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38.6%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4D488-65F7-4B35-9680-E519566B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020F7-021A-4D60-BB9A-35971FA0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EBITDA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F8193-53E8-4A1D-941C-C00F20DB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486E4-F13E-439F-9987-6D4C514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29406-607B-41DA-991F-5BC02494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Cash 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B4D06-0B3F-40F2-B151-4ADFF3E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62225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 U/F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7C0A2-A908-4A2F-92D1-AA44D5E7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Q1 revenue is JPY 42m above budget and EBITDA is JPY 12m above budget. The board’s near-term question is whether working-capital and receipt timing discipline can preserve the base-case trajectory.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4D8FD-F376-42A0-9155-96019892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0FA8F-A933-48E0-9C58-E4D571DE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1911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9CFE3D-A9AB-4C7E-BC36-56A3B62F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CASH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12D35-47EF-4804-9C14-D577BAE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March bank balance trails ledger by JPY 12.4m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8C7ED-633D-4F94-B7BB-81E650B8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March 2026 close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3900C-CA5A-4797-95AA-00713285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E698A-B407-4DE7-9B14-2AFA472A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85E11-D677-4AE9-AD25-C1B27E52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Bank 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21702-078B-4DF5-8DFA-3266B0B6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486.2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42327-19DD-47B5-BF13-53602202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3D0B6-F7E3-4E3F-B157-420587E8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Ledger cash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BCA18-4AD9-4A80-943D-505A0AA9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498.6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8F887-6ECC-419A-8637-76DB85F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7F502-8C80-4651-B563-6DBF2A2A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Unfavorable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62FAC-7926-4D1E-9355-CC0450B7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17CE0-DAA0-4ED5-AA0C-339B16E3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Variance drivers — full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9CB33-BFF9-45D9-A3CF-553BDFCD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Receipt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83887-9BDD-4AFD-8AF1-7573DDB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57625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D0CBE-97B7-432F-94B4-8575121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7.2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93707-30EF-4158-BD89-FD430DD3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Vendor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C22DD-A0F6-4C87-9A52-F9656EAA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241961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A141B-5B4D-4014-BBF6-A391DDBB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115" y="43148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3.1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88036-B9E0-48E8-9561-24DF7EA1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Bank fees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FE142-63FC-4C31-B1C0-F719655B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10146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46BE8-8000-486F-86B9-AF222B6A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177" y="4743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1.3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41801-B217-48FF-BA27-AF886219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FX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881DA-07DE-4FE1-B96C-9868542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6244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8A08E6-E94C-44C2-985F-02F088DD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917" y="51720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0.8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1454C-EDC1-4E46-8826-74500766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Decision: ratify the reconciliation and retain weekly Treasury review until receipt timing normalizes.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E4BE7-0C37-4987-A29B-31DFF8D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503E4-6FBD-4A0F-9451-048F7DB8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4037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93A92-AA65-4DCB-B384-8B69F26E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WORKING CAPITAL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9DC8C-8E6D-4487-8F23-9018AF77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AR, inventory and AP require a controlled cash-conversion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6D315-77E5-4A66-95E5-9BEA4062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Q1 closing balances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8AA5F-2F2E-4E66-8235-D8E61F9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3BE7A-BD30-4C8A-BD77-16C1859A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141B4-135B-4431-8345-571E1488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Accounts receivable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DFBBF-E3FB-4EB9-8C28-56D1953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312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BA38-B6A1-48CB-9104-317D418A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478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4B518-9C2D-4DBE-9E91-E7019216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002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C8464-5490-4C30-B91C-8ADB694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6697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5E00"/>
                </a:solidFill>
              </a:defRPr>
            </a:pPr>
            <a:r>
              <a:rPr sz="2175" b="1">
                <a:solidFill>
                  <a:srgbClr val="A85E00"/>
                </a:solidFill>
              </a:rPr>
              <a:t>418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DAE3D-535E-44FB-ACB4-D39B022A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D1EEF-7570-4DC3-9875-9822CCB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Accounts payable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F920A-3D4A-4C7D-A93A-FB0AF81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6697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226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C6B31-60E8-48D3-A0CB-686AD479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B5B"/>
                </a:solidFill>
              </a:defRPr>
            </a:pPr>
            <a:r>
              <a:rPr sz="1650" b="1">
                <a:solidFill>
                  <a:srgbClr val="153B5B"/>
                </a:solidFill>
              </a:rPr>
              <a:t>Focus for 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453FF-3C44-4079-AC24-3AB28696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1. Accelerate disputed receivable resolution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2. Gate replenishment to demand signals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3. Protect supplier terms while clearing timing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298BD-7E7F-4092-BF16-D46CB59F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Board action: endorse the Q2 cash-conversion operating cadence with monthly exception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341C5-0ECA-4646-B388-4468127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0BAC2-4026-4C8F-A585-8BACA2E2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9433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D5EB3-C850-4A67-B27F-C8109986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CASH VARIANCE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10EEE-2C93-4E2D-86E3-DB155CA1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Decisions requested to protect the FY2026 base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37A1C-D216-4096-A726-8FFC1D62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Actions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A43AD-190A-45C2-9D6B-1868B11D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278B4-B692-4C54-AD21-A6ED278A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DF0D1-DC86-42F1-A667-7068410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Approve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F78C4-EF85-48C5-B8F6-DA72619E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Base FY2026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24361-17AB-4502-A85E-6C90F393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7,560 revenue / 900 EBITDA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B6649-D954-4FCE-8702-1ED0E14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FC65-6B88-425F-81F1-6FD7B233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0829B-A08F-44CA-BD88-C35DC8A0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Ratify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0A390-DA24-46D7-AC1D-76BC06C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3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March cash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6DE8A-2506-4B86-AF62-71E90E60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43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12.4m fully explained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543A2-7F19-49DC-A8C6-9FAC29DE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A912A-604A-461D-B1EB-CD673592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B667D-53E2-403E-AA00-D918C430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Endorse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F084D-9D5D-4EE0-9848-093290A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Q2 cash-conversion cadence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5E133-6709-4174-8791-A6145E5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AR / inventory / AP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10782-0FDD-41BB-AF45-E3347C3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910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Finance +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F9E40-45BA-4F23-AA43-9F9A7C0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Next board update: April close with cash conversion and downside-trigger readout.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D0F2E-285C-41E5-97F9-C8B5727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5F953-42D2-4C21-9AA7-8F4C4735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9007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2026-08-23T18:50:26.0310000Z</dcterms:created>
  <dcterms:modified xsi:type="dcterms:W3CDTF">2026-08-23T18:50:26.0310000Z</dcterms:modified>
</coreProperties>
</file>