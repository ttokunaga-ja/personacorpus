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299371acdd4bfb" /><Relationship Type="http://schemas.openxmlformats.org/officeDocument/2006/relationships/extended-properties" Target="/docProps/app.xml" Id="R98e48afb699c4ba9" /><Relationship Type="http://schemas.openxmlformats.org/officeDocument/2006/relationships/officeDocument" Target="/ppt/presentation.xml" Id="Rf7a7986795c84a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d2e0f20ef24e32"/>
  </p:sldMasterIdLst>
  <p:notesMasterIdLst>
    <p:notesMasterId xmlns:r="http://schemas.openxmlformats.org/officeDocument/2006/relationships" r:id="R70dfed1a97f74aee"/>
  </p:notesMasterIdLst>
  <p:sldIdLst>
    <p:sldId xmlns:r="http://schemas.openxmlformats.org/officeDocument/2006/relationships" id="256" r:id="R6cc3ef11cfa54343"/>
    <p:sldId xmlns:r="http://schemas.openxmlformats.org/officeDocument/2006/relationships" id="257" r:id="R9207321fe5cf4628"/>
    <p:sldId xmlns:r="http://schemas.openxmlformats.org/officeDocument/2006/relationships" id="258" r:id="Ra8f2fc6c9852417f"/>
    <p:sldId xmlns:r="http://schemas.openxmlformats.org/officeDocument/2006/relationships" id="259" r:id="Rb831b9f5c16b4059"/>
    <p:sldId xmlns:r="http://schemas.openxmlformats.org/officeDocument/2006/relationships" id="260" r:id="Rc86b3d36dd6547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60f42a601a4202" /><Relationship Type="http://schemas.openxmlformats.org/officeDocument/2006/relationships/slideMaster" Target="/ppt/slideMasters/slideMaster1.xml" Id="Rfdd2e0f20ef24e32" /><Relationship Type="http://schemas.openxmlformats.org/officeDocument/2006/relationships/notesMaster" Target="/ppt/notesMasters/notesMaster1.xml" Id="R70dfed1a97f74aee" /><Relationship Type="http://schemas.openxmlformats.org/officeDocument/2006/relationships/presProps" Target="/ppt/presProps.xml" Id="R530b71a8c9d343b9" /><Relationship Type="http://schemas.openxmlformats.org/officeDocument/2006/relationships/tableStyles" Target="/ppt/tableStyles.xml" Id="Radab226208bf4685" /><Relationship Type="http://schemas.openxmlformats.org/officeDocument/2006/relationships/slide" Target="/ppt/slides/slide1.xml" Id="R6cc3ef11cfa54343" /><Relationship Type="http://schemas.openxmlformats.org/officeDocument/2006/relationships/slide" Target="/ppt/slides/slide2.xml" Id="R9207321fe5cf4628" /><Relationship Type="http://schemas.openxmlformats.org/officeDocument/2006/relationships/slide" Target="/ppt/slides/slide3.xml" Id="Ra8f2fc6c9852417f" /><Relationship Type="http://schemas.openxmlformats.org/officeDocument/2006/relationships/slide" Target="/ppt/slides/slide4.xml" Id="Rb831b9f5c16b4059" /><Relationship Type="http://schemas.openxmlformats.org/officeDocument/2006/relationships/slide" Target="/ppt/slides/slide5.xml" Id="Rc86b3d36dd6547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b81969116941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2e02a063f44e52" /><Relationship Type="http://schemas.openxmlformats.org/officeDocument/2006/relationships/notesMaster" Target="/ppt/notesMasters/notesMaster1.xml" Id="R507f87b607b945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bc933b8c6345b9" /><Relationship Type="http://schemas.openxmlformats.org/officeDocument/2006/relationships/notesMaster" Target="/ppt/notesMasters/notesMaster1.xml" Id="R98e403df885843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b9df25d0b949a4" /><Relationship Type="http://schemas.openxmlformats.org/officeDocument/2006/relationships/notesMaster" Target="/ppt/notesMasters/notesMaster1.xml" Id="Re2f22621959343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4a469d58374ee7" /><Relationship Type="http://schemas.openxmlformats.org/officeDocument/2006/relationships/notesMaster" Target="/ppt/notesMasters/notesMaster1.xml" Id="R71a7ffe82d0741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7555dbcd5e4dd5" /><Relationship Type="http://schemas.openxmlformats.org/officeDocument/2006/relationships/notesMaster" Target="/ppt/notesMasters/notesMaster1.xml" Id="Ra763a80264844f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cb782e7a1949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8093e66bd54c88" /><Relationship Type="http://schemas.openxmlformats.org/officeDocument/2006/relationships/slideLayout" Target="/ppt/slideLayouts/slideLayout1.xml" Id="Rb0e3572fdee047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e3572fdee047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36ce00ac141ee" /><Relationship Type="http://schemas.openxmlformats.org/officeDocument/2006/relationships/notesSlide" Target="/ppt/notesSlides/notesSlide1.xml" Id="Ra6f7f9cf079d49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1d914cc0042a5" /><Relationship Type="http://schemas.openxmlformats.org/officeDocument/2006/relationships/notesSlide" Target="/ppt/notesSlides/notesSlide2.xml" Id="Rde7ea92a63024c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450acea4e46d6" /><Relationship Type="http://schemas.openxmlformats.org/officeDocument/2006/relationships/notesSlide" Target="/ppt/notesSlides/notesSlide3.xml" Id="R40d97f5b34b74b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ca8a7d87c4be7" /><Relationship Type="http://schemas.openxmlformats.org/officeDocument/2006/relationships/chart" Target="/ppt/slides/charts/chart1.xml" Id="R7c9f66a5f17642ee" /><Relationship Type="http://schemas.openxmlformats.org/officeDocument/2006/relationships/notesSlide" Target="/ppt/notesSlides/notesSlide4.xml" Id="Rb639ebe7caf843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39cbb48c2431e" /><Relationship Type="http://schemas.openxmlformats.org/officeDocument/2006/relationships/notesSlide" Target="/ppt/notesSlides/notesSlide5.xml" Id="R76c213501732455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Revenue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Budget</c:v>
              </c:pt>
              <c:pt idx="1">
                <c:v>Downside</c:v>
              </c:pt>
              <c:pt idx="2">
                <c:v>Base</c:v>
              </c:pt>
              <c:pt idx="3">
                <c:v>Upside</c:v>
              </c:pt>
            </c:strLit>
          </c:cat>
          <c:val>
            <c:numLit>
              <c:formatCode>General</c:formatCode>
              <c:ptCount val="4"/>
              <c:pt idx="0">
                <c:v>7400</c:v>
              </c:pt>
              <c:pt idx="1">
                <c:v>7050</c:v>
              </c:pt>
              <c:pt idx="2">
                <c:v>7560</c:v>
              </c:pt>
              <c:pt idx="3">
                <c:v>7920</c:v>
              </c:pt>
            </c:numLit>
          </c:val>
        </c:ser>
        <c:ser>
          <c:idx val="1"/>
          <c:order val="1"/>
          <c:tx>
            <c:v>EBITDA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Budget</c:v>
              </c:pt>
              <c:pt idx="1">
                <c:v>Downside</c:v>
              </c:pt>
              <c:pt idx="2">
                <c:v>Base</c:v>
              </c:pt>
              <c:pt idx="3">
                <c:v>Upside</c:v>
              </c:pt>
            </c:strLit>
          </c:cat>
          <c:val>
            <c:numLit>
              <c:formatCode>General</c:formatCode>
              <c:ptCount val="4"/>
              <c:pt idx="0">
                <c:v>860</c:v>
              </c:pt>
              <c:pt idx="1">
                <c:v>720</c:v>
              </c:pt>
              <c:pt idx="2">
                <c:v>900</c:v>
              </c:pt>
              <c:pt idx="3">
                <c:v>1020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6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65D8E-7A3E-43A0-8D50-BE0F90F8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3B5B"/>
                </a:solidFill>
              </a:defRPr>
            </a:pPr>
            <a:r>
              <a:rPr sz="975" b="1">
                <a:solidFill>
                  <a:srgbClr val="153B5B"/>
                </a:solidFill>
              </a:rPr>
              <a:t>CEDAR WORKS • BOARD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621E6-7B17-4574-AFB6-DB8AFD33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12B"/>
                </a:solidFill>
              </a:defRPr>
            </a:pPr>
            <a:r>
              <a:rPr sz="2625" b="1">
                <a:solidFill>
                  <a:srgbClr val="17212B"/>
                </a:solidFill>
              </a:rPr>
              <a:t>Q1 Margin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B923E-B073-435B-8A79-29C6836E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06D"/>
                </a:solidFill>
              </a:defRPr>
            </a:pPr>
            <a:r>
              <a:rPr sz="1125" b="0">
                <a:solidFill>
                  <a:srgbClr val="50606D"/>
                </a:solidFill>
              </a:rPr>
              <a:t>FY2026 Q1 • March 2026 close • JPY millions unless noted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77F55-3181-4A9F-AFFE-710B29C3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846B6-6008-4376-9395-955658C0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857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12B"/>
                </a:solidFill>
              </a:defRPr>
            </a:pPr>
            <a:r>
              <a:rPr sz="4350" b="1">
                <a:solidFill>
                  <a:srgbClr val="17212B"/>
                </a:solidFill>
              </a:rPr>
              <a:t>Q1 Margin Performance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0CEE4-0369-4D92-8C52-886C64C7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0606D"/>
                </a:solidFill>
              </a:defRPr>
            </a:pPr>
            <a:r>
              <a:rPr sz="1800" b="0">
                <a:solidFill>
                  <a:srgbClr val="50606D"/>
                </a:solidFill>
              </a:rPr>
              <a:t>Decision-ready view of Q1 performance, cash control and the FY2026 operating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D8F1B-EC02-4F08-9C10-290B4614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Synthetic internal board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1990C-9387-4BD1-8508-F21AE393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Cedar Works | Synthetic management package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D6CEC-D4E0-4B78-84B0-9DA4C19E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015728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6F1A48-753D-4A5C-B255-1BAB8322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3B5B"/>
                </a:solidFill>
              </a:defRPr>
            </a:pPr>
            <a:r>
              <a:rPr sz="975" b="1">
                <a:solidFill>
                  <a:srgbClr val="153B5B"/>
                </a:solidFill>
              </a:rPr>
              <a:t>Q1 PERFORMANCE SNAPSHOT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6A492-657D-4FDF-909B-C9D594D8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12B"/>
                </a:solidFill>
              </a:defRPr>
            </a:pPr>
            <a:r>
              <a:rPr sz="2625" b="1">
                <a:solidFill>
                  <a:srgbClr val="17212B"/>
                </a:solidFill>
              </a:rPr>
              <a:t>Q1 closes ahead of plan while cash execution needs attention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AF286-1E1D-47A1-9D1C-C8104828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06D"/>
                </a:solidFill>
              </a:defRPr>
            </a:pPr>
            <a:r>
              <a:rPr sz="1125" b="0">
                <a:solidFill>
                  <a:srgbClr val="50606D"/>
                </a:solidFill>
              </a:rPr>
              <a:t>FY2026 Q1 • Board Finance • JPY millions unless noted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CDD3B-9B11-4376-9BA3-84693423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F6416-55BF-46BA-9564-DB4A23BD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A885B-A787-4F42-B940-C283F3F4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Revenue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7D6F0-04E7-420B-A22B-6B7E87D6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D8DFF"/>
                </a:solidFill>
              </a:defRPr>
            </a:pPr>
            <a:r>
              <a:rPr sz="2175" b="1">
                <a:solidFill>
                  <a:srgbClr val="3D8DFF"/>
                </a:solidFill>
              </a:rPr>
              <a:t>1,842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11509-8F11-473A-AF84-254C592A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431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7F3F9-3550-4A84-A9D5-C9048042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9552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Gross margin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1062C-750B-4EBE-A219-7832354C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6222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6E4F"/>
                </a:solidFill>
              </a:defRPr>
            </a:pPr>
            <a:r>
              <a:rPr sz="2175" b="1">
                <a:solidFill>
                  <a:srgbClr val="0B6E4F"/>
                </a:solidFill>
              </a:rPr>
              <a:t>38.6%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25B1D-9465-4BF2-8B84-800E93FB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431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C401F8-4537-48AC-AD7F-241D80A1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9552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EBITDA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ACFAC-105E-40BF-A556-D39C630C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6222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6E4F"/>
                </a:solidFill>
              </a:defRPr>
            </a:pPr>
            <a:r>
              <a:rPr sz="2175" b="1">
                <a:solidFill>
                  <a:srgbClr val="0B6E4F"/>
                </a:solidFill>
              </a:rPr>
              <a:t>222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5DEB4-A739-43B6-9500-8F5261A1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43125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DEF16-1B4B-4C49-9DE0-70A30CF2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95525"/>
            <a:ext cx="2228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Cash variance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389ABF-FEDC-48DC-AC03-03F3A8A6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62225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63A3A"/>
                </a:solidFill>
              </a:defRPr>
            </a:pPr>
            <a:r>
              <a:rPr sz="2175" b="1">
                <a:solidFill>
                  <a:srgbClr val="B63A3A"/>
                </a:solidFill>
              </a:rPr>
              <a:t>12.4 U/F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D61F2C-E62E-4F76-82C6-55C34640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Q1 revenue is JPY 42m above budget and EBITDA is JPY 12m above budget. The board’s near-term question is whether working-capital and receipt timing discipline can preserve the base-case trajectory.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B69F6A-C7C0-4425-87D3-BC5CDD44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Cedar Works | Synthetic management package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11922A-6883-408C-91E4-13B2B747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482690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62DE88-7843-4F5D-8FD9-908A9283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3B5B"/>
                </a:solidFill>
              </a:defRPr>
            </a:pPr>
            <a:r>
              <a:rPr sz="975" b="1">
                <a:solidFill>
                  <a:srgbClr val="153B5B"/>
                </a:solidFill>
              </a:rPr>
              <a:t>MARGIN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BE473-5D78-4609-AA08-1035E585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12B"/>
                </a:solidFill>
              </a:defRPr>
            </a:pPr>
            <a:r>
              <a:rPr sz="2625" b="1">
                <a:solidFill>
                  <a:srgbClr val="17212B"/>
                </a:solidFill>
              </a:rPr>
              <a:t>Q1 gross margin is 38.6%, converting revenue outperformance into EBITDA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743E4-0336-4F38-A01E-F5DDE56E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06D"/>
                </a:solidFill>
              </a:defRPr>
            </a:pPr>
            <a:r>
              <a:rPr sz="1125" b="0">
                <a:solidFill>
                  <a:srgbClr val="50606D"/>
                </a:solidFill>
              </a:rPr>
              <a:t>Q1 actual vs budget • JPY millions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DA212-AABC-47E0-A418-6193ECD4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AA52C-0E64-4DBC-8EB5-16209ACA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28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C2278-A408-4BB3-936A-0600CCA8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Revenue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B0FE2-7F17-4C31-B6BD-F46373A4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D8DFF"/>
                </a:solidFill>
              </a:defRPr>
            </a:pPr>
            <a:r>
              <a:rPr sz="2175" b="1">
                <a:solidFill>
                  <a:srgbClr val="3D8DFF"/>
                </a:solidFill>
              </a:rPr>
              <a:t>1,842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64FE4-4925-481B-B517-008BBB3F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00250"/>
            <a:ext cx="228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3D8F0-3EDB-451D-9DBD-F1626509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1526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Gross profit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CAE756-38BE-4E20-8F6D-4BF6C675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4193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6E4F"/>
                </a:solidFill>
              </a:defRPr>
            </a:pPr>
            <a:r>
              <a:rPr sz="2175" b="1">
                <a:solidFill>
                  <a:srgbClr val="0B6E4F"/>
                </a:solidFill>
              </a:rPr>
              <a:t>711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20D09-4B49-4C43-B34E-8D3AC4DB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0250"/>
            <a:ext cx="228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F6BF9-7D0B-49F7-A9B5-0E0F79A2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526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EBITDA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57D582-EEB2-4B68-BDD2-2BBE2EB9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193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6E4F"/>
                </a:solidFill>
              </a:defRPr>
            </a:pPr>
            <a:r>
              <a:rPr sz="2175" b="1">
                <a:solidFill>
                  <a:srgbClr val="0B6E4F"/>
                </a:solidFill>
              </a:rPr>
              <a:t>222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A28FE-04AE-45D5-9A43-C04ACB3C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Q1 P&amp;L bridge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9176E2-A9D5-4A4E-8175-5C4B34ED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12B"/>
                </a:solidFill>
              </a:defRPr>
            </a:pPr>
            <a:r>
              <a:rPr sz="1050" b="0">
                <a:solidFill>
                  <a:srgbClr val="17212B"/>
                </a:solidFill>
              </a:rPr>
              <a:t>Revenue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78BE2-A749-4691-93C2-1D4CA047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05250"/>
            <a:ext cx="523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7EC11A-399E-4008-93FA-B194236D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1842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238828-90B1-4229-BF5A-237102B8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12B"/>
                </a:solidFill>
              </a:defRPr>
            </a:pPr>
            <a:r>
              <a:rPr sz="1050" b="0">
                <a:solidFill>
                  <a:srgbClr val="17212B"/>
                </a:solidFill>
              </a:rPr>
              <a:t>COGS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9F2272-8D60-4D3E-B481-DBF82CAF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10050"/>
            <a:ext cx="321662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1E586A-7A7C-4379-8D7D-54C1FA60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127" y="42386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1131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23FB1A-6AD7-45A2-BB30-18B99538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12B"/>
                </a:solidFill>
              </a:defRPr>
            </a:pPr>
            <a:r>
              <a:rPr sz="1050" b="0">
                <a:solidFill>
                  <a:srgbClr val="17212B"/>
                </a:solidFill>
              </a:rPr>
              <a:t>Gross profit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5ACC07-5802-40B0-AA69-1BCF5E94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202212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699526-91C6-4AC8-BA7F-D4F4274A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623" y="45434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711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F3D5CD-6111-41D6-A93A-E72F7A00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12B"/>
                </a:solidFill>
              </a:defRPr>
            </a:pPr>
            <a:r>
              <a:rPr sz="1050" b="0">
                <a:solidFill>
                  <a:srgbClr val="17212B"/>
                </a:solidFill>
              </a:rPr>
              <a:t>Opex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7BED63-4399-4154-B7D5-45AE3DC2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9650"/>
            <a:ext cx="139074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04997C-CC68-44DB-8F53-D2604572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243" y="48482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489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352F5F-00F0-4107-84F9-4734E29A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12B"/>
                </a:solidFill>
              </a:defRPr>
            </a:pPr>
            <a:r>
              <a:rPr sz="1050" b="0">
                <a:solidFill>
                  <a:srgbClr val="17212B"/>
                </a:solidFill>
              </a:rPr>
              <a:t>EBITDA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0A0079-05BD-45FA-A5DE-B8A9B98B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24450"/>
            <a:ext cx="631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B88E05-FFFD-4F24-85C1-96969287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880" y="51530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222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299DFE-6B36-4AB5-9524-85FBCC03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52875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Revenue is JPY 42m above budget; EBITDA is JPY 12m above budget. Maintain price discipline and cost pacing through Q2.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A5F285-4ACA-4EFB-B34C-EA8F91C7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Cedar Works | Synthetic management package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265DAB-2C2B-4FD3-BDA3-EC65F81E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489725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506831-BDCC-40E8-8C71-F2CF4F06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3B5B"/>
                </a:solidFill>
              </a:defRPr>
            </a:pPr>
            <a:r>
              <a:rPr sz="975" b="1">
                <a:solidFill>
                  <a:srgbClr val="153B5B"/>
                </a:solidFill>
              </a:rPr>
              <a:t>FORECAST OUTLOOK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45FB2-BD5B-47D2-8D2D-4F4A134A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12B"/>
                </a:solidFill>
              </a:defRPr>
            </a:pPr>
            <a:r>
              <a:rPr sz="2625" b="1">
                <a:solidFill>
                  <a:srgbClr val="17212B"/>
                </a:solidFill>
              </a:rPr>
              <a:t>Base case supports FY2026 EBITDA of JPY 900m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BF53B-1CA5-4C70-9BF3-07471C62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06D"/>
                </a:solidFill>
              </a:defRPr>
            </a:pPr>
            <a:r>
              <a:rPr sz="1125" b="0">
                <a:solidFill>
                  <a:srgbClr val="50606D"/>
                </a:solidFill>
              </a:rPr>
              <a:t>Scenario lens • JPY millions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34F14-55BE-4850-84E8-C6739455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6191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9f66a5f17642e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86ED9-F3E1-47F7-BCDF-6E26AF73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955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E6351-050D-4EE7-A652-A23AB1FD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24790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Base revenue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081AF-D5E5-4F0B-99BF-555BC3C0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5146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D8DFF"/>
                </a:solidFill>
              </a:defRPr>
            </a:pPr>
            <a:r>
              <a:rPr sz="2175" b="1">
                <a:solidFill>
                  <a:srgbClr val="3D8DFF"/>
                </a:solidFill>
              </a:rPr>
              <a:t>7,560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E43F2-4E21-4E8D-9838-3BFD8DD5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337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7EA6F-3F62-4171-8691-089CE1C5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48615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Base EBITDA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108B8-C602-4C91-9812-DF1C2024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7528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6E4F"/>
                </a:solidFill>
              </a:defRPr>
            </a:pPr>
            <a:r>
              <a:rPr sz="2175" b="1">
                <a:solidFill>
                  <a:srgbClr val="0B6E4F"/>
                </a:solidFill>
              </a:rPr>
              <a:t>900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A7DFA-39A0-4CBE-BB60-E6FDCEE1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76250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Board action: approve the base case as the operating plan and preserve the downside trigger at JPY 300m ending cash.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9F1E0-0DC9-47C9-995C-946EED20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Cedar Works | Synthetic management package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6BE0A-E64C-4F27-A0B0-53ACC72F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079135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09715F-A175-4B1C-802E-15685D36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3B5B"/>
                </a:solidFill>
              </a:defRPr>
            </a:pPr>
            <a:r>
              <a:rPr sz="975" b="1">
                <a:solidFill>
                  <a:srgbClr val="153B5B"/>
                </a:solidFill>
              </a:rPr>
              <a:t>Q1 MARGIN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37FB8-6AA4-41ED-984B-56F7A831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12B"/>
                </a:solidFill>
              </a:defRPr>
            </a:pPr>
            <a:r>
              <a:rPr sz="2625" b="1">
                <a:solidFill>
                  <a:srgbClr val="17212B"/>
                </a:solidFill>
              </a:rPr>
              <a:t>Decisions requested to protect the FY2026 base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62FD8-18E5-47EF-9CE2-59350EE1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06D"/>
                </a:solidFill>
              </a:defRPr>
            </a:pPr>
            <a:r>
              <a:rPr sz="1125" b="0">
                <a:solidFill>
                  <a:srgbClr val="50606D"/>
                </a:solidFill>
              </a:rPr>
              <a:t>Actions and ownership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D312B-7086-4FE9-A8FB-D0C93F24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BEE4E-9343-480C-8AFE-3864C44E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C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9D692-4506-4534-8870-81C5DC36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B5B"/>
                </a:solidFill>
              </a:defRPr>
            </a:pPr>
            <a:r>
              <a:rPr sz="1350" b="1">
                <a:solidFill>
                  <a:srgbClr val="153B5B"/>
                </a:solidFill>
              </a:rPr>
              <a:t>Approve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176940-3B0B-4625-8075-5EDF6A58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431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Base FY2026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820EE-CB8D-472B-AE8F-158D8509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43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06D"/>
                </a:solidFill>
              </a:defRPr>
            </a:pPr>
            <a:r>
              <a:rPr sz="1200" b="0">
                <a:solidFill>
                  <a:srgbClr val="50606D"/>
                </a:solidFill>
              </a:rPr>
              <a:t>7,560 revenue / 900 EBITDA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80A62-894D-43F3-97F3-03DB8A87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907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EBF3D4-7CB9-4575-9460-79ED806D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221A3-3FDC-44DF-B449-C52B3940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B5B"/>
                </a:solidFill>
              </a:defRPr>
            </a:pPr>
            <a:r>
              <a:rPr sz="1350" b="1">
                <a:solidFill>
                  <a:srgbClr val="153B5B"/>
                </a:solidFill>
              </a:rPr>
              <a:t>Ratify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E5BC5-75E9-4A83-B119-2D270F37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432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March cash reconciliation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04137-CCD7-4757-BDB2-FC286989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432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06D"/>
                </a:solidFill>
              </a:defRPr>
            </a:pPr>
            <a:r>
              <a:rPr sz="1200" b="0">
                <a:solidFill>
                  <a:srgbClr val="50606D"/>
                </a:solidFill>
              </a:rPr>
              <a:t>12.4m fully explained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A8819-B87B-4923-962A-3D2737C7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90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552ABD-8623-46A7-B213-0B496135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355D7-F06F-4609-88C6-E6E804FE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B5B"/>
                </a:solidFill>
              </a:defRPr>
            </a:pPr>
            <a:r>
              <a:rPr sz="1350" b="1">
                <a:solidFill>
                  <a:srgbClr val="153B5B"/>
                </a:solidFill>
              </a:rPr>
              <a:t>Endorse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D31C7F-D98B-4EA2-831D-796446C9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434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Q2 cash-conversion cadence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62CD6B-C854-4D9C-B34D-52C63207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434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06D"/>
                </a:solidFill>
              </a:defRPr>
            </a:pPr>
            <a:r>
              <a:rPr sz="1200" b="0">
                <a:solidFill>
                  <a:srgbClr val="50606D"/>
                </a:solidFill>
              </a:rPr>
              <a:t>AR / inventory / AP focus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0893B4-9BAB-4954-8871-88953466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910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Finance + Operations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88BBDC-C676-4EFE-8404-AEA61821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Next board update: April close with cash conversion and downside-trigger readout.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92C81B-4CEB-4D82-B1A6-769B79A2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Cedar Works | Synthetic management package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537496-8976-4E59-AF39-7965018D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822009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2026-08-23T18:50:26.8640000Z</dcterms:created>
  <dcterms:modified xsi:type="dcterms:W3CDTF">2026-08-23T18:50:26.8640000Z</dcterms:modified>
</coreProperties>
</file>