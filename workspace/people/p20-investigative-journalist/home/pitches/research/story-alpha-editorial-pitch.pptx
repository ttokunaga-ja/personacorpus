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a1f0fcd9e84fe1" /><Relationship Type="http://schemas.openxmlformats.org/officeDocument/2006/relationships/extended-properties" Target="/docProps/app.xml" Id="Reed6be2b79d54bf7" /><Relationship Type="http://schemas.openxmlformats.org/officeDocument/2006/relationships/officeDocument" Target="/ppt/presentation.xml" Id="R1c5323460ee942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f688989e774b17"/>
  </p:sldMasterIdLst>
  <p:notesMasterIdLst>
    <p:notesMasterId xmlns:r="http://schemas.openxmlformats.org/officeDocument/2006/relationships" r:id="R8e2385587d7741aa"/>
  </p:notesMasterIdLst>
  <p:sldIdLst>
    <p:sldId xmlns:r="http://schemas.openxmlformats.org/officeDocument/2006/relationships" id="256" r:id="Rcad99b377f91447a"/>
    <p:sldId xmlns:r="http://schemas.openxmlformats.org/officeDocument/2006/relationships" id="257" r:id="R3c6540a9683740ec"/>
    <p:sldId xmlns:r="http://schemas.openxmlformats.org/officeDocument/2006/relationships" id="258" r:id="R43c306ffd5654a11"/>
    <p:sldId xmlns:r="http://schemas.openxmlformats.org/officeDocument/2006/relationships" id="259" r:id="Rbf232135f93941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dcb385202e4f6b" /><Relationship Type="http://schemas.openxmlformats.org/officeDocument/2006/relationships/slideMaster" Target="/ppt/slideMasters/slideMaster1.xml" Id="R03f688989e774b17" /><Relationship Type="http://schemas.openxmlformats.org/officeDocument/2006/relationships/notesMaster" Target="/ppt/notesMasters/notesMaster1.xml" Id="R8e2385587d7741aa" /><Relationship Type="http://schemas.openxmlformats.org/officeDocument/2006/relationships/presProps" Target="/ppt/presProps.xml" Id="R8e30dea507654b5a" /><Relationship Type="http://schemas.openxmlformats.org/officeDocument/2006/relationships/tableStyles" Target="/ppt/tableStyles.xml" Id="R43f4fa118f2848d6" /><Relationship Type="http://schemas.openxmlformats.org/officeDocument/2006/relationships/slide" Target="/ppt/slides/slide1.xml" Id="Rcad99b377f91447a" /><Relationship Type="http://schemas.openxmlformats.org/officeDocument/2006/relationships/slide" Target="/ppt/slides/slide2.xml" Id="R3c6540a9683740ec" /><Relationship Type="http://schemas.openxmlformats.org/officeDocument/2006/relationships/slide" Target="/ppt/slides/slide3.xml" Id="R43c306ffd5654a11" /><Relationship Type="http://schemas.openxmlformats.org/officeDocument/2006/relationships/slide" Target="/ppt/slides/slide4.xml" Id="Rbf232135f93941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ca4629ff8d4e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ec0e591604090" /><Relationship Type="http://schemas.openxmlformats.org/officeDocument/2006/relationships/notesMaster" Target="/ppt/notesMasters/notesMaster1.xml" Id="R60517d5141fc42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22009cca244a78" /><Relationship Type="http://schemas.openxmlformats.org/officeDocument/2006/relationships/notesMaster" Target="/ppt/notesMasters/notesMaster1.xml" Id="R82ab56256fcd45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896697b8a14474" /><Relationship Type="http://schemas.openxmlformats.org/officeDocument/2006/relationships/notesMaster" Target="/ppt/notesMasters/notesMaster1.xml" Id="R2b811b23e31c48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7269e634c444f6" /><Relationship Type="http://schemas.openxmlformats.org/officeDocument/2006/relationships/notesMaster" Target="/ppt/notesMasters/notesMaster1.xml" Id="Ra1eb4aed00df42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2b84ae14445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6483e05398400a" /><Relationship Type="http://schemas.openxmlformats.org/officeDocument/2006/relationships/slideLayout" Target="/ppt/slideLayouts/slideLayout1.xml" Id="R15923fe6403d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923fe6403d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0c1a3ba634920" /><Relationship Type="http://schemas.openxmlformats.org/officeDocument/2006/relationships/notesSlide" Target="/ppt/notesSlides/notesSlide1.xml" Id="Rbc3e39c4103849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52a561f0e4753" /><Relationship Type="http://schemas.openxmlformats.org/officeDocument/2006/relationships/notesSlide" Target="/ppt/notesSlides/notesSlide2.xml" Id="R2c191162a228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800d1b49d4efe" /><Relationship Type="http://schemas.openxmlformats.org/officeDocument/2006/relationships/notesSlide" Target="/ppt/notesSlides/notesSlide3.xml" Id="R42d7f11f69fa47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0bd2171a7428e" /><Relationship Type="http://schemas.openxmlformats.org/officeDocument/2006/relationships/notesSlide" Target="/ppt/notesSlides/notesSlide4.xml" Id="R9891c105fa9a44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A5B00-048B-42CD-A671-2FF3B350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CIVIC LEDGER /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7A96D-B8F0-40EF-853E-BA9914FB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Project Lantern: a record gap worth resolving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33A4D-7930-43E5-9BBA-0CF89B7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Story Alpha editorial pitch | Agency Alpha-17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E8B30-03ED-4C07-A060-0B145E47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39FAD-38C1-4E07-8938-83C4CA67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37549-3C87-4067-A3C9-51032B5E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EDITORIAL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948FC-87CC-42C1-95B8-907FB1AB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Document-led reporting on what the record shows - and what it does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C8AE4-515D-4C15-BE2D-C391164B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Desk 2026-08-22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Verified 2026-08-19</a:t>
            </a:r>
          </a:p>
        </p:txBody>
      </p:sp>
    </p:spTree>
    <p:extLst>
      <p:ext uri="{BB962C8B-B14F-4D97-AF65-F5344CB8AC3E}">
        <p14:creationId xmlns:p14="http://schemas.microsoft.com/office/powerpoint/2010/main" val="345767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F325C-A56B-43EF-9995-5D75AC62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691"/>
                </a:solidFill>
              </a:defRPr>
            </a:pPr>
            <a:r>
              <a:rPr sz="1050" b="1">
                <a:solidFill>
                  <a:srgbClr val="1E6691"/>
                </a:solidFill>
              </a:rPr>
              <a:t>CIVIC LEDGER / INVESTIGATIONS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13B34-DB44-4D75-A5E7-21F8C088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file supports a focused question, not a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A913A-7917-4F29-9F9D-511AC29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F04B8-45AF-4DE1-B9E4-9F025CA4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FOIA batch 17  |  2026-08-22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3CF51-34E5-4447-BE19-0C2FA903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19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E58CF-6A87-469A-9BE0-97D5267D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5EE38-D43D-4D6F-83FE-1CA9C45B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C95C6-8C0F-44E5-A80F-5F2120E8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7907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39A46-3578-4271-96E5-721AA7C6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859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Known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D0B27-9AE2-4D20-BECC-1715A7A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B6BE5-0299-4D68-9CEB-4C3BEE95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85950"/>
            <a:ext cx="2771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Gap to 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91593-C829-464D-A3C5-DEB171B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790700"/>
            <a:ext cx="3705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BA2D3-86AE-41BB-8F5B-FB542D3E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8595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Editorial meaning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9FBF8-E58E-4A18-ACE6-AE90A290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333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BA07B-2139-48DC-98A6-720F503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1050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Project Lantern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CL-A17-2026-04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8D84D-3FDD-4BC1-8C4C-A641311A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9075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2CCDA-B237-4207-8E02-D015D1D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2410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240 kits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1,248,000 fictional Civic Credits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Award: 2026-06-03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409B9-0CD9-4C27-8E57-5B572463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3000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00232-46C2-495B-A4A1-71E6FB62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2771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FOIA record lacks the quoted basis for the award.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14BFF-12B0-4EF2-905A-F73941BE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90750"/>
            <a:ext cx="37052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65050-360F-4690-84D5-2F1C233E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24100"/>
            <a:ext cx="3476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Ask for the quote record before characterizing the procurement process.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F44D2-FA5F-41EB-9E76-52F556DA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333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E9C8E-C6ED-4F85-B298-7D0E156E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21050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FOIA batch 17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CL-SA26-FOIA-17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75F0D-F452-4F97-A2F8-5AF1F9EA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1475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AEF0A-573E-40C3-9DE4-D4014C99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4810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Received 2026-08-14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48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D41E2-8B2D-475E-B946-6FEC6C19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3000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2EFB40-EB2B-4FB3-B643-EF46704E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2771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One date reads 2026-05-28; another reads 2026-05-30.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A0660E-A6F7-41BF-BFCD-D3F3BB95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14750"/>
            <a:ext cx="37052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B7587-E500-4660-A1B2-AEB6EF15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48100"/>
            <a:ext cx="3476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Report the mismatch only after testing whether a corrected history resolves it.</a:t>
            </a:r>
          </a:p>
        </p:txBody>
      </p:sp>
    </p:spTree>
    <p:extLst>
      <p:ext uri="{BB962C8B-B14F-4D97-AF65-F5344CB8AC3E}">
        <p14:creationId xmlns:p14="http://schemas.microsoft.com/office/powerpoint/2010/main" val="162438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C78B8-47E8-4129-B441-6C3EFC55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691"/>
                </a:solidFill>
              </a:defRPr>
            </a:pPr>
            <a:r>
              <a:rPr sz="1050" b="1">
                <a:solidFill>
                  <a:srgbClr val="1E6691"/>
                </a:solidFill>
              </a:rPr>
              <a:t>CIVIC LEDGER / INVESTIGATIONS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FA66F-F415-4457-A786-45CDED67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short reporting sequence can test the Alpha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66A32-EC5D-462A-8488-9120EA53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53F53-EEDB-4509-BD28-DD3FD9BA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FOIA batch 17  |  2026-08-22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6B444-23D2-4B40-8E47-17E1E15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19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31FD4-A603-481E-9853-D35C4A82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0BF76-8FF2-4406-BD49-A277E75B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7B776-BA22-4A40-BCDF-D646278B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DF8CC-58D1-4C9C-AF83-BE24F47C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Map the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7677E-5795-4FEE-BC61-3B0C21F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Index the 48 pages and isolate the missing quote reference.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E2AB1-E7C8-4585-A250-86BEBE38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C24E5-D366-472D-982E-700F2E9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C719D-61C0-4D74-AEE0-90F0B7E5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Request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53A5B-2178-4EFF-B5DC-142A0997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Seek the quote, evaluation record, and dated revision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215A8-24EF-4FF3-BAD3-8AFE3FF4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8BF1C-9917-4D91-9CB6-7449759C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THEN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E690C-19A4-4FAF-B28A-77983ED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Seek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8C78D-AEF4-446A-954B-0ADE8E57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Put the exact record gap to Agency Alpha-17.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F4B00-EB17-4BBB-BAC3-712FA22B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B130B-02B4-4A59-B48E-146DDD68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PUBLISH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35770-ECE4-434B-A022-A137093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State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495F1-D187-4CBE-BFAB-A77C9717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Describe what remains unresolved; do not infer intent.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13118-8CCD-46C4-9270-DC14CA3B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Reporting order: preserve the distinction between documented facts, agency explanation, and unresolved gaps.</a:t>
            </a:r>
          </a:p>
        </p:txBody>
      </p:sp>
    </p:spTree>
    <p:extLst>
      <p:ext uri="{BB962C8B-B14F-4D97-AF65-F5344CB8AC3E}">
        <p14:creationId xmlns:p14="http://schemas.microsoft.com/office/powerpoint/2010/main" val="1647618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DF70E-236D-4D05-82FD-B1FA22B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691"/>
                </a:solidFill>
              </a:defRPr>
            </a:pPr>
            <a:r>
              <a:rPr sz="1050" b="1">
                <a:solidFill>
                  <a:srgbClr val="1E6691"/>
                </a:solidFill>
              </a:rPr>
              <a:t>CIVIC LEDGER / INVESTIGATIONS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0BBAB-0B06-49C7-B952-65631BA7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Editorial decision: proceed with verification, not accusation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364CF-C251-4F86-834D-927B10F3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42B66-64F7-4643-AEFE-A8FB9B04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FOIA batch 17  |  2026-08-22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494CC-C92F-4D03-98E4-EF6DDE56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19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ADB0C-FE89-4A97-A047-CF558444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The reporting case is a narrow verification problem, not an allegation.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627CA-CFEB-4EAE-AB1D-55DD6CCD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3276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A0042-C4AB-41F6-91A5-E68E1FDF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6DC9C-C804-463A-B5BD-813D877E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12452-4463-461F-8E15-43B2FBE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691"/>
                </a:solidFill>
              </a:defRPr>
            </a:pPr>
            <a:r>
              <a:rPr sz="1575" b="1">
                <a:solidFill>
                  <a:srgbClr val="1E6691"/>
                </a:solidFill>
              </a:rPr>
              <a:t>FOIA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1F4A9-B8F8-4EB3-8A27-7D980BBA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Received 2026-08-14 in record CL-SA26-FOIA-17.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5F5C9-6A11-403F-A99A-467B3EE5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3276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5FF11-6A99-423D-9815-07755A36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C7E8D-D659-494B-891B-2E9373B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241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4383B-D63D-48B8-BC19-0F213139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691"/>
                </a:solidFill>
              </a:defRPr>
            </a:pPr>
            <a:r>
              <a:rPr sz="1575" b="1">
                <a:solidFill>
                  <a:srgbClr val="1E6691"/>
                </a:solidFill>
              </a:rPr>
              <a:t>DATE ENTRIES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31A82-35B2-46C6-967A-D1D62887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2026-05-28 and 2026-05-30 require document-based reconciliation.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9AE4E-B470-465A-A8E1-5C735683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24125"/>
            <a:ext cx="3276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5A2E6-B498-477E-89AD-FD2A1F67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24125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B4AC7-3C5C-4368-8250-A8FF8A74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241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D424C-DE87-4D22-89D2-B1EF77C8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691"/>
                </a:solidFill>
              </a:defRPr>
            </a:pPr>
            <a:r>
              <a:rPr sz="1575" b="1">
                <a:solidFill>
                  <a:srgbClr val="1E6691"/>
                </a:solidFill>
              </a:rPr>
              <a:t>MISSING QUOTE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2DB23-A356-4084-8015-66F237BE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Absence is a reporting lead, not proof of wrongdoing.</a:t>
            </a:r>
          </a:p>
        </p:txBody>
      </p:sp>
    </p:spTree>
    <p:extLst>
      <p:ext uri="{BB962C8B-B14F-4D97-AF65-F5344CB8AC3E}">
        <p14:creationId xmlns:p14="http://schemas.microsoft.com/office/powerpoint/2010/main" val="90695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2026-08-23T20:42:01.7010000Z</dcterms:created>
  <dcterms:modified xsi:type="dcterms:W3CDTF">2026-08-23T20:42:01.7010000Z</dcterms:modified>
</coreProperties>
</file>