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5973805dffb47d1" /><Relationship Type="http://schemas.openxmlformats.org/officeDocument/2006/relationships/extended-properties" Target="/docProps/app.xml" Id="Rf4b6b8586e77419f" /><Relationship Type="http://schemas.openxmlformats.org/officeDocument/2006/relationships/officeDocument" Target="/ppt/presentation.xml" Id="R707e81d963e24b3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cf8f145ca8842f7"/>
  </p:sldMasterIdLst>
  <p:notesMasterIdLst>
    <p:notesMasterId xmlns:r="http://schemas.openxmlformats.org/officeDocument/2006/relationships" r:id="Ra253565e2cb04a92"/>
  </p:notesMasterIdLst>
  <p:sldIdLst>
    <p:sldId xmlns:r="http://schemas.openxmlformats.org/officeDocument/2006/relationships" id="256" r:id="R27a9f32f50a047ae"/>
    <p:sldId xmlns:r="http://schemas.openxmlformats.org/officeDocument/2006/relationships" id="257" r:id="Rbe12c10c4ff84981"/>
    <p:sldId xmlns:r="http://schemas.openxmlformats.org/officeDocument/2006/relationships" id="258" r:id="Rf956e5d5e2644f0a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6f8ec7d4e7e4d10" /><Relationship Type="http://schemas.openxmlformats.org/officeDocument/2006/relationships/slideMaster" Target="/ppt/slideMasters/slideMaster1.xml" Id="R5cf8f145ca8842f7" /><Relationship Type="http://schemas.openxmlformats.org/officeDocument/2006/relationships/notesMaster" Target="/ppt/notesMasters/notesMaster1.xml" Id="Ra253565e2cb04a92" /><Relationship Type="http://schemas.openxmlformats.org/officeDocument/2006/relationships/presProps" Target="/ppt/presProps.xml" Id="Rfa166bb49fb24fa8" /><Relationship Type="http://schemas.openxmlformats.org/officeDocument/2006/relationships/tableStyles" Target="/ppt/tableStyles.xml" Id="Rc3f3c1715933482d" /><Relationship Type="http://schemas.openxmlformats.org/officeDocument/2006/relationships/slide" Target="/ppt/slides/slide1.xml" Id="R27a9f32f50a047ae" /><Relationship Type="http://schemas.openxmlformats.org/officeDocument/2006/relationships/slide" Target="/ppt/slides/slide2.xml" Id="Rbe12c10c4ff84981" /><Relationship Type="http://schemas.openxmlformats.org/officeDocument/2006/relationships/slide" Target="/ppt/slides/slide3.xml" Id="Rf956e5d5e2644f0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0b9a94fc353427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8c54249a338400b" /><Relationship Type="http://schemas.openxmlformats.org/officeDocument/2006/relationships/notesMaster" Target="/ppt/notesMasters/notesMaster1.xml" Id="R1e4d481a6b1d4b3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d16d2264b6a4394" /><Relationship Type="http://schemas.openxmlformats.org/officeDocument/2006/relationships/notesMaster" Target="/ppt/notesMasters/notesMaster1.xml" Id="Rcc506d0c27c545e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f48ba54470f4b83" /><Relationship Type="http://schemas.openxmlformats.org/officeDocument/2006/relationships/notesMaster" Target="/ppt/notesMasters/notesMaster1.xml" Id="R2d43cc08e2d245a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e19551cc00d4eb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c8ce4f743654934" /><Relationship Type="http://schemas.openxmlformats.org/officeDocument/2006/relationships/slideLayout" Target="/ppt/slideLayouts/slideLayout1.xml" Id="Rf2c4f81e07824ad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2c4f81e07824ad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feb3d4fb0a3429d" /><Relationship Type="http://schemas.openxmlformats.org/officeDocument/2006/relationships/notesSlide" Target="/ppt/notesSlides/notesSlide1.xml" Id="R57ba8845c5034bc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745f9e1542a4fd8" /><Relationship Type="http://schemas.openxmlformats.org/officeDocument/2006/relationships/notesSlide" Target="/ppt/notesSlides/notesSlide2.xml" Id="R6d034bb50f00426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c2966da3b4b4c5b" /><Relationship Type="http://schemas.openxmlformats.org/officeDocument/2006/relationships/notesSlide" Target="/ppt/notesSlides/notesSlide3.xml" Id="R70ed2c4f4aae4d08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97C672E-7421-41F6-8412-DBAAFF7E9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F766E"/>
                </a:solidFill>
              </a:defRPr>
            </a:pPr>
            <a:r>
              <a:rPr sz="900" b="1">
                <a:solidFill>
                  <a:srgbClr val="0F766E"/>
                </a:solidFill>
              </a:rPr>
              <a:t>BEACON FIELD RESEARCH  /  STUDY ALPHA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04C18C5-2EF2-4418-BF5F-EF06B42D3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323850"/>
            <a:ext cx="1295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2616B"/>
                </a:solidFill>
              </a:defRPr>
            </a:pPr>
            <a:r>
              <a:rPr sz="900" b="1">
                <a:solidFill>
                  <a:srgbClr val="52616B"/>
                </a:solidFill>
              </a:rPr>
              <a:t>OPPORTUNITY PRIORITIZATION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BDEE06B-52FD-44B6-9964-38DDD8F8E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6750"/>
            <a:ext cx="10972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2A43"/>
                </a:solidFill>
              </a:defRPr>
            </a:pPr>
            <a:r>
              <a:rPr sz="2550" b="1">
                <a:solidFill>
                  <a:srgbClr val="102A43"/>
                </a:solidFill>
              </a:rPr>
              <a:t>Prioritize confidence cues that bridge the whole flow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B91C274-BC5D-4E17-9DCA-68CB3D7C3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10972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2616B"/>
                </a:solidFill>
              </a:defRPr>
            </a:pPr>
            <a:r>
              <a:rPr sz="1200" b="0">
                <a:solidFill>
                  <a:srgbClr val="52616B"/>
                </a:solidFill>
              </a:rPr>
              <a:t>Directionally ranked from observation frequency, breadth, and feasibility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11D46B0-A50B-494F-BCCA-E07DAF7CA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62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6CB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256B7AC-A795-4E0A-904C-D5ABB043D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143125"/>
            <a:ext cx="514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2616B"/>
                </a:solidFill>
              </a:defRPr>
            </a:pPr>
            <a:r>
              <a:rPr sz="1350" b="1">
                <a:solidFill>
                  <a:srgbClr val="52616B"/>
                </a:solidFill>
              </a:rPr>
              <a:t>Opportunity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00C2A18-030C-4AF4-893F-B203C6334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143125"/>
            <a:ext cx="171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2616B"/>
                </a:solidFill>
              </a:defRPr>
            </a:pPr>
            <a:r>
              <a:rPr sz="1350" b="1">
                <a:solidFill>
                  <a:srgbClr val="52616B"/>
                </a:solidFill>
              </a:rPr>
              <a:t>Priority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ED4CBA0-04C8-4E68-B370-4C7B6417C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714625"/>
            <a:ext cx="514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A43"/>
                </a:solidFill>
              </a:defRPr>
            </a:pPr>
            <a:r>
              <a:rPr sz="1650" b="1">
                <a:solidFill>
                  <a:srgbClr val="102A43"/>
                </a:solidFill>
              </a:rPr>
              <a:t>Persistent status marker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10E6EE2-E676-41C3-BE51-8E309C404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714625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F766E"/>
                </a:solidFill>
              </a:defRPr>
            </a:pPr>
            <a:r>
              <a:rPr sz="1650" b="1">
                <a:solidFill>
                  <a:srgbClr val="0F766E"/>
                </a:solidFill>
              </a:rPr>
              <a:t>NOW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7F1A162-8539-4696-B9AB-FBACB1948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333750"/>
            <a:ext cx="514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A43"/>
                </a:solidFill>
              </a:defRPr>
            </a:pPr>
            <a:r>
              <a:rPr sz="1650" b="1">
                <a:solidFill>
                  <a:srgbClr val="102A43"/>
                </a:solidFill>
              </a:rPr>
              <a:t>Specific confirmation detail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C58D9F1-3625-4888-818D-22E4396D7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33375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F766E"/>
                </a:solidFill>
              </a:defRPr>
            </a:pPr>
            <a:r>
              <a:rPr sz="1650" b="1">
                <a:solidFill>
                  <a:srgbClr val="0F766E"/>
                </a:solidFill>
              </a:rPr>
              <a:t>NOW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910C95A-903D-40E5-9C9C-C4CB067BF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952875"/>
            <a:ext cx="514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A43"/>
                </a:solidFill>
              </a:defRPr>
            </a:pPr>
            <a:r>
              <a:rPr sz="1650" b="1">
                <a:solidFill>
                  <a:srgbClr val="102A43"/>
                </a:solidFill>
              </a:rPr>
              <a:t>Named recovery route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248FA87-BAD8-431F-A7EA-AD4D8BC06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952875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B6CB0"/>
                </a:solidFill>
              </a:defRPr>
            </a:pPr>
            <a:r>
              <a:rPr sz="1650" b="1">
                <a:solidFill>
                  <a:srgbClr val="2B6CB0"/>
                </a:solidFill>
              </a:rPr>
              <a:t>NEXT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392E198-5954-4872-BCC8-016211FAD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572000"/>
            <a:ext cx="514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A43"/>
                </a:solidFill>
              </a:defRPr>
            </a:pPr>
            <a:r>
              <a:rPr sz="1650" b="1">
                <a:solidFill>
                  <a:srgbClr val="102A43"/>
                </a:solidFill>
              </a:rPr>
              <a:t>Enhanced interruption resume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324A572-3399-4BA6-BABC-7D734D42F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57200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B7791F"/>
                </a:solidFill>
              </a:defRPr>
            </a:pPr>
            <a:r>
              <a:rPr sz="1650" b="1">
                <a:solidFill>
                  <a:srgbClr val="B7791F"/>
                </a:solidFill>
              </a:rPr>
              <a:t>LATER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7895D23-D048-42B7-9991-71A616438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16B"/>
                </a:solidFill>
              </a:defRPr>
            </a:pPr>
            <a:r>
              <a:rPr sz="825" b="0">
                <a:solidFill>
                  <a:srgbClr val="52616B"/>
                </a:solidFill>
              </a:rPr>
              <a:t>Synthetic study • 2026-07-13 • session UX-184 • n=24 • paraphrased evidence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F0B05A4-2705-401A-84E9-E797B5B35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2616B"/>
                </a:solidFill>
              </a:defRPr>
            </a:pPr>
            <a:r>
              <a:rPr sz="900" b="1">
                <a:solidFill>
                  <a:srgbClr val="52616B"/>
                </a:solidFill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2026057074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582317A-593C-45B2-A4DE-9602DA793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F766E"/>
                </a:solidFill>
              </a:defRPr>
            </a:pPr>
            <a:r>
              <a:rPr sz="900" b="1">
                <a:solidFill>
                  <a:srgbClr val="0F766E"/>
                </a:solidFill>
              </a:rPr>
              <a:t>BEACON FIELD RESEARCH  /  STUDY ALPHA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AA16D54-E1E4-4BB4-A435-936126E43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323850"/>
            <a:ext cx="1295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2616B"/>
                </a:solidFill>
              </a:defRPr>
            </a:pPr>
            <a:r>
              <a:rPr sz="900" b="1">
                <a:solidFill>
                  <a:srgbClr val="52616B"/>
                </a:solidFill>
              </a:rPr>
              <a:t>PRIORITIZATION LOGIC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8ED9B0D-3929-4BCE-A641-83335D5D8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6750"/>
            <a:ext cx="10972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2A43"/>
                </a:solidFill>
              </a:defRPr>
            </a:pPr>
            <a:r>
              <a:rPr sz="2550" b="1">
                <a:solidFill>
                  <a:srgbClr val="102A43"/>
                </a:solidFill>
              </a:rPr>
              <a:t>The first experiment should reduce uncertainty at multiple handoffs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70BFCD8-055A-4926-B270-7A66DEF53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10972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2616B"/>
                </a:solidFill>
              </a:defRPr>
            </a:pPr>
            <a:r>
              <a:rPr sz="1200" b="0">
                <a:solidFill>
                  <a:srgbClr val="52616B"/>
                </a:solidFill>
              </a:rPr>
              <a:t>This is an opportunity hypothesis, not a quantified business case.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0220026-783A-4219-9F13-7FB9FA607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62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6CB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D4165E9-D34E-430B-BD10-3D6DF576B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095500"/>
            <a:ext cx="3143250" cy="1752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4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BE0A704-CEC7-45C3-AA2B-0ED8FE60D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305050"/>
            <a:ext cx="266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0F766E"/>
                </a:solidFill>
              </a:defRPr>
            </a:pPr>
            <a:r>
              <a:rPr sz="3300" b="1">
                <a:solidFill>
                  <a:srgbClr val="0F766E"/>
                </a:solidFill>
              </a:rPr>
              <a:t>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0B4754C-1ACA-44D1-AD22-E537BF655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914650"/>
            <a:ext cx="266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02A43"/>
                </a:solidFill>
              </a:defRPr>
            </a:pPr>
            <a:r>
              <a:rPr sz="1425" b="1">
                <a:solidFill>
                  <a:srgbClr val="102A43"/>
                </a:solidFill>
              </a:rPr>
              <a:t>breadth across observed themes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553D5F8-10B7-4461-AE4D-445E66C97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295650"/>
            <a:ext cx="2667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2616B"/>
                </a:solidFill>
              </a:defRPr>
            </a:pPr>
            <a:r>
              <a:rPr sz="1050" b="0">
                <a:solidFill>
                  <a:srgbClr val="52616B"/>
                </a:solidFill>
              </a:rPr>
              <a:t>status, trust, recovery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98C85BF-F478-48BA-BC2C-E79B9B000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095500"/>
            <a:ext cx="3143250" cy="1752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4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0B889CF-03C6-4834-B3A3-E81E43F47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305050"/>
            <a:ext cx="266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2B6CB0"/>
                </a:solidFill>
              </a:defRPr>
            </a:pPr>
            <a:r>
              <a:rPr sz="3300" b="1">
                <a:solidFill>
                  <a:srgbClr val="2B6CB0"/>
                </a:solidFill>
              </a:rPr>
              <a:t>2 weeks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517C91A-63B1-41E2-B376-C58292CAD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914650"/>
            <a:ext cx="266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02A43"/>
                </a:solidFill>
              </a:defRPr>
            </a:pPr>
            <a:r>
              <a:rPr sz="1425" b="1">
                <a:solidFill>
                  <a:srgbClr val="102A43"/>
                </a:solidFill>
              </a:rPr>
              <a:t>feasible prototype scope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F683EA3-4FF4-4596-9DAA-068D89513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3295650"/>
            <a:ext cx="2667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2616B"/>
                </a:solidFill>
              </a:defRPr>
            </a:pPr>
            <a:r>
              <a:rPr sz="1050" b="0">
                <a:solidFill>
                  <a:srgbClr val="52616B"/>
                </a:solidFill>
              </a:rPr>
              <a:t>one integrated confidence layer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670605D-40F7-4BD7-923C-793F83143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095500"/>
            <a:ext cx="3143250" cy="1752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4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19E4055-D9C8-4391-92FC-4F793E56F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305050"/>
            <a:ext cx="266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B7791F"/>
                </a:solidFill>
              </a:defRPr>
            </a:pPr>
            <a:r>
              <a:rPr sz="3300" b="1">
                <a:solidFill>
                  <a:srgbClr val="B7791F"/>
                </a:solidFill>
              </a:rPr>
              <a:t>high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199C497-2A34-49AD-B070-4F9105B30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914650"/>
            <a:ext cx="266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02A43"/>
                </a:solidFill>
              </a:defRPr>
            </a:pPr>
            <a:r>
              <a:rPr sz="1425" b="1">
                <a:solidFill>
                  <a:srgbClr val="102A43"/>
                </a:solidFill>
              </a:rPr>
              <a:t>validation need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59AEFA8-B9C3-4400-88E2-D1596739A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295650"/>
            <a:ext cx="2667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2616B"/>
                </a:solidFill>
              </a:defRPr>
            </a:pPr>
            <a:r>
              <a:rPr sz="1050" b="0">
                <a:solidFill>
                  <a:srgbClr val="52616B"/>
                </a:solidFill>
              </a:rPr>
              <a:t>observe before scaling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B6BCBDC-24A7-458B-8DEB-AABD6E690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16B"/>
                </a:solidFill>
              </a:defRPr>
            </a:pPr>
            <a:r>
              <a:rPr sz="825" b="0">
                <a:solidFill>
                  <a:srgbClr val="52616B"/>
                </a:solidFill>
              </a:rPr>
              <a:t>Synthetic study • 2026-07-13 • session UX-184 • n=24 • paraphrased evidence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6BF8888-7FBF-4900-B1A5-F4CCC7050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2616B"/>
                </a:solidFill>
              </a:defRPr>
            </a:pPr>
            <a:r>
              <a:rPr sz="900" b="1">
                <a:solidFill>
                  <a:srgbClr val="52616B"/>
                </a:solidFill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610962276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EAC004D-1177-4149-AE12-354E4DFAA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F766E"/>
                </a:solidFill>
              </a:defRPr>
            </a:pPr>
            <a:r>
              <a:rPr sz="900" b="1">
                <a:solidFill>
                  <a:srgbClr val="0F766E"/>
                </a:solidFill>
              </a:rPr>
              <a:t>BEACON FIELD RESEARCH  /  STUDY ALPHA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DC38FE9-D79F-47D1-B900-3515BDB73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323850"/>
            <a:ext cx="1295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2616B"/>
                </a:solidFill>
              </a:defRPr>
            </a:pPr>
            <a:r>
              <a:rPr sz="900" b="1">
                <a:solidFill>
                  <a:srgbClr val="52616B"/>
                </a:solidFill>
              </a:rPr>
              <a:t>NEXT EXPERIMENT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4CC4884-B74C-4FCE-A5D3-A52A16E18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6750"/>
            <a:ext cx="10972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2A43"/>
                </a:solidFill>
              </a:defRPr>
            </a:pPr>
            <a:r>
              <a:rPr sz="2550" b="1">
                <a:solidFill>
                  <a:srgbClr val="102A43"/>
                </a:solidFill>
              </a:rPr>
              <a:t>Test the confidence layer as one coherent change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077612F-060E-4915-A12C-3E5A52973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10972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2616B"/>
                </a:solidFill>
              </a:defRPr>
            </a:pPr>
            <a:r>
              <a:rPr sz="1200" b="0">
                <a:solidFill>
                  <a:srgbClr val="52616B"/>
                </a:solidFill>
              </a:rPr>
              <a:t>Recruit a new synthetic round and observe orientation, confirmation interpretation, and recovery independently.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A550E18-2D14-4AFE-A130-B1C9E827D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62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6CB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17A5154-4F62-4AFD-ABCA-33D8E2307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714625"/>
            <a:ext cx="238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F766E"/>
                </a:solidFill>
              </a:defRPr>
            </a:pPr>
            <a:r>
              <a:rPr sz="1500" b="1">
                <a:solidFill>
                  <a:srgbClr val="0F766E"/>
                </a:solidFill>
              </a:rPr>
              <a:t>Decision rule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E898C57-5252-4814-AF89-E3A23A808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095625"/>
            <a:ext cx="9334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02A43"/>
                </a:solidFill>
              </a:defRPr>
            </a:pPr>
            <a:r>
              <a:rPr sz="1875" b="1">
                <a:solidFill>
                  <a:srgbClr val="102A43"/>
                </a:solidFill>
              </a:rPr>
              <a:t>Advance only if participants can explain current state and next action with less prompting.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03539AC-12D5-4ADA-9512-40B331EA0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16B"/>
                </a:solidFill>
              </a:defRPr>
            </a:pPr>
            <a:r>
              <a:rPr sz="825" b="0">
                <a:solidFill>
                  <a:srgbClr val="52616B"/>
                </a:solidFill>
              </a:rPr>
              <a:t>Synthetic study • 2026-07-13 • session UX-184 • n=24 • paraphrased evidence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796A69F-B30B-404A-8D96-F7C7926C4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2616B"/>
                </a:solidFill>
              </a:defRPr>
            </a:pPr>
            <a:r>
              <a:rPr sz="900" b="1">
                <a:solidFill>
                  <a:srgbClr val="52616B"/>
                </a:solidFill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16902956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2026-08-23T15:23:15.3460000Z</dcterms:created>
  <dcterms:modified xsi:type="dcterms:W3CDTF">2026-08-23T15:23:15.3460000Z</dcterms:modified>
</coreProperties>
</file>