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e06c12a4cc4d3d" /><Relationship Type="http://schemas.openxmlformats.org/officeDocument/2006/relationships/extended-properties" Target="/docProps/app.xml" Id="R9063b7fe47654076" /><Relationship Type="http://schemas.openxmlformats.org/officeDocument/2006/relationships/officeDocument" Target="/ppt/presentation.xml" Id="Rdef44887685941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9aa0e695614d6d"/>
  </p:sldMasterIdLst>
  <p:notesMasterIdLst>
    <p:notesMasterId xmlns:r="http://schemas.openxmlformats.org/officeDocument/2006/relationships" r:id="Reb979a86bf9e470b"/>
  </p:notesMasterIdLst>
  <p:sldIdLst>
    <p:sldId xmlns:r="http://schemas.openxmlformats.org/officeDocument/2006/relationships" id="256" r:id="Re8364414b74847a3"/>
    <p:sldId xmlns:r="http://schemas.openxmlformats.org/officeDocument/2006/relationships" id="257" r:id="Rf31d04745cd7465b"/>
    <p:sldId xmlns:r="http://schemas.openxmlformats.org/officeDocument/2006/relationships" id="258" r:id="R746cd4fe0f3b48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9e7a179fbc49f0" /><Relationship Type="http://schemas.openxmlformats.org/officeDocument/2006/relationships/slideMaster" Target="/ppt/slideMasters/slideMaster1.xml" Id="Rce9aa0e695614d6d" /><Relationship Type="http://schemas.openxmlformats.org/officeDocument/2006/relationships/notesMaster" Target="/ppt/notesMasters/notesMaster1.xml" Id="Reb979a86bf9e470b" /><Relationship Type="http://schemas.openxmlformats.org/officeDocument/2006/relationships/presProps" Target="/ppt/presProps.xml" Id="Rddf3283e71184e12" /><Relationship Type="http://schemas.openxmlformats.org/officeDocument/2006/relationships/tableStyles" Target="/ppt/tableStyles.xml" Id="Rab55c979403c4561" /><Relationship Type="http://schemas.openxmlformats.org/officeDocument/2006/relationships/slide" Target="/ppt/slides/slide1.xml" Id="Re8364414b74847a3" /><Relationship Type="http://schemas.openxmlformats.org/officeDocument/2006/relationships/slide" Target="/ppt/slides/slide2.xml" Id="Rf31d04745cd7465b" /><Relationship Type="http://schemas.openxmlformats.org/officeDocument/2006/relationships/slide" Target="/ppt/slides/slide3.xml" Id="R746cd4fe0f3b48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213d113bdf40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06a08433a846bb" /><Relationship Type="http://schemas.openxmlformats.org/officeDocument/2006/relationships/notesMaster" Target="/ppt/notesMasters/notesMaster1.xml" Id="Re797868030ad41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0c394c9aab405a" /><Relationship Type="http://schemas.openxmlformats.org/officeDocument/2006/relationships/notesMaster" Target="/ppt/notesMasters/notesMaster1.xml" Id="R9b9a8ca19b0b4c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0f46f02e6742e6" /><Relationship Type="http://schemas.openxmlformats.org/officeDocument/2006/relationships/notesMaster" Target="/ppt/notesMasters/notesMaster1.xml" Id="R0f8a00a02d6b46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66aa47c924c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d0997945aa43ec" /><Relationship Type="http://schemas.openxmlformats.org/officeDocument/2006/relationships/slideLayout" Target="/ppt/slideLayouts/slideLayout1.xml" Id="R61f609bfcf0f4c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f609bfcf0f4c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6c9d4ea9549de" /><Relationship Type="http://schemas.openxmlformats.org/officeDocument/2006/relationships/notesSlide" Target="/ppt/notesSlides/notesSlide1.xml" Id="Rf60430352b1c42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83a5b85604f10" /><Relationship Type="http://schemas.openxmlformats.org/officeDocument/2006/relationships/notesSlide" Target="/ppt/notesSlides/notesSlide2.xml" Id="R99ceac07688a43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1d6ffcb184357" /><Relationship Type="http://schemas.openxmlformats.org/officeDocument/2006/relationships/notesSlide" Target="/ppt/notesSlides/notesSlide3.xml" Id="Re4a6bdf4957a422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5502F-506D-4E74-906A-D6DEBD18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4D708-A0D1-4C48-9B89-FA6E0837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FINDINGS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55514B-91FB-4564-AE30-013BE96B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Study Alpha: confidence breaks at transitions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AC25A-0BEF-412B-9767-96935256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Decision readout for product, design, and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40ED5-CCF0-42E9-A0A1-3FC6C790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418EC-3906-45BC-91A0-C8454CDD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</a:defRPr>
            </a:pPr>
            <a:r>
              <a:rPr sz="2025" b="1">
                <a:solidFill>
                  <a:srgbClr val="102A43"/>
                </a:solidFill>
              </a:rPr>
              <a:t>The clearest pattern is not one screen: it is the handoff between navigation, status, confirmation, and recovery.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18E3E-F83E-473C-B9E6-141F7BC4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AB443-2EC8-4BDD-83C7-35FBA645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6CB0"/>
                </a:solidFill>
              </a:defRPr>
            </a:pPr>
            <a:r>
              <a:rPr sz="3300" b="1">
                <a:solidFill>
                  <a:srgbClr val="2B6CB0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A23FE-5D40-493E-A873-458C629C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participants showed a navigation or status hesitation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FBD14-3B03-4E1F-8476-5FAD57A6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Observed across the core task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B4A2D-23A0-42BC-86CA-D7BE1031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9550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FD1D5-9E28-408F-9A4F-10FC702F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05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7791F"/>
                </a:solidFill>
              </a:defRPr>
            </a:pPr>
            <a:r>
              <a:rPr sz="3300" b="1">
                <a:solidFill>
                  <a:srgbClr val="B7791F"/>
                </a:solidFill>
              </a:rPr>
              <a:t>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261E1-C1D6-44C4-86F9-97767322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participants sought reassurance after a confirmation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0B9C7-61E8-42F2-ACD2-473F936F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Trust signal was incomplete or 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A11A1-9EBF-4A42-8709-BB242C68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1432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491B2-D70E-4005-AC96-682CFC6C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05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42318"/>
                </a:solidFill>
              </a:defRPr>
            </a:pPr>
            <a:r>
              <a:rPr sz="3300" b="1">
                <a:solidFill>
                  <a:srgbClr val="B42318"/>
                </a:solidFill>
              </a:rPr>
              <a:t>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97440-77D4-4652-9227-05813C3F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14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participants encountered a recoverable error moment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0DF2E4-14AD-45E8-9766-B5C768BC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95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6B"/>
                </a:solidFill>
              </a:defRPr>
            </a:pPr>
            <a:r>
              <a:rPr sz="1050" b="0">
                <a:solidFill>
                  <a:srgbClr val="52616B"/>
                </a:solidFill>
              </a:rPr>
              <a:t>Recovery path was often unclear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AE9F7A-EA34-4E8B-A2B5-6A255A9D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201CC-0A80-49EA-B867-8635991C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28986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A9539E-F4E0-45A4-B1E9-0BC00EC9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5C3F2-FD4F-43E6-AB38-24559EA9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EVIDENCE SNAPSHOT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81197-9373-4956-A788-2A1A5194F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Four themes recur across task observation and debrief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96FAF-9793-4C0B-B8EC-C2F6BB27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Patterns are directional; evidence is synthetic and paraphrased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C2014-79A9-4C45-956F-4A57CA9A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2EFB1-6F00-4688-8DF6-36D3F624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Navigation/status visibility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4E10A-9B5E-432B-B67F-0E3F6E42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4312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CF2B0-F9E9-4212-AAD2-D0D3BC55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43125"/>
            <a:ext cx="290115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38FEE-4809-4659-AFE2-B9DA8EC8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17/24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1F7AD-2816-482F-AFF0-2C445DDB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Confirmation trust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29248-9A05-4B96-8680-8F467828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A4213-A21E-42CB-A78A-A7EB8C17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2389188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4CC83-519A-42DF-A3A4-913DC287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93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14/24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E801FA-3B10-4BDF-A53B-D816C297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Error recovery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980F8-6FFD-496A-BFB4-4D721402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A8008-EF57-4BBA-88CD-7D26B96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90875"/>
            <a:ext cx="153590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D4A23-12F0-41D5-9C0A-DA01EFDF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9/24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D96E4-B171-4310-8BE4-D60EA113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Accessible wayfinding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376D7-5B4E-4E2B-A99F-ED850BF2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A807E5-52A6-4F29-9C5F-4E55D6B1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136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36F62-76B8-419A-BB12-795FB023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6712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616B"/>
                </a:solidFill>
              </a:defRPr>
            </a:pPr>
            <a:r>
              <a:rPr sz="1125" b="1">
                <a:solidFill>
                  <a:srgbClr val="52616B"/>
                </a:solidFill>
              </a:rPr>
              <a:t>8/24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3C3D8-0E6C-4DCF-A315-001D158E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Counts describe observed task behavior; they do not establish cause.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557CA1-EAD6-4BDA-B93C-F9D9DC72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C0B59A-C1B8-457E-95C6-AC18BEAD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21363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710848-C888-47B6-87C7-8A5684ED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BEACON FIELD RESEARCH  /  STUDY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1E751-14A2-4581-B504-8B2CA327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RECOMMENDED NEXT 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8531C-561C-4D92-BAD3-7E4E22B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Ship a small confidence layer, then observe whether recovery becomes easier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F1430-B842-4945-9B8D-52A5946C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A two-week prototype test can reduce uncertainty before broader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8561F-810F-4264-A1C9-6A49EE20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98330D-7113-4B4A-9CCE-6BE5ABE6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5B301-07A4-48DC-8155-4A02E136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717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Make current status visible at every transition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5301A-0E6E-4A21-9E30-0CF22BC5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70136-A7E4-4069-861E-E9C0CB3C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480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Add explicit confirmation detail and a next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E5EF1-3E40-48A7-B4EF-853A541F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B6CB0"/>
                </a:solidFill>
              </a:defRPr>
            </a:pPr>
            <a:r>
              <a:rPr sz="2700" b="1">
                <a:solidFill>
                  <a:srgbClr val="2B6CB0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8FB19-C832-4BD0-9F91-6901ACDE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243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Design recovery as a named route, not a dead 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61288-FBFF-4898-88C9-CF7CE4BA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</a:defRPr>
            </a:pPr>
            <a:r>
              <a:rPr sz="825" b="0">
                <a:solidFill>
                  <a:srgbClr val="52616B"/>
                </a:solidFill>
              </a:rPr>
              <a:t>Synthetic study • 2026-07-13 • session UX-184 • n=24 • paraphrased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B184DA-9E3E-4571-9B88-21F0ECA3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2616B"/>
                </a:solidFill>
              </a:defRPr>
            </a:pPr>
            <a:r>
              <a:rPr sz="900" b="1">
                <a:solidFill>
                  <a:srgbClr val="52616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6240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2026-08-23T15:23:14.7730000Z</dcterms:created>
  <dcterms:modified xsi:type="dcterms:W3CDTF">2026-08-23T15:23:14.7730000Z</dcterms:modified>
</coreProperties>
</file>