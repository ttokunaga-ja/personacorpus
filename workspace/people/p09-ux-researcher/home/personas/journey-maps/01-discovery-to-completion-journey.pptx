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53fda156bf4200" /><Relationship Type="http://schemas.openxmlformats.org/officeDocument/2006/relationships/extended-properties" Target="/docProps/app.xml" Id="R33609c2633744aad" /><Relationship Type="http://schemas.openxmlformats.org/officeDocument/2006/relationships/officeDocument" Target="/ppt/presentation.xml" Id="R18934d2531ae4f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9203bfc7364e6a"/>
  </p:sldMasterIdLst>
  <p:notesMasterIdLst>
    <p:notesMasterId xmlns:r="http://schemas.openxmlformats.org/officeDocument/2006/relationships" r:id="R8b45dbfa386b45cd"/>
  </p:notesMasterIdLst>
  <p:sldIdLst>
    <p:sldId xmlns:r="http://schemas.openxmlformats.org/officeDocument/2006/relationships" id="256" r:id="R1b1e4997696548ed"/>
    <p:sldId xmlns:r="http://schemas.openxmlformats.org/officeDocument/2006/relationships" id="257" r:id="R2b286e194a704cc4"/>
    <p:sldId xmlns:r="http://schemas.openxmlformats.org/officeDocument/2006/relationships" id="258" r:id="R05079badc162420c"/>
    <p:sldId xmlns:r="http://schemas.openxmlformats.org/officeDocument/2006/relationships" id="259" r:id="Rbd1eae8acd5244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f3cdf539d405a" /><Relationship Type="http://schemas.openxmlformats.org/officeDocument/2006/relationships/slideMaster" Target="/ppt/slideMasters/slideMaster1.xml" Id="R489203bfc7364e6a" /><Relationship Type="http://schemas.openxmlformats.org/officeDocument/2006/relationships/notesMaster" Target="/ppt/notesMasters/notesMaster1.xml" Id="R8b45dbfa386b45cd" /><Relationship Type="http://schemas.openxmlformats.org/officeDocument/2006/relationships/presProps" Target="/ppt/presProps.xml" Id="R514946d79bc148d1" /><Relationship Type="http://schemas.openxmlformats.org/officeDocument/2006/relationships/tableStyles" Target="/ppt/tableStyles.xml" Id="Rff6c609d967541a8" /><Relationship Type="http://schemas.openxmlformats.org/officeDocument/2006/relationships/slide" Target="/ppt/slides/slide1.xml" Id="R1b1e4997696548ed" /><Relationship Type="http://schemas.openxmlformats.org/officeDocument/2006/relationships/slide" Target="/ppt/slides/slide2.xml" Id="R2b286e194a704cc4" /><Relationship Type="http://schemas.openxmlformats.org/officeDocument/2006/relationships/slide" Target="/ppt/slides/slide3.xml" Id="R05079badc162420c" /><Relationship Type="http://schemas.openxmlformats.org/officeDocument/2006/relationships/slide" Target="/ppt/slides/slide4.xml" Id="Rbd1eae8acd5244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b3e4f3f3d748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32b212aa2748ba" /><Relationship Type="http://schemas.openxmlformats.org/officeDocument/2006/relationships/notesMaster" Target="/ppt/notesMasters/notesMaster1.xml" Id="Ra35f489024db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c2fd2a4e1c4842" /><Relationship Type="http://schemas.openxmlformats.org/officeDocument/2006/relationships/notesMaster" Target="/ppt/notesMasters/notesMaster1.xml" Id="Ra7ce08b1465849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be245768844d5c" /><Relationship Type="http://schemas.openxmlformats.org/officeDocument/2006/relationships/notesMaster" Target="/ppt/notesMasters/notesMaster1.xml" Id="Rdd4b9581b1ab42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afcfc6ea2d4049" /><Relationship Type="http://schemas.openxmlformats.org/officeDocument/2006/relationships/notesMaster" Target="/ppt/notesMasters/notesMaster1.xml" Id="R2b34ecaabc5749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5f192da0743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3d84fae7e24eb1" /><Relationship Type="http://schemas.openxmlformats.org/officeDocument/2006/relationships/slideLayout" Target="/ppt/slideLayouts/slideLayout1.xml" Id="Rb6a4ebe57fca45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a4ebe57fca45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4b9284bcb4ad3" /><Relationship Type="http://schemas.openxmlformats.org/officeDocument/2006/relationships/notesSlide" Target="/ppt/notesSlides/notesSlide1.xml" Id="Re733a129871644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46eee172144ba" /><Relationship Type="http://schemas.openxmlformats.org/officeDocument/2006/relationships/notesSlide" Target="/ppt/notesSlides/notesSlide2.xml" Id="Rd6fe89ab65fa4c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82992f8334310" /><Relationship Type="http://schemas.openxmlformats.org/officeDocument/2006/relationships/notesSlide" Target="/ppt/notesSlides/notesSlide3.xml" Id="R08442886d4754d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3c33ad025a4938" /><Relationship Type="http://schemas.openxmlformats.org/officeDocument/2006/relationships/notesSlide" Target="/ppt/notesSlides/notesSlide4.xml" Id="Rbc8ba4728c514a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ccent">
            <a:extLst xmlns:a="http://schemas.openxmlformats.org/drawingml/2006/main">
              <a:ext uri="{FF2B5EF4-FFF2-40B4-BE49-F238E27FC236}">
                <a16:creationId xmlns:a16="http://schemas.microsoft.com/office/drawing/2014/main" id="{E3F93343-77F9-45DE-92D7-35A4BFBB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95250" cy="535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95"/>
          </a:solidFill>
          <a:ln xmlns:a="http://schemas.openxmlformats.org/drawingml/2006/main" w="9525">
            <a:solidFill>
              <a:srgbClr val="008C95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4AF857F-6A88-4B04-BEA9-029098B7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8C95"/>
                </a:solidFill>
              </a:defRPr>
            </a:pPr>
            <a:r>
              <a:rPr sz="1125" b="1">
                <a:solidFill>
                  <a:srgbClr val="008C95"/>
                </a:solidFill>
              </a:rPr>
              <a:t>SYNTHETIC JOURNEY MAP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D972C8-5C5C-49EB-9AC2-2882D2A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810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23047"/>
                </a:solidFill>
              </a:defRPr>
            </a:pPr>
            <a:r>
              <a:rPr sz="3450" b="1">
                <a:solidFill>
                  <a:srgbClr val="123047"/>
                </a:solidFill>
              </a:rPr>
              <a:t>Discovery to completion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7A18681D-B112-47EE-897E-4C0F2A73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4748B"/>
                </a:solidFill>
              </a:defRPr>
            </a:pPr>
            <a:r>
              <a:rPr sz="1575" b="0">
                <a:solidFill>
                  <a:srgbClr val="64748B"/>
                </a:solidFill>
              </a:rPr>
              <a:t>A directional journey for selecting, completing, and verifying a task.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B7EFD00E-FE68-45D0-828F-ED945ACD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001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6" name="decision-copy">
            <a:extLst xmlns:a="http://schemas.openxmlformats.org/drawingml/2006/main">
              <a:ext uri="{FF2B5EF4-FFF2-40B4-BE49-F238E27FC236}">
                <a16:creationId xmlns:a16="http://schemas.microsoft.com/office/drawing/2014/main" id="{F20C3FE4-8D98-41BA-854C-40A795E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Decision lens: where must the experience earn confidence before a user continues?</a:t>
            </a:r>
          </a:p>
        </p:txBody>
      </p:sp>
      <p:sp>
        <p:nvSpPr>
          <p:cNvPr id="7" name="anchor">
            <a:extLst xmlns:a="http://schemas.openxmlformats.org/drawingml/2006/main">
              <a:ext uri="{FF2B5EF4-FFF2-40B4-BE49-F238E27FC236}">
                <a16:creationId xmlns:a16="http://schemas.microsoft.com/office/drawing/2014/main" id="{7C291245-032C-4DB5-9448-F87FE7F3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  <p:sp>
        <p:nvSpPr>
          <p:cNvPr id="8" name="synthetic-note">
            <a:extLst xmlns:a="http://schemas.openxmlformats.org/drawingml/2006/main">
              <a:ext uri="{FF2B5EF4-FFF2-40B4-BE49-F238E27FC236}">
                <a16:creationId xmlns:a16="http://schemas.microsoft.com/office/drawing/2014/main" id="{23E41038-844B-42BD-A09D-A9AC7BA1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8485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Synthetic composites only - participant codes S01-S24</a:t>
            </a:r>
          </a:p>
        </p:txBody>
      </p:sp>
    </p:spTree>
    <p:extLst>
      <p:ext uri="{BB962C8B-B14F-4D97-AF65-F5344CB8AC3E}">
        <p14:creationId xmlns:p14="http://schemas.microsoft.com/office/powerpoint/2010/main" val="1826598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977E91B7-BBC9-4435-B528-77108A93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The journey is a sequence of confidence decisions</a:t>
            </a:r>
          </a:p>
        </p:txBody>
      </p:sp>
      <p:sp>
        <p:nvSpPr>
          <p:cNvPr id="2" name="inference-note">
            <a:extLst xmlns:a="http://schemas.openxmlformats.org/drawingml/2006/main">
              <a:ext uri="{FF2B5EF4-FFF2-40B4-BE49-F238E27FC236}">
                <a16:creationId xmlns:a16="http://schemas.microsoft.com/office/drawing/2014/main" id="{E535AFD9-ADBE-49BF-817E-8BA14AFC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Emotions below are inferred from observed behaviors and debrief themes; they are not direct quotations.</a:t>
            </a:r>
          </a:p>
        </p:txBody>
      </p:sp>
      <p:sp>
        <p:nvSpPr>
          <p:cNvPr id="3" name="stage-1">
            <a:extLst xmlns:a="http://schemas.openxmlformats.org/drawingml/2006/main">
              <a:ext uri="{FF2B5EF4-FFF2-40B4-BE49-F238E27FC236}">
                <a16:creationId xmlns:a16="http://schemas.microsoft.com/office/drawing/2014/main" id="{35C9D594-2978-4C68-A11D-9B8DF27C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4" name="stage-label">
            <a:extLst xmlns:a="http://schemas.openxmlformats.org/drawingml/2006/main">
              <a:ext uri="{FF2B5EF4-FFF2-40B4-BE49-F238E27FC236}">
                <a16:creationId xmlns:a16="http://schemas.microsoft.com/office/drawing/2014/main" id="{2DCE1152-138F-4384-9EEF-78EAAFF2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01  DISCOVER</a:t>
            </a:r>
          </a:p>
        </p:txBody>
      </p:sp>
      <p:sp>
        <p:nvSpPr>
          <p:cNvPr id="5" name="goal">
            <a:extLst xmlns:a="http://schemas.openxmlformats.org/drawingml/2006/main">
              <a:ext uri="{FF2B5EF4-FFF2-40B4-BE49-F238E27FC236}">
                <a16:creationId xmlns:a16="http://schemas.microsoft.com/office/drawing/2014/main" id="{5C04595D-8C5C-4939-B28E-D6198883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Find a relevant entry point</a:t>
            </a:r>
          </a:p>
        </p:txBody>
      </p:sp>
      <p:sp>
        <p:nvSpPr>
          <p:cNvPr id="6" name="action">
            <a:extLst xmlns:a="http://schemas.openxmlformats.org/drawingml/2006/main">
              <a:ext uri="{FF2B5EF4-FFF2-40B4-BE49-F238E27FC236}">
                <a16:creationId xmlns:a16="http://schemas.microsoft.com/office/drawing/2014/main" id="{AEFA6183-EB74-4996-82A1-2CCE7684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Scan options and choose a starting path</a:t>
            </a:r>
          </a:p>
        </p:txBody>
      </p:sp>
      <p:sp>
        <p:nvSpPr>
          <p:cNvPr id="7" name="emotion">
            <a:extLst xmlns:a="http://schemas.openxmlformats.org/drawingml/2006/main">
              <a:ext uri="{FF2B5EF4-FFF2-40B4-BE49-F238E27FC236}">
                <a16:creationId xmlns:a16="http://schemas.microsoft.com/office/drawing/2014/main" id="{BAEF6E57-8806-45B1-8A7A-11CB0EAA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Cautious interest</a:t>
            </a:r>
          </a:p>
        </p:txBody>
      </p:sp>
      <p:sp>
        <p:nvSpPr>
          <p:cNvPr id="8" name="evidence">
            <a:extLst xmlns:a="http://schemas.openxmlformats.org/drawingml/2006/main">
              <a:ext uri="{FF2B5EF4-FFF2-40B4-BE49-F238E27FC236}">
                <a16:creationId xmlns:a16="http://schemas.microsoft.com/office/drawing/2014/main" id="{3E81AC24-1CD8-4198-B963-FD78DC06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E01  entry-path behavior</a:t>
            </a:r>
          </a:p>
        </p:txBody>
      </p:sp>
      <p:sp>
        <p:nvSpPr>
          <p:cNvPr id="9" name="stage-2">
            <a:extLst xmlns:a="http://schemas.openxmlformats.org/drawingml/2006/main">
              <a:ext uri="{FF2B5EF4-FFF2-40B4-BE49-F238E27FC236}">
                <a16:creationId xmlns:a16="http://schemas.microsoft.com/office/drawing/2014/main" id="{8F789D19-0379-48E1-9683-E0DC1835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0" name="stage-label">
            <a:extLst xmlns:a="http://schemas.openxmlformats.org/drawingml/2006/main">
              <a:ext uri="{FF2B5EF4-FFF2-40B4-BE49-F238E27FC236}">
                <a16:creationId xmlns:a16="http://schemas.microsoft.com/office/drawing/2014/main" id="{8DACE742-52F3-47D6-B680-164C84ED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02  ORIENT</a:t>
            </a:r>
          </a:p>
        </p:txBody>
      </p:sp>
      <p:sp>
        <p:nvSpPr>
          <p:cNvPr id="11" name="goal">
            <a:extLst xmlns:a="http://schemas.openxmlformats.org/drawingml/2006/main">
              <a:ext uri="{FF2B5EF4-FFF2-40B4-BE49-F238E27FC236}">
                <a16:creationId xmlns:a16="http://schemas.microsoft.com/office/drawing/2014/main" id="{B2E14EC2-B761-4E82-A88D-569DF94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Understand the task</a:t>
            </a:r>
          </a:p>
        </p:txBody>
      </p:sp>
      <p:sp>
        <p:nvSpPr>
          <p:cNvPr id="12" name="action">
            <a:extLst xmlns:a="http://schemas.openxmlformats.org/drawingml/2006/main">
              <a:ext uri="{FF2B5EF4-FFF2-40B4-BE49-F238E27FC236}">
                <a16:creationId xmlns:a16="http://schemas.microsoft.com/office/drawing/2014/main" id="{03AB0F92-6996-4849-ABF1-CEA0752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Read labels and orient to expected outcome</a:t>
            </a:r>
          </a:p>
        </p:txBody>
      </p:sp>
      <p:sp>
        <p:nvSpPr>
          <p:cNvPr id="13" name="emotion">
            <a:extLst xmlns:a="http://schemas.openxmlformats.org/drawingml/2006/main">
              <a:ext uri="{FF2B5EF4-FFF2-40B4-BE49-F238E27FC236}">
                <a16:creationId xmlns:a16="http://schemas.microsoft.com/office/drawing/2014/main" id="{3B0252BF-90B7-48E1-B6F1-2613C02E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Tentative confidence</a:t>
            </a:r>
          </a:p>
        </p:txBody>
      </p:sp>
      <p:sp>
        <p:nvSpPr>
          <p:cNvPr id="14" name="evidence">
            <a:extLst xmlns:a="http://schemas.openxmlformats.org/drawingml/2006/main">
              <a:ext uri="{FF2B5EF4-FFF2-40B4-BE49-F238E27FC236}">
                <a16:creationId xmlns:a16="http://schemas.microsoft.com/office/drawing/2014/main" id="{F0EF0A7B-1177-4329-8AB9-95E2B696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E02  label comprehension</a:t>
            </a:r>
          </a:p>
        </p:txBody>
      </p:sp>
      <p:sp>
        <p:nvSpPr>
          <p:cNvPr id="15" name="stage-3">
            <a:extLst xmlns:a="http://schemas.openxmlformats.org/drawingml/2006/main">
              <a:ext uri="{FF2B5EF4-FFF2-40B4-BE49-F238E27FC236}">
                <a16:creationId xmlns:a16="http://schemas.microsoft.com/office/drawing/2014/main" id="{3869275D-26F4-4E9C-B8B0-9C3B2390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6" name="stage-label">
            <a:extLst xmlns:a="http://schemas.openxmlformats.org/drawingml/2006/main">
              <a:ext uri="{FF2B5EF4-FFF2-40B4-BE49-F238E27FC236}">
                <a16:creationId xmlns:a16="http://schemas.microsoft.com/office/drawing/2014/main" id="{42A64B56-38A5-4D2C-9B0F-FA05578A7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03  ACT</a:t>
            </a:r>
          </a:p>
        </p:txBody>
      </p:sp>
      <p:sp>
        <p:nvSpPr>
          <p:cNvPr id="17" name="goal">
            <a:extLst xmlns:a="http://schemas.openxmlformats.org/drawingml/2006/main">
              <a:ext uri="{FF2B5EF4-FFF2-40B4-BE49-F238E27FC236}">
                <a16:creationId xmlns:a16="http://schemas.microsoft.com/office/drawing/2014/main" id="{6D178E32-7337-463B-B435-A4FA1DF7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Make progress</a:t>
            </a:r>
          </a:p>
        </p:txBody>
      </p:sp>
      <p:sp>
        <p:nvSpPr>
          <p:cNvPr id="18" name="action">
            <a:extLst xmlns:a="http://schemas.openxmlformats.org/drawingml/2006/main">
              <a:ext uri="{FF2B5EF4-FFF2-40B4-BE49-F238E27FC236}">
                <a16:creationId xmlns:a16="http://schemas.microsoft.com/office/drawing/2014/main" id="{8E4E7930-F8C8-44BE-8879-F49879400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Complete the primary action</a:t>
            </a:r>
          </a:p>
        </p:txBody>
      </p:sp>
      <p:sp>
        <p:nvSpPr>
          <p:cNvPr id="19" name="emotion">
            <a:extLst xmlns:a="http://schemas.openxmlformats.org/drawingml/2006/main">
              <a:ext uri="{FF2B5EF4-FFF2-40B4-BE49-F238E27FC236}">
                <a16:creationId xmlns:a16="http://schemas.microsoft.com/office/drawing/2014/main" id="{077EBA36-2485-4E51-BD59-7E590C32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Focused effort</a:t>
            </a:r>
          </a:p>
        </p:txBody>
      </p:sp>
      <p:sp>
        <p:nvSpPr>
          <p:cNvPr id="20" name="evidence">
            <a:extLst xmlns:a="http://schemas.openxmlformats.org/drawingml/2006/main">
              <a:ext uri="{FF2B5EF4-FFF2-40B4-BE49-F238E27FC236}">
                <a16:creationId xmlns:a16="http://schemas.microsoft.com/office/drawing/2014/main" id="{DDF3ACDF-E1EB-4928-8034-0A3EED81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E03  action sequence</a:t>
            </a:r>
          </a:p>
        </p:txBody>
      </p:sp>
      <p:sp>
        <p:nvSpPr>
          <p:cNvPr id="21" name="stage-4">
            <a:extLst xmlns:a="http://schemas.openxmlformats.org/drawingml/2006/main">
              <a:ext uri="{FF2B5EF4-FFF2-40B4-BE49-F238E27FC236}">
                <a16:creationId xmlns:a16="http://schemas.microsoft.com/office/drawing/2014/main" id="{07E5A9BE-8105-4169-BD66-F8417127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2" name="stage-label">
            <a:extLst xmlns:a="http://schemas.openxmlformats.org/drawingml/2006/main">
              <a:ext uri="{FF2B5EF4-FFF2-40B4-BE49-F238E27FC236}">
                <a16:creationId xmlns:a16="http://schemas.microsoft.com/office/drawing/2014/main" id="{69E6A442-5531-41BC-8937-C721E251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04  CONFIRM</a:t>
            </a:r>
          </a:p>
        </p:txBody>
      </p:sp>
      <p:sp>
        <p:nvSpPr>
          <p:cNvPr id="23" name="goal">
            <a:extLst xmlns:a="http://schemas.openxmlformats.org/drawingml/2006/main">
              <a:ext uri="{FF2B5EF4-FFF2-40B4-BE49-F238E27FC236}">
                <a16:creationId xmlns:a16="http://schemas.microsoft.com/office/drawing/2014/main" id="{7E9129C3-0699-4CBD-8088-C05D185E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Check that it worked</a:t>
            </a:r>
          </a:p>
        </p:txBody>
      </p:sp>
      <p:sp>
        <p:nvSpPr>
          <p:cNvPr id="24" name="action">
            <a:extLst xmlns:a="http://schemas.openxmlformats.org/drawingml/2006/main">
              <a:ext uri="{FF2B5EF4-FFF2-40B4-BE49-F238E27FC236}">
                <a16:creationId xmlns:a16="http://schemas.microsoft.com/office/drawing/2014/main" id="{4F7ADB7A-15BA-493F-82FA-7626585E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Look for status and next-step cues</a:t>
            </a:r>
          </a:p>
        </p:txBody>
      </p:sp>
      <p:sp>
        <p:nvSpPr>
          <p:cNvPr id="25" name="emotion">
            <a:extLst xmlns:a="http://schemas.openxmlformats.org/drawingml/2006/main">
              <a:ext uri="{FF2B5EF4-FFF2-40B4-BE49-F238E27FC236}">
                <a16:creationId xmlns:a16="http://schemas.microsoft.com/office/drawing/2014/main" id="{BFF3A43A-A40D-422C-ABC7-F82C130A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Relief or doubt</a:t>
            </a:r>
          </a:p>
        </p:txBody>
      </p:sp>
      <p:sp>
        <p:nvSpPr>
          <p:cNvPr id="26" name="evidence">
            <a:extLst xmlns:a="http://schemas.openxmlformats.org/drawingml/2006/main">
              <a:ext uri="{FF2B5EF4-FFF2-40B4-BE49-F238E27FC236}">
                <a16:creationId xmlns:a16="http://schemas.microsoft.com/office/drawing/2014/main" id="{E3289002-157E-4738-92B2-2B74177A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E04  confirmation behavior</a:t>
            </a:r>
          </a:p>
        </p:txBody>
      </p:sp>
      <p:sp>
        <p:nvSpPr>
          <p:cNvPr id="27" name="stage-5">
            <a:extLst xmlns:a="http://schemas.openxmlformats.org/drawingml/2006/main">
              <a:ext uri="{FF2B5EF4-FFF2-40B4-BE49-F238E27FC236}">
                <a16:creationId xmlns:a16="http://schemas.microsoft.com/office/drawing/2014/main" id="{CCC4D4B1-0243-49FC-98D4-8103DE8B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619250"/>
            <a:ext cx="215265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28" name="stage-label">
            <a:extLst xmlns:a="http://schemas.openxmlformats.org/drawingml/2006/main">
              <a:ext uri="{FF2B5EF4-FFF2-40B4-BE49-F238E27FC236}">
                <a16:creationId xmlns:a16="http://schemas.microsoft.com/office/drawing/2014/main" id="{17BBC01B-D56B-42CD-9572-E1EE9892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811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8C95"/>
                </a:solidFill>
              </a:defRPr>
            </a:pPr>
            <a:r>
              <a:rPr sz="975" b="1">
                <a:solidFill>
                  <a:srgbClr val="008C95"/>
                </a:solidFill>
              </a:rPr>
              <a:t>05  COMPLETE</a:t>
            </a:r>
          </a:p>
        </p:txBody>
      </p:sp>
      <p:sp>
        <p:nvSpPr>
          <p:cNvPr id="29" name="goal">
            <a:extLst xmlns:a="http://schemas.openxmlformats.org/drawingml/2006/main">
              <a:ext uri="{FF2B5EF4-FFF2-40B4-BE49-F238E27FC236}">
                <a16:creationId xmlns:a16="http://schemas.microsoft.com/office/drawing/2014/main" id="{C69A4DAA-5191-42B3-971C-B9DCD512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114550"/>
            <a:ext cx="180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12B"/>
                </a:solidFill>
              </a:defRPr>
            </a:pPr>
            <a:r>
              <a:rPr sz="1350" b="1">
                <a:solidFill>
                  <a:srgbClr val="17212B"/>
                </a:solidFill>
              </a:rPr>
              <a:t>Close or continue</a:t>
            </a:r>
          </a:p>
        </p:txBody>
      </p:sp>
      <p:sp>
        <p:nvSpPr>
          <p:cNvPr id="30" name="action">
            <a:extLst xmlns:a="http://schemas.openxmlformats.org/drawingml/2006/main">
              <a:ext uri="{FF2B5EF4-FFF2-40B4-BE49-F238E27FC236}">
                <a16:creationId xmlns:a16="http://schemas.microsoft.com/office/drawing/2014/main" id="{4A7286E0-2E31-4EE3-867E-30AC1EE5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Action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Decide whether to end, revisit, or seek help</a:t>
            </a:r>
          </a:p>
        </p:txBody>
      </p:sp>
      <p:sp>
        <p:nvSpPr>
          <p:cNvPr id="31" name="emotion">
            <a:extLst xmlns:a="http://schemas.openxmlformats.org/drawingml/2006/main">
              <a:ext uri="{FF2B5EF4-FFF2-40B4-BE49-F238E27FC236}">
                <a16:creationId xmlns:a16="http://schemas.microsoft.com/office/drawing/2014/main" id="{2DE5271A-395C-4E60-8BAD-485CE32D7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8290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Inferred emotion</a:t>
            </a:r>
          </a:p>
          <a:p xmlns:a="http://schemas.openxmlformats.org/drawingml/2006/main">
            <a:pPr>
              <a:defRPr sz="1125" b="0">
                <a:solidFill>
                  <a:srgbClr val="17212B"/>
                </a:solidFill>
              </a:defRPr>
            </a:pPr>
            <a:r>
              <a:rPr sz="1125" b="0">
                <a:solidFill>
                  <a:srgbClr val="17212B"/>
                </a:solidFill>
              </a:rPr>
              <a:t>Settled confidence</a:t>
            </a:r>
          </a:p>
        </p:txBody>
      </p:sp>
      <p:sp>
        <p:nvSpPr>
          <p:cNvPr id="32" name="evidence">
            <a:extLst xmlns:a="http://schemas.openxmlformats.org/drawingml/2006/main">
              <a:ext uri="{FF2B5EF4-FFF2-40B4-BE49-F238E27FC236}">
                <a16:creationId xmlns:a16="http://schemas.microsoft.com/office/drawing/2014/main" id="{9DAFEDCA-AD0F-4EBD-86E0-FD271C21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52387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E05  completion choice</a:t>
            </a:r>
          </a:p>
        </p:txBody>
      </p:sp>
      <p:sp>
        <p:nvSpPr>
          <p:cNvPr id="33" name="anchor">
            <a:extLst xmlns:a="http://schemas.openxmlformats.org/drawingml/2006/main">
              <a:ext uri="{FF2B5EF4-FFF2-40B4-BE49-F238E27FC236}">
                <a16:creationId xmlns:a16="http://schemas.microsoft.com/office/drawing/2014/main" id="{36F469F1-DEA9-4365-B786-B388DB57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275833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80DBB4AC-5DB4-4361-8D21-8D455E02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Friction clusters where progress is hard to verify</a:t>
            </a:r>
          </a:p>
        </p:txBody>
      </p:sp>
      <p:sp>
        <p:nvSpPr>
          <p:cNvPr id="2" name="column-head">
            <a:extLst xmlns:a="http://schemas.openxmlformats.org/drawingml/2006/main">
              <a:ext uri="{FF2B5EF4-FFF2-40B4-BE49-F238E27FC236}">
                <a16:creationId xmlns:a16="http://schemas.microsoft.com/office/drawing/2014/main" id="{8A6962B6-A69A-44EB-A548-8BB7D622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Observed pattern</a:t>
            </a:r>
          </a:p>
        </p:txBody>
      </p:sp>
      <p:sp>
        <p:nvSpPr>
          <p:cNvPr id="3" name="column-head">
            <a:extLst xmlns:a="http://schemas.openxmlformats.org/drawingml/2006/main">
              <a:ext uri="{FF2B5EF4-FFF2-40B4-BE49-F238E27FC236}">
                <a16:creationId xmlns:a16="http://schemas.microsoft.com/office/drawing/2014/main" id="{09B644E1-CBDA-4051-9404-243E2B08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Accessibility touchpoint</a:t>
            </a:r>
          </a:p>
        </p:txBody>
      </p:sp>
      <p:sp>
        <p:nvSpPr>
          <p:cNvPr id="4" name="column-head">
            <a:extLst xmlns:a="http://schemas.openxmlformats.org/drawingml/2006/main">
              <a:ext uri="{FF2B5EF4-FFF2-40B4-BE49-F238E27FC236}">
                <a16:creationId xmlns:a16="http://schemas.microsoft.com/office/drawing/2014/main" id="{E6297CC9-23DF-4307-9F43-B9A33E0C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00150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8C95"/>
                </a:solidFill>
              </a:defRPr>
            </a:pPr>
            <a:r>
              <a:rPr sz="1200" b="1">
                <a:solidFill>
                  <a:srgbClr val="008C95"/>
                </a:solidFill>
              </a:rPr>
              <a:t>Decision-useful opportunity</a:t>
            </a:r>
          </a:p>
        </p:txBody>
      </p:sp>
      <p:sp>
        <p:nvSpPr>
          <p:cNvPr id="5" name="observed">
            <a:extLst xmlns:a="http://schemas.openxmlformats.org/drawingml/2006/main">
              <a:ext uri="{FF2B5EF4-FFF2-40B4-BE49-F238E27FC236}">
                <a16:creationId xmlns:a16="http://schemas.microsoft.com/office/drawing/2014/main" id="{A2C1FFFB-21C6-4897-B624-08ABBD49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6" name="access">
            <a:extLst xmlns:a="http://schemas.openxmlformats.org/drawingml/2006/main">
              <a:ext uri="{FF2B5EF4-FFF2-40B4-BE49-F238E27FC236}">
                <a16:creationId xmlns:a16="http://schemas.microsoft.com/office/drawing/2014/main" id="{6B60598F-76F7-4371-B1DE-F1ECF2B5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7" name="opportunity">
            <a:extLst xmlns:a="http://schemas.openxmlformats.org/drawingml/2006/main">
              <a:ext uri="{FF2B5EF4-FFF2-40B4-BE49-F238E27FC236}">
                <a16:creationId xmlns:a16="http://schemas.microsoft.com/office/drawing/2014/main" id="{06157DBE-FFAE-4AD7-9617-B08C4142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8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95ACDCDE-889F-4BA7-B665-90950E20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Labels signal a next step, but not the expected outcome.</a:t>
            </a:r>
          </a:p>
        </p:txBody>
      </p:sp>
      <p:sp>
        <p:nvSpPr>
          <p:cNvPr id="9" name="access-copy">
            <a:extLst xmlns:a="http://schemas.openxmlformats.org/drawingml/2006/main">
              <a:ext uri="{FF2B5EF4-FFF2-40B4-BE49-F238E27FC236}">
                <a16:creationId xmlns:a16="http://schemas.microsoft.com/office/drawing/2014/main" id="{78035EE6-D66F-497B-B621-C45BE7A2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Plain-language task labels; visible current-state indicator.</a:t>
            </a:r>
          </a:p>
        </p:txBody>
      </p:sp>
      <p:sp>
        <p:nvSpPr>
          <p:cNvPr id="10" name="opp-copy">
            <a:extLst xmlns:a="http://schemas.openxmlformats.org/drawingml/2006/main">
              <a:ext uri="{FF2B5EF4-FFF2-40B4-BE49-F238E27FC236}">
                <a16:creationId xmlns:a16="http://schemas.microsoft.com/office/drawing/2014/main" id="{16F69FBA-AB87-43B7-A367-FBE593E5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383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Pair action labels with a brief result preview.</a:t>
            </a:r>
          </a:p>
        </p:txBody>
      </p:sp>
      <p:sp>
        <p:nvSpPr>
          <p:cNvPr id="11" name="observed">
            <a:extLst xmlns:a="http://schemas.openxmlformats.org/drawingml/2006/main">
              <a:ext uri="{FF2B5EF4-FFF2-40B4-BE49-F238E27FC236}">
                <a16:creationId xmlns:a16="http://schemas.microsoft.com/office/drawing/2014/main" id="{9D03EDBB-7778-4F05-A639-9D51207F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2" name="access">
            <a:extLst xmlns:a="http://schemas.openxmlformats.org/drawingml/2006/main">
              <a:ext uri="{FF2B5EF4-FFF2-40B4-BE49-F238E27FC236}">
                <a16:creationId xmlns:a16="http://schemas.microsoft.com/office/drawing/2014/main" id="{47E7B414-550B-4AEB-8BC5-8BB6BE55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13" name="opportunity">
            <a:extLst xmlns:a="http://schemas.openxmlformats.org/drawingml/2006/main">
              <a:ext uri="{FF2B5EF4-FFF2-40B4-BE49-F238E27FC236}">
                <a16:creationId xmlns:a16="http://schemas.microsoft.com/office/drawing/2014/main" id="{1859352E-A020-426C-91D9-83A94576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7655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14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4C3DD5FD-94D5-4543-94E6-3DBC7E2B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Confirmation arrives after attention has shifted.</a:t>
            </a:r>
          </a:p>
        </p:txBody>
      </p:sp>
      <p:sp>
        <p:nvSpPr>
          <p:cNvPr id="15" name="access-copy">
            <a:extLst xmlns:a="http://schemas.openxmlformats.org/drawingml/2006/main">
              <a:ext uri="{FF2B5EF4-FFF2-40B4-BE49-F238E27FC236}">
                <a16:creationId xmlns:a16="http://schemas.microsoft.com/office/drawing/2014/main" id="{0BE3A67F-4B12-4A71-85ED-6D40493E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42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Persistent status text; keyboard-reachable confirmation region.</a:t>
            </a:r>
          </a:p>
        </p:txBody>
      </p:sp>
      <p:sp>
        <p:nvSpPr>
          <p:cNvPr id="16" name="opp-copy">
            <a:extLst xmlns:a="http://schemas.openxmlformats.org/drawingml/2006/main">
              <a:ext uri="{FF2B5EF4-FFF2-40B4-BE49-F238E27FC236}">
                <a16:creationId xmlns:a16="http://schemas.microsoft.com/office/drawing/2014/main" id="{B1EDC0F9-937A-4B18-8779-1479717D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3847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Move confirmation into the action path and preserve it.</a:t>
            </a:r>
          </a:p>
        </p:txBody>
      </p:sp>
      <p:sp>
        <p:nvSpPr>
          <p:cNvPr id="17" name="observed">
            <a:extLst xmlns:a="http://schemas.openxmlformats.org/drawingml/2006/main">
              <a:ext uri="{FF2B5EF4-FFF2-40B4-BE49-F238E27FC236}">
                <a16:creationId xmlns:a16="http://schemas.microsoft.com/office/drawing/2014/main" id="{D36722A2-801A-4273-A1B8-68B7540F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18" name="access">
            <a:extLst xmlns:a="http://schemas.openxmlformats.org/drawingml/2006/main">
              <a:ext uri="{FF2B5EF4-FFF2-40B4-BE49-F238E27FC236}">
                <a16:creationId xmlns:a16="http://schemas.microsoft.com/office/drawing/2014/main" id="{F4EB6758-8EC8-495D-ADDA-C00CDC00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19" name="opportunity">
            <a:extLst xmlns:a="http://schemas.openxmlformats.org/drawingml/2006/main">
              <a:ext uri="{FF2B5EF4-FFF2-40B4-BE49-F238E27FC236}">
                <a16:creationId xmlns:a16="http://schemas.microsoft.com/office/drawing/2014/main" id="{D1D81A42-78D4-401A-8688-BE325AD8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76700"/>
            <a:ext cx="31908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20" name="observed-copy">
            <a:extLst xmlns:a="http://schemas.openxmlformats.org/drawingml/2006/main">
              <a:ext uri="{FF2B5EF4-FFF2-40B4-BE49-F238E27FC236}">
                <a16:creationId xmlns:a16="http://schemas.microsoft.com/office/drawing/2014/main" id="{AF7D557B-9A28-4DE4-922E-42D796BC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Help is sought after a self-serve attempt stalls.</a:t>
            </a:r>
          </a:p>
        </p:txBody>
      </p:sp>
      <p:sp>
        <p:nvSpPr>
          <p:cNvPr id="21" name="access-copy">
            <a:extLst xmlns:a="http://schemas.openxmlformats.org/drawingml/2006/main">
              <a:ext uri="{FF2B5EF4-FFF2-40B4-BE49-F238E27FC236}">
                <a16:creationId xmlns:a16="http://schemas.microsoft.com/office/drawing/2014/main" id="{2329D725-A129-4749-8A54-2A97A708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Named support route; compatible focus order.</a:t>
            </a:r>
          </a:p>
        </p:txBody>
      </p:sp>
      <p:sp>
        <p:nvSpPr>
          <p:cNvPr id="22" name="opp-copy">
            <a:extLst xmlns:a="http://schemas.openxmlformats.org/drawingml/2006/main">
              <a:ext uri="{FF2B5EF4-FFF2-40B4-BE49-F238E27FC236}">
                <a16:creationId xmlns:a16="http://schemas.microsoft.com/office/drawing/2014/main" id="{E3DDA107-5E05-457B-8558-AA684692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12B"/>
                </a:solidFill>
              </a:defRPr>
            </a:pPr>
            <a:r>
              <a:rPr sz="1275" b="0">
                <a:solidFill>
                  <a:srgbClr val="17212B"/>
                </a:solidFill>
              </a:rPr>
              <a:t>Offer contextual help before an error state becomes terminal.</a:t>
            </a:r>
          </a:p>
        </p:txBody>
      </p:sp>
      <p:sp>
        <p:nvSpPr>
          <p:cNvPr id="23" name="evidence-trail">
            <a:extLst xmlns:a="http://schemas.openxmlformats.org/drawingml/2006/main">
              <a:ext uri="{FF2B5EF4-FFF2-40B4-BE49-F238E27FC236}">
                <a16:creationId xmlns:a16="http://schemas.microsoft.com/office/drawing/2014/main" id="{C171A44E-A224-4027-B4C3-7C8157F7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Evidence trail: E02 confidence checks, E03 navigation and keyboard behavior, E04 assisted recovery.</a:t>
            </a:r>
          </a:p>
        </p:txBody>
      </p:sp>
      <p:sp>
        <p:nvSpPr>
          <p:cNvPr id="24" name="anchor">
            <a:extLst xmlns:a="http://schemas.openxmlformats.org/drawingml/2006/main">
              <a:ext uri="{FF2B5EF4-FFF2-40B4-BE49-F238E27FC236}">
                <a16:creationId xmlns:a16="http://schemas.microsoft.com/office/drawing/2014/main" id="{5455ECD8-513B-4D4A-8488-8FC4E412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451644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AC3AB532-2AB2-4B10-9A5B-C8FF6BDA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3047"/>
                </a:solidFill>
              </a:defRPr>
            </a:pPr>
            <a:r>
              <a:rPr sz="2550" b="1">
                <a:solidFill>
                  <a:srgbClr val="123047"/>
                </a:solidFill>
              </a:rPr>
              <a:t>Design for a visible path, a visible state, and a visible recovery route</a:t>
            </a:r>
          </a:p>
        </p:txBody>
      </p:sp>
      <p:sp>
        <p:nvSpPr>
          <p:cNvPr id="2" name="principle">
            <a:extLst xmlns:a="http://schemas.openxmlformats.org/drawingml/2006/main">
              <a:ext uri="{FF2B5EF4-FFF2-40B4-BE49-F238E27FC236}">
                <a16:creationId xmlns:a16="http://schemas.microsoft.com/office/drawing/2014/main" id="{CF578C44-822B-4DA9-BDDA-23F047FF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EAF1F5"/>
            </a:solidFill>
            <a:prstDash val="solid"/>
          </a:ln>
        </p:spPr>
      </p:sp>
      <p:sp>
        <p:nvSpPr>
          <p:cNvPr id="3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EEDBE3C9-01CA-4E12-9A6C-61758B9C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1. Path</a:t>
            </a:r>
          </a:p>
        </p:txBody>
      </p:sp>
      <p:sp>
        <p:nvSpPr>
          <p:cNvPr id="4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01769E4A-4CF8-4579-BEA8-54FA68D3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Make the next action understandable before it is taken.</a:t>
            </a:r>
          </a:p>
        </p:txBody>
      </p:sp>
      <p:sp>
        <p:nvSpPr>
          <p:cNvPr id="5" name="principle">
            <a:extLst xmlns:a="http://schemas.openxmlformats.org/drawingml/2006/main">
              <a:ext uri="{FF2B5EF4-FFF2-40B4-BE49-F238E27FC236}">
                <a16:creationId xmlns:a16="http://schemas.microsoft.com/office/drawing/2014/main" id="{1661C112-3628-4F90-A0FA-5E245F15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  <a:prstDash val="solid"/>
          </a:ln>
        </p:spPr>
      </p:sp>
      <p:sp>
        <p:nvSpPr>
          <p:cNvPr id="6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34BD0A35-B15D-4F5A-95BC-D994AA6B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2. State</a:t>
            </a:r>
          </a:p>
        </p:txBody>
      </p:sp>
      <p:sp>
        <p:nvSpPr>
          <p:cNvPr id="7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76F9ECC1-5D3E-44A9-AA51-97D98380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Show what changed, what remains, and how to continue.</a:t>
            </a:r>
          </a:p>
        </p:txBody>
      </p:sp>
      <p:sp>
        <p:nvSpPr>
          <p:cNvPr id="8" name="principle">
            <a:extLst xmlns:a="http://schemas.openxmlformats.org/drawingml/2006/main">
              <a:ext uri="{FF2B5EF4-FFF2-40B4-BE49-F238E27FC236}">
                <a16:creationId xmlns:a16="http://schemas.microsoft.com/office/drawing/2014/main" id="{7E7FE73B-9AD4-4527-A876-5BD4A7FD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19250"/>
            <a:ext cx="3333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FF7E6"/>
            </a:solidFill>
            <a:prstDash val="solid"/>
          </a:ln>
        </p:spPr>
      </p:sp>
      <p:sp>
        <p:nvSpPr>
          <p:cNvPr id="9" name="principle-title">
            <a:extLst xmlns:a="http://schemas.openxmlformats.org/drawingml/2006/main">
              <a:ext uri="{FF2B5EF4-FFF2-40B4-BE49-F238E27FC236}">
                <a16:creationId xmlns:a16="http://schemas.microsoft.com/office/drawing/2014/main" id="{05FAEAFD-06CA-45B1-9ADC-CF594B78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8C95"/>
                </a:solidFill>
              </a:defRPr>
            </a:pPr>
            <a:r>
              <a:rPr sz="1725" b="1">
                <a:solidFill>
                  <a:srgbClr val="008C95"/>
                </a:solidFill>
              </a:rPr>
              <a:t>3. Recovery</a:t>
            </a:r>
          </a:p>
        </p:txBody>
      </p:sp>
      <p:sp>
        <p:nvSpPr>
          <p:cNvPr id="10" name="principle-copy">
            <a:extLst xmlns:a="http://schemas.openxmlformats.org/drawingml/2006/main">
              <a:ext uri="{FF2B5EF4-FFF2-40B4-BE49-F238E27FC236}">
                <a16:creationId xmlns:a16="http://schemas.microsoft.com/office/drawing/2014/main" id="{EBC7284A-CC7C-4D15-A5C1-0DD282BE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12B"/>
                </a:solidFill>
              </a:defRPr>
            </a:pPr>
            <a:r>
              <a:rPr sz="1650" b="0">
                <a:solidFill>
                  <a:srgbClr val="17212B"/>
                </a:solidFill>
              </a:rPr>
              <a:t>Offer assistive and human support without losing context.</a:t>
            </a:r>
          </a:p>
        </p:txBody>
      </p:sp>
      <p:sp>
        <p:nvSpPr>
          <p:cNvPr id="11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4E2268B2-8E75-4EAF-966F-41373F10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12B"/>
                </a:solidFill>
              </a:defRPr>
            </a:pPr>
            <a:r>
              <a:rPr sz="1425" b="1">
                <a:solidFill>
                  <a:srgbClr val="17212B"/>
                </a:solidFill>
              </a:rPr>
              <a:t>Prioritize E02-E04: state visibility and accessible recovery govern completion confidence.</a:t>
            </a:r>
          </a:p>
        </p:txBody>
      </p:sp>
      <p:sp>
        <p:nvSpPr>
          <p:cNvPr id="12" name="anchor">
            <a:extLst xmlns:a="http://schemas.openxmlformats.org/drawingml/2006/main">
              <a:ext uri="{FF2B5EF4-FFF2-40B4-BE49-F238E27FC236}">
                <a16:creationId xmlns:a16="http://schemas.microsoft.com/office/drawing/2014/main" id="{D91C202A-529A-477A-BC25-44C128B2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Beacon Field Research | Study Alpha | 2026-07-13 | session UX-184 | n=24</a:t>
            </a:r>
          </a:p>
        </p:txBody>
      </p:sp>
    </p:spTree>
    <p:extLst>
      <p:ext uri="{BB962C8B-B14F-4D97-AF65-F5344CB8AC3E}">
        <p14:creationId xmlns:p14="http://schemas.microsoft.com/office/powerpoint/2010/main" val="1787056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2026-08-23T15:21:21.1670000Z</dcterms:created>
  <dcterms:modified xsi:type="dcterms:W3CDTF">2026-08-23T15:21:21.1670000Z</dcterms:modified>
</coreProperties>
</file>