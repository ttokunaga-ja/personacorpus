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8e7b4ada1f4f79" /><Relationship Type="http://schemas.openxmlformats.org/officeDocument/2006/relationships/extended-properties" Target="/docProps/app.xml" Id="R300d6cb32df7483d" /><Relationship Type="http://schemas.openxmlformats.org/officeDocument/2006/relationships/officeDocument" Target="/ppt/presentation.xml" Id="R7e685576c2d741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8a992fe4e642c3"/>
  </p:sldMasterIdLst>
  <p:notesMasterIdLst>
    <p:notesMasterId xmlns:r="http://schemas.openxmlformats.org/officeDocument/2006/relationships" r:id="R7204bd8f87ab4f8d"/>
  </p:notesMasterIdLst>
  <p:sldIdLst>
    <p:sldId xmlns:r="http://schemas.openxmlformats.org/officeDocument/2006/relationships" id="256" r:id="R5045bc91ba1f4ae8"/>
    <p:sldId xmlns:r="http://schemas.openxmlformats.org/officeDocument/2006/relationships" id="257" r:id="R7201f701df9741da"/>
    <p:sldId xmlns:r="http://schemas.openxmlformats.org/officeDocument/2006/relationships" id="258" r:id="R539f41470dbb4b13"/>
    <p:sldId xmlns:r="http://schemas.openxmlformats.org/officeDocument/2006/relationships" id="259" r:id="R3ca0e249611f40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5a0a8bb40f4f15" /><Relationship Type="http://schemas.openxmlformats.org/officeDocument/2006/relationships/slideMaster" Target="/ppt/slideMasters/slideMaster1.xml" Id="Ra38a992fe4e642c3" /><Relationship Type="http://schemas.openxmlformats.org/officeDocument/2006/relationships/notesMaster" Target="/ppt/notesMasters/notesMaster1.xml" Id="R7204bd8f87ab4f8d" /><Relationship Type="http://schemas.openxmlformats.org/officeDocument/2006/relationships/presProps" Target="/ppt/presProps.xml" Id="Rcdbef01cdd7d4761" /><Relationship Type="http://schemas.openxmlformats.org/officeDocument/2006/relationships/tableStyles" Target="/ppt/tableStyles.xml" Id="Rb11a0ab84ea04dd5" /><Relationship Type="http://schemas.openxmlformats.org/officeDocument/2006/relationships/slide" Target="/ppt/slides/slide1.xml" Id="R5045bc91ba1f4ae8" /><Relationship Type="http://schemas.openxmlformats.org/officeDocument/2006/relationships/slide" Target="/ppt/slides/slide2.xml" Id="R7201f701df9741da" /><Relationship Type="http://schemas.openxmlformats.org/officeDocument/2006/relationships/slide" Target="/ppt/slides/slide3.xml" Id="R539f41470dbb4b13" /><Relationship Type="http://schemas.openxmlformats.org/officeDocument/2006/relationships/slide" Target="/ppt/slides/slide4.xml" Id="R3ca0e249611f40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7c3dd5c54743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9a89ad01af40d9" /><Relationship Type="http://schemas.openxmlformats.org/officeDocument/2006/relationships/notesMaster" Target="/ppt/notesMasters/notesMaster1.xml" Id="Rf5a68505b07042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e30973adb14691" /><Relationship Type="http://schemas.openxmlformats.org/officeDocument/2006/relationships/notesMaster" Target="/ppt/notesMasters/notesMaster1.xml" Id="Rf3c045a4123f4d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fe626cfad04138" /><Relationship Type="http://schemas.openxmlformats.org/officeDocument/2006/relationships/notesMaster" Target="/ppt/notesMasters/notesMaster1.xml" Id="R17aa2816c02944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35379cda14407c" /><Relationship Type="http://schemas.openxmlformats.org/officeDocument/2006/relationships/notesMaster" Target="/ppt/notesMasters/notesMaster1.xml" Id="Rdf032dc1fe0846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3dbf6816694f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10af8ce5ee47fd" /><Relationship Type="http://schemas.openxmlformats.org/officeDocument/2006/relationships/slideLayout" Target="/ppt/slideLayouts/slideLayout1.xml" Id="R38ea872e380b41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ea872e380b41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6edd70721446d" /><Relationship Type="http://schemas.openxmlformats.org/officeDocument/2006/relationships/notesSlide" Target="/ppt/notesSlides/notesSlide1.xml" Id="R8b4e3b32133948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15b3215bb478d" /><Relationship Type="http://schemas.openxmlformats.org/officeDocument/2006/relationships/notesSlide" Target="/ppt/notesSlides/notesSlide2.xml" Id="R2136a588dd2440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feb97838c49fb" /><Relationship Type="http://schemas.openxmlformats.org/officeDocument/2006/relationships/notesSlide" Target="/ppt/notesSlides/notesSlide3.xml" Id="R6f6f276f98bd49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5f67d25674195" /><Relationship Type="http://schemas.openxmlformats.org/officeDocument/2006/relationships/notesSlide" Target="/ppt/notesSlides/notesSlide4.xml" Id="Re79f99835d3147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">
            <a:extLst xmlns:a="http://schemas.openxmlformats.org/drawingml/2006/main">
              <a:ext uri="{FF2B5EF4-FFF2-40B4-BE49-F238E27FC236}">
                <a16:creationId xmlns:a16="http://schemas.microsoft.com/office/drawing/2014/main" id="{4028A247-4DB4-4706-8F56-4343D53A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66750"/>
            <a:ext cx="95250" cy="535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9525">
            <a:solidFill>
              <a:srgbClr val="008C95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058D4ED4-80FA-409D-855D-7B123C4C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8C95"/>
                </a:solidFill>
              </a:defRPr>
            </a:pPr>
            <a:r>
              <a:rPr sz="1125" b="1">
                <a:solidFill>
                  <a:srgbClr val="008C95"/>
                </a:solidFill>
              </a:rPr>
              <a:t>SYNTHETIC JOURNEY MAP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E7E1D3-9638-4114-825F-BC7013E4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81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3047"/>
                </a:solidFill>
              </a:defRPr>
            </a:pPr>
            <a:r>
              <a:rPr sz="3450" b="1">
                <a:solidFill>
                  <a:srgbClr val="123047"/>
                </a:solidFill>
              </a:rPr>
              <a:t>Study Alpha journey map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14E36168-3593-4D1A-BF84-E692B01A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A shared view of how synthetic composites move from first signal to completion.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F7FFA7AC-891D-4936-A5F6-2A06E20D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00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EAF1F5"/>
            </a:solidFill>
            <a:prstDash val="solid"/>
          </a:ln>
        </p:spPr>
      </p:sp>
      <p:sp>
        <p:nvSpPr>
          <p:cNvPr id="6" name="decision-copy">
            <a:extLst xmlns:a="http://schemas.openxmlformats.org/drawingml/2006/main">
              <a:ext uri="{FF2B5EF4-FFF2-40B4-BE49-F238E27FC236}">
                <a16:creationId xmlns:a16="http://schemas.microsoft.com/office/drawing/2014/main" id="{0BA1EB65-1DD7-4C5F-80A4-A42327BE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The core risk is not action alone: it is uncertainty about whether the action changed anything.</a:t>
            </a:r>
          </a:p>
        </p:txBody>
      </p:sp>
      <p:sp>
        <p:nvSpPr>
          <p:cNvPr id="7" name="anchor">
            <a:extLst xmlns:a="http://schemas.openxmlformats.org/drawingml/2006/main">
              <a:ext uri="{FF2B5EF4-FFF2-40B4-BE49-F238E27FC236}">
                <a16:creationId xmlns:a16="http://schemas.microsoft.com/office/drawing/2014/main" id="{695CA314-4AFC-43DF-A292-62AED726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Beacon Field Research | Study Alpha | 2026-07-13 | session UX-184 | n=24</a:t>
            </a:r>
          </a:p>
        </p:txBody>
      </p:sp>
      <p:sp>
        <p:nvSpPr>
          <p:cNvPr id="8" name="synthetic-note">
            <a:extLst xmlns:a="http://schemas.openxmlformats.org/drawingml/2006/main">
              <a:ext uri="{FF2B5EF4-FFF2-40B4-BE49-F238E27FC236}">
                <a16:creationId xmlns:a16="http://schemas.microsoft.com/office/drawing/2014/main" id="{2F43D560-AC08-41D3-9B8E-59418B3C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Synthetic composites only - participant codes S01-S24</a:t>
            </a:r>
          </a:p>
        </p:txBody>
      </p:sp>
    </p:spTree>
    <p:extLst>
      <p:ext uri="{BB962C8B-B14F-4D97-AF65-F5344CB8AC3E}">
        <p14:creationId xmlns:p14="http://schemas.microsoft.com/office/powerpoint/2010/main" val="15312078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itle">
            <a:extLst xmlns:a="http://schemas.openxmlformats.org/drawingml/2006/main">
              <a:ext uri="{FF2B5EF4-FFF2-40B4-BE49-F238E27FC236}">
                <a16:creationId xmlns:a16="http://schemas.microsoft.com/office/drawing/2014/main" id="{6DFC8B9D-BB54-4848-A24C-85605208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7"/>
                </a:solidFill>
              </a:defRPr>
            </a:pPr>
            <a:r>
              <a:rPr sz="2550" b="1">
                <a:solidFill>
                  <a:srgbClr val="123047"/>
                </a:solidFill>
              </a:rPr>
              <a:t>The journey is a sequence of confidence decisions</a:t>
            </a:r>
          </a:p>
        </p:txBody>
      </p:sp>
      <p:sp>
        <p:nvSpPr>
          <p:cNvPr id="2" name="inference-note">
            <a:extLst xmlns:a="http://schemas.openxmlformats.org/drawingml/2006/main">
              <a:ext uri="{FF2B5EF4-FFF2-40B4-BE49-F238E27FC236}">
                <a16:creationId xmlns:a16="http://schemas.microsoft.com/office/drawing/2014/main" id="{6FF8F6E7-0D18-4599-92E7-236B16A1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Emotions below are inferred from observed behaviors and debrief themes; they are not direct quotations.</a:t>
            </a:r>
          </a:p>
        </p:txBody>
      </p:sp>
      <p:sp>
        <p:nvSpPr>
          <p:cNvPr id="3" name="stage-1">
            <a:extLst xmlns:a="http://schemas.openxmlformats.org/drawingml/2006/main">
              <a:ext uri="{FF2B5EF4-FFF2-40B4-BE49-F238E27FC236}">
                <a16:creationId xmlns:a16="http://schemas.microsoft.com/office/drawing/2014/main" id="{C0B651DE-3BA3-47E1-9888-A15B1F00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21526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4" name="stage-label">
            <a:extLst xmlns:a="http://schemas.openxmlformats.org/drawingml/2006/main">
              <a:ext uri="{FF2B5EF4-FFF2-40B4-BE49-F238E27FC236}">
                <a16:creationId xmlns:a16="http://schemas.microsoft.com/office/drawing/2014/main" id="{D7DE42DA-D07C-4F7F-ABAA-4943DC95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C95"/>
                </a:solidFill>
              </a:defRPr>
            </a:pPr>
            <a:r>
              <a:rPr sz="975" b="1">
                <a:solidFill>
                  <a:srgbClr val="008C95"/>
                </a:solidFill>
              </a:rPr>
              <a:t>01  DISCOVER</a:t>
            </a:r>
          </a:p>
        </p:txBody>
      </p:sp>
      <p:sp>
        <p:nvSpPr>
          <p:cNvPr id="5" name="goal">
            <a:extLst xmlns:a="http://schemas.openxmlformats.org/drawingml/2006/main">
              <a:ext uri="{FF2B5EF4-FFF2-40B4-BE49-F238E27FC236}">
                <a16:creationId xmlns:a16="http://schemas.microsoft.com/office/drawing/2014/main" id="{9D5C7724-8881-4DA5-AE14-B5A7DB88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Find a relevant entry point</a:t>
            </a:r>
          </a:p>
        </p:txBody>
      </p:sp>
      <p:sp>
        <p:nvSpPr>
          <p:cNvPr id="6" name="action">
            <a:extLst xmlns:a="http://schemas.openxmlformats.org/drawingml/2006/main">
              <a:ext uri="{FF2B5EF4-FFF2-40B4-BE49-F238E27FC236}">
                <a16:creationId xmlns:a16="http://schemas.microsoft.com/office/drawing/2014/main" id="{8E22BF1E-3D79-4DCD-A42B-AA8D00DE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Action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Scan options and choose a starting path</a:t>
            </a:r>
          </a:p>
        </p:txBody>
      </p:sp>
      <p:sp>
        <p:nvSpPr>
          <p:cNvPr id="7" name="emotion">
            <a:extLst xmlns:a="http://schemas.openxmlformats.org/drawingml/2006/main">
              <a:ext uri="{FF2B5EF4-FFF2-40B4-BE49-F238E27FC236}">
                <a16:creationId xmlns:a16="http://schemas.microsoft.com/office/drawing/2014/main" id="{2EF6DB5F-9D2E-4DA2-84E2-8A5ED673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Inferred emotion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Cautious interest</a:t>
            </a:r>
          </a:p>
        </p:txBody>
      </p:sp>
      <p:sp>
        <p:nvSpPr>
          <p:cNvPr id="8" name="evidence">
            <a:extLst xmlns:a="http://schemas.openxmlformats.org/drawingml/2006/main">
              <a:ext uri="{FF2B5EF4-FFF2-40B4-BE49-F238E27FC236}">
                <a16:creationId xmlns:a16="http://schemas.microsoft.com/office/drawing/2014/main" id="{CD666D01-A820-4BD2-A1EB-6A719DEA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E01  entry-path behavior</a:t>
            </a:r>
          </a:p>
        </p:txBody>
      </p:sp>
      <p:sp>
        <p:nvSpPr>
          <p:cNvPr id="9" name="stage-2">
            <a:extLst xmlns:a="http://schemas.openxmlformats.org/drawingml/2006/main">
              <a:ext uri="{FF2B5EF4-FFF2-40B4-BE49-F238E27FC236}">
                <a16:creationId xmlns:a16="http://schemas.microsoft.com/office/drawing/2014/main" id="{3BA39838-2479-41B2-8440-45158EFC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19250"/>
            <a:ext cx="21526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10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B631FF7-27CE-45EF-82C3-62912B4A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81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C95"/>
                </a:solidFill>
              </a:defRPr>
            </a:pPr>
            <a:r>
              <a:rPr sz="975" b="1">
                <a:solidFill>
                  <a:srgbClr val="008C95"/>
                </a:solidFill>
              </a:rPr>
              <a:t>02  ORIENT</a:t>
            </a:r>
          </a:p>
        </p:txBody>
      </p:sp>
      <p:sp>
        <p:nvSpPr>
          <p:cNvPr id="11" name="goal">
            <a:extLst xmlns:a="http://schemas.openxmlformats.org/drawingml/2006/main">
              <a:ext uri="{FF2B5EF4-FFF2-40B4-BE49-F238E27FC236}">
                <a16:creationId xmlns:a16="http://schemas.microsoft.com/office/drawing/2014/main" id="{6CC2E193-4357-4A52-BCE9-CE78AF9B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145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Understand the task</a:t>
            </a:r>
          </a:p>
        </p:txBody>
      </p:sp>
      <p:sp>
        <p:nvSpPr>
          <p:cNvPr id="12" name="action">
            <a:extLst xmlns:a="http://schemas.openxmlformats.org/drawingml/2006/main">
              <a:ext uri="{FF2B5EF4-FFF2-40B4-BE49-F238E27FC236}">
                <a16:creationId xmlns:a16="http://schemas.microsoft.com/office/drawing/2014/main" id="{ED687EBA-4DBC-4502-9D53-308C9361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5750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Action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Read labels and orient to expected outcome</a:t>
            </a:r>
          </a:p>
        </p:txBody>
      </p:sp>
      <p:sp>
        <p:nvSpPr>
          <p:cNvPr id="13" name="emotion">
            <a:extLst xmlns:a="http://schemas.openxmlformats.org/drawingml/2006/main">
              <a:ext uri="{FF2B5EF4-FFF2-40B4-BE49-F238E27FC236}">
                <a16:creationId xmlns:a16="http://schemas.microsoft.com/office/drawing/2014/main" id="{2743AC29-82EA-4CB0-93A4-2FA53EAD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290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Inferred emotion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Tentative confidence</a:t>
            </a:r>
          </a:p>
        </p:txBody>
      </p:sp>
      <p:sp>
        <p:nvSpPr>
          <p:cNvPr id="14" name="evidence">
            <a:extLst xmlns:a="http://schemas.openxmlformats.org/drawingml/2006/main">
              <a:ext uri="{FF2B5EF4-FFF2-40B4-BE49-F238E27FC236}">
                <a16:creationId xmlns:a16="http://schemas.microsoft.com/office/drawing/2014/main" id="{A9AF4291-F4D2-41B0-9C35-E714467F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238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E02  label comprehension</a:t>
            </a:r>
          </a:p>
        </p:txBody>
      </p:sp>
      <p:sp>
        <p:nvSpPr>
          <p:cNvPr id="15" name="stage-3">
            <a:extLst xmlns:a="http://schemas.openxmlformats.org/drawingml/2006/main">
              <a:ext uri="{FF2B5EF4-FFF2-40B4-BE49-F238E27FC236}">
                <a16:creationId xmlns:a16="http://schemas.microsoft.com/office/drawing/2014/main" id="{59BC9175-DA92-4BC1-B097-2AD57AC0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19250"/>
            <a:ext cx="21526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16" name="stage-label">
            <a:extLst xmlns:a="http://schemas.openxmlformats.org/drawingml/2006/main">
              <a:ext uri="{FF2B5EF4-FFF2-40B4-BE49-F238E27FC236}">
                <a16:creationId xmlns:a16="http://schemas.microsoft.com/office/drawing/2014/main" id="{3D904786-D032-4525-A4E9-0774B681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81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C95"/>
                </a:solidFill>
              </a:defRPr>
            </a:pPr>
            <a:r>
              <a:rPr sz="975" b="1">
                <a:solidFill>
                  <a:srgbClr val="008C95"/>
                </a:solidFill>
              </a:rPr>
              <a:t>03  ACT</a:t>
            </a:r>
          </a:p>
        </p:txBody>
      </p:sp>
      <p:sp>
        <p:nvSpPr>
          <p:cNvPr id="17" name="goal">
            <a:extLst xmlns:a="http://schemas.openxmlformats.org/drawingml/2006/main">
              <a:ext uri="{FF2B5EF4-FFF2-40B4-BE49-F238E27FC236}">
                <a16:creationId xmlns:a16="http://schemas.microsoft.com/office/drawing/2014/main" id="{1C86722E-00A8-463D-B8B5-82116784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145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Make progress</a:t>
            </a:r>
          </a:p>
        </p:txBody>
      </p:sp>
      <p:sp>
        <p:nvSpPr>
          <p:cNvPr id="18" name="action">
            <a:extLst xmlns:a="http://schemas.openxmlformats.org/drawingml/2006/main">
              <a:ext uri="{FF2B5EF4-FFF2-40B4-BE49-F238E27FC236}">
                <a16:creationId xmlns:a16="http://schemas.microsoft.com/office/drawing/2014/main" id="{C9C03DB1-6D54-4D45-8498-5672ADAE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5750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Action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Complete the primary action</a:t>
            </a:r>
          </a:p>
        </p:txBody>
      </p:sp>
      <p:sp>
        <p:nvSpPr>
          <p:cNvPr id="19" name="emotion">
            <a:extLst xmlns:a="http://schemas.openxmlformats.org/drawingml/2006/main">
              <a:ext uri="{FF2B5EF4-FFF2-40B4-BE49-F238E27FC236}">
                <a16:creationId xmlns:a16="http://schemas.microsoft.com/office/drawing/2014/main" id="{7D3FCE8B-74A9-4F1C-9320-280B4CB3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290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Inferred emotion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Focused effort</a:t>
            </a:r>
          </a:p>
        </p:txBody>
      </p:sp>
      <p:sp>
        <p:nvSpPr>
          <p:cNvPr id="20" name="evidence">
            <a:extLst xmlns:a="http://schemas.openxmlformats.org/drawingml/2006/main">
              <a:ext uri="{FF2B5EF4-FFF2-40B4-BE49-F238E27FC236}">
                <a16:creationId xmlns:a16="http://schemas.microsoft.com/office/drawing/2014/main" id="{3388E8F7-B0FE-4BAA-8480-055631E2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38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E03  action sequence</a:t>
            </a:r>
          </a:p>
        </p:txBody>
      </p:sp>
      <p:sp>
        <p:nvSpPr>
          <p:cNvPr id="21" name="stage-4">
            <a:extLst xmlns:a="http://schemas.openxmlformats.org/drawingml/2006/main">
              <a:ext uri="{FF2B5EF4-FFF2-40B4-BE49-F238E27FC236}">
                <a16:creationId xmlns:a16="http://schemas.microsoft.com/office/drawing/2014/main" id="{0F3BF0AB-5D76-4BAE-B230-8648AC6D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21526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2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2DF0DC15-A9B8-4AA8-929F-78A43132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81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C95"/>
                </a:solidFill>
              </a:defRPr>
            </a:pPr>
            <a:r>
              <a:rPr sz="975" b="1">
                <a:solidFill>
                  <a:srgbClr val="008C95"/>
                </a:solidFill>
              </a:rPr>
              <a:t>04  CONFIRM</a:t>
            </a:r>
          </a:p>
        </p:txBody>
      </p:sp>
      <p:sp>
        <p:nvSpPr>
          <p:cNvPr id="23" name="goal">
            <a:extLst xmlns:a="http://schemas.openxmlformats.org/drawingml/2006/main">
              <a:ext uri="{FF2B5EF4-FFF2-40B4-BE49-F238E27FC236}">
                <a16:creationId xmlns:a16="http://schemas.microsoft.com/office/drawing/2014/main" id="{F14C5FFC-C1DD-4B8D-A150-0B84D343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145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Check that it worked</a:t>
            </a:r>
          </a:p>
        </p:txBody>
      </p:sp>
      <p:sp>
        <p:nvSpPr>
          <p:cNvPr id="24" name="action">
            <a:extLst xmlns:a="http://schemas.openxmlformats.org/drawingml/2006/main">
              <a:ext uri="{FF2B5EF4-FFF2-40B4-BE49-F238E27FC236}">
                <a16:creationId xmlns:a16="http://schemas.microsoft.com/office/drawing/2014/main" id="{4F4B9B47-248F-4ED2-8849-CDE66E2D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5750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Action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Look for status and next-step cues</a:t>
            </a:r>
          </a:p>
        </p:txBody>
      </p:sp>
      <p:sp>
        <p:nvSpPr>
          <p:cNvPr id="25" name="emotion">
            <a:extLst xmlns:a="http://schemas.openxmlformats.org/drawingml/2006/main">
              <a:ext uri="{FF2B5EF4-FFF2-40B4-BE49-F238E27FC236}">
                <a16:creationId xmlns:a16="http://schemas.microsoft.com/office/drawing/2014/main" id="{0ACDEA39-8DB4-46BC-B509-F600B24B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290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Inferred emotion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Relief or doubt</a:t>
            </a:r>
          </a:p>
        </p:txBody>
      </p:sp>
      <p:sp>
        <p:nvSpPr>
          <p:cNvPr id="26" name="evidence">
            <a:extLst xmlns:a="http://schemas.openxmlformats.org/drawingml/2006/main">
              <a:ext uri="{FF2B5EF4-FFF2-40B4-BE49-F238E27FC236}">
                <a16:creationId xmlns:a16="http://schemas.microsoft.com/office/drawing/2014/main" id="{8034BE71-BC1F-410C-A42F-A79C3842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38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E04  confirmation behavior</a:t>
            </a:r>
          </a:p>
        </p:txBody>
      </p:sp>
      <p:sp>
        <p:nvSpPr>
          <p:cNvPr id="27" name="stage-5">
            <a:extLst xmlns:a="http://schemas.openxmlformats.org/drawingml/2006/main">
              <a:ext uri="{FF2B5EF4-FFF2-40B4-BE49-F238E27FC236}">
                <a16:creationId xmlns:a16="http://schemas.microsoft.com/office/drawing/2014/main" id="{C614F13A-3A9E-4C68-9A2C-42656ABA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619250"/>
            <a:ext cx="21526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28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2EB2C7C-6CC8-4268-90DE-FEF1FF8D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81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C95"/>
                </a:solidFill>
              </a:defRPr>
            </a:pPr>
            <a:r>
              <a:rPr sz="975" b="1">
                <a:solidFill>
                  <a:srgbClr val="008C95"/>
                </a:solidFill>
              </a:rPr>
              <a:t>05  COMPLETE</a:t>
            </a:r>
          </a:p>
        </p:txBody>
      </p:sp>
      <p:sp>
        <p:nvSpPr>
          <p:cNvPr id="29" name="goal">
            <a:extLst xmlns:a="http://schemas.openxmlformats.org/drawingml/2006/main">
              <a:ext uri="{FF2B5EF4-FFF2-40B4-BE49-F238E27FC236}">
                <a16:creationId xmlns:a16="http://schemas.microsoft.com/office/drawing/2014/main" id="{55F21062-BE5F-40CC-843B-68D8641C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145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Close or continue</a:t>
            </a:r>
          </a:p>
        </p:txBody>
      </p:sp>
      <p:sp>
        <p:nvSpPr>
          <p:cNvPr id="30" name="action">
            <a:extLst xmlns:a="http://schemas.openxmlformats.org/drawingml/2006/main">
              <a:ext uri="{FF2B5EF4-FFF2-40B4-BE49-F238E27FC236}">
                <a16:creationId xmlns:a16="http://schemas.microsoft.com/office/drawing/2014/main" id="{309D108D-8F40-4495-9E2F-5ADF701F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5750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Action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Decide whether to end, revisit, or seek help</a:t>
            </a:r>
          </a:p>
        </p:txBody>
      </p:sp>
      <p:sp>
        <p:nvSpPr>
          <p:cNvPr id="31" name="emotion">
            <a:extLst xmlns:a="http://schemas.openxmlformats.org/drawingml/2006/main">
              <a:ext uri="{FF2B5EF4-FFF2-40B4-BE49-F238E27FC236}">
                <a16:creationId xmlns:a16="http://schemas.microsoft.com/office/drawing/2014/main" id="{2E68C519-4C38-44C8-B833-3190C9F1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290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Inferred emotion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Settled confidence</a:t>
            </a:r>
          </a:p>
        </p:txBody>
      </p:sp>
      <p:sp>
        <p:nvSpPr>
          <p:cNvPr id="32" name="evidence">
            <a:extLst xmlns:a="http://schemas.openxmlformats.org/drawingml/2006/main">
              <a:ext uri="{FF2B5EF4-FFF2-40B4-BE49-F238E27FC236}">
                <a16:creationId xmlns:a16="http://schemas.microsoft.com/office/drawing/2014/main" id="{F000E34E-83C5-4EB9-BB2B-F61A2A7D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238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E05  completion choice</a:t>
            </a:r>
          </a:p>
        </p:txBody>
      </p:sp>
      <p:sp>
        <p:nvSpPr>
          <p:cNvPr id="33" name="anchor">
            <a:extLst xmlns:a="http://schemas.openxmlformats.org/drawingml/2006/main">
              <a:ext uri="{FF2B5EF4-FFF2-40B4-BE49-F238E27FC236}">
                <a16:creationId xmlns:a16="http://schemas.microsoft.com/office/drawing/2014/main" id="{DC58AB0F-4E78-4614-88AD-BC2A7BD7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Beacon Field Research | Study Alpha | 2026-07-13 | session UX-184 | n=24</a:t>
            </a:r>
          </a:p>
        </p:txBody>
      </p:sp>
    </p:spTree>
    <p:extLst>
      <p:ext uri="{BB962C8B-B14F-4D97-AF65-F5344CB8AC3E}">
        <p14:creationId xmlns:p14="http://schemas.microsoft.com/office/powerpoint/2010/main" val="8631673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">
            <a:extLst xmlns:a="http://schemas.openxmlformats.org/drawingml/2006/main">
              <a:ext uri="{FF2B5EF4-FFF2-40B4-BE49-F238E27FC236}">
                <a16:creationId xmlns:a16="http://schemas.microsoft.com/office/drawing/2014/main" id="{1D187519-FE60-4900-8D21-6240307E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7"/>
                </a:solidFill>
              </a:defRPr>
            </a:pPr>
            <a:r>
              <a:rPr sz="2550" b="1">
                <a:solidFill>
                  <a:srgbClr val="123047"/>
                </a:solidFill>
              </a:rPr>
              <a:t>Friction clusters where progress is hard to verify</a:t>
            </a:r>
          </a:p>
        </p:txBody>
      </p:sp>
      <p:sp>
        <p:nvSpPr>
          <p:cNvPr id="2" name="column-head">
            <a:extLst xmlns:a="http://schemas.openxmlformats.org/drawingml/2006/main">
              <a:ext uri="{FF2B5EF4-FFF2-40B4-BE49-F238E27FC236}">
                <a16:creationId xmlns:a16="http://schemas.microsoft.com/office/drawing/2014/main" id="{B6795A74-2BF5-43EA-B6D0-88B93F77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C95"/>
                </a:solidFill>
              </a:defRPr>
            </a:pPr>
            <a:r>
              <a:rPr sz="1200" b="1">
                <a:solidFill>
                  <a:srgbClr val="008C95"/>
                </a:solidFill>
              </a:rPr>
              <a:t>Observed pattern</a:t>
            </a:r>
          </a:p>
        </p:txBody>
      </p:sp>
      <p:sp>
        <p:nvSpPr>
          <p:cNvPr id="3" name="column-head">
            <a:extLst xmlns:a="http://schemas.openxmlformats.org/drawingml/2006/main">
              <a:ext uri="{FF2B5EF4-FFF2-40B4-BE49-F238E27FC236}">
                <a16:creationId xmlns:a16="http://schemas.microsoft.com/office/drawing/2014/main" id="{51EE37EE-5320-4D6E-9F0C-6C7D9580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C95"/>
                </a:solidFill>
              </a:defRPr>
            </a:pPr>
            <a:r>
              <a:rPr sz="1200" b="1">
                <a:solidFill>
                  <a:srgbClr val="008C95"/>
                </a:solidFill>
              </a:rPr>
              <a:t>Accessibility touchpoint</a:t>
            </a:r>
          </a:p>
        </p:txBody>
      </p:sp>
      <p:sp>
        <p:nvSpPr>
          <p:cNvPr id="4" name="column-head">
            <a:extLst xmlns:a="http://schemas.openxmlformats.org/drawingml/2006/main">
              <a:ext uri="{FF2B5EF4-FFF2-40B4-BE49-F238E27FC236}">
                <a16:creationId xmlns:a16="http://schemas.microsoft.com/office/drawing/2014/main" id="{47EC8450-9960-4D93-9858-F8BA1556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200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C95"/>
                </a:solidFill>
              </a:defRPr>
            </a:pPr>
            <a:r>
              <a:rPr sz="1200" b="1">
                <a:solidFill>
                  <a:srgbClr val="008C95"/>
                </a:solidFill>
              </a:rPr>
              <a:t>Decision-useful opportunity</a:t>
            </a:r>
          </a:p>
        </p:txBody>
      </p:sp>
      <p:sp>
        <p:nvSpPr>
          <p:cNvPr id="5" name="observed">
            <a:extLst xmlns:a="http://schemas.openxmlformats.org/drawingml/2006/main">
              <a:ext uri="{FF2B5EF4-FFF2-40B4-BE49-F238E27FC236}">
                <a16:creationId xmlns:a16="http://schemas.microsoft.com/office/drawing/2014/main" id="{4FE3EBB2-D4FB-4DB2-B01E-26821A2D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6" name="access">
            <a:extLst xmlns:a="http://schemas.openxmlformats.org/drawingml/2006/main">
              <a:ext uri="{FF2B5EF4-FFF2-40B4-BE49-F238E27FC236}">
                <a16:creationId xmlns:a16="http://schemas.microsoft.com/office/drawing/2014/main" id="{9BFED797-DBD4-484F-ACE1-74D890A6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7640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EAF1F5"/>
            </a:solidFill>
            <a:prstDash val="solid"/>
          </a:ln>
        </p:spPr>
      </p:sp>
      <p:sp>
        <p:nvSpPr>
          <p:cNvPr id="7" name="opportunity">
            <a:extLst xmlns:a="http://schemas.openxmlformats.org/drawingml/2006/main">
              <a:ext uri="{FF2B5EF4-FFF2-40B4-BE49-F238E27FC236}">
                <a16:creationId xmlns:a16="http://schemas.microsoft.com/office/drawing/2014/main" id="{27DB4A9B-EAB2-4933-97E2-02EE686E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7640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FF7E6"/>
            </a:solidFill>
            <a:prstDash val="solid"/>
          </a:ln>
        </p:spPr>
      </p:sp>
      <p:sp>
        <p:nvSpPr>
          <p:cNvPr id="8" name="observed-copy">
            <a:extLst xmlns:a="http://schemas.openxmlformats.org/drawingml/2006/main">
              <a:ext uri="{FF2B5EF4-FFF2-40B4-BE49-F238E27FC236}">
                <a16:creationId xmlns:a16="http://schemas.microsoft.com/office/drawing/2014/main" id="{3126E5FF-209D-4708-B9FE-89987C87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3832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Labels signal a next step, but not the expected outcome.</a:t>
            </a:r>
          </a:p>
        </p:txBody>
      </p:sp>
      <p:sp>
        <p:nvSpPr>
          <p:cNvPr id="9" name="access-copy">
            <a:extLst xmlns:a="http://schemas.openxmlformats.org/drawingml/2006/main">
              <a:ext uri="{FF2B5EF4-FFF2-40B4-BE49-F238E27FC236}">
                <a16:creationId xmlns:a16="http://schemas.microsoft.com/office/drawing/2014/main" id="{12FC0A17-97BA-4F0F-AD29-9ED3530D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3832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Plain-language task labels; visible current-state indicator.</a:t>
            </a:r>
          </a:p>
        </p:txBody>
      </p:sp>
      <p:sp>
        <p:nvSpPr>
          <p:cNvPr id="10" name="opp-copy">
            <a:extLst xmlns:a="http://schemas.openxmlformats.org/drawingml/2006/main">
              <a:ext uri="{FF2B5EF4-FFF2-40B4-BE49-F238E27FC236}">
                <a16:creationId xmlns:a16="http://schemas.microsoft.com/office/drawing/2014/main" id="{C7B875D3-9DA8-47F6-9A02-D6848D87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3832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Pair action labels with a brief result preview.</a:t>
            </a:r>
          </a:p>
        </p:txBody>
      </p:sp>
      <p:sp>
        <p:nvSpPr>
          <p:cNvPr id="11" name="observed">
            <a:extLst xmlns:a="http://schemas.openxmlformats.org/drawingml/2006/main">
              <a:ext uri="{FF2B5EF4-FFF2-40B4-BE49-F238E27FC236}">
                <a16:creationId xmlns:a16="http://schemas.microsoft.com/office/drawing/2014/main" id="{1E89D1E6-D0F0-4822-AE36-1651B276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12" name="access">
            <a:extLst xmlns:a="http://schemas.openxmlformats.org/drawingml/2006/main">
              <a:ext uri="{FF2B5EF4-FFF2-40B4-BE49-F238E27FC236}">
                <a16:creationId xmlns:a16="http://schemas.microsoft.com/office/drawing/2014/main" id="{18F9C2A8-2B9E-4F1A-91A1-C39DE12A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7655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EAF1F5"/>
            </a:solidFill>
            <a:prstDash val="solid"/>
          </a:ln>
        </p:spPr>
      </p:sp>
      <p:sp>
        <p:nvSpPr>
          <p:cNvPr id="13" name="opportunity">
            <a:extLst xmlns:a="http://schemas.openxmlformats.org/drawingml/2006/main">
              <a:ext uri="{FF2B5EF4-FFF2-40B4-BE49-F238E27FC236}">
                <a16:creationId xmlns:a16="http://schemas.microsoft.com/office/drawing/2014/main" id="{282CE151-DF5B-4681-B01C-4BE2FB92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7655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FF7E6"/>
            </a:solidFill>
            <a:prstDash val="solid"/>
          </a:ln>
        </p:spPr>
      </p:sp>
      <p:sp>
        <p:nvSpPr>
          <p:cNvPr id="14" name="observed-copy">
            <a:extLst xmlns:a="http://schemas.openxmlformats.org/drawingml/2006/main">
              <a:ext uri="{FF2B5EF4-FFF2-40B4-BE49-F238E27FC236}">
                <a16:creationId xmlns:a16="http://schemas.microsoft.com/office/drawing/2014/main" id="{58E138BA-4C29-4F8D-962F-CBA044D8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Confirmation arrives after attention has shifted.</a:t>
            </a:r>
          </a:p>
        </p:txBody>
      </p:sp>
      <p:sp>
        <p:nvSpPr>
          <p:cNvPr id="15" name="access-copy">
            <a:extLst xmlns:a="http://schemas.openxmlformats.org/drawingml/2006/main">
              <a:ext uri="{FF2B5EF4-FFF2-40B4-BE49-F238E27FC236}">
                <a16:creationId xmlns:a16="http://schemas.microsoft.com/office/drawing/2014/main" id="{6F1AA3FD-7F99-470F-B0D9-0D0E588F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3847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425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Persistent status text; keyboard-reachable confirmation region.</a:t>
            </a:r>
          </a:p>
        </p:txBody>
      </p:sp>
      <p:sp>
        <p:nvSpPr>
          <p:cNvPr id="16" name="opp-copy">
            <a:extLst xmlns:a="http://schemas.openxmlformats.org/drawingml/2006/main">
              <a:ext uri="{FF2B5EF4-FFF2-40B4-BE49-F238E27FC236}">
                <a16:creationId xmlns:a16="http://schemas.microsoft.com/office/drawing/2014/main" id="{70C591D8-EAB6-4AA3-B879-4A5BA33D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3847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Move confirmation into the action path and preserve it.</a:t>
            </a:r>
          </a:p>
        </p:txBody>
      </p:sp>
      <p:sp>
        <p:nvSpPr>
          <p:cNvPr id="17" name="observed">
            <a:extLst xmlns:a="http://schemas.openxmlformats.org/drawingml/2006/main">
              <a:ext uri="{FF2B5EF4-FFF2-40B4-BE49-F238E27FC236}">
                <a16:creationId xmlns:a16="http://schemas.microsoft.com/office/drawing/2014/main" id="{14CCE5D7-1E12-4737-AF40-8B499CAF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18" name="access">
            <a:extLst xmlns:a="http://schemas.openxmlformats.org/drawingml/2006/main">
              <a:ext uri="{FF2B5EF4-FFF2-40B4-BE49-F238E27FC236}">
                <a16:creationId xmlns:a16="http://schemas.microsoft.com/office/drawing/2014/main" id="{7E7F2ABB-39B1-435A-8ECC-397B63FD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7670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EAF1F5"/>
            </a:solidFill>
            <a:prstDash val="solid"/>
          </a:ln>
        </p:spPr>
      </p:sp>
      <p:sp>
        <p:nvSpPr>
          <p:cNvPr id="19" name="opportunity">
            <a:extLst xmlns:a="http://schemas.openxmlformats.org/drawingml/2006/main">
              <a:ext uri="{FF2B5EF4-FFF2-40B4-BE49-F238E27FC236}">
                <a16:creationId xmlns:a16="http://schemas.microsoft.com/office/drawing/2014/main" id="{9EA26941-8817-41E7-86AE-054446B1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7670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FF7E6"/>
            </a:solidFill>
            <a:prstDash val="solid"/>
          </a:ln>
        </p:spPr>
      </p:sp>
      <p:sp>
        <p:nvSpPr>
          <p:cNvPr id="20" name="observed-copy">
            <a:extLst xmlns:a="http://schemas.openxmlformats.org/drawingml/2006/main">
              <a:ext uri="{FF2B5EF4-FFF2-40B4-BE49-F238E27FC236}">
                <a16:creationId xmlns:a16="http://schemas.microsoft.com/office/drawing/2014/main" id="{DB44C8E0-4FEC-4054-9C26-2C3326AD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Help is sought after a self-serve attempt stalls.</a:t>
            </a:r>
          </a:p>
        </p:txBody>
      </p:sp>
      <p:sp>
        <p:nvSpPr>
          <p:cNvPr id="21" name="access-copy">
            <a:extLst xmlns:a="http://schemas.openxmlformats.org/drawingml/2006/main">
              <a:ext uri="{FF2B5EF4-FFF2-40B4-BE49-F238E27FC236}">
                <a16:creationId xmlns:a16="http://schemas.microsoft.com/office/drawing/2014/main" id="{47738783-F965-45DF-BF80-99BA7B5D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3862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Named support route; compatible focus order.</a:t>
            </a:r>
          </a:p>
        </p:txBody>
      </p:sp>
      <p:sp>
        <p:nvSpPr>
          <p:cNvPr id="22" name="opp-copy">
            <a:extLst xmlns:a="http://schemas.openxmlformats.org/drawingml/2006/main">
              <a:ext uri="{FF2B5EF4-FFF2-40B4-BE49-F238E27FC236}">
                <a16:creationId xmlns:a16="http://schemas.microsoft.com/office/drawing/2014/main" id="{BDAD6C68-3CB5-4EF3-81D2-E9BB9957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3862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Offer contextual help before an error state becomes terminal.</a:t>
            </a:r>
          </a:p>
        </p:txBody>
      </p:sp>
      <p:sp>
        <p:nvSpPr>
          <p:cNvPr id="23" name="evidence-trail">
            <a:extLst xmlns:a="http://schemas.openxmlformats.org/drawingml/2006/main">
              <a:ext uri="{FF2B5EF4-FFF2-40B4-BE49-F238E27FC236}">
                <a16:creationId xmlns:a16="http://schemas.microsoft.com/office/drawing/2014/main" id="{6FF581DF-BD80-428F-8B9A-F6346B23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Evidence trail: E02 confidence checks, E03 navigation and keyboard behavior, E04 assisted recovery.</a:t>
            </a:r>
          </a:p>
        </p:txBody>
      </p:sp>
      <p:sp>
        <p:nvSpPr>
          <p:cNvPr id="24" name="anchor">
            <a:extLst xmlns:a="http://schemas.openxmlformats.org/drawingml/2006/main">
              <a:ext uri="{FF2B5EF4-FFF2-40B4-BE49-F238E27FC236}">
                <a16:creationId xmlns:a16="http://schemas.microsoft.com/office/drawing/2014/main" id="{EF5A8E01-4F3F-47C3-9492-1DBA1D4C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Beacon Field Research | Study Alpha | 2026-07-13 | session UX-184 | n=24</a:t>
            </a:r>
          </a:p>
        </p:txBody>
      </p:sp>
    </p:spTree>
    <p:extLst>
      <p:ext uri="{BB962C8B-B14F-4D97-AF65-F5344CB8AC3E}">
        <p14:creationId xmlns:p14="http://schemas.microsoft.com/office/powerpoint/2010/main" val="18533954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B4BED48C-9273-4C48-9703-AACF23E5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7"/>
                </a:solidFill>
              </a:defRPr>
            </a:pPr>
            <a:r>
              <a:rPr sz="2550" b="1">
                <a:solidFill>
                  <a:srgbClr val="123047"/>
                </a:solidFill>
              </a:rPr>
              <a:t>Design for a visible path, a visible state, and a visible recovery route</a:t>
            </a:r>
          </a:p>
        </p:txBody>
      </p:sp>
      <p:sp>
        <p:nvSpPr>
          <p:cNvPr id="2" name="principle">
            <a:extLst xmlns:a="http://schemas.openxmlformats.org/drawingml/2006/main">
              <a:ext uri="{FF2B5EF4-FFF2-40B4-BE49-F238E27FC236}">
                <a16:creationId xmlns:a16="http://schemas.microsoft.com/office/drawing/2014/main" id="{7EC57894-8B4D-45AF-8A04-FE5DC440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EAF1F5"/>
            </a:solidFill>
            <a:prstDash val="solid"/>
          </a:ln>
        </p:spPr>
      </p:sp>
      <p:sp>
        <p:nvSpPr>
          <p:cNvPr id="3" name="principle-title">
            <a:extLst xmlns:a="http://schemas.openxmlformats.org/drawingml/2006/main">
              <a:ext uri="{FF2B5EF4-FFF2-40B4-BE49-F238E27FC236}">
                <a16:creationId xmlns:a16="http://schemas.microsoft.com/office/drawing/2014/main" id="{AFC2EE12-F715-4733-9D7B-3CF6B461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C95"/>
                </a:solidFill>
              </a:defRPr>
            </a:pPr>
            <a:r>
              <a:rPr sz="1725" b="1">
                <a:solidFill>
                  <a:srgbClr val="008C95"/>
                </a:solidFill>
              </a:rPr>
              <a:t>1. Path</a:t>
            </a:r>
          </a:p>
        </p:txBody>
      </p:sp>
      <p:sp>
        <p:nvSpPr>
          <p:cNvPr id="4" name="principle-copy">
            <a:extLst xmlns:a="http://schemas.openxmlformats.org/drawingml/2006/main">
              <a:ext uri="{FF2B5EF4-FFF2-40B4-BE49-F238E27FC236}">
                <a16:creationId xmlns:a16="http://schemas.microsoft.com/office/drawing/2014/main" id="{006065F5-EE6B-46FB-84A7-B86CDE1D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714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Make the next action understandable before it is taken.</a:t>
            </a:r>
          </a:p>
        </p:txBody>
      </p:sp>
      <p:sp>
        <p:nvSpPr>
          <p:cNvPr id="5" name="principle">
            <a:extLst xmlns:a="http://schemas.openxmlformats.org/drawingml/2006/main">
              <a:ext uri="{FF2B5EF4-FFF2-40B4-BE49-F238E27FC236}">
                <a16:creationId xmlns:a16="http://schemas.microsoft.com/office/drawing/2014/main" id="{556C9887-5FE3-4C0F-A8BD-670ECA26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1925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6" name="principle-title">
            <a:extLst xmlns:a="http://schemas.openxmlformats.org/drawingml/2006/main">
              <a:ext uri="{FF2B5EF4-FFF2-40B4-BE49-F238E27FC236}">
                <a16:creationId xmlns:a16="http://schemas.microsoft.com/office/drawing/2014/main" id="{77B2D0BF-4E58-4284-8549-E6CFD501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526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C95"/>
                </a:solidFill>
              </a:defRPr>
            </a:pPr>
            <a:r>
              <a:rPr sz="1725" b="1">
                <a:solidFill>
                  <a:srgbClr val="008C95"/>
                </a:solidFill>
              </a:rPr>
              <a:t>2. State</a:t>
            </a:r>
          </a:p>
        </p:txBody>
      </p:sp>
      <p:sp>
        <p:nvSpPr>
          <p:cNvPr id="7" name="principle-copy">
            <a:extLst xmlns:a="http://schemas.openxmlformats.org/drawingml/2006/main">
              <a:ext uri="{FF2B5EF4-FFF2-40B4-BE49-F238E27FC236}">
                <a16:creationId xmlns:a16="http://schemas.microsoft.com/office/drawing/2014/main" id="{5938E761-4D96-4346-9E33-2585AFA4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24150"/>
            <a:ext cx="2714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Show what changed, what remains, and how to continue.</a:t>
            </a:r>
          </a:p>
        </p:txBody>
      </p:sp>
      <p:sp>
        <p:nvSpPr>
          <p:cNvPr id="8" name="principle">
            <a:extLst xmlns:a="http://schemas.openxmlformats.org/drawingml/2006/main">
              <a:ext uri="{FF2B5EF4-FFF2-40B4-BE49-F238E27FC236}">
                <a16:creationId xmlns:a16="http://schemas.microsoft.com/office/drawing/2014/main" id="{DB4A406E-4FC7-4F58-BF11-045983E8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1925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FF7E6"/>
            </a:solidFill>
            <a:prstDash val="solid"/>
          </a:ln>
        </p:spPr>
      </p:sp>
      <p:sp>
        <p:nvSpPr>
          <p:cNvPr id="9" name="principle-title">
            <a:extLst xmlns:a="http://schemas.openxmlformats.org/drawingml/2006/main">
              <a:ext uri="{FF2B5EF4-FFF2-40B4-BE49-F238E27FC236}">
                <a16:creationId xmlns:a16="http://schemas.microsoft.com/office/drawing/2014/main" id="{BD7CC2BD-2FC1-481D-90BB-6E9AA96D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526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C95"/>
                </a:solidFill>
              </a:defRPr>
            </a:pPr>
            <a:r>
              <a:rPr sz="1725" b="1">
                <a:solidFill>
                  <a:srgbClr val="008C95"/>
                </a:solidFill>
              </a:rPr>
              <a:t>3. Recovery</a:t>
            </a:r>
          </a:p>
        </p:txBody>
      </p:sp>
      <p:sp>
        <p:nvSpPr>
          <p:cNvPr id="10" name="principle-copy">
            <a:extLst xmlns:a="http://schemas.openxmlformats.org/drawingml/2006/main">
              <a:ext uri="{FF2B5EF4-FFF2-40B4-BE49-F238E27FC236}">
                <a16:creationId xmlns:a16="http://schemas.microsoft.com/office/drawing/2014/main" id="{8AF3EE8D-996B-41DD-8E2E-AA656D4F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2714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Offer assistive and human support without losing context.</a:t>
            </a:r>
          </a:p>
        </p:txBody>
      </p:sp>
      <p:sp>
        <p:nvSpPr>
          <p:cNvPr id="11" name="recommendation">
            <a:extLst xmlns:a="http://schemas.openxmlformats.org/drawingml/2006/main">
              <a:ext uri="{FF2B5EF4-FFF2-40B4-BE49-F238E27FC236}">
                <a16:creationId xmlns:a16="http://schemas.microsoft.com/office/drawing/2014/main" id="{4564EA75-3D3A-449B-A70A-EDE8D1F5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Use this map to prioritize clarity and recovery in the next prototype review.</a:t>
            </a:r>
          </a:p>
        </p:txBody>
      </p:sp>
      <p:sp>
        <p:nvSpPr>
          <p:cNvPr id="12" name="anchor">
            <a:extLst xmlns:a="http://schemas.openxmlformats.org/drawingml/2006/main">
              <a:ext uri="{FF2B5EF4-FFF2-40B4-BE49-F238E27FC236}">
                <a16:creationId xmlns:a16="http://schemas.microsoft.com/office/drawing/2014/main" id="{4FAE6937-33F0-4537-AB05-D7CD6CA0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Beacon Field Research | Study Alpha | 2026-07-13 | session UX-184 | n=24</a:t>
            </a:r>
          </a:p>
        </p:txBody>
      </p:sp>
    </p:spTree>
    <p:extLst>
      <p:ext uri="{BB962C8B-B14F-4D97-AF65-F5344CB8AC3E}">
        <p14:creationId xmlns:p14="http://schemas.microsoft.com/office/powerpoint/2010/main" val="1321007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2026-08-23T15:21:20.5190000Z</dcterms:created>
  <dcterms:modified xsi:type="dcterms:W3CDTF">2026-08-23T15:21:20.5190000Z</dcterms:modified>
</coreProperties>
</file>