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ca9e6660fe490a" /><Relationship Type="http://schemas.openxmlformats.org/officeDocument/2006/relationships/extended-properties" Target="/docProps/app.xml" Id="Re41019d0908942d0" /><Relationship Type="http://schemas.openxmlformats.org/officeDocument/2006/relationships/officeDocument" Target="/ppt/presentation.xml" Id="Rbd5d54f006ea4b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b3ac0ccc3c4245"/>
  </p:sldMasterIdLst>
  <p:notesMasterIdLst>
    <p:notesMasterId xmlns:r="http://schemas.openxmlformats.org/officeDocument/2006/relationships" r:id="R0a112ae7f5be4fc8"/>
  </p:notesMasterIdLst>
  <p:sldIdLst>
    <p:sldId xmlns:r="http://schemas.openxmlformats.org/officeDocument/2006/relationships" id="256" r:id="Ra2592918e10a47b1"/>
    <p:sldId xmlns:r="http://schemas.openxmlformats.org/officeDocument/2006/relationships" id="257" r:id="R1d94659622804fa7"/>
    <p:sldId xmlns:r="http://schemas.openxmlformats.org/officeDocument/2006/relationships" id="258" r:id="R8d7bf50effe54f14"/>
    <p:sldId xmlns:r="http://schemas.openxmlformats.org/officeDocument/2006/relationships" id="259" r:id="R03c07aa87b9b41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32a68db3674b13" /><Relationship Type="http://schemas.openxmlformats.org/officeDocument/2006/relationships/slideMaster" Target="/ppt/slideMasters/slideMaster1.xml" Id="R24b3ac0ccc3c4245" /><Relationship Type="http://schemas.openxmlformats.org/officeDocument/2006/relationships/notesMaster" Target="/ppt/notesMasters/notesMaster1.xml" Id="R0a112ae7f5be4fc8" /><Relationship Type="http://schemas.openxmlformats.org/officeDocument/2006/relationships/presProps" Target="/ppt/presProps.xml" Id="Rf16ee50b913d4ff2" /><Relationship Type="http://schemas.openxmlformats.org/officeDocument/2006/relationships/tableStyles" Target="/ppt/tableStyles.xml" Id="R1e5fd1e35f3d452c" /><Relationship Type="http://schemas.openxmlformats.org/officeDocument/2006/relationships/slide" Target="/ppt/slides/slide1.xml" Id="Ra2592918e10a47b1" /><Relationship Type="http://schemas.openxmlformats.org/officeDocument/2006/relationships/slide" Target="/ppt/slides/slide2.xml" Id="R1d94659622804fa7" /><Relationship Type="http://schemas.openxmlformats.org/officeDocument/2006/relationships/slide" Target="/ppt/slides/slide3.xml" Id="R8d7bf50effe54f14" /><Relationship Type="http://schemas.openxmlformats.org/officeDocument/2006/relationships/slide" Target="/ppt/slides/slide4.xml" Id="R03c07aa87b9b41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b31a47d55c48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894208a2f7400e" /><Relationship Type="http://schemas.openxmlformats.org/officeDocument/2006/relationships/notesMaster" Target="/ppt/notesMasters/notesMaster1.xml" Id="Rc3820198523b42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571f8f116544b5" /><Relationship Type="http://schemas.openxmlformats.org/officeDocument/2006/relationships/notesMaster" Target="/ppt/notesMasters/notesMaster1.xml" Id="R7a44178d979a45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fc0489c7904eea" /><Relationship Type="http://schemas.openxmlformats.org/officeDocument/2006/relationships/notesMaster" Target="/ppt/notesMasters/notesMaster1.xml" Id="R4d69c4d886a749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2395b78bdc4c83" /><Relationship Type="http://schemas.openxmlformats.org/officeDocument/2006/relationships/notesMaster" Target="/ppt/notesMasters/notesMaster1.xml" Id="Rf3431b36813b4a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f563efd1ac4f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0de00d51dc4858" /><Relationship Type="http://schemas.openxmlformats.org/officeDocument/2006/relationships/slideLayout" Target="/ppt/slideLayouts/slideLayout1.xml" Id="Re37da97750fa43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7da97750fa43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58f77c5874421" /><Relationship Type="http://schemas.openxmlformats.org/officeDocument/2006/relationships/notesSlide" Target="/ppt/notesSlides/notesSlide1.xml" Id="R6b27ca6ce3cf47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2a76e886142bb" /><Relationship Type="http://schemas.openxmlformats.org/officeDocument/2006/relationships/notesSlide" Target="/ppt/notesSlides/notesSlide2.xml" Id="R9aec51be69bc4c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e31144738467e" /><Relationship Type="http://schemas.openxmlformats.org/officeDocument/2006/relationships/notesSlide" Target="/ppt/notesSlides/notesSlide3.xml" Id="R71edcaa05a5941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87e79c607466b" /><Relationship Type="http://schemas.openxmlformats.org/officeDocument/2006/relationships/notesSlide" Target="/ppt/notesSlides/notesSlide4.xml" Id="R68f8e4a448964c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">
            <a:extLst xmlns:a="http://schemas.openxmlformats.org/drawingml/2006/main">
              <a:ext uri="{FF2B5EF4-FFF2-40B4-BE49-F238E27FC236}">
                <a16:creationId xmlns:a16="http://schemas.microsoft.com/office/drawing/2014/main" id="{2B7D8CA0-7E4E-42BF-ACA2-6A5427BD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6750"/>
            <a:ext cx="95250" cy="535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9525">
            <a:solidFill>
              <a:srgbClr val="008C95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893835A3-5086-440C-9BA0-F92B59BB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8C95"/>
                </a:solidFill>
              </a:defRPr>
            </a:pPr>
            <a:r>
              <a:rPr sz="1125" b="1">
                <a:solidFill>
                  <a:srgbClr val="008C95"/>
                </a:solidFill>
              </a:rPr>
              <a:t>SYNTHETIC JOURNEY MAP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473C59-3299-4DBF-9BF5-0860C437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81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3047"/>
                </a:solidFill>
              </a:defRPr>
            </a:pPr>
            <a:r>
              <a:rPr sz="3450" b="1">
                <a:solidFill>
                  <a:srgbClr val="123047"/>
                </a:solidFill>
              </a:rPr>
              <a:t>First-time user journey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E048F4C9-EB8D-4E9F-9DD5-8DD15624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A first-pass path centered on learnability and explicit feedback.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71A7409F-B31D-4464-8B9B-1458AA0B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00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EAF1F5"/>
            </a:solidFill>
            <a:prstDash val="solid"/>
          </a:ln>
        </p:spPr>
      </p:sp>
      <p:sp>
        <p:nvSpPr>
          <p:cNvPr id="6" name="decision-copy">
            <a:extLst xmlns:a="http://schemas.openxmlformats.org/drawingml/2006/main">
              <a:ext uri="{FF2B5EF4-FFF2-40B4-BE49-F238E27FC236}">
                <a16:creationId xmlns:a16="http://schemas.microsoft.com/office/drawing/2014/main" id="{6EBEF4CC-6EF3-4A59-885E-46251FE2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First use needs orientation and confirmation before it needs acceleration.</a:t>
            </a:r>
          </a:p>
        </p:txBody>
      </p:sp>
      <p:sp>
        <p:nvSpPr>
          <p:cNvPr id="7" name="anchor">
            <a:extLst xmlns:a="http://schemas.openxmlformats.org/drawingml/2006/main">
              <a:ext uri="{FF2B5EF4-FFF2-40B4-BE49-F238E27FC236}">
                <a16:creationId xmlns:a16="http://schemas.microsoft.com/office/drawing/2014/main" id="{8D89FB1E-6B38-4816-99DD-30A7A984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Beacon Field Research | Study Alpha | 2026-07-13 | session UX-184 | n=24</a:t>
            </a:r>
          </a:p>
        </p:txBody>
      </p:sp>
      <p:sp>
        <p:nvSpPr>
          <p:cNvPr id="8" name="synthetic-note">
            <a:extLst xmlns:a="http://schemas.openxmlformats.org/drawingml/2006/main">
              <a:ext uri="{FF2B5EF4-FFF2-40B4-BE49-F238E27FC236}">
                <a16:creationId xmlns:a16="http://schemas.microsoft.com/office/drawing/2014/main" id="{95439CDD-43A2-4468-AD63-0F8EDB8A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Synthetic composites only - participant codes S01-S24</a:t>
            </a:r>
          </a:p>
        </p:txBody>
      </p:sp>
    </p:spTree>
    <p:extLst>
      <p:ext uri="{BB962C8B-B14F-4D97-AF65-F5344CB8AC3E}">
        <p14:creationId xmlns:p14="http://schemas.microsoft.com/office/powerpoint/2010/main" val="9624114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itle">
            <a:extLst xmlns:a="http://schemas.openxmlformats.org/drawingml/2006/main">
              <a:ext uri="{FF2B5EF4-FFF2-40B4-BE49-F238E27FC236}">
                <a16:creationId xmlns:a16="http://schemas.microsoft.com/office/drawing/2014/main" id="{51CDDF80-4BC7-44B2-B2D2-6E532361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7"/>
                </a:solidFill>
              </a:defRPr>
            </a:pPr>
            <a:r>
              <a:rPr sz="2550" b="1">
                <a:solidFill>
                  <a:srgbClr val="123047"/>
                </a:solidFill>
              </a:rPr>
              <a:t>The journey is a sequence of confidence decisions</a:t>
            </a:r>
          </a:p>
        </p:txBody>
      </p:sp>
      <p:sp>
        <p:nvSpPr>
          <p:cNvPr id="2" name="inference-note">
            <a:extLst xmlns:a="http://schemas.openxmlformats.org/drawingml/2006/main">
              <a:ext uri="{FF2B5EF4-FFF2-40B4-BE49-F238E27FC236}">
                <a16:creationId xmlns:a16="http://schemas.microsoft.com/office/drawing/2014/main" id="{A1A1E0BA-0766-4219-B8A7-B660F20B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Emotions below are inferred from observed behaviors and debrief themes; they are not direct quotations.</a:t>
            </a:r>
          </a:p>
        </p:txBody>
      </p:sp>
      <p:sp>
        <p:nvSpPr>
          <p:cNvPr id="3" name="stage-1">
            <a:extLst xmlns:a="http://schemas.openxmlformats.org/drawingml/2006/main">
              <a:ext uri="{FF2B5EF4-FFF2-40B4-BE49-F238E27FC236}">
                <a16:creationId xmlns:a16="http://schemas.microsoft.com/office/drawing/2014/main" id="{A535A278-88AF-4B87-9B81-27062F3C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21526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4" name="stage-label">
            <a:extLst xmlns:a="http://schemas.openxmlformats.org/drawingml/2006/main">
              <a:ext uri="{FF2B5EF4-FFF2-40B4-BE49-F238E27FC236}">
                <a16:creationId xmlns:a16="http://schemas.microsoft.com/office/drawing/2014/main" id="{8026B31A-20E2-4B11-B949-7A748793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C95"/>
                </a:solidFill>
              </a:defRPr>
            </a:pPr>
            <a:r>
              <a:rPr sz="975" b="1">
                <a:solidFill>
                  <a:srgbClr val="008C95"/>
                </a:solidFill>
              </a:rPr>
              <a:t>01  DISCOVER</a:t>
            </a:r>
          </a:p>
        </p:txBody>
      </p:sp>
      <p:sp>
        <p:nvSpPr>
          <p:cNvPr id="5" name="goal">
            <a:extLst xmlns:a="http://schemas.openxmlformats.org/drawingml/2006/main">
              <a:ext uri="{FF2B5EF4-FFF2-40B4-BE49-F238E27FC236}">
                <a16:creationId xmlns:a16="http://schemas.microsoft.com/office/drawing/2014/main" id="{AF04F554-4197-418C-973A-37B16ECF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Recognize the purpose</a:t>
            </a:r>
          </a:p>
        </p:txBody>
      </p:sp>
      <p:sp>
        <p:nvSpPr>
          <p:cNvPr id="6" name="action">
            <a:extLst xmlns:a="http://schemas.openxmlformats.org/drawingml/2006/main">
              <a:ext uri="{FF2B5EF4-FFF2-40B4-BE49-F238E27FC236}">
                <a16:creationId xmlns:a16="http://schemas.microsoft.com/office/drawing/2014/main" id="{D5F4EC9A-9308-4659-89F7-084DCFFA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Action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Interpret unfamiliar labels and entry points</a:t>
            </a:r>
          </a:p>
        </p:txBody>
      </p:sp>
      <p:sp>
        <p:nvSpPr>
          <p:cNvPr id="7" name="emotion">
            <a:extLst xmlns:a="http://schemas.openxmlformats.org/drawingml/2006/main">
              <a:ext uri="{FF2B5EF4-FFF2-40B4-BE49-F238E27FC236}">
                <a16:creationId xmlns:a16="http://schemas.microsoft.com/office/drawing/2014/main" id="{7E4F1F3B-7EFA-490E-A381-53C145A4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Inferred emotion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Curious, then cautious</a:t>
            </a:r>
          </a:p>
        </p:txBody>
      </p:sp>
      <p:sp>
        <p:nvSpPr>
          <p:cNvPr id="8" name="evidence">
            <a:extLst xmlns:a="http://schemas.openxmlformats.org/drawingml/2006/main">
              <a:ext uri="{FF2B5EF4-FFF2-40B4-BE49-F238E27FC236}">
                <a16:creationId xmlns:a16="http://schemas.microsoft.com/office/drawing/2014/main" id="{5B3ABC68-7D92-436D-9C59-D7A1C919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E01  first-read orientation</a:t>
            </a:r>
          </a:p>
        </p:txBody>
      </p:sp>
      <p:sp>
        <p:nvSpPr>
          <p:cNvPr id="9" name="stage-2">
            <a:extLst xmlns:a="http://schemas.openxmlformats.org/drawingml/2006/main">
              <a:ext uri="{FF2B5EF4-FFF2-40B4-BE49-F238E27FC236}">
                <a16:creationId xmlns:a16="http://schemas.microsoft.com/office/drawing/2014/main" id="{D0DA7AF6-7C93-4D2E-B282-378565B1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19250"/>
            <a:ext cx="21526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0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111237C-E523-4151-BE48-05F4AA9E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81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C95"/>
                </a:solidFill>
              </a:defRPr>
            </a:pPr>
            <a:r>
              <a:rPr sz="975" b="1">
                <a:solidFill>
                  <a:srgbClr val="008C95"/>
                </a:solidFill>
              </a:rPr>
              <a:t>02  ORIENT</a:t>
            </a:r>
          </a:p>
        </p:txBody>
      </p:sp>
      <p:sp>
        <p:nvSpPr>
          <p:cNvPr id="11" name="goal">
            <a:extLst xmlns:a="http://schemas.openxmlformats.org/drawingml/2006/main">
              <a:ext uri="{FF2B5EF4-FFF2-40B4-BE49-F238E27FC236}">
                <a16:creationId xmlns:a16="http://schemas.microsoft.com/office/drawing/2014/main" id="{241F4309-9A60-4459-8645-3BBDFBF5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145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Set expectations</a:t>
            </a:r>
          </a:p>
        </p:txBody>
      </p:sp>
      <p:sp>
        <p:nvSpPr>
          <p:cNvPr id="12" name="action">
            <a:extLst xmlns:a="http://schemas.openxmlformats.org/drawingml/2006/main">
              <a:ext uri="{FF2B5EF4-FFF2-40B4-BE49-F238E27FC236}">
                <a16:creationId xmlns:a16="http://schemas.microsoft.com/office/drawing/2014/main" id="{8CBD528C-4A2F-4A7E-B63D-7758B878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5750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Action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Compare task language with a personal goal</a:t>
            </a:r>
          </a:p>
        </p:txBody>
      </p:sp>
      <p:sp>
        <p:nvSpPr>
          <p:cNvPr id="13" name="emotion">
            <a:extLst xmlns:a="http://schemas.openxmlformats.org/drawingml/2006/main">
              <a:ext uri="{FF2B5EF4-FFF2-40B4-BE49-F238E27FC236}">
                <a16:creationId xmlns:a16="http://schemas.microsoft.com/office/drawing/2014/main" id="{13297294-E093-43E1-BF78-B184C4DA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290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Inferred emotion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Searching for fit</a:t>
            </a:r>
          </a:p>
        </p:txBody>
      </p:sp>
      <p:sp>
        <p:nvSpPr>
          <p:cNvPr id="14" name="evidence">
            <a:extLst xmlns:a="http://schemas.openxmlformats.org/drawingml/2006/main">
              <a:ext uri="{FF2B5EF4-FFF2-40B4-BE49-F238E27FC236}">
                <a16:creationId xmlns:a16="http://schemas.microsoft.com/office/drawing/2014/main" id="{D44F6DD1-DE56-4CB8-A482-C7788C18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238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E02  expectation matching</a:t>
            </a:r>
          </a:p>
        </p:txBody>
      </p:sp>
      <p:sp>
        <p:nvSpPr>
          <p:cNvPr id="15" name="stage-3">
            <a:extLst xmlns:a="http://schemas.openxmlformats.org/drawingml/2006/main">
              <a:ext uri="{FF2B5EF4-FFF2-40B4-BE49-F238E27FC236}">
                <a16:creationId xmlns:a16="http://schemas.microsoft.com/office/drawing/2014/main" id="{66C5D925-F5A1-4DA2-9D97-C92B077E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19250"/>
            <a:ext cx="21526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6" name="stage-label">
            <a:extLst xmlns:a="http://schemas.openxmlformats.org/drawingml/2006/main">
              <a:ext uri="{FF2B5EF4-FFF2-40B4-BE49-F238E27FC236}">
                <a16:creationId xmlns:a16="http://schemas.microsoft.com/office/drawing/2014/main" id="{46D069EE-7628-49DF-8F8B-001B7A3B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81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C95"/>
                </a:solidFill>
              </a:defRPr>
            </a:pPr>
            <a:r>
              <a:rPr sz="975" b="1">
                <a:solidFill>
                  <a:srgbClr val="008C95"/>
                </a:solidFill>
              </a:rPr>
              <a:t>03  ACT</a:t>
            </a:r>
          </a:p>
        </p:txBody>
      </p:sp>
      <p:sp>
        <p:nvSpPr>
          <p:cNvPr id="17" name="goal">
            <a:extLst xmlns:a="http://schemas.openxmlformats.org/drawingml/2006/main">
              <a:ext uri="{FF2B5EF4-FFF2-40B4-BE49-F238E27FC236}">
                <a16:creationId xmlns:a16="http://schemas.microsoft.com/office/drawing/2014/main" id="{C626923F-F229-43CB-9C4E-982FF340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145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Attempt the task</a:t>
            </a:r>
          </a:p>
        </p:txBody>
      </p:sp>
      <p:sp>
        <p:nvSpPr>
          <p:cNvPr id="18" name="action">
            <a:extLst xmlns:a="http://schemas.openxmlformats.org/drawingml/2006/main">
              <a:ext uri="{FF2B5EF4-FFF2-40B4-BE49-F238E27FC236}">
                <a16:creationId xmlns:a16="http://schemas.microsoft.com/office/drawing/2014/main" id="{BDC2409B-AB03-48F1-AE67-0290C196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750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Action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Proceed slowly and re-read instructions</a:t>
            </a:r>
          </a:p>
        </p:txBody>
      </p:sp>
      <p:sp>
        <p:nvSpPr>
          <p:cNvPr id="19" name="emotion">
            <a:extLst xmlns:a="http://schemas.openxmlformats.org/drawingml/2006/main">
              <a:ext uri="{FF2B5EF4-FFF2-40B4-BE49-F238E27FC236}">
                <a16:creationId xmlns:a16="http://schemas.microsoft.com/office/drawing/2014/main" id="{586F36FF-FD83-45F9-BC0E-F420A03D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290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Inferred emotion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Concentrated effort</a:t>
            </a:r>
          </a:p>
        </p:txBody>
      </p:sp>
      <p:sp>
        <p:nvSpPr>
          <p:cNvPr id="20" name="evidence">
            <a:extLst xmlns:a="http://schemas.openxmlformats.org/drawingml/2006/main">
              <a:ext uri="{FF2B5EF4-FFF2-40B4-BE49-F238E27FC236}">
                <a16:creationId xmlns:a16="http://schemas.microsoft.com/office/drawing/2014/main" id="{769B3BE0-252F-41B2-9550-6A814C92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38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E03  first-pass navigation</a:t>
            </a:r>
          </a:p>
        </p:txBody>
      </p:sp>
      <p:sp>
        <p:nvSpPr>
          <p:cNvPr id="21" name="stage-4">
            <a:extLst xmlns:a="http://schemas.openxmlformats.org/drawingml/2006/main">
              <a:ext uri="{FF2B5EF4-FFF2-40B4-BE49-F238E27FC236}">
                <a16:creationId xmlns:a16="http://schemas.microsoft.com/office/drawing/2014/main" id="{A67AF0C2-A2B4-47BB-B41F-42BAE853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21526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2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D645C60B-F187-419A-8E34-7A960FFB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81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C95"/>
                </a:solidFill>
              </a:defRPr>
            </a:pPr>
            <a:r>
              <a:rPr sz="975" b="1">
                <a:solidFill>
                  <a:srgbClr val="008C95"/>
                </a:solidFill>
              </a:rPr>
              <a:t>04  CONFIRM</a:t>
            </a:r>
          </a:p>
        </p:txBody>
      </p:sp>
      <p:sp>
        <p:nvSpPr>
          <p:cNvPr id="23" name="goal">
            <a:extLst xmlns:a="http://schemas.openxmlformats.org/drawingml/2006/main">
              <a:ext uri="{FF2B5EF4-FFF2-40B4-BE49-F238E27FC236}">
                <a16:creationId xmlns:a16="http://schemas.microsoft.com/office/drawing/2014/main" id="{B9AC5BE6-D2AC-47C2-96B6-DE034D44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145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Verify outcome</a:t>
            </a:r>
          </a:p>
        </p:txBody>
      </p:sp>
      <p:sp>
        <p:nvSpPr>
          <p:cNvPr id="24" name="action">
            <a:extLst xmlns:a="http://schemas.openxmlformats.org/drawingml/2006/main">
              <a:ext uri="{FF2B5EF4-FFF2-40B4-BE49-F238E27FC236}">
                <a16:creationId xmlns:a16="http://schemas.microsoft.com/office/drawing/2014/main" id="{74166E91-C3EA-4BF8-BC32-39A9AE21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5750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Action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Seek an explicit signal that work was saved or sent</a:t>
            </a:r>
          </a:p>
        </p:txBody>
      </p:sp>
      <p:sp>
        <p:nvSpPr>
          <p:cNvPr id="25" name="emotion">
            <a:extLst xmlns:a="http://schemas.openxmlformats.org/drawingml/2006/main">
              <a:ext uri="{FF2B5EF4-FFF2-40B4-BE49-F238E27FC236}">
                <a16:creationId xmlns:a16="http://schemas.microsoft.com/office/drawing/2014/main" id="{A7C65FB3-CA24-4E07-BA0D-891BB63B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290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Inferred emotion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Relief if clear; doubt if absent</a:t>
            </a:r>
          </a:p>
        </p:txBody>
      </p:sp>
      <p:sp>
        <p:nvSpPr>
          <p:cNvPr id="26" name="evidence">
            <a:extLst xmlns:a="http://schemas.openxmlformats.org/drawingml/2006/main">
              <a:ext uri="{FF2B5EF4-FFF2-40B4-BE49-F238E27FC236}">
                <a16:creationId xmlns:a16="http://schemas.microsoft.com/office/drawing/2014/main" id="{401B0CBF-1721-42BD-8D43-0B3A3C6F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38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E04  first completion check</a:t>
            </a:r>
          </a:p>
        </p:txBody>
      </p:sp>
      <p:sp>
        <p:nvSpPr>
          <p:cNvPr id="27" name="stage-5">
            <a:extLst xmlns:a="http://schemas.openxmlformats.org/drawingml/2006/main">
              <a:ext uri="{FF2B5EF4-FFF2-40B4-BE49-F238E27FC236}">
                <a16:creationId xmlns:a16="http://schemas.microsoft.com/office/drawing/2014/main" id="{7439D17C-DFDF-4255-9B11-87CA66BF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619250"/>
            <a:ext cx="21526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28" name="stage-label">
            <a:extLst xmlns:a="http://schemas.openxmlformats.org/drawingml/2006/main">
              <a:ext uri="{FF2B5EF4-FFF2-40B4-BE49-F238E27FC236}">
                <a16:creationId xmlns:a16="http://schemas.microsoft.com/office/drawing/2014/main" id="{A5A5058C-D7DB-466D-8F0C-50E7072C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81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C95"/>
                </a:solidFill>
              </a:defRPr>
            </a:pPr>
            <a:r>
              <a:rPr sz="975" b="1">
                <a:solidFill>
                  <a:srgbClr val="008C95"/>
                </a:solidFill>
              </a:rPr>
              <a:t>05  COMPLETE</a:t>
            </a:r>
          </a:p>
        </p:txBody>
      </p:sp>
      <p:sp>
        <p:nvSpPr>
          <p:cNvPr id="29" name="goal">
            <a:extLst xmlns:a="http://schemas.openxmlformats.org/drawingml/2006/main">
              <a:ext uri="{FF2B5EF4-FFF2-40B4-BE49-F238E27FC236}">
                <a16:creationId xmlns:a16="http://schemas.microsoft.com/office/drawing/2014/main" id="{3B464D5C-F9D8-4F56-9DFC-CE99FAB1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145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Choose next move</a:t>
            </a:r>
          </a:p>
        </p:txBody>
      </p:sp>
      <p:sp>
        <p:nvSpPr>
          <p:cNvPr id="30" name="action">
            <a:extLst xmlns:a="http://schemas.openxmlformats.org/drawingml/2006/main">
              <a:ext uri="{FF2B5EF4-FFF2-40B4-BE49-F238E27FC236}">
                <a16:creationId xmlns:a16="http://schemas.microsoft.com/office/drawing/2014/main" id="{250F6DEA-39A4-4405-AD7C-D411D5B1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5750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Action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Continue independently or look for help</a:t>
            </a:r>
          </a:p>
        </p:txBody>
      </p:sp>
      <p:sp>
        <p:nvSpPr>
          <p:cNvPr id="31" name="emotion">
            <a:extLst xmlns:a="http://schemas.openxmlformats.org/drawingml/2006/main">
              <a:ext uri="{FF2B5EF4-FFF2-40B4-BE49-F238E27FC236}">
                <a16:creationId xmlns:a16="http://schemas.microsoft.com/office/drawing/2014/main" id="{0B44E3C0-13FF-40D7-A557-65E8C1C7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290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Inferred emotion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Growing confidence</a:t>
            </a:r>
          </a:p>
        </p:txBody>
      </p:sp>
      <p:sp>
        <p:nvSpPr>
          <p:cNvPr id="32" name="evidence">
            <a:extLst xmlns:a="http://schemas.openxmlformats.org/drawingml/2006/main">
              <a:ext uri="{FF2B5EF4-FFF2-40B4-BE49-F238E27FC236}">
                <a16:creationId xmlns:a16="http://schemas.microsoft.com/office/drawing/2014/main" id="{9141B314-E9FE-43E3-A85D-5CA0F893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238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E05  return intent</a:t>
            </a:r>
          </a:p>
        </p:txBody>
      </p:sp>
      <p:sp>
        <p:nvSpPr>
          <p:cNvPr id="33" name="anchor">
            <a:extLst xmlns:a="http://schemas.openxmlformats.org/drawingml/2006/main">
              <a:ext uri="{FF2B5EF4-FFF2-40B4-BE49-F238E27FC236}">
                <a16:creationId xmlns:a16="http://schemas.microsoft.com/office/drawing/2014/main" id="{1FDEFF16-D38A-4196-B019-0B2107A7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Beacon Field Research | Study Alpha | 2026-07-13 | session UX-184 | n=24</a:t>
            </a:r>
          </a:p>
        </p:txBody>
      </p:sp>
    </p:spTree>
    <p:extLst>
      <p:ext uri="{BB962C8B-B14F-4D97-AF65-F5344CB8AC3E}">
        <p14:creationId xmlns:p14="http://schemas.microsoft.com/office/powerpoint/2010/main" val="6457955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">
            <a:extLst xmlns:a="http://schemas.openxmlformats.org/drawingml/2006/main">
              <a:ext uri="{FF2B5EF4-FFF2-40B4-BE49-F238E27FC236}">
                <a16:creationId xmlns:a16="http://schemas.microsoft.com/office/drawing/2014/main" id="{F19CFC81-1C56-4DAB-B693-8CED7CF8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7"/>
                </a:solidFill>
              </a:defRPr>
            </a:pPr>
            <a:r>
              <a:rPr sz="2550" b="1">
                <a:solidFill>
                  <a:srgbClr val="123047"/>
                </a:solidFill>
              </a:rPr>
              <a:t>Friction clusters where progress is hard to verify</a:t>
            </a:r>
          </a:p>
        </p:txBody>
      </p:sp>
      <p:sp>
        <p:nvSpPr>
          <p:cNvPr id="2" name="column-head">
            <a:extLst xmlns:a="http://schemas.openxmlformats.org/drawingml/2006/main">
              <a:ext uri="{FF2B5EF4-FFF2-40B4-BE49-F238E27FC236}">
                <a16:creationId xmlns:a16="http://schemas.microsoft.com/office/drawing/2014/main" id="{DA9EAD1F-7BEE-429F-A72F-F0D9F893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C95"/>
                </a:solidFill>
              </a:defRPr>
            </a:pPr>
            <a:r>
              <a:rPr sz="1200" b="1">
                <a:solidFill>
                  <a:srgbClr val="008C95"/>
                </a:solidFill>
              </a:rPr>
              <a:t>Observed pattern</a:t>
            </a:r>
          </a:p>
        </p:txBody>
      </p:sp>
      <p:sp>
        <p:nvSpPr>
          <p:cNvPr id="3" name="column-head">
            <a:extLst xmlns:a="http://schemas.openxmlformats.org/drawingml/2006/main">
              <a:ext uri="{FF2B5EF4-FFF2-40B4-BE49-F238E27FC236}">
                <a16:creationId xmlns:a16="http://schemas.microsoft.com/office/drawing/2014/main" id="{2F140DAD-C6DC-416E-BE40-2274FA4E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C95"/>
                </a:solidFill>
              </a:defRPr>
            </a:pPr>
            <a:r>
              <a:rPr sz="1200" b="1">
                <a:solidFill>
                  <a:srgbClr val="008C95"/>
                </a:solidFill>
              </a:rPr>
              <a:t>Accessibility touchpoint</a:t>
            </a:r>
          </a:p>
        </p:txBody>
      </p:sp>
      <p:sp>
        <p:nvSpPr>
          <p:cNvPr id="4" name="column-head">
            <a:extLst xmlns:a="http://schemas.openxmlformats.org/drawingml/2006/main">
              <a:ext uri="{FF2B5EF4-FFF2-40B4-BE49-F238E27FC236}">
                <a16:creationId xmlns:a16="http://schemas.microsoft.com/office/drawing/2014/main" id="{3A448026-C416-40BC-A653-5E48C564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200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C95"/>
                </a:solidFill>
              </a:defRPr>
            </a:pPr>
            <a:r>
              <a:rPr sz="1200" b="1">
                <a:solidFill>
                  <a:srgbClr val="008C95"/>
                </a:solidFill>
              </a:rPr>
              <a:t>Decision-useful opportunity</a:t>
            </a:r>
          </a:p>
        </p:txBody>
      </p:sp>
      <p:sp>
        <p:nvSpPr>
          <p:cNvPr id="5" name="observed">
            <a:extLst xmlns:a="http://schemas.openxmlformats.org/drawingml/2006/main">
              <a:ext uri="{FF2B5EF4-FFF2-40B4-BE49-F238E27FC236}">
                <a16:creationId xmlns:a16="http://schemas.microsoft.com/office/drawing/2014/main" id="{A1D01B4C-E49C-4163-95FC-BF417C1D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6" name="access">
            <a:extLst xmlns:a="http://schemas.openxmlformats.org/drawingml/2006/main">
              <a:ext uri="{FF2B5EF4-FFF2-40B4-BE49-F238E27FC236}">
                <a16:creationId xmlns:a16="http://schemas.microsoft.com/office/drawing/2014/main" id="{DD4CD6A2-7C5F-4AA2-BDF3-40CF6D22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7640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EAF1F5"/>
            </a:solidFill>
            <a:prstDash val="solid"/>
          </a:ln>
        </p:spPr>
      </p:sp>
      <p:sp>
        <p:nvSpPr>
          <p:cNvPr id="7" name="opportunity">
            <a:extLst xmlns:a="http://schemas.openxmlformats.org/drawingml/2006/main">
              <a:ext uri="{FF2B5EF4-FFF2-40B4-BE49-F238E27FC236}">
                <a16:creationId xmlns:a16="http://schemas.microsoft.com/office/drawing/2014/main" id="{8D2FA971-4CD1-4B8C-A814-2D160553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7640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FF7E6"/>
            </a:solidFill>
            <a:prstDash val="solid"/>
          </a:ln>
        </p:spPr>
      </p:sp>
      <p:sp>
        <p:nvSpPr>
          <p:cNvPr id="8" name="observed-copy">
            <a:extLst xmlns:a="http://schemas.openxmlformats.org/drawingml/2006/main">
              <a:ext uri="{FF2B5EF4-FFF2-40B4-BE49-F238E27FC236}">
                <a16:creationId xmlns:a16="http://schemas.microsoft.com/office/drawing/2014/main" id="{F849B700-AD68-42A6-966D-4FC8E00F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3832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Labels signal a next step, but not the expected outcome.</a:t>
            </a:r>
          </a:p>
        </p:txBody>
      </p:sp>
      <p:sp>
        <p:nvSpPr>
          <p:cNvPr id="9" name="access-copy">
            <a:extLst xmlns:a="http://schemas.openxmlformats.org/drawingml/2006/main">
              <a:ext uri="{FF2B5EF4-FFF2-40B4-BE49-F238E27FC236}">
                <a16:creationId xmlns:a16="http://schemas.microsoft.com/office/drawing/2014/main" id="{CC114606-B675-4B31-89D1-8CC56899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3832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Plain-language task labels; visible current-state indicator.</a:t>
            </a:r>
          </a:p>
        </p:txBody>
      </p:sp>
      <p:sp>
        <p:nvSpPr>
          <p:cNvPr id="10" name="opp-copy">
            <a:extLst xmlns:a="http://schemas.openxmlformats.org/drawingml/2006/main">
              <a:ext uri="{FF2B5EF4-FFF2-40B4-BE49-F238E27FC236}">
                <a16:creationId xmlns:a16="http://schemas.microsoft.com/office/drawing/2014/main" id="{FCB8BB0C-4534-4B74-A64C-1F27A955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3832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Pair action labels with a brief result preview.</a:t>
            </a:r>
          </a:p>
        </p:txBody>
      </p:sp>
      <p:sp>
        <p:nvSpPr>
          <p:cNvPr id="11" name="observed">
            <a:extLst xmlns:a="http://schemas.openxmlformats.org/drawingml/2006/main">
              <a:ext uri="{FF2B5EF4-FFF2-40B4-BE49-F238E27FC236}">
                <a16:creationId xmlns:a16="http://schemas.microsoft.com/office/drawing/2014/main" id="{50C59C05-A985-43A0-A8C0-37902730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2" name="access">
            <a:extLst xmlns:a="http://schemas.openxmlformats.org/drawingml/2006/main">
              <a:ext uri="{FF2B5EF4-FFF2-40B4-BE49-F238E27FC236}">
                <a16:creationId xmlns:a16="http://schemas.microsoft.com/office/drawing/2014/main" id="{B6A12247-B13A-4D90-BCFA-B55C908E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7655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EAF1F5"/>
            </a:solidFill>
            <a:prstDash val="solid"/>
          </a:ln>
        </p:spPr>
      </p:sp>
      <p:sp>
        <p:nvSpPr>
          <p:cNvPr id="13" name="opportunity">
            <a:extLst xmlns:a="http://schemas.openxmlformats.org/drawingml/2006/main">
              <a:ext uri="{FF2B5EF4-FFF2-40B4-BE49-F238E27FC236}">
                <a16:creationId xmlns:a16="http://schemas.microsoft.com/office/drawing/2014/main" id="{7C21657B-E0BF-4A48-BCF1-934FECB9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7655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FF7E6"/>
            </a:solidFill>
            <a:prstDash val="solid"/>
          </a:ln>
        </p:spPr>
      </p:sp>
      <p:sp>
        <p:nvSpPr>
          <p:cNvPr id="14" name="observed-copy">
            <a:extLst xmlns:a="http://schemas.openxmlformats.org/drawingml/2006/main">
              <a:ext uri="{FF2B5EF4-FFF2-40B4-BE49-F238E27FC236}">
                <a16:creationId xmlns:a16="http://schemas.microsoft.com/office/drawing/2014/main" id="{F983A0A7-300F-4021-868B-D9A7B9CC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Confirmation arrives after attention has shifted.</a:t>
            </a:r>
          </a:p>
        </p:txBody>
      </p:sp>
      <p:sp>
        <p:nvSpPr>
          <p:cNvPr id="15" name="access-copy">
            <a:extLst xmlns:a="http://schemas.openxmlformats.org/drawingml/2006/main">
              <a:ext uri="{FF2B5EF4-FFF2-40B4-BE49-F238E27FC236}">
                <a16:creationId xmlns:a16="http://schemas.microsoft.com/office/drawing/2014/main" id="{A560F38F-7CF2-42FD-8397-7942D451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3847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425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Persistent status text; keyboard-reachable confirmation region.</a:t>
            </a:r>
          </a:p>
        </p:txBody>
      </p:sp>
      <p:sp>
        <p:nvSpPr>
          <p:cNvPr id="16" name="opp-copy">
            <a:extLst xmlns:a="http://schemas.openxmlformats.org/drawingml/2006/main">
              <a:ext uri="{FF2B5EF4-FFF2-40B4-BE49-F238E27FC236}">
                <a16:creationId xmlns:a16="http://schemas.microsoft.com/office/drawing/2014/main" id="{6E3A30EC-F994-41C3-979D-AD4E2F27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3847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Move confirmation into the action path and preserve it.</a:t>
            </a:r>
          </a:p>
        </p:txBody>
      </p:sp>
      <p:sp>
        <p:nvSpPr>
          <p:cNvPr id="17" name="observed">
            <a:extLst xmlns:a="http://schemas.openxmlformats.org/drawingml/2006/main">
              <a:ext uri="{FF2B5EF4-FFF2-40B4-BE49-F238E27FC236}">
                <a16:creationId xmlns:a16="http://schemas.microsoft.com/office/drawing/2014/main" id="{DC36F511-90AA-4E1E-B7AA-D5192B4F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8" name="access">
            <a:extLst xmlns:a="http://schemas.openxmlformats.org/drawingml/2006/main">
              <a:ext uri="{FF2B5EF4-FFF2-40B4-BE49-F238E27FC236}">
                <a16:creationId xmlns:a16="http://schemas.microsoft.com/office/drawing/2014/main" id="{BDF97074-2A04-4136-AC91-2FD0268E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7670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EAF1F5"/>
            </a:solidFill>
            <a:prstDash val="solid"/>
          </a:ln>
        </p:spPr>
      </p:sp>
      <p:sp>
        <p:nvSpPr>
          <p:cNvPr id="19" name="opportunity">
            <a:extLst xmlns:a="http://schemas.openxmlformats.org/drawingml/2006/main">
              <a:ext uri="{FF2B5EF4-FFF2-40B4-BE49-F238E27FC236}">
                <a16:creationId xmlns:a16="http://schemas.microsoft.com/office/drawing/2014/main" id="{FDE6B8D8-BFA0-48DE-ADB9-18D9F551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7670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FF7E6"/>
            </a:solidFill>
            <a:prstDash val="solid"/>
          </a:ln>
        </p:spPr>
      </p:sp>
      <p:sp>
        <p:nvSpPr>
          <p:cNvPr id="20" name="observed-copy">
            <a:extLst xmlns:a="http://schemas.openxmlformats.org/drawingml/2006/main">
              <a:ext uri="{FF2B5EF4-FFF2-40B4-BE49-F238E27FC236}">
                <a16:creationId xmlns:a16="http://schemas.microsoft.com/office/drawing/2014/main" id="{2C8EA898-F34B-41BA-A77B-3D065D9D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Help is sought after a self-serve attempt stalls.</a:t>
            </a:r>
          </a:p>
        </p:txBody>
      </p:sp>
      <p:sp>
        <p:nvSpPr>
          <p:cNvPr id="21" name="access-copy">
            <a:extLst xmlns:a="http://schemas.openxmlformats.org/drawingml/2006/main">
              <a:ext uri="{FF2B5EF4-FFF2-40B4-BE49-F238E27FC236}">
                <a16:creationId xmlns:a16="http://schemas.microsoft.com/office/drawing/2014/main" id="{9DE7C378-77AC-4387-A8FD-9EA3D5BE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3862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Named support route; compatible focus order.</a:t>
            </a:r>
          </a:p>
        </p:txBody>
      </p:sp>
      <p:sp>
        <p:nvSpPr>
          <p:cNvPr id="22" name="opp-copy">
            <a:extLst xmlns:a="http://schemas.openxmlformats.org/drawingml/2006/main">
              <a:ext uri="{FF2B5EF4-FFF2-40B4-BE49-F238E27FC236}">
                <a16:creationId xmlns:a16="http://schemas.microsoft.com/office/drawing/2014/main" id="{83378B1C-01C6-47CE-BA51-DEB0CFC8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3862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Offer contextual help before an error state becomes terminal.</a:t>
            </a:r>
          </a:p>
        </p:txBody>
      </p:sp>
      <p:sp>
        <p:nvSpPr>
          <p:cNvPr id="23" name="evidence-trail">
            <a:extLst xmlns:a="http://schemas.openxmlformats.org/drawingml/2006/main">
              <a:ext uri="{FF2B5EF4-FFF2-40B4-BE49-F238E27FC236}">
                <a16:creationId xmlns:a16="http://schemas.microsoft.com/office/drawing/2014/main" id="{FA428207-3733-4328-A107-6F45DC23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Evidence trail: E02 confidence checks, E03 navigation and keyboard behavior, E04 assisted recovery.</a:t>
            </a:r>
          </a:p>
        </p:txBody>
      </p:sp>
      <p:sp>
        <p:nvSpPr>
          <p:cNvPr id="24" name="anchor">
            <a:extLst xmlns:a="http://schemas.openxmlformats.org/drawingml/2006/main">
              <a:ext uri="{FF2B5EF4-FFF2-40B4-BE49-F238E27FC236}">
                <a16:creationId xmlns:a16="http://schemas.microsoft.com/office/drawing/2014/main" id="{F44AA192-009F-4285-8392-8ACDAB24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Beacon Field Research | Study Alpha | 2026-07-13 | session UX-184 | n=24</a:t>
            </a:r>
          </a:p>
        </p:txBody>
      </p:sp>
    </p:spTree>
    <p:extLst>
      <p:ext uri="{BB962C8B-B14F-4D97-AF65-F5344CB8AC3E}">
        <p14:creationId xmlns:p14="http://schemas.microsoft.com/office/powerpoint/2010/main" val="13427401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617C3825-8BEB-4ED1-B071-3075C4BE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7"/>
                </a:solidFill>
              </a:defRPr>
            </a:pPr>
            <a:r>
              <a:rPr sz="2550" b="1">
                <a:solidFill>
                  <a:srgbClr val="123047"/>
                </a:solidFill>
              </a:rPr>
              <a:t>Design for a visible path, a visible state, and a visible recovery route</a:t>
            </a:r>
          </a:p>
        </p:txBody>
      </p:sp>
      <p:sp>
        <p:nvSpPr>
          <p:cNvPr id="2" name="principle">
            <a:extLst xmlns:a="http://schemas.openxmlformats.org/drawingml/2006/main">
              <a:ext uri="{FF2B5EF4-FFF2-40B4-BE49-F238E27FC236}">
                <a16:creationId xmlns:a16="http://schemas.microsoft.com/office/drawing/2014/main" id="{CCB4CF62-3561-44E1-B705-69649314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EAF1F5"/>
            </a:solidFill>
            <a:prstDash val="solid"/>
          </a:ln>
        </p:spPr>
      </p:sp>
      <p:sp>
        <p:nvSpPr>
          <p:cNvPr id="3" name="principle-title">
            <a:extLst xmlns:a="http://schemas.openxmlformats.org/drawingml/2006/main">
              <a:ext uri="{FF2B5EF4-FFF2-40B4-BE49-F238E27FC236}">
                <a16:creationId xmlns:a16="http://schemas.microsoft.com/office/drawing/2014/main" id="{AF60CCE3-EC9B-4EA7-9F47-80D4955A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C95"/>
                </a:solidFill>
              </a:defRPr>
            </a:pPr>
            <a:r>
              <a:rPr sz="1725" b="1">
                <a:solidFill>
                  <a:srgbClr val="008C95"/>
                </a:solidFill>
              </a:rPr>
              <a:t>1. Path</a:t>
            </a:r>
          </a:p>
        </p:txBody>
      </p:sp>
      <p:sp>
        <p:nvSpPr>
          <p:cNvPr id="4" name="principle-copy">
            <a:extLst xmlns:a="http://schemas.openxmlformats.org/drawingml/2006/main">
              <a:ext uri="{FF2B5EF4-FFF2-40B4-BE49-F238E27FC236}">
                <a16:creationId xmlns:a16="http://schemas.microsoft.com/office/drawing/2014/main" id="{2FCCA6B7-7863-4159-B796-12B708E7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71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Make the next action understandable before it is taken.</a:t>
            </a:r>
          </a:p>
        </p:txBody>
      </p:sp>
      <p:sp>
        <p:nvSpPr>
          <p:cNvPr id="5" name="principle">
            <a:extLst xmlns:a="http://schemas.openxmlformats.org/drawingml/2006/main">
              <a:ext uri="{FF2B5EF4-FFF2-40B4-BE49-F238E27FC236}">
                <a16:creationId xmlns:a16="http://schemas.microsoft.com/office/drawing/2014/main" id="{6965FEBF-FC98-45D1-B2AC-EDA2EBAD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1925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6" name="principle-title">
            <a:extLst xmlns:a="http://schemas.openxmlformats.org/drawingml/2006/main">
              <a:ext uri="{FF2B5EF4-FFF2-40B4-BE49-F238E27FC236}">
                <a16:creationId xmlns:a16="http://schemas.microsoft.com/office/drawing/2014/main" id="{63BB84B8-D438-43A3-8B58-3B37F1E0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526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C95"/>
                </a:solidFill>
              </a:defRPr>
            </a:pPr>
            <a:r>
              <a:rPr sz="1725" b="1">
                <a:solidFill>
                  <a:srgbClr val="008C95"/>
                </a:solidFill>
              </a:rPr>
              <a:t>2. State</a:t>
            </a:r>
          </a:p>
        </p:txBody>
      </p:sp>
      <p:sp>
        <p:nvSpPr>
          <p:cNvPr id="7" name="principle-copy">
            <a:extLst xmlns:a="http://schemas.openxmlformats.org/drawingml/2006/main">
              <a:ext uri="{FF2B5EF4-FFF2-40B4-BE49-F238E27FC236}">
                <a16:creationId xmlns:a16="http://schemas.microsoft.com/office/drawing/2014/main" id="{711AEAB8-0195-4B16-A9D2-90526D95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24150"/>
            <a:ext cx="271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Show what changed, what remains, and how to continue.</a:t>
            </a:r>
          </a:p>
        </p:txBody>
      </p:sp>
      <p:sp>
        <p:nvSpPr>
          <p:cNvPr id="8" name="principle">
            <a:extLst xmlns:a="http://schemas.openxmlformats.org/drawingml/2006/main">
              <a:ext uri="{FF2B5EF4-FFF2-40B4-BE49-F238E27FC236}">
                <a16:creationId xmlns:a16="http://schemas.microsoft.com/office/drawing/2014/main" id="{2E1584D6-DC58-473F-9C27-579F47B8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1925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FF7E6"/>
            </a:solidFill>
            <a:prstDash val="solid"/>
          </a:ln>
        </p:spPr>
      </p:sp>
      <p:sp>
        <p:nvSpPr>
          <p:cNvPr id="9" name="principle-title">
            <a:extLst xmlns:a="http://schemas.openxmlformats.org/drawingml/2006/main">
              <a:ext uri="{FF2B5EF4-FFF2-40B4-BE49-F238E27FC236}">
                <a16:creationId xmlns:a16="http://schemas.microsoft.com/office/drawing/2014/main" id="{38D7A835-2255-4C5D-9053-302F19E2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C95"/>
                </a:solidFill>
              </a:defRPr>
            </a:pPr>
            <a:r>
              <a:rPr sz="1725" b="1">
                <a:solidFill>
                  <a:srgbClr val="008C95"/>
                </a:solidFill>
              </a:rPr>
              <a:t>3. Recovery</a:t>
            </a:r>
          </a:p>
        </p:txBody>
      </p:sp>
      <p:sp>
        <p:nvSpPr>
          <p:cNvPr id="10" name="principle-copy">
            <a:extLst xmlns:a="http://schemas.openxmlformats.org/drawingml/2006/main">
              <a:ext uri="{FF2B5EF4-FFF2-40B4-BE49-F238E27FC236}">
                <a16:creationId xmlns:a16="http://schemas.microsoft.com/office/drawing/2014/main" id="{162FB1E1-0FD5-42A2-A552-C106D9A9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271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Offer assistive and human support without losing context.</a:t>
            </a:r>
          </a:p>
        </p:txBody>
      </p:sp>
      <p:sp>
        <p:nvSpPr>
          <p:cNvPr id="11" name="recommendation">
            <a:extLst xmlns:a="http://schemas.openxmlformats.org/drawingml/2006/main">
              <a:ext uri="{FF2B5EF4-FFF2-40B4-BE49-F238E27FC236}">
                <a16:creationId xmlns:a16="http://schemas.microsoft.com/office/drawing/2014/main" id="{EC5B9859-B661-4BF8-ABE9-551AB9B2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Test the wording and state model with new participants before optimizing advanced paths.</a:t>
            </a:r>
          </a:p>
        </p:txBody>
      </p:sp>
      <p:sp>
        <p:nvSpPr>
          <p:cNvPr id="12" name="anchor">
            <a:extLst xmlns:a="http://schemas.openxmlformats.org/drawingml/2006/main">
              <a:ext uri="{FF2B5EF4-FFF2-40B4-BE49-F238E27FC236}">
                <a16:creationId xmlns:a16="http://schemas.microsoft.com/office/drawing/2014/main" id="{5162B417-CDA2-4EA5-B61F-D8C1B58A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Beacon Field Research | Study Alpha | 2026-07-13 | session UX-184 | n=24</a:t>
            </a:r>
          </a:p>
        </p:txBody>
      </p:sp>
    </p:spTree>
    <p:extLst>
      <p:ext uri="{BB962C8B-B14F-4D97-AF65-F5344CB8AC3E}">
        <p14:creationId xmlns:p14="http://schemas.microsoft.com/office/powerpoint/2010/main" val="17732094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2026-08-23T15:21:21.7440000Z</dcterms:created>
  <dcterms:modified xsi:type="dcterms:W3CDTF">2026-08-23T15:21:21.7440000Z</dcterms:modified>
</coreProperties>
</file>