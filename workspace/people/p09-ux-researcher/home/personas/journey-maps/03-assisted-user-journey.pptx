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6411c41394df9" /><Relationship Type="http://schemas.openxmlformats.org/officeDocument/2006/relationships/extended-properties" Target="/docProps/app.xml" Id="R32c41ac28960479c" /><Relationship Type="http://schemas.openxmlformats.org/officeDocument/2006/relationships/officeDocument" Target="/ppt/presentation.xml" Id="R2f3b8fe24b70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a8b5d38cb45cd"/>
  </p:sldMasterIdLst>
  <p:notesMasterIdLst>
    <p:notesMasterId xmlns:r="http://schemas.openxmlformats.org/officeDocument/2006/relationships" r:id="R67f53ed63c334815"/>
  </p:notesMasterIdLst>
  <p:sldIdLst>
    <p:sldId xmlns:r="http://schemas.openxmlformats.org/officeDocument/2006/relationships" id="256" r:id="R366a7c4abd594e4a"/>
    <p:sldId xmlns:r="http://schemas.openxmlformats.org/officeDocument/2006/relationships" id="257" r:id="R627aaaf659644e7d"/>
    <p:sldId xmlns:r="http://schemas.openxmlformats.org/officeDocument/2006/relationships" id="258" r:id="Rad4cb3dd08df42e8"/>
    <p:sldId xmlns:r="http://schemas.openxmlformats.org/officeDocument/2006/relationships" id="259" r:id="R3c050ca7671348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238c3f90744ca" /><Relationship Type="http://schemas.openxmlformats.org/officeDocument/2006/relationships/slideMaster" Target="/ppt/slideMasters/slideMaster1.xml" Id="R71ea8b5d38cb45cd" /><Relationship Type="http://schemas.openxmlformats.org/officeDocument/2006/relationships/notesMaster" Target="/ppt/notesMasters/notesMaster1.xml" Id="R67f53ed63c334815" /><Relationship Type="http://schemas.openxmlformats.org/officeDocument/2006/relationships/presProps" Target="/ppt/presProps.xml" Id="Rc6f292d40e5f4a65" /><Relationship Type="http://schemas.openxmlformats.org/officeDocument/2006/relationships/tableStyles" Target="/ppt/tableStyles.xml" Id="Rc453a7c1875844ef" /><Relationship Type="http://schemas.openxmlformats.org/officeDocument/2006/relationships/slide" Target="/ppt/slides/slide1.xml" Id="R366a7c4abd594e4a" /><Relationship Type="http://schemas.openxmlformats.org/officeDocument/2006/relationships/slide" Target="/ppt/slides/slide2.xml" Id="R627aaaf659644e7d" /><Relationship Type="http://schemas.openxmlformats.org/officeDocument/2006/relationships/slide" Target="/ppt/slides/slide3.xml" Id="Rad4cb3dd08df42e8" /><Relationship Type="http://schemas.openxmlformats.org/officeDocument/2006/relationships/slide" Target="/ppt/slides/slide4.xml" Id="R3c050ca76713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d72cf905a3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2bf2b8831f43a7" /><Relationship Type="http://schemas.openxmlformats.org/officeDocument/2006/relationships/notesMaster" Target="/ppt/notesMasters/notesMaster1.xml" Id="R5211b6b8d1a4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6c1fe9bc448f9" /><Relationship Type="http://schemas.openxmlformats.org/officeDocument/2006/relationships/notesMaster" Target="/ppt/notesMasters/notesMaster1.xml" Id="R7082472a8e6346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4ea342977e49ca" /><Relationship Type="http://schemas.openxmlformats.org/officeDocument/2006/relationships/notesMaster" Target="/ppt/notesMasters/notesMaster1.xml" Id="Rb86c76e0779145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a77b2c2bf34c1a" /><Relationship Type="http://schemas.openxmlformats.org/officeDocument/2006/relationships/notesMaster" Target="/ppt/notesMasters/notesMaster1.xml" Id="R7e83e6be8449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609aefda74c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712057401474d" /><Relationship Type="http://schemas.openxmlformats.org/officeDocument/2006/relationships/slideLayout" Target="/ppt/slideLayouts/slideLayout1.xml" Id="Rbfe1bb86a9b642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e1bb86a9b642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78ceb8dca494e" /><Relationship Type="http://schemas.openxmlformats.org/officeDocument/2006/relationships/notesSlide" Target="/ppt/notesSlides/notesSlide1.xml" Id="R28bf919d716c46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99781740b4ceb" /><Relationship Type="http://schemas.openxmlformats.org/officeDocument/2006/relationships/notesSlide" Target="/ppt/notesSlides/notesSlide2.xml" Id="Ra59b045a11024f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760ad6a1940a9" /><Relationship Type="http://schemas.openxmlformats.org/officeDocument/2006/relationships/notesSlide" Target="/ppt/notesSlides/notesSlide3.xml" Id="R2a6e37ac8f0a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6d88beea14cb2" /><Relationship Type="http://schemas.openxmlformats.org/officeDocument/2006/relationships/notesSlide" Target="/ppt/notesSlides/notesSlide4.xml" Id="R8893928e9e0a47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73C75266-BB78-40A6-925A-BE69A85B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95250" cy="535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333A876-FE68-4912-8AD2-3F651B65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</a:defRPr>
            </a:pPr>
            <a:r>
              <a:rPr sz="1125" b="1">
                <a:solidFill>
                  <a:srgbClr val="008C95"/>
                </a:solidFill>
              </a:rPr>
              <a:t>SYNTHETIC JOURNEY 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0EE1DD-D3E2-4694-9D86-C4C44898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047"/>
                </a:solidFill>
              </a:defRPr>
            </a:pPr>
            <a:r>
              <a:rPr sz="3450" b="1">
                <a:solidFill>
                  <a:srgbClr val="123047"/>
                </a:solidFill>
              </a:rPr>
              <a:t>Assisted user journey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01392B4-4F2D-4FFA-91A4-A639F8FF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 supported path for users who need accessible cues or contextual help.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9E0E94DE-99E5-4A23-AE25-84719F4E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00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6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CF94B561-A013-4439-BE4B-ECAA2F3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Assistance should preserve agency, context, and a perceivable confirmation.</a:t>
            </a:r>
          </a:p>
        </p:txBody>
      </p:sp>
      <p:sp>
        <p:nvSpPr>
          <p:cNvPr id="7" name="anchor">
            <a:extLst xmlns:a="http://schemas.openxmlformats.org/drawingml/2006/main">
              <a:ext uri="{FF2B5EF4-FFF2-40B4-BE49-F238E27FC236}">
                <a16:creationId xmlns:a16="http://schemas.microsoft.com/office/drawing/2014/main" id="{DCC4228F-9DDE-4177-9C17-B33080A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  <p:sp>
        <p:nvSpPr>
          <p:cNvPr id="8" name="synthetic-note">
            <a:extLst xmlns:a="http://schemas.openxmlformats.org/drawingml/2006/main">
              <a:ext uri="{FF2B5EF4-FFF2-40B4-BE49-F238E27FC236}">
                <a16:creationId xmlns:a16="http://schemas.microsoft.com/office/drawing/2014/main" id="{BD447FC8-15C8-47E7-ADAB-4D1D2A3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Synthetic composites only - participant codes S01-S24</a:t>
            </a:r>
          </a:p>
        </p:txBody>
      </p:sp>
    </p:spTree>
    <p:extLst>
      <p:ext uri="{BB962C8B-B14F-4D97-AF65-F5344CB8AC3E}">
        <p14:creationId xmlns:p14="http://schemas.microsoft.com/office/powerpoint/2010/main" val="452566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C5F81294-3A8C-499C-9FB1-9EB331CE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The journey is a sequence of confidence decisions</a:t>
            </a:r>
          </a:p>
        </p:txBody>
      </p:sp>
      <p:sp>
        <p:nvSpPr>
          <p:cNvPr id="2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7227CB81-41A8-4E05-86D5-002B0FE5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Emotions below are inferred from observed behaviors and debrief themes; they are not direct quotations.</a:t>
            </a:r>
          </a:p>
        </p:txBody>
      </p:sp>
      <p:sp>
        <p:nvSpPr>
          <p:cNvPr id="3" name="stage-1">
            <a:extLst xmlns:a="http://schemas.openxmlformats.org/drawingml/2006/main">
              <a:ext uri="{FF2B5EF4-FFF2-40B4-BE49-F238E27FC236}">
                <a16:creationId xmlns:a16="http://schemas.microsoft.com/office/drawing/2014/main" id="{410F7960-6AAE-4E6D-B7F3-F8CDE49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4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A334C18-E289-482B-B1BD-5049767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01  DISCOVER</a:t>
            </a:r>
          </a:p>
        </p:txBody>
      </p:sp>
      <p:sp>
        <p:nvSpPr>
          <p:cNvPr id="5" name="goal">
            <a:extLst xmlns:a="http://schemas.openxmlformats.org/drawingml/2006/main">
              <a:ext uri="{FF2B5EF4-FFF2-40B4-BE49-F238E27FC236}">
                <a16:creationId xmlns:a16="http://schemas.microsoft.com/office/drawing/2014/main" id="{B5D76354-435A-4842-8C48-8D0CC69D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Identify a workable route</a:t>
            </a:r>
          </a:p>
        </p:txBody>
      </p:sp>
      <p:sp>
        <p:nvSpPr>
          <p:cNvPr id="6" name="action">
            <a:extLst xmlns:a="http://schemas.openxmlformats.org/drawingml/2006/main">
              <a:ext uri="{FF2B5EF4-FFF2-40B4-BE49-F238E27FC236}">
                <a16:creationId xmlns:a16="http://schemas.microsoft.com/office/drawing/2014/main" id="{24725B15-D003-4881-9471-69D458C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Locate a known support or accessible entry point</a:t>
            </a:r>
          </a:p>
        </p:txBody>
      </p:sp>
      <p:sp>
        <p:nvSpPr>
          <p:cNvPr id="7" name="emotion">
            <a:extLst xmlns:a="http://schemas.openxmlformats.org/drawingml/2006/main">
              <a:ext uri="{FF2B5EF4-FFF2-40B4-BE49-F238E27FC236}">
                <a16:creationId xmlns:a16="http://schemas.microsoft.com/office/drawing/2014/main" id="{1C2B6222-5CB4-4688-BA04-BB64EDC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Guarded confidence</a:t>
            </a:r>
          </a:p>
        </p:txBody>
      </p:sp>
      <p:sp>
        <p:nvSpPr>
          <p:cNvPr id="8" name="evidence">
            <a:extLst xmlns:a="http://schemas.openxmlformats.org/drawingml/2006/main">
              <a:ext uri="{FF2B5EF4-FFF2-40B4-BE49-F238E27FC236}">
                <a16:creationId xmlns:a16="http://schemas.microsoft.com/office/drawing/2014/main" id="{2D96519C-1E2B-48E1-8921-0053519E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E01  support discovery</a:t>
            </a:r>
          </a:p>
        </p:txBody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BBE6EC86-9B7D-43C5-BE5F-BFCF1646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0" name="stage-label">
            <a:extLst xmlns:a="http://schemas.openxmlformats.org/drawingml/2006/main">
              <a:ext uri="{FF2B5EF4-FFF2-40B4-BE49-F238E27FC236}">
                <a16:creationId xmlns:a16="http://schemas.microsoft.com/office/drawing/2014/main" id="{0202DEBD-39F4-4371-81A6-B5B1DB32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02  ORIENT</a:t>
            </a:r>
          </a:p>
        </p:txBody>
      </p:sp>
      <p:sp>
        <p:nvSpPr>
          <p:cNvPr id="11" name="goal">
            <a:extLst xmlns:a="http://schemas.openxmlformats.org/drawingml/2006/main">
              <a:ext uri="{FF2B5EF4-FFF2-40B4-BE49-F238E27FC236}">
                <a16:creationId xmlns:a16="http://schemas.microsoft.com/office/drawing/2014/main" id="{64793DD9-6FB9-4AB9-A306-37DDA8B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Orient with support</a:t>
            </a:r>
          </a:p>
        </p:txBody>
      </p:sp>
      <p:sp>
        <p:nvSpPr>
          <p:cNvPr id="12" name="action">
            <a:extLst xmlns:a="http://schemas.openxmlformats.org/drawingml/2006/main">
              <a:ext uri="{FF2B5EF4-FFF2-40B4-BE49-F238E27FC236}">
                <a16:creationId xmlns:a16="http://schemas.microsoft.com/office/drawing/2014/main" id="{F8BE0009-3EC9-4D5D-B275-E6D6482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Use labels, focus order, or guidance to establish context</a:t>
            </a:r>
          </a:p>
        </p:txBody>
      </p:sp>
      <p:sp>
        <p:nvSpPr>
          <p:cNvPr id="13" name="emotion">
            <a:extLst xmlns:a="http://schemas.openxmlformats.org/drawingml/2006/main">
              <a:ext uri="{FF2B5EF4-FFF2-40B4-BE49-F238E27FC236}">
                <a16:creationId xmlns:a16="http://schemas.microsoft.com/office/drawing/2014/main" id="{FE9E7CB8-2E06-4B47-9FB7-C2AF984C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More steady when context persists</a:t>
            </a:r>
          </a:p>
        </p:txBody>
      </p:sp>
      <p:sp>
        <p:nvSpPr>
          <p:cNvPr id="14" name="evidence">
            <a:extLst xmlns:a="http://schemas.openxmlformats.org/drawingml/2006/main">
              <a:ext uri="{FF2B5EF4-FFF2-40B4-BE49-F238E27FC236}">
                <a16:creationId xmlns:a16="http://schemas.microsoft.com/office/drawing/2014/main" id="{42F8B5EE-AC0A-44DA-BAC8-0E509739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E02  supported orientation</a:t>
            </a:r>
          </a:p>
        </p:txBody>
      </p:sp>
      <p:sp>
        <p:nvSpPr>
          <p:cNvPr id="15" name="stage-3">
            <a:extLst xmlns:a="http://schemas.openxmlformats.org/drawingml/2006/main">
              <a:ext uri="{FF2B5EF4-FFF2-40B4-BE49-F238E27FC236}">
                <a16:creationId xmlns:a16="http://schemas.microsoft.com/office/drawing/2014/main" id="{E9065F52-B4D4-488D-9F71-FFF5009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6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52B4416-F466-445C-BA99-DCC9180E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03  ACT</a:t>
            </a:r>
          </a:p>
        </p:txBody>
      </p:sp>
      <p:sp>
        <p:nvSpPr>
          <p:cNvPr id="17" name="goal">
            <a:extLst xmlns:a="http://schemas.openxmlformats.org/drawingml/2006/main">
              <a:ext uri="{FF2B5EF4-FFF2-40B4-BE49-F238E27FC236}">
                <a16:creationId xmlns:a16="http://schemas.microsoft.com/office/drawing/2014/main" id="{4C358E90-8429-4CCB-903D-63EBA337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Complete with safeguards</a:t>
            </a:r>
          </a:p>
        </p:txBody>
      </p:sp>
      <p:sp>
        <p:nvSpPr>
          <p:cNvPr id="18" name="action">
            <a:extLst xmlns:a="http://schemas.openxmlformats.org/drawingml/2006/main">
              <a:ext uri="{FF2B5EF4-FFF2-40B4-BE49-F238E27FC236}">
                <a16:creationId xmlns:a16="http://schemas.microsoft.com/office/drawing/2014/main" id="{929E2565-99DD-4C3D-8AE6-BF6A5203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Advance through the task while retaining position and options</a:t>
            </a:r>
          </a:p>
        </p:txBody>
      </p:sp>
      <p:sp>
        <p:nvSpPr>
          <p:cNvPr id="19" name="emotion">
            <a:extLst xmlns:a="http://schemas.openxmlformats.org/drawingml/2006/main">
              <a:ext uri="{FF2B5EF4-FFF2-40B4-BE49-F238E27FC236}">
                <a16:creationId xmlns:a16="http://schemas.microsoft.com/office/drawing/2014/main" id="{391C5790-0754-430B-80B7-08449CFB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Focused effort</a:t>
            </a:r>
          </a:p>
        </p:txBody>
      </p:sp>
      <p:sp>
        <p:nvSpPr>
          <p:cNvPr id="20" name="evidence">
            <a:extLst xmlns:a="http://schemas.openxmlformats.org/drawingml/2006/main">
              <a:ext uri="{FF2B5EF4-FFF2-40B4-BE49-F238E27FC236}">
                <a16:creationId xmlns:a16="http://schemas.microsoft.com/office/drawing/2014/main" id="{23F07DDE-A6E9-45F0-90B2-6F273D44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E03  assisted action</a:t>
            </a:r>
          </a:p>
        </p:txBody>
      </p:sp>
      <p:sp>
        <p:nvSpPr>
          <p:cNvPr id="21" name="stage-4">
            <a:extLst xmlns:a="http://schemas.openxmlformats.org/drawingml/2006/main">
              <a:ext uri="{FF2B5EF4-FFF2-40B4-BE49-F238E27FC236}">
                <a16:creationId xmlns:a16="http://schemas.microsoft.com/office/drawing/2014/main" id="{87C57897-ABF4-4DF3-B65B-DBA10454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D346DCF-2DA5-4596-9B81-FA91F0D0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04  CONFIRM</a:t>
            </a:r>
          </a:p>
        </p:txBody>
      </p:sp>
      <p:sp>
        <p:nvSpPr>
          <p:cNvPr id="23" name="goal">
            <a:extLst xmlns:a="http://schemas.openxmlformats.org/drawingml/2006/main">
              <a:ext uri="{FF2B5EF4-FFF2-40B4-BE49-F238E27FC236}">
                <a16:creationId xmlns:a16="http://schemas.microsoft.com/office/drawing/2014/main" id="{776F6F80-BF5E-48D3-B7D0-4A257808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Confirm accessibly</a:t>
            </a:r>
          </a:p>
        </p:txBody>
      </p:sp>
      <p:sp>
        <p:nvSpPr>
          <p:cNvPr id="24" name="action">
            <a:extLst xmlns:a="http://schemas.openxmlformats.org/drawingml/2006/main">
              <a:ext uri="{FF2B5EF4-FFF2-40B4-BE49-F238E27FC236}">
                <a16:creationId xmlns:a16="http://schemas.microsoft.com/office/drawing/2014/main" id="{4334AB1D-E0C1-4F85-B674-FC3103A8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Receive status through more than one cue</a:t>
            </a:r>
          </a:p>
        </p:txBody>
      </p:sp>
      <p:sp>
        <p:nvSpPr>
          <p:cNvPr id="25" name="emotion">
            <a:extLst xmlns:a="http://schemas.openxmlformats.org/drawingml/2006/main">
              <a:ext uri="{FF2B5EF4-FFF2-40B4-BE49-F238E27FC236}">
                <a16:creationId xmlns:a16="http://schemas.microsoft.com/office/drawing/2014/main" id="{36802602-6366-4132-AB55-F5EA21AF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Relief when feedback is perceivable</a:t>
            </a:r>
          </a:p>
        </p:txBody>
      </p:sp>
      <p:sp>
        <p:nvSpPr>
          <p:cNvPr id="26" name="evidence">
            <a:extLst xmlns:a="http://schemas.openxmlformats.org/drawingml/2006/main">
              <a:ext uri="{FF2B5EF4-FFF2-40B4-BE49-F238E27FC236}">
                <a16:creationId xmlns:a16="http://schemas.microsoft.com/office/drawing/2014/main" id="{A6A7C84D-9F95-4A9F-AAF9-B2545AE1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E04  accessible confirmation</a:t>
            </a:r>
          </a:p>
        </p:txBody>
      </p:sp>
      <p:sp>
        <p:nvSpPr>
          <p:cNvPr id="27" name="stage-5">
            <a:extLst xmlns:a="http://schemas.openxmlformats.org/drawingml/2006/main">
              <a:ext uri="{FF2B5EF4-FFF2-40B4-BE49-F238E27FC236}">
                <a16:creationId xmlns:a16="http://schemas.microsoft.com/office/drawing/2014/main" id="{AE495615-CA40-4AE8-A283-3BCDD9CA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A5432EB-F9D5-409C-9CDF-A4537364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05  COMPLETE</a:t>
            </a:r>
          </a:p>
        </p:txBody>
      </p:sp>
      <p:sp>
        <p:nvSpPr>
          <p:cNvPr id="29" name="goal">
            <a:extLst xmlns:a="http://schemas.openxmlformats.org/drawingml/2006/main">
              <a:ext uri="{FF2B5EF4-FFF2-40B4-BE49-F238E27FC236}">
                <a16:creationId xmlns:a16="http://schemas.microsoft.com/office/drawing/2014/main" id="{37ECFB6F-944C-4130-9403-C13E8BE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Recover or continue</a:t>
            </a:r>
          </a:p>
        </p:txBody>
      </p:sp>
      <p:sp>
        <p:nvSpPr>
          <p:cNvPr id="30" name="action">
            <a:extLst xmlns:a="http://schemas.openxmlformats.org/drawingml/2006/main">
              <a:ext uri="{FF2B5EF4-FFF2-40B4-BE49-F238E27FC236}">
                <a16:creationId xmlns:a16="http://schemas.microsoft.com/office/drawing/2014/main" id="{BAD47550-A203-4153-A13F-7401BA7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Use contextual help without restarting</a:t>
            </a:r>
          </a:p>
        </p:txBody>
      </p:sp>
      <p:sp>
        <p:nvSpPr>
          <p:cNvPr id="31" name="emotion">
            <a:extLst xmlns:a="http://schemas.openxmlformats.org/drawingml/2006/main">
              <a:ext uri="{FF2B5EF4-FFF2-40B4-BE49-F238E27FC236}">
                <a16:creationId xmlns:a16="http://schemas.microsoft.com/office/drawing/2014/main" id="{5211E4E3-B56E-4C1F-B5D5-FD82166E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Agency restored</a:t>
            </a:r>
          </a:p>
        </p:txBody>
      </p:sp>
      <p:sp>
        <p:nvSpPr>
          <p:cNvPr id="32" name="evidence">
            <a:extLst xmlns:a="http://schemas.openxmlformats.org/drawingml/2006/main">
              <a:ext uri="{FF2B5EF4-FFF2-40B4-BE49-F238E27FC236}">
                <a16:creationId xmlns:a16="http://schemas.microsoft.com/office/drawing/2014/main" id="{D56B2019-0550-41A6-A5B8-7B9B7FA5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E05  assisted recovery</a:t>
            </a:r>
          </a:p>
        </p:txBody>
      </p:sp>
      <p:sp>
        <p:nvSpPr>
          <p:cNvPr id="33" name="anchor">
            <a:extLst xmlns:a="http://schemas.openxmlformats.org/drawingml/2006/main">
              <a:ext uri="{FF2B5EF4-FFF2-40B4-BE49-F238E27FC236}">
                <a16:creationId xmlns:a16="http://schemas.microsoft.com/office/drawing/2014/main" id="{8E8EEC5C-E323-4AF8-95D8-8FB9E6C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80179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B181B16E-FC69-48DD-BBF6-4D83DB5C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Friction clusters where progress is hard to verify</a:t>
            </a:r>
          </a:p>
        </p:txBody>
      </p:sp>
      <p:sp>
        <p:nvSpPr>
          <p:cNvPr id="2" name="column-head">
            <a:extLst xmlns:a="http://schemas.openxmlformats.org/drawingml/2006/main">
              <a:ext uri="{FF2B5EF4-FFF2-40B4-BE49-F238E27FC236}">
                <a16:creationId xmlns:a16="http://schemas.microsoft.com/office/drawing/2014/main" id="{320FE2CC-368E-46CE-B18B-1F6900E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Observed pattern</a:t>
            </a:r>
          </a:p>
        </p:txBody>
      </p:sp>
      <p:sp>
        <p:nvSpPr>
          <p:cNvPr id="3" name="column-head">
            <a:extLst xmlns:a="http://schemas.openxmlformats.org/drawingml/2006/main">
              <a:ext uri="{FF2B5EF4-FFF2-40B4-BE49-F238E27FC236}">
                <a16:creationId xmlns:a16="http://schemas.microsoft.com/office/drawing/2014/main" id="{B221F000-4092-456C-B8BD-A9C360A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Accessibility touchpoint</a:t>
            </a:r>
          </a:p>
        </p:txBody>
      </p:sp>
      <p:sp>
        <p:nvSpPr>
          <p:cNvPr id="4" name="column-head">
            <a:extLst xmlns:a="http://schemas.openxmlformats.org/drawingml/2006/main">
              <a:ext uri="{FF2B5EF4-FFF2-40B4-BE49-F238E27FC236}">
                <a16:creationId xmlns:a16="http://schemas.microsoft.com/office/drawing/2014/main" id="{495F1B13-DB8A-4E20-A764-9E66F21F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Decision-useful opportunity</a:t>
            </a:r>
          </a:p>
        </p:txBody>
      </p:sp>
      <p:sp>
        <p:nvSpPr>
          <p:cNvPr id="5" name="observed">
            <a:extLst xmlns:a="http://schemas.openxmlformats.org/drawingml/2006/main">
              <a:ext uri="{FF2B5EF4-FFF2-40B4-BE49-F238E27FC236}">
                <a16:creationId xmlns:a16="http://schemas.microsoft.com/office/drawing/2014/main" id="{86C3607D-6808-461F-8057-31B899C7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access">
            <a:extLst xmlns:a="http://schemas.openxmlformats.org/drawingml/2006/main">
              <a:ext uri="{FF2B5EF4-FFF2-40B4-BE49-F238E27FC236}">
                <a16:creationId xmlns:a16="http://schemas.microsoft.com/office/drawing/2014/main" id="{6EB8F480-BFAC-4477-BDF8-6560F4D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7" name="opportunity">
            <a:extLst xmlns:a="http://schemas.openxmlformats.org/drawingml/2006/main">
              <a:ext uri="{FF2B5EF4-FFF2-40B4-BE49-F238E27FC236}">
                <a16:creationId xmlns:a16="http://schemas.microsoft.com/office/drawing/2014/main" id="{113837F9-6C5C-452E-82E1-DD3EA92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8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139A4F86-A952-4848-B20E-FDF8467F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Labels signal a next step, but not the expected outcome.</a:t>
            </a:r>
          </a:p>
        </p:txBody>
      </p:sp>
      <p:sp>
        <p:nvSpPr>
          <p:cNvPr id="9" name="access-copy">
            <a:extLst xmlns:a="http://schemas.openxmlformats.org/drawingml/2006/main">
              <a:ext uri="{FF2B5EF4-FFF2-40B4-BE49-F238E27FC236}">
                <a16:creationId xmlns:a16="http://schemas.microsoft.com/office/drawing/2014/main" id="{7FC77340-3AA8-431C-AA71-99E1DD48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Plain-language task labels; visible current-state indicator.</a:t>
            </a:r>
          </a:p>
        </p:txBody>
      </p:sp>
      <p:sp>
        <p:nvSpPr>
          <p:cNvPr id="10" name="opp-copy">
            <a:extLst xmlns:a="http://schemas.openxmlformats.org/drawingml/2006/main">
              <a:ext uri="{FF2B5EF4-FFF2-40B4-BE49-F238E27FC236}">
                <a16:creationId xmlns:a16="http://schemas.microsoft.com/office/drawing/2014/main" id="{2E649218-3A3F-4AE9-B1DD-C9D330D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Pair action labels with a brief result preview.</a:t>
            </a:r>
          </a:p>
        </p:txBody>
      </p:sp>
      <p:sp>
        <p:nvSpPr>
          <p:cNvPr id="11" name="observed">
            <a:extLst xmlns:a="http://schemas.openxmlformats.org/drawingml/2006/main">
              <a:ext uri="{FF2B5EF4-FFF2-40B4-BE49-F238E27FC236}">
                <a16:creationId xmlns:a16="http://schemas.microsoft.com/office/drawing/2014/main" id="{ECE438A5-F0DF-4084-997C-CADE6660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2" name="access">
            <a:extLst xmlns:a="http://schemas.openxmlformats.org/drawingml/2006/main">
              <a:ext uri="{FF2B5EF4-FFF2-40B4-BE49-F238E27FC236}">
                <a16:creationId xmlns:a16="http://schemas.microsoft.com/office/drawing/2014/main" id="{D0A17D0F-F088-4AF1-906D-C7E6BD82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3" name="opportunity">
            <a:extLst xmlns:a="http://schemas.openxmlformats.org/drawingml/2006/main">
              <a:ext uri="{FF2B5EF4-FFF2-40B4-BE49-F238E27FC236}">
                <a16:creationId xmlns:a16="http://schemas.microsoft.com/office/drawing/2014/main" id="{8222ADA7-208B-4533-91A6-BE28C56B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14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8A4A649D-49A6-4F05-BC19-FF1E0E97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Confirmation arrives after attention has shifted.</a:t>
            </a:r>
          </a:p>
        </p:txBody>
      </p:sp>
      <p:sp>
        <p:nvSpPr>
          <p:cNvPr id="15" name="access-copy">
            <a:extLst xmlns:a="http://schemas.openxmlformats.org/drawingml/2006/main">
              <a:ext uri="{FF2B5EF4-FFF2-40B4-BE49-F238E27FC236}">
                <a16:creationId xmlns:a16="http://schemas.microsoft.com/office/drawing/2014/main" id="{15B87DFE-CB64-4792-875B-94C3761C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Persistent status text; keyboard-reachable confirmation region.</a:t>
            </a:r>
          </a:p>
        </p:txBody>
      </p:sp>
      <p:sp>
        <p:nvSpPr>
          <p:cNvPr id="16" name="opp-copy">
            <a:extLst xmlns:a="http://schemas.openxmlformats.org/drawingml/2006/main">
              <a:ext uri="{FF2B5EF4-FFF2-40B4-BE49-F238E27FC236}">
                <a16:creationId xmlns:a16="http://schemas.microsoft.com/office/drawing/2014/main" id="{9B760E70-903D-44E2-A594-5500B734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Move confirmation into the action path and preserve it.</a:t>
            </a:r>
          </a:p>
        </p:txBody>
      </p:sp>
      <p:sp>
        <p:nvSpPr>
          <p:cNvPr id="17" name="observed">
            <a:extLst xmlns:a="http://schemas.openxmlformats.org/drawingml/2006/main">
              <a:ext uri="{FF2B5EF4-FFF2-40B4-BE49-F238E27FC236}">
                <a16:creationId xmlns:a16="http://schemas.microsoft.com/office/drawing/2014/main" id="{4E9F7578-8331-402D-8566-FAD47C6C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8" name="access">
            <a:extLst xmlns:a="http://schemas.openxmlformats.org/drawingml/2006/main">
              <a:ext uri="{FF2B5EF4-FFF2-40B4-BE49-F238E27FC236}">
                <a16:creationId xmlns:a16="http://schemas.microsoft.com/office/drawing/2014/main" id="{A5904B61-8A25-44C8-8A42-FBBE2749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9" name="opportunity">
            <a:extLst xmlns:a="http://schemas.openxmlformats.org/drawingml/2006/main">
              <a:ext uri="{FF2B5EF4-FFF2-40B4-BE49-F238E27FC236}">
                <a16:creationId xmlns:a16="http://schemas.microsoft.com/office/drawing/2014/main" id="{152A5CE1-8D8B-4C2F-A89A-EA7AD232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20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1F8B2BD7-6B1A-4715-A107-D47769E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Help is sought after a self-serve attempt stalls.</a:t>
            </a:r>
          </a:p>
        </p:txBody>
      </p:sp>
      <p:sp>
        <p:nvSpPr>
          <p:cNvPr id="21" name="access-copy">
            <a:extLst xmlns:a="http://schemas.openxmlformats.org/drawingml/2006/main">
              <a:ext uri="{FF2B5EF4-FFF2-40B4-BE49-F238E27FC236}">
                <a16:creationId xmlns:a16="http://schemas.microsoft.com/office/drawing/2014/main" id="{FEA3456A-B1F4-4A1A-91C2-F2FFF9A0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Named support route; compatible focus order.</a:t>
            </a:r>
          </a:p>
        </p:txBody>
      </p:sp>
      <p:sp>
        <p:nvSpPr>
          <p:cNvPr id="22" name="opp-copy">
            <a:extLst xmlns:a="http://schemas.openxmlformats.org/drawingml/2006/main">
              <a:ext uri="{FF2B5EF4-FFF2-40B4-BE49-F238E27FC236}">
                <a16:creationId xmlns:a16="http://schemas.microsoft.com/office/drawing/2014/main" id="{9F0FEA85-BDB7-4863-AE58-612593C0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Offer contextual help before an error state becomes terminal.</a:t>
            </a:r>
          </a:p>
        </p:txBody>
      </p:sp>
      <p:sp>
        <p:nvSpPr>
          <p:cNvPr id="23" name="evidence-trail">
            <a:extLst xmlns:a="http://schemas.openxmlformats.org/drawingml/2006/main">
              <a:ext uri="{FF2B5EF4-FFF2-40B4-BE49-F238E27FC236}">
                <a16:creationId xmlns:a16="http://schemas.microsoft.com/office/drawing/2014/main" id="{0885CB04-E29B-4B30-8C47-A4C43E5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Evidence trail: E02 confidence checks, E03 navigation and keyboard behavior, E04 assisted recovery.</a:t>
            </a:r>
          </a:p>
        </p:txBody>
      </p:sp>
      <p:sp>
        <p:nvSpPr>
          <p:cNvPr id="24" name="anchor">
            <a:extLst xmlns:a="http://schemas.openxmlformats.org/drawingml/2006/main">
              <a:ext uri="{FF2B5EF4-FFF2-40B4-BE49-F238E27FC236}">
                <a16:creationId xmlns:a16="http://schemas.microsoft.com/office/drawing/2014/main" id="{2377C7ED-F67B-46A8-A736-14FC0C2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443966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B0A14F45-DDDA-4CBD-B519-8E730F1B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Design for a visible path, a visible state, and a visible recovery route</a:t>
            </a:r>
          </a:p>
        </p:txBody>
      </p:sp>
      <p:sp>
        <p:nvSpPr>
          <p:cNvPr id="2" name="principle">
            <a:extLst xmlns:a="http://schemas.openxmlformats.org/drawingml/2006/main">
              <a:ext uri="{FF2B5EF4-FFF2-40B4-BE49-F238E27FC236}">
                <a16:creationId xmlns:a16="http://schemas.microsoft.com/office/drawing/2014/main" id="{83E8E82C-B6F7-4BC2-A987-549231F1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3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10A1B64B-1287-4395-ABAE-D5B9AB42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1. Path</a:t>
            </a:r>
          </a:p>
        </p:txBody>
      </p:sp>
      <p:sp>
        <p:nvSpPr>
          <p:cNvPr id="4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F9114811-E771-4680-8D72-1047768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Make the next action understandable before it is taken.</a:t>
            </a:r>
          </a:p>
        </p:txBody>
      </p:sp>
      <p:sp>
        <p:nvSpPr>
          <p:cNvPr id="5" name="principle">
            <a:extLst xmlns:a="http://schemas.openxmlformats.org/drawingml/2006/main">
              <a:ext uri="{FF2B5EF4-FFF2-40B4-BE49-F238E27FC236}">
                <a16:creationId xmlns:a16="http://schemas.microsoft.com/office/drawing/2014/main" id="{6CCE2EEB-32A9-4D63-AEE4-0BAFD989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F4A9989D-215C-4315-ABFB-5D512F5F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2. State</a:t>
            </a:r>
          </a:p>
        </p:txBody>
      </p:sp>
      <p:sp>
        <p:nvSpPr>
          <p:cNvPr id="7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39FC2887-6886-42D1-850D-7A95B28F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Show what changed, what remains, and how to continue.</a:t>
            </a:r>
          </a:p>
        </p:txBody>
      </p:sp>
      <p:sp>
        <p:nvSpPr>
          <p:cNvPr id="8" name="principle">
            <a:extLst xmlns:a="http://schemas.openxmlformats.org/drawingml/2006/main">
              <a:ext uri="{FF2B5EF4-FFF2-40B4-BE49-F238E27FC236}">
                <a16:creationId xmlns:a16="http://schemas.microsoft.com/office/drawing/2014/main" id="{A7E9925A-6DD9-47E2-90A0-97D6A72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9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702348D3-AC4F-4986-83D3-6CF496AB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3. Recovery</a:t>
            </a:r>
          </a:p>
        </p:txBody>
      </p:sp>
      <p:sp>
        <p:nvSpPr>
          <p:cNvPr id="10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317814EC-5623-4162-A023-D1A802D1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Offer assistive and human support without losing context.</a:t>
            </a:r>
          </a:p>
        </p:txBody>
      </p:sp>
      <p:sp>
        <p:nvSpPr>
          <p:cNvPr id="11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92B7F218-5BBD-47E7-871E-34D7E467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Review E03-E04 together: navigation, status, and help must operate as one continuous path.</a:t>
            </a:r>
          </a:p>
        </p:txBody>
      </p:sp>
      <p:sp>
        <p:nvSpPr>
          <p:cNvPr id="12" name="anchor">
            <a:extLst xmlns:a="http://schemas.openxmlformats.org/drawingml/2006/main">
              <a:ext uri="{FF2B5EF4-FFF2-40B4-BE49-F238E27FC236}">
                <a16:creationId xmlns:a16="http://schemas.microsoft.com/office/drawing/2014/main" id="{E460B71C-0A24-44D3-844C-9B00A45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195569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2026-08-23T15:21:22.2860000Z</dcterms:created>
  <dcterms:modified xsi:type="dcterms:W3CDTF">2026-08-23T15:21:22.2860000Z</dcterms:modified>
</coreProperties>
</file>