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d3f7939f04eea" /><Relationship Type="http://schemas.openxmlformats.org/officeDocument/2006/relationships/extended-properties" Target="/docProps/app.xml" Id="Rdee1b34779fa42d3" /><Relationship Type="http://schemas.openxmlformats.org/officeDocument/2006/relationships/officeDocument" Target="/ppt/presentation.xml" Id="R13daed8487f446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8b21aad9bc43df"/>
  </p:sldMasterIdLst>
  <p:notesMasterIdLst>
    <p:notesMasterId xmlns:r="http://schemas.openxmlformats.org/officeDocument/2006/relationships" r:id="R9736f0a060c24bd8"/>
  </p:notesMasterIdLst>
  <p:sldIdLst>
    <p:sldId xmlns:r="http://schemas.openxmlformats.org/officeDocument/2006/relationships" id="256" r:id="R286a9856771646df"/>
    <p:sldId xmlns:r="http://schemas.openxmlformats.org/officeDocument/2006/relationships" id="257" r:id="R78ff668f0fb641f1"/>
    <p:sldId xmlns:r="http://schemas.openxmlformats.org/officeDocument/2006/relationships" id="258" r:id="R0580936edfd64ed9"/>
    <p:sldId xmlns:r="http://schemas.openxmlformats.org/officeDocument/2006/relationships" id="259" r:id="Ra4d70df794ac4f12"/>
    <p:sldId xmlns:r="http://schemas.openxmlformats.org/officeDocument/2006/relationships" id="260" r:id="R5a326f492a8d44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1bcdd507024e3d" /><Relationship Type="http://schemas.openxmlformats.org/officeDocument/2006/relationships/slideMaster" Target="/ppt/slideMasters/slideMaster1.xml" Id="R4a8b21aad9bc43df" /><Relationship Type="http://schemas.openxmlformats.org/officeDocument/2006/relationships/notesMaster" Target="/ppt/notesMasters/notesMaster1.xml" Id="R9736f0a060c24bd8" /><Relationship Type="http://schemas.openxmlformats.org/officeDocument/2006/relationships/presProps" Target="/ppt/presProps.xml" Id="R1e26b553d5894562" /><Relationship Type="http://schemas.openxmlformats.org/officeDocument/2006/relationships/tableStyles" Target="/ppt/tableStyles.xml" Id="R28a2b4de1c144f45" /><Relationship Type="http://schemas.openxmlformats.org/officeDocument/2006/relationships/slide" Target="/ppt/slides/slide1.xml" Id="R286a9856771646df" /><Relationship Type="http://schemas.openxmlformats.org/officeDocument/2006/relationships/slide" Target="/ppt/slides/slide2.xml" Id="R78ff668f0fb641f1" /><Relationship Type="http://schemas.openxmlformats.org/officeDocument/2006/relationships/slide" Target="/ppt/slides/slide3.xml" Id="R0580936edfd64ed9" /><Relationship Type="http://schemas.openxmlformats.org/officeDocument/2006/relationships/slide" Target="/ppt/slides/slide4.xml" Id="Ra4d70df794ac4f12" /><Relationship Type="http://schemas.openxmlformats.org/officeDocument/2006/relationships/slide" Target="/ppt/slides/slide5.xml" Id="R5a326f492a8d44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e6bbaa9a1a44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92f2afc854da3" /><Relationship Type="http://schemas.openxmlformats.org/officeDocument/2006/relationships/notesMaster" Target="/ppt/notesMasters/notesMaster1.xml" Id="R823110d1276946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034f1f96fb441e" /><Relationship Type="http://schemas.openxmlformats.org/officeDocument/2006/relationships/notesMaster" Target="/ppt/notesMasters/notesMaster1.xml" Id="R02696f2c03ac46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833d9081ec4136" /><Relationship Type="http://schemas.openxmlformats.org/officeDocument/2006/relationships/notesMaster" Target="/ppt/notesMasters/notesMaster1.xml" Id="R8e19c9bdfd2d42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84f8fff18547fc" /><Relationship Type="http://schemas.openxmlformats.org/officeDocument/2006/relationships/notesMaster" Target="/ppt/notesMasters/notesMaster1.xml" Id="R72bbecc32ac242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b4860599774913" /><Relationship Type="http://schemas.openxmlformats.org/officeDocument/2006/relationships/notesMaster" Target="/ppt/notesMasters/notesMaster1.xml" Id="Ra106fda2621f44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57f3c22cb4b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a13bbbe51c4979" /><Relationship Type="http://schemas.openxmlformats.org/officeDocument/2006/relationships/slideLayout" Target="/ppt/slideLayouts/slideLayout1.xml" Id="Rdf2bd1809c6c46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bd1809c6c46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8b8fd3fdb4cd2" /><Relationship Type="http://schemas.openxmlformats.org/officeDocument/2006/relationships/notesSlide" Target="/ppt/notesSlides/notesSlide1.xml" Id="Rb916042a789040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1d14401f04c32" /><Relationship Type="http://schemas.openxmlformats.org/officeDocument/2006/relationships/notesSlide" Target="/ppt/notesSlides/notesSlide2.xml" Id="R96ce46ce429447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9a29d2f164349" /><Relationship Type="http://schemas.openxmlformats.org/officeDocument/2006/relationships/notesSlide" Target="/ppt/notesSlides/notesSlide3.xml" Id="R3460154860c544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315971689487e" /><Relationship Type="http://schemas.openxmlformats.org/officeDocument/2006/relationships/notesSlide" Target="/ppt/notesSlides/notesSlide4.xml" Id="Rf17c70f4a9434e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6396806444179" /><Relationship Type="http://schemas.openxmlformats.org/officeDocument/2006/relationships/notesSlide" Target="/ppt/notesSlides/notesSlide5.xml" Id="R2f8245c05bcf40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21C9E-04A4-4271-AE97-F9E90D57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96543-42F4-40E1-B891-137A94D6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FY2026 planning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1DE2D-CE14-4ABC-99AD-6EB2005D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489BC-B08F-41B0-B165-DEACC327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47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FY2026</a:t>
            </a:r>
          </a:p>
          <a:p xmlns:a="http://schemas.openxmlformats.org/drawingml/2006/main">
            <a:pPr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planning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42E8F-D4A8-4394-A5F5-B79EE7F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</a:defRPr>
            </a:pPr>
            <a:r>
              <a:rPr sz="1800" b="0">
                <a:solidFill>
                  <a:srgbClr val="52616B"/>
                </a:solidFill>
              </a:rPr>
              <a:t>A decision-ready operating system for Product Alpha Q3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827ED-0DDC-46A0-A9B6-7D5BFEC7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AF3E0-91CF-42B0-BC6D-B98AF718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M-27</a:t>
            </a:r>
          </a:p>
          <a:p xmlns:a="http://schemas.openxmlformats.org/drawingml/2006/main">
            <a:pPr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2026-07-13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76001-54B4-4B01-987F-8F16C45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B2545"/>
                </a:solidFill>
              </a:defRPr>
            </a:pPr>
            <a:r>
              <a:rPr sz="1500" b="0">
                <a:solidFill>
                  <a:srgbClr val="0B2545"/>
                </a:solidFill>
              </a:rPr>
              <a:t>Baseline 18.4%</a:t>
            </a:r>
          </a:p>
          <a:p xmlns:a="http://schemas.openxmlformats.org/drawingml/2006/main">
            <a:pPr>
              <a:defRPr sz="1500" b="0">
                <a:solidFill>
                  <a:srgbClr val="0B2545"/>
                </a:solidFill>
              </a:defRPr>
            </a:pPr>
            <a:r>
              <a:rPr sz="1500" b="0">
                <a:solidFill>
                  <a:srgbClr val="0B2545"/>
                </a:solidFill>
              </a:rPr>
              <a:t>Target 26.0%</a:t>
            </a:r>
          </a:p>
        </p:txBody>
      </p:sp>
    </p:spTree>
    <p:extLst>
      <p:ext uri="{BB962C8B-B14F-4D97-AF65-F5344CB8AC3E}">
        <p14:creationId xmlns:p14="http://schemas.microsoft.com/office/powerpoint/2010/main" val="1096694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F6531-BE69-4752-AC3C-851F51BA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229EB-34B9-49EA-B422-AFC66901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FY2026 planning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EAA45-55FA-4287-B79B-78DA5AB0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75E85-6C57-44E6-90E6-63A79BD7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Plan around a stable outcome definition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59135-E082-4A14-9CFA-52A1B60E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Adoption is not a slogan; it is a governed calculation.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D94B9-22AA-4799-A8C9-8DBBE6D8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334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A5F21-7E60-4AA3-BC00-A61C1A53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ADOPTION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C146-CB58-4CA7-8B7C-FD4F3DAF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228 / 1,240 = 18.4%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7A87E-A000-4A45-9A34-AC1F28C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Eligible workspaces completing a first governed workflow within 14 days of enablement.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6B14D-8A8E-4BF7-A07A-4DE80C98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98E48-EA89-4BF6-9937-D199D81E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19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Q3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EC2F4-8355-4B3F-8206-4AC5D59F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2545"/>
                </a:solidFill>
              </a:defRPr>
            </a:pPr>
            <a:r>
              <a:rPr sz="3300" b="1">
                <a:solidFill>
                  <a:srgbClr val="0B2545"/>
                </a:solidFill>
              </a:rPr>
              <a:t>26.0%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6C2AD-7C94-4B24-ADFB-EB98778E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100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Hold the cohort definition constant so the result can drive a decision.</a:t>
            </a:r>
          </a:p>
        </p:txBody>
      </p:sp>
    </p:spTree>
    <p:extLst>
      <p:ext uri="{BB962C8B-B14F-4D97-AF65-F5344CB8AC3E}">
        <p14:creationId xmlns:p14="http://schemas.microsoft.com/office/powerpoint/2010/main" val="2031198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17289-C6A1-481E-999C-805F104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D97DE-2F70-41AF-BABA-87E9E3BE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FY2026 planning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521CF-7BF9-4A1C-8227-DCDBD160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A0570-7E10-4212-8DEE-DD10ED79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Evidence must change the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23600-57C4-47E9-AD66-1314CD1A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Use a compact score to compare initiatives without hiding trade-offs.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EC5B5-C262-4BF3-8487-3DA889DA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076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18C49-5533-403B-87A0-9F73F3B3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Criterion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3BEA6-8056-44DA-A6C3-E51E8A9C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Weight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44B38-145F-471A-98EF-B003C566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05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545"/>
                </a:solidFill>
              </a:defRPr>
            </a:pPr>
            <a:r>
              <a:rPr sz="1275" b="1">
                <a:solidFill>
                  <a:srgbClr val="0B2545"/>
                </a:solidFill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F4BC9-F6EB-4471-BD8C-6EEC9221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76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C3724-5809-4623-8706-E402F8B3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Outcome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6CEFE-50A3-439F-9BE2-F6BF562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07D6D-9CA0-4967-8FD6-327DF076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00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Does it move 14-day adoption?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9BA93-B03E-4932-ACDA-57261D3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076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6FA88-5D00-4B67-905A-553092B3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Evidence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CE0CE-85EE-4816-84CC-9810FEA2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7B24E-0413-4C49-875B-32D3842A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95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Is the signal cohort-grounded?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B489A-75DC-45F3-8DAC-37043B56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076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59D80-A28C-4C50-9314-33BCBBF8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Delivery 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8FFC1-D19F-42BE-8539-552133CF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47A97-8E78-4B2E-BA80-EE20CC5B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90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Can it ship in the window?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5E64B-D680-47F8-99D4-2654BC72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076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CE46A-D820-43C2-8019-8D042FE8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B30D7-2759-4F64-9F71-18C1FA6C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9925F0-BD62-435D-8F2D-697C8C72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8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Is the owner and gate clear?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C5113-86D4-4F6E-91BC-3A86BC67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076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4001B-BBF8-47B5-91F8-B2D4087A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Learning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545F23-271B-498B-AF09-CFD3B839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81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FAA20-2041-44C4-9CA7-B6DA6A25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81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2545"/>
                </a:solidFill>
              </a:defRPr>
            </a:pPr>
            <a:r>
              <a:rPr sz="1200" b="0">
                <a:solidFill>
                  <a:srgbClr val="0B2545"/>
                </a:solidFill>
              </a:rPr>
              <a:t>Will feedback change a decision?</a:t>
            </a:r>
          </a:p>
        </p:txBody>
      </p:sp>
    </p:spTree>
    <p:extLst>
      <p:ext uri="{BB962C8B-B14F-4D97-AF65-F5344CB8AC3E}">
        <p14:creationId xmlns:p14="http://schemas.microsoft.com/office/powerpoint/2010/main" val="1807839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1834AC-FAD5-4C89-88F8-74A6ED3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53454-269F-445B-A09E-185129B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FY2026 planning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198D9-03F4-4A2E-B788-4006F2C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84210-F77D-4D3E-8C36-2EE7ABEB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Governance makes commitments legible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A9B8B-A61A-4ABB-94BA-815AA391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Decisions move through a small set of accountable forums.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D1013-C418-402E-99C4-FF5A2B04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47ACB-9278-4776-9D5A-7C0DB4C9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Metric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FCE3A-92F0-4AB7-98E1-528AF5ED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Analytics partner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7B30C-B0A5-4CB2-9E2E-939B9D49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2545"/>
                </a:solidFill>
              </a:defRPr>
            </a:pPr>
            <a:r>
              <a:rPr sz="1350" b="0">
                <a:solidFill>
                  <a:srgbClr val="0B2545"/>
                </a:solidFill>
              </a:rPr>
              <a:t>Health note + exception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25825-CA76-480B-B379-CAB26500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765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B607A-51C1-446B-B0BC-51B5918D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Dependency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9A25C-B348-494E-A64F-97B2E704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861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PM +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D4922-D73A-4B22-9976-358048F8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62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2545"/>
                </a:solidFill>
              </a:defRPr>
            </a:pPr>
            <a:r>
              <a:rPr sz="1350" b="0">
                <a:solidFill>
                  <a:srgbClr val="0B2545"/>
                </a:solidFill>
              </a:rPr>
              <a:t>Named accepter + 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EA00F-1453-49B4-ADC6-00B33B70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F0229-8B34-48C1-8889-95C3142C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Portfolio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AF68D-202E-4037-A6BC-041F37E7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Portfolio chair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BD17A-881C-44FC-AC79-C85FA8C6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2545"/>
                </a:solidFill>
              </a:defRPr>
            </a:pPr>
            <a:r>
              <a:rPr sz="1350" b="0">
                <a:solidFill>
                  <a:srgbClr val="0B2545"/>
                </a:solidFill>
              </a:rPr>
              <a:t>Sequencing decision at M-27</a:t>
            </a:r>
          </a:p>
        </p:txBody>
      </p:sp>
    </p:spTree>
    <p:extLst>
      <p:ext uri="{BB962C8B-B14F-4D97-AF65-F5344CB8AC3E}">
        <p14:creationId xmlns:p14="http://schemas.microsoft.com/office/powerpoint/2010/main" val="840167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66F5C-A02A-4028-8E66-D23D46FC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</a:defRPr>
            </a:pPr>
            <a:r>
              <a:rPr sz="975" b="1">
                <a:solidFill>
                  <a:srgbClr val="52616B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FF37B-BF45-4458-9D7C-3D770892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</a:defRPr>
            </a:pPr>
            <a:r>
              <a:rPr sz="900" b="0">
                <a:solidFill>
                  <a:srgbClr val="52616B"/>
                </a:solidFill>
              </a:rPr>
              <a:t>FY2026 planning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11FC4-D5D3-4C71-95A0-4B6951D6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82862-FF8B-4676-BE81-220541D5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M-27 commitment is a measurable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EC20E-12DF-4454-8104-17C0372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Protect instrumentation, make the trade-off explicit, and keep the adoption target testable.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CDE80-CD3B-4653-864D-91483373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076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DC463-9777-4E20-9891-BDB4A023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FBEEE-E4A1-4131-83B8-6F7408E1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Protect onboarding instrumentation; defer non-critical customization.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2949A-51C4-4C79-B1BB-3662E080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Success gate: 26.0% adoption with a stable eligible-workspace denominator.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B26B1-A74F-4870-B2F3-F774174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B2545"/>
                </a:solidFill>
              </a:defRPr>
            </a:pPr>
            <a:r>
              <a:rPr sz="1575" b="0">
                <a:solidFill>
                  <a:srgbClr val="0B2545"/>
                </a:solidFill>
              </a:rPr>
              <a:t>Next review: analytics validates cohort exclusions by 2026-07-17.</a:t>
            </a:r>
          </a:p>
        </p:txBody>
      </p:sp>
    </p:spTree>
    <p:extLst>
      <p:ext uri="{BB962C8B-B14F-4D97-AF65-F5344CB8AC3E}">
        <p14:creationId xmlns:p14="http://schemas.microsoft.com/office/powerpoint/2010/main" val="1803637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2026-08-23T15:07:38.2550000Z</dcterms:created>
  <dcterms:modified xsi:type="dcterms:W3CDTF">2026-08-23T15:07:38.2550000Z</dcterms:modified>
</coreProperties>
</file>