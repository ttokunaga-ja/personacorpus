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8c8a55ba644323" /><Relationship Type="http://schemas.openxmlformats.org/officeDocument/2006/relationships/extended-properties" Target="/docProps/app.xml" Id="R35a248de2c4f40fa" /><Relationship Type="http://schemas.openxmlformats.org/officeDocument/2006/relationships/officeDocument" Target="/ppt/presentation.xml" Id="R66aa8c97325a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f4c3e5d244456e"/>
  </p:sldMasterIdLst>
  <p:notesMasterIdLst>
    <p:notesMasterId xmlns:r="http://schemas.openxmlformats.org/officeDocument/2006/relationships" r:id="Ra1b3ad4cbf2145e0"/>
  </p:notesMasterIdLst>
  <p:sldIdLst>
    <p:sldId xmlns:r="http://schemas.openxmlformats.org/officeDocument/2006/relationships" id="256" r:id="R56602712a29f4284"/>
    <p:sldId xmlns:r="http://schemas.openxmlformats.org/officeDocument/2006/relationships" id="257" r:id="R5f30e0ab95664f7f"/>
    <p:sldId xmlns:r="http://schemas.openxmlformats.org/officeDocument/2006/relationships" id="258" r:id="R837a0436237f4624"/>
    <p:sldId xmlns:r="http://schemas.openxmlformats.org/officeDocument/2006/relationships" id="259" r:id="R32ab91f9875b49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b23d3d8eb64f15" /><Relationship Type="http://schemas.openxmlformats.org/officeDocument/2006/relationships/slideMaster" Target="/ppt/slideMasters/slideMaster1.xml" Id="R4df4c3e5d244456e" /><Relationship Type="http://schemas.openxmlformats.org/officeDocument/2006/relationships/notesMaster" Target="/ppt/notesMasters/notesMaster1.xml" Id="Ra1b3ad4cbf2145e0" /><Relationship Type="http://schemas.openxmlformats.org/officeDocument/2006/relationships/presProps" Target="/ppt/presProps.xml" Id="Re88b42959fe3427f" /><Relationship Type="http://schemas.openxmlformats.org/officeDocument/2006/relationships/tableStyles" Target="/ppt/tableStyles.xml" Id="Rda64390043044fe7" /><Relationship Type="http://schemas.openxmlformats.org/officeDocument/2006/relationships/slide" Target="/ppt/slides/slide1.xml" Id="R56602712a29f4284" /><Relationship Type="http://schemas.openxmlformats.org/officeDocument/2006/relationships/slide" Target="/ppt/slides/slide2.xml" Id="R5f30e0ab95664f7f" /><Relationship Type="http://schemas.openxmlformats.org/officeDocument/2006/relationships/slide" Target="/ppt/slides/slide3.xml" Id="R837a0436237f4624" /><Relationship Type="http://schemas.openxmlformats.org/officeDocument/2006/relationships/slide" Target="/ppt/slides/slide4.xml" Id="R32ab91f9875b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7f2195402e4c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20b1bbb16a4781" /><Relationship Type="http://schemas.openxmlformats.org/officeDocument/2006/relationships/notesMaster" Target="/ppt/notesMasters/notesMaster1.xml" Id="R69ee5d9b1b1c4d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8a3f6b48ed473a" /><Relationship Type="http://schemas.openxmlformats.org/officeDocument/2006/relationships/notesMaster" Target="/ppt/notesMasters/notesMaster1.xml" Id="R5eee06b8c3cd4b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c0ba0ee18c41d3" /><Relationship Type="http://schemas.openxmlformats.org/officeDocument/2006/relationships/notesMaster" Target="/ppt/notesMasters/notesMaster1.xml" Id="Rddb3ed3296024e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3b96a106e4193" /><Relationship Type="http://schemas.openxmlformats.org/officeDocument/2006/relationships/notesMaster" Target="/ppt/notesMasters/notesMaster1.xml" Id="R9ca261ba378a49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1c56c9db24e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d85398880d4622" /><Relationship Type="http://schemas.openxmlformats.org/officeDocument/2006/relationships/slideLayout" Target="/ppt/slideLayouts/slideLayout1.xml" Id="R18cfe7e78993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cfe7e78993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5ca2a0bde4880" /><Relationship Type="http://schemas.openxmlformats.org/officeDocument/2006/relationships/notesSlide" Target="/ppt/notesSlides/notesSlide1.xml" Id="Rd9d66d14f71247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4dc3d201544b4" /><Relationship Type="http://schemas.openxmlformats.org/officeDocument/2006/relationships/notesSlide" Target="/ppt/notesSlides/notesSlide2.xml" Id="R500ba98da61e43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f763bb9704c16" /><Relationship Type="http://schemas.openxmlformats.org/officeDocument/2006/relationships/notesSlide" Target="/ppt/notesSlides/notesSlide3.xml" Id="R3b7e2781fc25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b787b928f48d9" /><Relationship Type="http://schemas.openxmlformats.org/officeDocument/2006/relationships/notesSlide" Target="/ppt/notesSlides/notesSlide4.xml" Id="R933f8807db814e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1389AC-0EB9-461E-B246-F2326F2C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JUNIPER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ABE7B-3B6A-4127-B1E4-0A4FB00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9525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20618"/>
                </a:solidFill>
              </a:defRPr>
            </a:pPr>
            <a:r>
              <a:rPr sz="6000" b="1">
                <a:solidFill>
                  <a:srgbClr val="020618"/>
                </a:solidFill>
              </a:rPr>
              <a:t>Market landscape</a:t>
            </a:r>
          </a:p>
          <a:p xmlns:a="http://schemas.openxmlformats.org/drawingml/2006/main">
            <a:pPr>
              <a:defRPr sz="6000" b="1">
                <a:solidFill>
                  <a:srgbClr val="020618"/>
                </a:solidFill>
              </a:defRPr>
            </a:pPr>
            <a:r>
              <a:rPr sz="6000" b="1">
                <a:solidFill>
                  <a:srgbClr val="020618"/>
                </a:solidFill>
              </a:rPr>
              <a:t>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32E0F-446A-4EE3-BC2E-8F9A6401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Product Alpha Q3  |  Synthetic planning evidence  |  13 Jul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00FE8-8BB2-479B-A089-D64210C0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5DFC"/>
                </a:solidFill>
              </a:defRPr>
            </a:pPr>
            <a:r>
              <a:rPr sz="1500" b="1">
                <a:solidFill>
                  <a:srgbClr val="155DFC"/>
                </a:solidFill>
              </a:rPr>
              <a:t>18.4% -&gt; 26.0% adoption hypothesis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5915D-7939-4919-A8C6-88D14144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JUNIPER WORKS  /  PRODUCT ALPHA Q3  /  SYNTHETIC RESEARCH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B7C18-67EB-47F1-8CDB-BF1147E9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60021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C8B37-75D7-4619-A019-B9EFCE4F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The market signal is a coordination gap, not a feature race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8E2EB-23DE-45E7-8E14-25115D64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Fictional comparison set: CedarSuite, OrbitLane, Northpeak Hub.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C836E-DDF6-43AE-8B49-B51D5FB8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82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B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95E87-01FB-4F99-B876-3179F36F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84976-DF12-48AF-942F-0D02BA53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335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83551-165C-4656-BC41-C69234F9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335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PM IMPLICATION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6881E-D060-402D-AB7E-18B5EFA3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1382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6F8FB-9117-4336-BCF6-6F4A43B9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Workflow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FE8FF-8D7C-40A4-AD54-6933A312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38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CedarSuite templates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7D532-98A0-486B-85AB-912D5BD7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38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Guided intake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97EA9-E603-49EB-B624-169FC49D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1382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8BD02-E36A-451B-93F0-6366E31E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43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Signal routing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814A1-C1C7-4B4F-88A4-293B0598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432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OrbitLane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0A23C-B6CE-41AD-93B3-5A33B020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432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One shared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0DBED-3767-4329-99CC-BE7AB739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76675"/>
            <a:ext cx="11382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2CAF4-6479-4D33-B64C-4DF80300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Adoption reporting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CE094-4140-48F3-8AA0-AEC17065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48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Northpeak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47B32-07AD-402D-800C-A90A8E91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Expose stalls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56645-D605-4EA8-A273-C7D9EE47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81525"/>
            <a:ext cx="11382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773DB-30F4-4251-856F-28A911D4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Pricing posture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47441-CF83-4AF5-8F1E-E4EACE50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529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Value arrives late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F50BE-2374-4CA8-BAA1-88C1234C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529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Test before tier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176F67-43DD-4E15-87F8-4BE80CBE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5DFC"/>
                </a:solidFill>
              </a:defRPr>
            </a:pPr>
            <a:r>
              <a:rPr sz="1800" b="1">
                <a:solidFill>
                  <a:srgbClr val="155DFC"/>
                </a:solidFill>
              </a:rPr>
              <a:t>Readout: compete on a shorter coordination loop, not a feature catalogue.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E9915-D7F1-4858-B203-813728BF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JUNIPER WORKS  /  PRODUCT ALPHA Q3  /  SYNTHETIC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09186B-83FD-41EE-9DCC-666484FF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636747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AFDE6-B572-43D9-90F2-8C1D2DC7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Adoption hypothesis: 18.4% to 26.0% with a faster first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A618E-10B2-4985-B3A7-69968715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0370"/>
            <a:ext cx="876300" cy="2278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E6938-6C17-4EBE-804C-5A77EE03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699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18.4%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09C19-958A-45E5-B6F6-74771F10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7212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78F37-3D6F-414D-AA66-1895FAB1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38425"/>
            <a:ext cx="87630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448B2-4BAF-43F0-907B-1CB0730F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21%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36970-E9B4-4D30-AA8E-163BDE02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7212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Guided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8D3B5-E4BA-429A-B3AF-BCBBA046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54568"/>
            <a:ext cx="876300" cy="29841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7D422-1168-4BB2-AF42-ACC17490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1193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24.1%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291D6-C657-4CCB-BB58-AD0A9C02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57212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Shared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DFFBD-26A0-42B9-85F6-9AB31711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19300"/>
            <a:ext cx="8763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882E7-EBF5-4CDB-90FB-C448642E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859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26%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FCE0D-2157-470D-8AB0-7BC2DD4F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57212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Visible reporting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38654-0FB4-48B6-9A3C-433FBBEC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23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C0D07-7738-4DAC-AC1F-0FCD0D8B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FC5A5-49E0-4399-B775-0E47F891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Guided intake makes first coordinated review visible.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B69C3-C2A5-44C4-808A-7CE29BA1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523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24264C-CA64-4629-8E42-7E383C6C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055BB-B45D-4249-80E4-F949537D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1,240 synthetic workspaces; directional planning, not forecast.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C0A9CC-1632-45FE-A311-B6B64A0F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23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80B0C-B360-4C76-981F-636BE790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07C0F-E555-40B2-82C4-D6E36A01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Protect M-27 as an evidence checkpoint on 18 Sep.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7EEE6-CCF6-47AB-BADA-4FC51603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JUNIPER WORKS  /  PRODUCT ALPHA Q3  /  SYNTHETIC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D6DDD-3C18-4D7E-A519-9C02FB62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7387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5073F-11B4-4703-B485-B25D9557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20618"/>
                </a:solidFill>
              </a:defRPr>
            </a:pPr>
            <a:r>
              <a:rPr sz="2925" b="1">
                <a:solidFill>
                  <a:srgbClr val="020618"/>
                </a:solidFill>
              </a:rPr>
              <a:t>M-27: use the next 67 days to falsify the adoption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7220C-4DF8-4D3A-9A0F-A631131F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714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A70C4-5D76-4044-98DC-C2CEDB23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13 Jul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F004C-4606-45DB-8D7A-5174AE72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575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0A1B9"/>
                </a:solidFill>
              </a:defRPr>
            </a:pPr>
            <a:r>
              <a:rPr sz="1500" b="0">
                <a:solidFill>
                  <a:srgbClr val="90A1B9"/>
                </a:solidFill>
              </a:rPr>
              <a:t>-&gt;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8E95A-E88E-4D7C-A0FF-112B057C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67000"/>
            <a:ext cx="1714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5EF48-8853-448B-BCC0-1181097A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2417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27 Jul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Instrument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F6EC9-5979-4884-A109-98C5ADC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575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0A1B9"/>
                </a:solidFill>
              </a:defRPr>
            </a:pPr>
            <a:r>
              <a:rPr sz="1500" b="0">
                <a:solidFill>
                  <a:srgbClr val="90A1B9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2373C-84B1-40C6-A009-97235F5B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1714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C9807-31DE-4BE3-B112-FDF702E6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2417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17 Aug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4A4B8-5996-4D2C-AF13-5DDA5D4D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575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0A1B9"/>
                </a:solidFill>
              </a:defRPr>
            </a:pPr>
            <a:r>
              <a:rPr sz="1500" b="0">
                <a:solidFill>
                  <a:srgbClr val="90A1B9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A2476-F1F9-47DE-9305-200CA924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1714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2C865-B3EA-4087-BC63-3FC96985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2417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04 Sep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4B05E-5A2F-48BD-B09C-3FC12729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575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0A1B9"/>
                </a:solidFill>
              </a:defRPr>
            </a:pPr>
            <a:r>
              <a:rPr sz="1500" b="0">
                <a:solidFill>
                  <a:srgbClr val="90A1B9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4D405-C512-43D7-8C28-D664551D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1714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A76F7-9FCC-4EFA-8860-6F2E5B08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24175"/>
            <a:ext cx="138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18 Sep</a:t>
            </a:r>
          </a:p>
          <a:p xmlns:a="http://schemas.openxmlformats.org/drawingml/2006/main">
            <a:pPr>
              <a:defRPr sz="1500" b="1">
                <a:solidFill>
                  <a:srgbClr val="020618"/>
                </a:solidFill>
              </a:defRPr>
            </a:pPr>
            <a:r>
              <a:rPr sz="1500" b="1">
                <a:solidFill>
                  <a:srgbClr val="020618"/>
                </a:solidFill>
              </a:rPr>
              <a:t>M-27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10CED-0A52-42D7-A6B3-61F79657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Measure the first completed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3F664-B9AB-4B52-934A-E3B1F4CE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Sequence: guided intake -&gt; shared review -&gt; adoption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41DC9-4110-4B9B-8D2F-607394BF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JUNIPER WORKS  /  PRODUCT ALPHA Q3  /  SYNTHETIC 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1D566-5999-48BC-AA08-E93F991E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7142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2026-08-23T15:15:58.2480000Z</dcterms:created>
  <dcterms:modified xsi:type="dcterms:W3CDTF">2026-08-23T15:15:58.2480000Z</dcterms:modified>
</coreProperties>
</file>