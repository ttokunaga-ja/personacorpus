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15de4d99d408e" /><Relationship Type="http://schemas.openxmlformats.org/officeDocument/2006/relationships/extended-properties" Target="/docProps/app.xml" Id="Ra1dfed032be64352" /><Relationship Type="http://schemas.openxmlformats.org/officeDocument/2006/relationships/officeDocument" Target="/ppt/presentation.xml" Id="R9ebcd7c911f3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882cfbd4634350"/>
  </p:sldMasterIdLst>
  <p:notesMasterIdLst>
    <p:notesMasterId xmlns:r="http://schemas.openxmlformats.org/officeDocument/2006/relationships" r:id="R46151f012a004741"/>
  </p:notesMasterIdLst>
  <p:sldIdLst>
    <p:sldId xmlns:r="http://schemas.openxmlformats.org/officeDocument/2006/relationships" id="256" r:id="R8d65e974d6aa4c1b"/>
    <p:sldId xmlns:r="http://schemas.openxmlformats.org/officeDocument/2006/relationships" id="257" r:id="Rbca46594664e4e4e"/>
    <p:sldId xmlns:r="http://schemas.openxmlformats.org/officeDocument/2006/relationships" id="258" r:id="Raedbae296208489e"/>
    <p:sldId xmlns:r="http://schemas.openxmlformats.org/officeDocument/2006/relationships" id="259" r:id="Rbfa5c544c4344561"/>
    <p:sldId xmlns:r="http://schemas.openxmlformats.org/officeDocument/2006/relationships" id="260" r:id="Rb2e8bb7396d542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b079ba40f94ce5" /><Relationship Type="http://schemas.openxmlformats.org/officeDocument/2006/relationships/slideMaster" Target="/ppt/slideMasters/slideMaster1.xml" Id="Rd3882cfbd4634350" /><Relationship Type="http://schemas.openxmlformats.org/officeDocument/2006/relationships/notesMaster" Target="/ppt/notesMasters/notesMaster1.xml" Id="R46151f012a004741" /><Relationship Type="http://schemas.openxmlformats.org/officeDocument/2006/relationships/presProps" Target="/ppt/presProps.xml" Id="R9adda384064646e8" /><Relationship Type="http://schemas.openxmlformats.org/officeDocument/2006/relationships/tableStyles" Target="/ppt/tableStyles.xml" Id="R7d105f2b65074e0a" /><Relationship Type="http://schemas.openxmlformats.org/officeDocument/2006/relationships/slide" Target="/ppt/slides/slide1.xml" Id="R8d65e974d6aa4c1b" /><Relationship Type="http://schemas.openxmlformats.org/officeDocument/2006/relationships/slide" Target="/ppt/slides/slide2.xml" Id="Rbca46594664e4e4e" /><Relationship Type="http://schemas.openxmlformats.org/officeDocument/2006/relationships/slide" Target="/ppt/slides/slide3.xml" Id="Raedbae296208489e" /><Relationship Type="http://schemas.openxmlformats.org/officeDocument/2006/relationships/slide" Target="/ppt/slides/slide4.xml" Id="Rbfa5c544c4344561" /><Relationship Type="http://schemas.openxmlformats.org/officeDocument/2006/relationships/slide" Target="/ppt/slides/slide5.xml" Id="Rb2e8bb7396d542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56ee7a85049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b6f63685004fad" /><Relationship Type="http://schemas.openxmlformats.org/officeDocument/2006/relationships/notesMaster" Target="/ppt/notesMasters/notesMaster1.xml" Id="R9cc9dfb4d3e84d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e45f0617c74260" /><Relationship Type="http://schemas.openxmlformats.org/officeDocument/2006/relationships/notesMaster" Target="/ppt/notesMasters/notesMaster1.xml" Id="Rbb5bcd4623dd42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bb4853c74f4ed2" /><Relationship Type="http://schemas.openxmlformats.org/officeDocument/2006/relationships/notesMaster" Target="/ppt/notesMasters/notesMaster1.xml" Id="R0e2974f8398d49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b9fabfc6244014" /><Relationship Type="http://schemas.openxmlformats.org/officeDocument/2006/relationships/notesMaster" Target="/ppt/notesMasters/notesMaster1.xml" Id="R0220b8b31d5e4d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9855954b6c4fa8" /><Relationship Type="http://schemas.openxmlformats.org/officeDocument/2006/relationships/notesMaster" Target="/ppt/notesMasters/notesMaster1.xml" Id="R5072f5797545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508d4cc0048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1ec63c8e44b92" /><Relationship Type="http://schemas.openxmlformats.org/officeDocument/2006/relationships/slideLayout" Target="/ppt/slideLayouts/slideLayout1.xml" Id="R948897cc8f0b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8897cc8f0b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686b935154692" /><Relationship Type="http://schemas.openxmlformats.org/officeDocument/2006/relationships/notesSlide" Target="/ppt/notesSlides/notesSlide1.xml" Id="Ra14fe7b676ab46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3837cc5984a7c" /><Relationship Type="http://schemas.openxmlformats.org/officeDocument/2006/relationships/notesSlide" Target="/ppt/notesSlides/notesSlide2.xml" Id="Rb37efe78fa9a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4348ac92a494a" /><Relationship Type="http://schemas.openxmlformats.org/officeDocument/2006/relationships/chart" Target="/ppt/slides/charts/chart1.xml" Id="Re0bb8c654191449a" /><Relationship Type="http://schemas.openxmlformats.org/officeDocument/2006/relationships/notesSlide" Target="/ppt/notesSlides/notesSlide3.xml" Id="Reb1ed7bce5c3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c9cd3a95d4e30" /><Relationship Type="http://schemas.openxmlformats.org/officeDocument/2006/relationships/notesSlide" Target="/ppt/notesSlides/notesSlide4.xml" Id="R14cb3db87ab24f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904ddf6ca471e" /><Relationship Type="http://schemas.openxmlformats.org/officeDocument/2006/relationships/notesSlide" Target="/ppt/notesSlides/notesSlide5.xml" Id="R2cc957d7544949e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14d activation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Jun W1</c:v>
              </c:pt>
              <c:pt idx="1">
                <c:v>Jun W2</c:v>
              </c:pt>
              <c:pt idx="2">
                <c:v>Jun W3</c:v>
              </c:pt>
              <c:pt idx="3">
                <c:v>Jun W4</c:v>
              </c:pt>
            </c:strLit>
          </c:cat>
          <c:val>
            <c:numLit>
              <c:formatCode>General</c:formatCode>
              <c:ptCount val="4"/>
              <c:pt idx="0">
                <c:v>17.7</c:v>
              </c:pt>
              <c:pt idx="1">
                <c:v>18.4</c:v>
              </c:pt>
              <c:pt idx="2">
                <c:v>19.4</c:v>
              </c:pt>
              <c:pt idx="3">
                <c:v>18.1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A539C-EBEC-4115-A0AD-2FED1266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5D6A"/>
                </a:solidFill>
              </a:defRPr>
            </a:pPr>
            <a:r>
              <a:rPr sz="1950" b="1">
                <a:solidFill>
                  <a:srgbClr val="1F5D6A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D185C-E163-40AE-93ED-EF7187AA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828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Product Alpha Q3</a:t>
            </a:r>
          </a:p>
          <a:p xmlns:a="http://schemas.openxmlformats.org/drawingml/2006/main">
            <a:pPr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metrics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F619C-02E6-47A6-90E3-D9D7C48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rPr sz="1950" b="0">
                <a:solidFill>
                  <a:srgbClr val="52616B"/>
                </a:solidFill>
              </a:rPr>
              <a:t>M-27 decision review · 2026-09-18</a:t>
            </a:r>
          </a:p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rPr sz="1950" b="0">
                <a:solidFill>
                  <a:srgbClr val="52616B"/>
                </a:solidFill>
              </a:rPr>
              <a:t>Synthetic analytics snapshot as-of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A71BE-87D5-4178-82C1-1EC5927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Juniper Works | Product Alpha Q3 | as-of 2026-07-13 | 01</a:t>
            </a:r>
          </a:p>
        </p:txBody>
      </p:sp>
    </p:spTree>
    <p:extLst>
      <p:ext uri="{BB962C8B-B14F-4D97-AF65-F5344CB8AC3E}">
        <p14:creationId xmlns:p14="http://schemas.microsoft.com/office/powerpoint/2010/main" val="13574884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24D88-3A19-4C8C-B003-0AB89012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32BE4-2F5E-4037-A99E-A338BFE3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238"/>
                </a:solidFill>
              </a:defRPr>
            </a:pPr>
            <a:r>
              <a:rPr sz="2175" b="0">
                <a:solidFill>
                  <a:srgbClr val="263238"/>
                </a:solidFill>
              </a:rPr>
              <a:t>Prioritize assisted setup experiments: adoption is the binding constraint.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5A549-6E62-4A67-B36F-CC86606F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0763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EC9C6-3523-49FE-B5B0-EE8A5959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3642"/>
                </a:solidFill>
              </a:defRPr>
            </a:pPr>
            <a:r>
              <a:rPr sz="5400" b="1">
                <a:solidFill>
                  <a:srgbClr val="143642"/>
                </a:solidFill>
              </a:rPr>
              <a:t>18.4%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4D413-A870-4A11-A380-B91A5501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current adoption</a:t>
            </a:r>
          </a:p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228 / 1,240 eligible workspaces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FC6C1-DFD2-485A-9348-6CCF6B18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3642"/>
                </a:solidFill>
              </a:defRPr>
            </a:pPr>
            <a:r>
              <a:rPr sz="5400" b="1">
                <a:solidFill>
                  <a:srgbClr val="143642"/>
                </a:solidFill>
              </a:rPr>
              <a:t>26.0%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3CF84-76BE-443C-9C6C-F885258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29000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Q3 target</a:t>
            </a:r>
          </a:p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323 adopted workspaces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94542-5EEE-4EC2-B542-12272FED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06C3B"/>
                </a:solidFill>
              </a:defRPr>
            </a:pPr>
            <a:r>
              <a:rPr sz="5400" b="1">
                <a:solidFill>
                  <a:srgbClr val="D06C3B"/>
                </a:solidFill>
              </a:rPr>
              <a:t>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3A6F8-D9CD-4CE3-BF98-4227B95C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52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additional adoptions</a:t>
            </a:r>
          </a:p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8D114-BE6C-4063-B619-23625AE1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Juniper Works | Product Alpha Q3 | as-of 2026-07-13 | 02</a:t>
            </a:r>
          </a:p>
        </p:txBody>
      </p:sp>
    </p:spTree>
    <p:extLst>
      <p:ext uri="{BB962C8B-B14F-4D97-AF65-F5344CB8AC3E}">
        <p14:creationId xmlns:p14="http://schemas.microsoft.com/office/powerpoint/2010/main" val="4165334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61EDE-BD3A-431C-919F-6471DC9F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Cohort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8F82B-CD56-4B55-AE92-C1A2446B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238"/>
                </a:solidFill>
              </a:defRPr>
            </a:pPr>
            <a:r>
              <a:rPr sz="1800" b="0">
                <a:solidFill>
                  <a:srgbClr val="263238"/>
                </a:solidFill>
              </a:rPr>
              <a:t>June 14-day activation is consistently 17.7–19.4%; the issue is systematic, not a single cohort.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bb8c654191449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0A322-86D0-4867-BB5B-4AB29757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642"/>
                </a:solidFill>
              </a:defRPr>
            </a:pPr>
            <a:r>
              <a:rPr sz="1875" b="1">
                <a:solidFill>
                  <a:srgbClr val="143642"/>
                </a:solidFill>
              </a:rPr>
              <a:t>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00A38-F14C-4294-96CA-D963C8B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000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• No cohort clears 20%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• Setup completion is the first intervention point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• Keep retention work steady; it is closer to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CCD3C-0EF3-4641-9981-A787AE09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Juniper Works | Product Alpha Q3 | as-of 2026-07-13 | 03</a:t>
            </a:r>
          </a:p>
        </p:txBody>
      </p:sp>
    </p:spTree>
    <p:extLst>
      <p:ext uri="{BB962C8B-B14F-4D97-AF65-F5344CB8AC3E}">
        <p14:creationId xmlns:p14="http://schemas.microsoft.com/office/powerpoint/2010/main" val="18341671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45C242-7E07-4EFA-8AAB-7CB603A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M-27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F84F3-2EB2-46C7-9C34-86A25735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238"/>
                </a:solidFill>
              </a:defRPr>
            </a:pPr>
            <a:r>
              <a:rPr sz="1800" b="0">
                <a:solidFill>
                  <a:srgbClr val="263238"/>
                </a:solidFill>
              </a:rPr>
              <a:t>A single outcome, three leading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F3997-5717-460B-9354-9815ACE2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42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17528-587A-41C0-8304-6764538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ABC07-EF42-47FC-95FE-8CCEFCD3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42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4C0A7-9C61-4C78-A8AB-C72B6AA2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431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FBB7B-34EB-4CE7-AD6E-D1C29B19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42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C1363-CFF1-43CD-A1E8-182F9037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08880-9CC5-4075-B6FA-85D38464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42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8BFBA-1400-4ECE-84C2-AC7FC08D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C68C4-6B76-4902-8A2A-F6C43762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CCFCE-1602-4182-88F1-98BFC2B2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Adoption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6E9BB-D19A-4026-B220-5C4C5C05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19976-576E-4814-9B91-D7A30F4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955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18.4%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85D05-7450-42CD-924E-FE18D60F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88E15-B262-44C2-AADD-7EFCF9FA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26.0%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77295-CA4B-4621-9936-CEF52C49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F562B-187E-483E-B136-A49BC661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Needs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F1E27-6B38-4653-8950-F8B218D2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2E595-6083-4731-95D0-3484FDA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Activated workspaces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FF269-FA75-44C9-8162-DB6BB617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4CA50-5F80-4344-B622-9EA28B1E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48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F7F44-8F70-4249-9E50-FC14C554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96603-CAD1-48C3-A713-1AE21F4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323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A9A34-543D-4318-B47F-B282D1C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E4B58-F66B-49E7-9BAE-EFCA780A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Needs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B80EE-BFE8-4427-BCC3-3D3314C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2B310E-65D1-4281-AA0F-CB19B8D4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WAU among adopters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4EBF6-1562-4BAB-AECE-EAD4E38B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17447-FF18-439E-AE71-D1AA22DB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228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011E44-77EC-43C2-BEF3-1A1A7C01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05C7A2-69CB-4AAD-A814-1E054211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7B923-5EAD-47A7-B50B-90328977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55FC5-1BA7-438A-9910-E34DB6A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Watch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E20706-3FDD-4E54-8421-F9772F18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6D7B5E-4CE7-4161-9079-0F00D15B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D30 retention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E1E33F-E519-4206-8D66-61BD9332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F2345B-D45F-4BD2-8113-FD8ED1D4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529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67.1%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2B150B-52A3-4998-B412-78ED8D7F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DBA86A-F035-4551-BBC3-51FAB3C8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70.0%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5A131C-E424-4DCD-8895-123B03CA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A1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E1B0F9-89EC-4CCD-ABF9-1CB7A233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Watch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B7768B-AEB7-47F4-A209-8A932E8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3642"/>
                </a:solidFill>
              </a:defRPr>
            </a:pPr>
            <a:r>
              <a:rPr sz="2025" b="1">
                <a:solidFill>
                  <a:srgbClr val="143642"/>
                </a:solidFill>
              </a:rPr>
              <a:t>Decision ask: approve two assisted-setup variants and a weekly cohort readout through M-27.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7C4149-FFDF-4228-9FDA-3F2C44DE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Juniper Works | Product Alpha Q3 | as-of 2026-07-13 | 04</a:t>
            </a:r>
          </a:p>
        </p:txBody>
      </p:sp>
    </p:spTree>
    <p:extLst>
      <p:ext uri="{BB962C8B-B14F-4D97-AF65-F5344CB8AC3E}">
        <p14:creationId xmlns:p14="http://schemas.microsoft.com/office/powerpoint/2010/main" val="564697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DD8F8-AF99-4BC1-85EE-43CEFC65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Next 9 weeks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9D2A8-FF4F-43ED-892D-A9F6B266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238"/>
                </a:solidFill>
              </a:defRPr>
            </a:pPr>
            <a:r>
              <a:rPr sz="1800" b="0">
                <a:solidFill>
                  <a:srgbClr val="263238"/>
                </a:solidFill>
              </a:rPr>
              <a:t>Move the numerator while protecting the denominator.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1EA3A-96F8-4A3F-846A-D65FA6F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FAF55-A438-4EE2-A12B-F629FFC0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3642"/>
                </a:solidFill>
              </a:defRPr>
            </a:pPr>
            <a:r>
              <a:rPr sz="1725" b="1">
                <a:solidFill>
                  <a:srgbClr val="143642"/>
                </a:solidFill>
              </a:rPr>
              <a:t>Week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84181-436C-4652-94D7-7A53DBC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857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Instrument setup drop-off</a:t>
            </a:r>
          </a:p>
          <a:p xmlns:a="http://schemas.openxmlformats.org/drawingml/2006/main">
            <a:pPr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Confirm eligible denominator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9E4F6-2219-4A68-BDB1-C91F64A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8600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EB59F-D9AC-45A7-8D4A-D99C331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336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3642"/>
                </a:solidFill>
              </a:defRPr>
            </a:pPr>
            <a:r>
              <a:rPr sz="1725" b="1">
                <a:solidFill>
                  <a:srgbClr val="143642"/>
                </a:solidFill>
              </a:rPr>
              <a:t>Week 3–5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469CD-4F7D-4898-B6D3-5C5F6D2F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05150"/>
            <a:ext cx="1857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Run assisted setup variants</a:t>
            </a:r>
          </a:p>
          <a:p xmlns:a="http://schemas.openxmlformats.org/drawingml/2006/main">
            <a:pPr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Target 95 additional activations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5651E-E2BC-4C0C-87BC-270D06FA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8600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BD4C3-9FFA-4875-9A81-53C453A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336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3642"/>
                </a:solidFill>
              </a:defRPr>
            </a:pPr>
            <a:r>
              <a:rPr sz="1725" b="1">
                <a:solidFill>
                  <a:srgbClr val="143642"/>
                </a:solidFill>
              </a:rPr>
              <a:t>Week 6–8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31AA1-CDDF-419A-A6BA-4120F012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1857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Scale winning path</a:t>
            </a:r>
          </a:p>
          <a:p xmlns:a="http://schemas.openxmlformats.org/drawingml/2006/main">
            <a:pPr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Monitor WAU and D30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54792-211E-4315-ADC7-64DFABD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86000"/>
            <a:ext cx="2238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4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23F0E-6BA7-4A3D-9C72-9240A457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336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M-27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E406C-5E10-4535-8BEA-535AA41D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05150"/>
            <a:ext cx="1857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Decision review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2026-09-18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67214-A409-481C-AB17-5910598A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Definition guardrail: adoption = setup complete + first core workflow within 14 days of invitation.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971CE-6EFF-439D-8187-C40075ED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Juniper Works | Product Alpha Q3 | as-of 2026-07-13 | 05</a:t>
            </a:r>
          </a:p>
        </p:txBody>
      </p:sp>
    </p:spTree>
    <p:extLst>
      <p:ext uri="{BB962C8B-B14F-4D97-AF65-F5344CB8AC3E}">
        <p14:creationId xmlns:p14="http://schemas.microsoft.com/office/powerpoint/2010/main" val="1047258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2026-08-23T15:11:16.7650000Z</dcterms:created>
  <dcterms:modified xsi:type="dcterms:W3CDTF">2026-08-23T15:11:16.7650000Z</dcterms:modified>
</coreProperties>
</file>