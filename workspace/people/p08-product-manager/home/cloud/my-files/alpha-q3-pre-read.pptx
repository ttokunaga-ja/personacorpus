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59b9e53a8b49b8" /><Relationship Type="http://schemas.openxmlformats.org/officeDocument/2006/relationships/extended-properties" Target="/docProps/app.xml" Id="Ra68564c93f934fd3" /><Relationship Type="http://schemas.openxmlformats.org/officeDocument/2006/relationships/officeDocument" Target="/ppt/presentation.xml" Id="Re9e66093e1754b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5487404c544f4d"/>
  </p:sldMasterIdLst>
  <p:notesMasterIdLst>
    <p:notesMasterId xmlns:r="http://schemas.openxmlformats.org/officeDocument/2006/relationships" r:id="R8102199841a8415b"/>
  </p:notesMasterIdLst>
  <p:sldIdLst>
    <p:sldId xmlns:r="http://schemas.openxmlformats.org/officeDocument/2006/relationships" id="256" r:id="Rd4d8881d9250456d"/>
    <p:sldId xmlns:r="http://schemas.openxmlformats.org/officeDocument/2006/relationships" id="257" r:id="Rd21dbb97862a4031"/>
    <p:sldId xmlns:r="http://schemas.openxmlformats.org/officeDocument/2006/relationships" id="258" r:id="R593837cc77ed48f1"/>
    <p:sldId xmlns:r="http://schemas.openxmlformats.org/officeDocument/2006/relationships" id="259" r:id="Ra6c55abf9bf34e86"/>
    <p:sldId xmlns:r="http://schemas.openxmlformats.org/officeDocument/2006/relationships" id="260" r:id="Rd28d679928e943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d6ce8e5df44174" /><Relationship Type="http://schemas.openxmlformats.org/officeDocument/2006/relationships/slideMaster" Target="/ppt/slideMasters/slideMaster1.xml" Id="R035487404c544f4d" /><Relationship Type="http://schemas.openxmlformats.org/officeDocument/2006/relationships/notesMaster" Target="/ppt/notesMasters/notesMaster1.xml" Id="R8102199841a8415b" /><Relationship Type="http://schemas.openxmlformats.org/officeDocument/2006/relationships/presProps" Target="/ppt/presProps.xml" Id="R05cd8d71caec4d90" /><Relationship Type="http://schemas.openxmlformats.org/officeDocument/2006/relationships/tableStyles" Target="/ppt/tableStyles.xml" Id="R60c3f3d78f124c94" /><Relationship Type="http://schemas.openxmlformats.org/officeDocument/2006/relationships/slide" Target="/ppt/slides/slide1.xml" Id="Rd4d8881d9250456d" /><Relationship Type="http://schemas.openxmlformats.org/officeDocument/2006/relationships/slide" Target="/ppt/slides/slide2.xml" Id="Rd21dbb97862a4031" /><Relationship Type="http://schemas.openxmlformats.org/officeDocument/2006/relationships/slide" Target="/ppt/slides/slide3.xml" Id="R593837cc77ed48f1" /><Relationship Type="http://schemas.openxmlformats.org/officeDocument/2006/relationships/slide" Target="/ppt/slides/slide4.xml" Id="Ra6c55abf9bf34e86" /><Relationship Type="http://schemas.openxmlformats.org/officeDocument/2006/relationships/slide" Target="/ppt/slides/slide5.xml" Id="Rd28d679928e943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353eb7acd64d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0a4a4fe50f46fb" /><Relationship Type="http://schemas.openxmlformats.org/officeDocument/2006/relationships/notesMaster" Target="/ppt/notesMasters/notesMaster1.xml" Id="R05bf89b513104b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d7a86993a44fb2" /><Relationship Type="http://schemas.openxmlformats.org/officeDocument/2006/relationships/notesMaster" Target="/ppt/notesMasters/notesMaster1.xml" Id="Rabd12452826a4d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39e9b6f28c4214" /><Relationship Type="http://schemas.openxmlformats.org/officeDocument/2006/relationships/notesMaster" Target="/ppt/notesMasters/notesMaster1.xml" Id="R6e94aab831454b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7df8c57aea472c" /><Relationship Type="http://schemas.openxmlformats.org/officeDocument/2006/relationships/notesMaster" Target="/ppt/notesMasters/notesMaster1.xml" Id="Rb694a5f1ae7847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4763778cd74ff6" /><Relationship Type="http://schemas.openxmlformats.org/officeDocument/2006/relationships/notesMaster" Target="/ppt/notesMasters/notesMaster1.xml" Id="R1392bef9eacc4a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36eb8c60340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318f1304d64aab" /><Relationship Type="http://schemas.openxmlformats.org/officeDocument/2006/relationships/slideLayout" Target="/ppt/slideLayouts/slideLayout1.xml" Id="R9a319ce3b45041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319ce3b45041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0b94a4c8b4d1a" /><Relationship Type="http://schemas.openxmlformats.org/officeDocument/2006/relationships/notesSlide" Target="/ppt/notesSlides/notesSlide1.xml" Id="R8005d9dbcefd4d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b614f5adf47af" /><Relationship Type="http://schemas.openxmlformats.org/officeDocument/2006/relationships/notesSlide" Target="/ppt/notesSlides/notesSlide2.xml" Id="Re6d840636b884b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e3f78f16248e5" /><Relationship Type="http://schemas.openxmlformats.org/officeDocument/2006/relationships/notesSlide" Target="/ppt/notesSlides/notesSlide3.xml" Id="R08a13982091143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96472edd14673" /><Relationship Type="http://schemas.openxmlformats.org/officeDocument/2006/relationships/notesSlide" Target="/ppt/notesSlides/notesSlide4.xml" Id="Recd38367e9384d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2208f2d6647ff" /><Relationship Type="http://schemas.openxmlformats.org/officeDocument/2006/relationships/notesSlide" Target="/ppt/notesSlides/notesSlide5.xml" Id="Rddd89627685a4a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DE7C4-DAF3-4D3C-A2BB-6F17C493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16E"/>
                </a:solidFill>
              </a:defRPr>
            </a:pPr>
            <a:r>
              <a:rPr sz="1050" b="1">
                <a:solidFill>
                  <a:srgbClr val="53616E"/>
                </a:solidFill>
              </a:rPr>
              <a:t>JUNIPER WORKS |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57782-DBB9-4BF2-97BD-6C2400DF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8BB84-C610-4C8D-9ED6-172417C1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16E"/>
                </a:solidFill>
              </a:defRPr>
            </a:pPr>
            <a:r>
              <a:rPr sz="1050" b="1">
                <a:solidFill>
                  <a:srgbClr val="53616E"/>
                </a:solidFill>
              </a:rPr>
              <a:t>01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4C973-5E1E-4BDB-A9C1-CC97A998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00000"/>
                </a:solidFill>
              </a:defRPr>
            </a:pPr>
            <a:r>
              <a:rPr sz="4800" b="1">
                <a:solidFill>
                  <a:srgbClr val="000000"/>
                </a:solidFill>
              </a:rPr>
              <a:t>Q3 activation pre-read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D6D6B-34F6-4201-8F8B-CFAE08B5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16E"/>
                </a:solidFill>
              </a:defRPr>
            </a:pPr>
            <a:r>
              <a:rPr sz="2025" b="0">
                <a:solidFill>
                  <a:srgbClr val="53616E"/>
                </a:solidFill>
              </a:rPr>
              <a:t>Decision: approve the operating path to M-27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BE06D-8F20-434D-8F09-67F1842D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57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CB804-7011-42E8-AEB1-89CA0A8B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Target adoption: 18.4%  →  26.0%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E84AD-0BBF-4B3B-A5B5-235115D6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16E"/>
                </a:solidFill>
              </a:defRPr>
            </a:pPr>
            <a:r>
              <a:rPr sz="1350" b="0">
                <a:solidFill>
                  <a:srgbClr val="53616E"/>
                </a:solidFill>
              </a:rPr>
              <a:t>M-27  |  2026-09-18  |  Owner: PM-local-08</a:t>
            </a:r>
          </a:p>
        </p:txBody>
      </p:sp>
    </p:spTree>
    <p:extLst>
      <p:ext uri="{BB962C8B-B14F-4D97-AF65-F5344CB8AC3E}">
        <p14:creationId xmlns:p14="http://schemas.microsoft.com/office/powerpoint/2010/main" val="159064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252D8-29E9-4EB0-BF02-678AA23B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16E"/>
                </a:solidFill>
              </a:defRPr>
            </a:pPr>
            <a:r>
              <a:rPr sz="1050" b="1">
                <a:solidFill>
                  <a:srgbClr val="53616E"/>
                </a:solidFill>
              </a:rPr>
              <a:t>DECISION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5722B-C6CF-4A81-8349-F1A85FA7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67593-EC92-427C-806A-DCA66986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16E"/>
                </a:solidFill>
              </a:defRPr>
            </a:pPr>
            <a:r>
              <a:rPr sz="1050" b="1">
                <a:solidFill>
                  <a:srgbClr val="53616E"/>
                </a:solidFill>
              </a:rPr>
              <a:t>02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FDA15-766F-4A09-BCF1-24A38674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A path to close the 7.6-point gap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14F82-307D-459D-8CEB-1C333C4D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38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16E"/>
                </a:solidFill>
              </a:defRPr>
            </a:pPr>
            <a:r>
              <a:rPr sz="1800" b="0">
                <a:solidFill>
                  <a:srgbClr val="53616E"/>
                </a:solidFill>
              </a:rPr>
              <a:t>Adoption must rise 7.6 points by M-27. The plan creates a common metric, tests a lifecycle intervention, and reviews movement weekly.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E5A0C-2A03-4981-B2F4-4ACEB2CB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3337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FE93B-01C7-4108-95E1-042C4590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18.4%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F218C-7578-456D-9A3C-1F2F66BD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9557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16E"/>
                </a:solidFill>
              </a:defRPr>
            </a:pPr>
            <a:r>
              <a:rPr sz="1350" b="0">
                <a:solidFill>
                  <a:srgbClr val="53616E"/>
                </a:solidFill>
              </a:rPr>
              <a:t>current adoption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99398-8AFD-46D2-8FB7-B0C39E29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004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FDA16-4C53-455C-9143-5F7B07A3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242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26.0%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FB5BC-F003-46D6-9A2D-7358C8AF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0052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16E"/>
                </a:solidFill>
              </a:defRPr>
            </a:pPr>
            <a:r>
              <a:rPr sz="1350" b="0">
                <a:solidFill>
                  <a:srgbClr val="53616E"/>
                </a:solidFill>
              </a:rPr>
              <a:t>M-27 objective</a:t>
            </a:r>
          </a:p>
        </p:txBody>
      </p:sp>
    </p:spTree>
    <p:extLst>
      <p:ext uri="{BB962C8B-B14F-4D97-AF65-F5344CB8AC3E}">
        <p14:creationId xmlns:p14="http://schemas.microsoft.com/office/powerpoint/2010/main" val="641958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9AB36-A290-4B55-8436-F33E9139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16E"/>
                </a:solidFill>
              </a:defRPr>
            </a:pPr>
            <a:r>
              <a:rPr sz="1050" b="1">
                <a:solidFill>
                  <a:srgbClr val="53616E"/>
                </a:solidFill>
              </a:rPr>
              <a:t>OPERATING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AFCE1-AA00-452F-90EC-CE19DCD9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1334E-35F7-41CF-9787-3BA0D311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16E"/>
                </a:solidFill>
              </a:defRPr>
            </a:pPr>
            <a:r>
              <a:rPr sz="1050" b="1">
                <a:solidFill>
                  <a:srgbClr val="53616E"/>
                </a:solidFill>
              </a:rPr>
              <a:t>03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A6B9C-E8E8-49EA-868D-B87349D4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Three moves create a weekly learning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98E38-C0BE-4D81-9E7E-50086BB6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6781E-500C-45F7-AD20-A4489C6F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Define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ACA8B-9C8E-45BF-8B2E-6CEB8A9D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3616E"/>
                </a:solidFill>
              </a:defRPr>
            </a:pPr>
            <a:r>
              <a:rPr sz="1200" b="1">
                <a:solidFill>
                  <a:srgbClr val="53616E"/>
                </a:solidFill>
              </a:rPr>
              <a:t>ACT-27A · 2026-07-20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F5076-503E-4500-A7BD-52DD6336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C9881-814F-47F4-9E54-CBC82321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16E"/>
                </a:solidFill>
              </a:defRPr>
            </a:pPr>
            <a:r>
              <a:rPr sz="1425" b="0">
                <a:solidFill>
                  <a:srgbClr val="53616E"/>
                </a:solidFill>
              </a:rPr>
              <a:t>Publish one activation event dictionary.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4A5E9-C9F1-4B9A-BE47-1B8E4862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65DBC-9CE6-4CA8-9ED4-B2253257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2FA73-D80A-4483-B52E-E0F54185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3616E"/>
                </a:solidFill>
              </a:defRPr>
            </a:pPr>
            <a:r>
              <a:rPr sz="1200" b="1">
                <a:solidFill>
                  <a:srgbClr val="53616E"/>
                </a:solidFill>
              </a:rPr>
              <a:t>ACT-27B · 2026-07-27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A1716-E5F8-4BB3-84DB-36048D84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338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91469-1111-40BC-B072-32749558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16E"/>
                </a:solidFill>
              </a:defRPr>
            </a:pPr>
            <a:r>
              <a:rPr sz="1425" b="0">
                <a:solidFill>
                  <a:srgbClr val="53616E"/>
                </a:solidFill>
              </a:rPr>
              <a:t>Set message, holdout, and frequency cap.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CB48D-1DBB-403D-ADAA-3329D924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A09FE-FE3C-48A0-A173-2DFE8C9A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Steer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14D49E-9316-409F-9762-8228A7C2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95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3616E"/>
                </a:solidFill>
              </a:defRPr>
            </a:pPr>
            <a:r>
              <a:rPr sz="1200" b="1">
                <a:solidFill>
                  <a:srgbClr val="53616E"/>
                </a:solidFill>
              </a:rPr>
              <a:t>ACT-27C · weekly from 2026-08-03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CB28E-9E7A-4152-9430-12CFC977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338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9064B-9358-460D-A876-7C2443AB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16E"/>
                </a:solidFill>
              </a:defRPr>
            </a:pPr>
            <a:r>
              <a:rPr sz="1425" b="0">
                <a:solidFill>
                  <a:srgbClr val="53616E"/>
                </a:solidFill>
              </a:rPr>
              <a:t>Review movement, segments, and blockers.</a:t>
            </a:r>
          </a:p>
        </p:txBody>
      </p:sp>
    </p:spTree>
    <p:extLst>
      <p:ext uri="{BB962C8B-B14F-4D97-AF65-F5344CB8AC3E}">
        <p14:creationId xmlns:p14="http://schemas.microsoft.com/office/powerpoint/2010/main" val="15956706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F0B26E-8FB0-4041-BC89-D7F92711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16E"/>
                </a:solidFill>
              </a:defRPr>
            </a:pPr>
            <a:r>
              <a:rPr sz="1050" b="1">
                <a:solidFill>
                  <a:srgbClr val="53616E"/>
                </a:solidFill>
              </a:rPr>
              <a:t>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660C8-F6EE-4D96-AD61-AACA3579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9F754-CB65-4917-979B-952CFDFF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16E"/>
                </a:solidFill>
              </a:defRPr>
            </a:pPr>
            <a:r>
              <a:rPr sz="1050" b="1">
                <a:solidFill>
                  <a:srgbClr val="53616E"/>
                </a:solidFill>
              </a:rPr>
              <a:t>04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20DD5-C48A-448E-8FCD-282D0955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final gate is one week before M-27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5E779-685E-4C9E-8685-E40014D9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04EC5-1204-4657-B4B5-FB49A360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ACT-27A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DFBE0-FF3C-4E79-8117-D1177C11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Metric definition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E576A-A01E-45F0-BCFE-CADED555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16E"/>
                </a:solidFill>
              </a:defRPr>
            </a:pPr>
            <a:r>
              <a:rPr sz="1350" b="0">
                <a:solidFill>
                  <a:srgbClr val="53616E"/>
                </a:solidFill>
              </a:rPr>
              <a:t>2026-07-20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48474-63EA-4B17-B68A-B5E0818A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385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9561D-497D-45DD-8267-D4D238FE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ACT-27B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5B56D-4995-4A78-9FA5-D537046F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Experiment brief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1061C-6BDE-4804-8F22-D2B8F69C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00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16E"/>
                </a:solidFill>
              </a:defRPr>
            </a:pPr>
            <a:r>
              <a:rPr sz="1350" b="0">
                <a:solidFill>
                  <a:srgbClr val="53616E"/>
                </a:solidFill>
              </a:rPr>
              <a:t>2026-07-27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2BE613-1D48-4CC2-A0A4-BE65CF56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385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018EF-7306-4C88-AC9D-CEF3B844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ACT-27D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5A707-FB14-4FCD-8F16-7BC4C988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Readiness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FDCEE-6EF1-4509-9213-842C978F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16E"/>
                </a:solidFill>
              </a:defRPr>
            </a:pPr>
            <a:r>
              <a:rPr sz="1350" b="0">
                <a:solidFill>
                  <a:srgbClr val="53616E"/>
                </a:solidFill>
              </a:rPr>
              <a:t>2026-09-11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4D59E-84F7-4283-AE89-90DF19FB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F3A13-67FC-4527-AAD0-CCC128C5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M-27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B3081-F0F1-41E4-AD71-3C6121DD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051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Objective 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D4E46-8B21-4011-86DB-0F7E7FEF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00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16E"/>
                </a:solidFill>
              </a:defRPr>
            </a:pPr>
            <a:r>
              <a:rPr sz="1350" b="0">
                <a:solidFill>
                  <a:srgbClr val="53616E"/>
                </a:solidFill>
              </a:rPr>
              <a:t>2026-09-18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B06C26-1325-4EEA-96D8-D01F60F2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16E"/>
                </a:solidFill>
              </a:defRPr>
            </a:pPr>
            <a:r>
              <a:rPr sz="1650" b="0">
                <a:solidFill>
                  <a:srgbClr val="53616E"/>
                </a:solidFill>
              </a:rPr>
              <a:t>Decision rule: do not read experiment impact until the event dictionary and holdout are confirmed.</a:t>
            </a:r>
          </a:p>
        </p:txBody>
      </p:sp>
    </p:spTree>
    <p:extLst>
      <p:ext uri="{BB962C8B-B14F-4D97-AF65-F5344CB8AC3E}">
        <p14:creationId xmlns:p14="http://schemas.microsoft.com/office/powerpoint/2010/main" val="932936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E60B2-4CB5-430C-A956-0678C3B7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16E"/>
                </a:solidFill>
              </a:defRPr>
            </a:pPr>
            <a:r>
              <a:rPr sz="1050" b="1">
                <a:solidFill>
                  <a:srgbClr val="53616E"/>
                </a:solidFill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F8087-4E02-438E-B534-E053BAF6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20F02-D143-454E-B863-C17E0689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16E"/>
                </a:solidFill>
              </a:defRPr>
            </a:pPr>
            <a:r>
              <a:rPr sz="1050" b="1">
                <a:solidFill>
                  <a:srgbClr val="53616E"/>
                </a:solidFill>
              </a:rPr>
              <a:t>05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0FF18-A9EE-4550-B08A-8549753F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Approve the activation operating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25251-BA0D-469A-9DF6-9C2F3624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16E"/>
                </a:solidFill>
              </a:defRPr>
            </a:pPr>
            <a:r>
              <a:rPr sz="1875" b="0">
                <a:solidFill>
                  <a:srgbClr val="53616E"/>
                </a:solidFill>
              </a:rPr>
              <a:t>Approve ACT-27A through ACT-27D as the Q3 path to 26.0% adoption by M-27.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A059C-A34E-41BF-AE27-39BC10B2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27545-DE0A-485B-99F3-558BC3D7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Immediate 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ABAF5-CDE2-4491-B062-79945EBE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Publish the activation event dictionary by 2026-07-20.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73814-42D1-4F9D-A80B-52BC0732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Supporting local working set: roadmap memo, action tracker, sync notes, pinned-file index, and synthetic offline trace.</a:t>
            </a:r>
          </a:p>
        </p:txBody>
      </p:sp>
    </p:spTree>
    <p:extLst>
      <p:ext uri="{BB962C8B-B14F-4D97-AF65-F5344CB8AC3E}">
        <p14:creationId xmlns:p14="http://schemas.microsoft.com/office/powerpoint/2010/main" val="2116787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2026-08-23T15:12:15.5140000Z</dcterms:created>
  <dcterms:modified xsi:type="dcterms:W3CDTF">2026-08-23T15:12:15.5140000Z</dcterms:modified>
</coreProperties>
</file>