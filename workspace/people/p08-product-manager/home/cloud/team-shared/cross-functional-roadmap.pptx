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035f802d354fd6" /><Relationship Type="http://schemas.openxmlformats.org/officeDocument/2006/relationships/extended-properties" Target="/docProps/app.xml" Id="R8f6e62aa817f4a60" /><Relationship Type="http://schemas.openxmlformats.org/officeDocument/2006/relationships/officeDocument" Target="/ppt/presentation.xml" Id="R96804a9a45b34a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e5949be6874f13"/>
  </p:sldMasterIdLst>
  <p:notesMasterIdLst>
    <p:notesMasterId xmlns:r="http://schemas.openxmlformats.org/officeDocument/2006/relationships" r:id="Rc027e9ab382842b3"/>
  </p:notesMasterIdLst>
  <p:sldIdLst>
    <p:sldId xmlns:r="http://schemas.openxmlformats.org/officeDocument/2006/relationships" id="256" r:id="R892489f8b77f42b6"/>
    <p:sldId xmlns:r="http://schemas.openxmlformats.org/officeDocument/2006/relationships" id="257" r:id="R016d47308f5a4445"/>
    <p:sldId xmlns:r="http://schemas.openxmlformats.org/officeDocument/2006/relationships" id="258" r:id="R4a085d365558463b"/>
    <p:sldId xmlns:r="http://schemas.openxmlformats.org/officeDocument/2006/relationships" id="259" r:id="R2ec2c753555a49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5db2f448eb4c84" /><Relationship Type="http://schemas.openxmlformats.org/officeDocument/2006/relationships/slideMaster" Target="/ppt/slideMasters/slideMaster1.xml" Id="Rf1e5949be6874f13" /><Relationship Type="http://schemas.openxmlformats.org/officeDocument/2006/relationships/notesMaster" Target="/ppt/notesMasters/notesMaster1.xml" Id="Rc027e9ab382842b3" /><Relationship Type="http://schemas.openxmlformats.org/officeDocument/2006/relationships/presProps" Target="/ppt/presProps.xml" Id="R0630e3040b1743f2" /><Relationship Type="http://schemas.openxmlformats.org/officeDocument/2006/relationships/tableStyles" Target="/ppt/tableStyles.xml" Id="R6bb901c6a9834407" /><Relationship Type="http://schemas.openxmlformats.org/officeDocument/2006/relationships/slide" Target="/ppt/slides/slide1.xml" Id="R892489f8b77f42b6" /><Relationship Type="http://schemas.openxmlformats.org/officeDocument/2006/relationships/slide" Target="/ppt/slides/slide2.xml" Id="R016d47308f5a4445" /><Relationship Type="http://schemas.openxmlformats.org/officeDocument/2006/relationships/slide" Target="/ppt/slides/slide3.xml" Id="R4a085d365558463b" /><Relationship Type="http://schemas.openxmlformats.org/officeDocument/2006/relationships/slide" Target="/ppt/slides/slide4.xml" Id="R2ec2c753555a49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2579f6725549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b133a7fa024803" /><Relationship Type="http://schemas.openxmlformats.org/officeDocument/2006/relationships/notesMaster" Target="/ppt/notesMasters/notesMaster1.xml" Id="R89061726c0534a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ccd3aa767441cc" /><Relationship Type="http://schemas.openxmlformats.org/officeDocument/2006/relationships/notesMaster" Target="/ppt/notesMasters/notesMaster1.xml" Id="Rebcf5ca396514c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3eeb6f7a074bf6" /><Relationship Type="http://schemas.openxmlformats.org/officeDocument/2006/relationships/notesMaster" Target="/ppt/notesMasters/notesMaster1.xml" Id="Ra8cd4da5c43146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149c20a97d46a0" /><Relationship Type="http://schemas.openxmlformats.org/officeDocument/2006/relationships/notesMaster" Target="/ppt/notesMasters/notesMaster1.xml" Id="Rb35938da2e1d4c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64ec5354394c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9d0e80243d4c0a" /><Relationship Type="http://schemas.openxmlformats.org/officeDocument/2006/relationships/slideLayout" Target="/ppt/slideLayouts/slideLayout1.xml" Id="R24e906c0e59b4f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e906c0e59b4f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11ed4a9dc4406" /><Relationship Type="http://schemas.openxmlformats.org/officeDocument/2006/relationships/notesSlide" Target="/ppt/notesSlides/notesSlide1.xml" Id="R8b090ff20a6146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b27b68ec6413d" /><Relationship Type="http://schemas.openxmlformats.org/officeDocument/2006/relationships/notesSlide" Target="/ppt/notesSlides/notesSlide2.xml" Id="R72de0625bd1441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837082e94499a" /><Relationship Type="http://schemas.openxmlformats.org/officeDocument/2006/relationships/chart" Target="/ppt/slides/charts/chart1.xml" Id="R5cb4fe9c3d7d4b16" /><Relationship Type="http://schemas.openxmlformats.org/officeDocument/2006/relationships/notesSlide" Target="/ppt/notesSlides/notesSlide3.xml" Id="R74ea8a49985f4a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53776f3e6409f" /><Relationship Type="http://schemas.openxmlformats.org/officeDocument/2006/relationships/notesSlide" Target="/ppt/notesSlides/notesSlide4.xml" Id="R0f4d591bc9af44c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Adoption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Baseline
2026-07-13</c:v>
              </c:pt>
              <c:pt idx="1">
                <c:v>Target
M-27 2026-09-18</c:v>
              </c:pt>
            </c:strLit>
          </c:cat>
          <c:val>
            <c:numLit>
              <c:formatCode>General</c:formatCode>
              <c:ptCount val="2"/>
              <c:pt idx="0">
                <c:v>18.4</c:v>
              </c:pt>
              <c:pt idx="1">
                <c:v>26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DE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5"/>
      </c:valAx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4C1A8-1150-42D5-820B-A929F426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B616A"/>
                </a:solidFill>
              </a:defRPr>
            </a:pPr>
            <a:r>
              <a:rPr sz="1650" b="1">
                <a:solidFill>
                  <a:srgbClr val="5B616A"/>
                </a:solidFill>
              </a:rPr>
              <a:t>Q3 ROADMAP REVIEW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29D97AA-1BFB-4FF5-B88E-95B395AF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8858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5700" b="1">
                <a:solidFill>
                  <a:srgbClr val="111111"/>
                </a:solidFill>
              </a:defRPr>
            </a:pPr>
            <a:r>
              <a:rPr sz="5700" b="1">
                <a:solidFill>
                  <a:srgbClr val="111111"/>
                </a:solidFill>
              </a:rPr>
              <a:t>Product Alpha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5700" b="1">
                <a:solidFill>
                  <a:srgbClr val="111111"/>
                </a:solidFill>
              </a:defRPr>
            </a:pPr>
            <a:r>
              <a:rPr sz="5700" b="1">
                <a:solidFill>
                  <a:srgbClr val="111111"/>
                </a:solidFill>
              </a:rPr>
              <a:t>ships the adoption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5700" b="1">
                <a:solidFill>
                  <a:srgbClr val="111111"/>
                </a:solidFill>
              </a:defRPr>
            </a:pPr>
            <a:r>
              <a:rPr sz="5700" b="1">
                <a:solidFill>
                  <a:srgbClr val="111111"/>
                </a:solidFill>
              </a:rPr>
              <a:t>learning loop.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264A3-2728-4CCD-BC1A-F780A75E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DE938-8198-41FA-BBC7-0E42E37E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11111"/>
                </a:solidFill>
              </a:defRPr>
            </a:pPr>
            <a:r>
              <a:rPr sz="1950">
                <a:solidFill>
                  <a:srgbClr val="111111"/>
                </a:solidFill>
              </a:rPr>
              <a:t>Juniper Works  |  2026-07-13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FB14F-4EDD-4B3A-87DA-F5197FAE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16A"/>
                </a:solidFill>
              </a:defRPr>
            </a:pPr>
            <a:r>
              <a:rPr sz="1500">
                <a:solidFill>
                  <a:srgbClr val="5B616A"/>
                </a:solidFill>
              </a:rPr>
              <a:t>1,240 synthetic workspaces  •  adoption target: 18.4% → 26.0%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5E70E-C638-4D95-BB49-F397E148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4483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53D87-BB3A-44AE-B5EE-913EC621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5054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M-27  •  2026-09-18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C3704-DDED-493F-B1E0-CAF236A2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16A"/>
                </a:solidFill>
              </a:defRPr>
            </a:pPr>
            <a:r>
              <a:rPr sz="900" b="1">
                <a:solidFill>
                  <a:srgbClr val="5B616A"/>
                </a:solidFill>
              </a:rPr>
              <a:t>JUNIPER WORKS  /  PRODUCT ALPHA Q3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E1F9D-CB86-4799-8AAA-60583B2D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616A"/>
                </a:solidFill>
              </a:defRPr>
            </a:pPr>
            <a:r>
              <a:rPr sz="975">
                <a:solidFill>
                  <a:srgbClr val="5B616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808112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milestone-title">
            <a:extLst xmlns:a="http://schemas.openxmlformats.org/drawingml/2006/main">
              <a:ext uri="{FF2B5EF4-FFF2-40B4-BE49-F238E27FC236}">
                <a16:creationId xmlns:a16="http://schemas.microsoft.com/office/drawing/2014/main" id="{3A1E9E83-A67C-41E2-BA28-895319A2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M-26 capacity is the roadmap's only active constraint.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70CF1-BE43-4C19-BFE7-4CCD45AE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16A"/>
                </a:solidFill>
              </a:defRPr>
            </a:pPr>
            <a:r>
              <a:rPr sz="1500">
                <a:solidFill>
                  <a:srgbClr val="5B616A"/>
                </a:solidFill>
              </a:rPr>
              <a:t>Role owners hold their handoffs; Product Management owns the M-27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B4B16-6535-44BA-B1F8-199E3528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76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16A"/>
                </a:solidFill>
              </a:defRPr>
            </a:pPr>
            <a:r>
              <a:rPr sz="975" b="1">
                <a:solidFill>
                  <a:srgbClr val="5B616A"/>
                </a:solidFill>
              </a:rPr>
              <a:t>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10060-3E67-4B3D-B8A5-15D6189D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7526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16A"/>
                </a:solidFill>
              </a:defRPr>
            </a:pPr>
            <a:r>
              <a:rPr sz="975" b="1">
                <a:solidFill>
                  <a:srgbClr val="5B616A"/>
                </a:solidFill>
              </a:rPr>
              <a:t>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27529-1A3F-4D70-A22D-CFC58113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752600"/>
            <a:ext cx="2905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16A"/>
                </a:solidFill>
              </a:defRPr>
            </a:pPr>
            <a:r>
              <a:rPr sz="975" b="1">
                <a:solidFill>
                  <a:srgbClr val="5B616A"/>
                </a:solidFill>
              </a:rPr>
              <a:t>MILESTONE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4EC22-730A-4025-81D7-E491D20D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1838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16A"/>
                </a:solidFill>
              </a:defRPr>
            </a:pPr>
            <a:r>
              <a:rPr sz="975" b="1">
                <a:solidFill>
                  <a:srgbClr val="5B616A"/>
                </a:solidFill>
              </a:rPr>
              <a:t>ROLE OWNER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CE1AB-7477-4EE2-A195-2BE602CC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52600"/>
            <a:ext cx="1743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16A"/>
                </a:solidFill>
              </a:defRPr>
            </a:pPr>
            <a:r>
              <a:rPr sz="975" b="1">
                <a:solidFill>
                  <a:srgbClr val="5B616A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B5CA7-FD28-4621-858B-2ACC3007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5A099-CDAC-4ECB-A990-DF6B261E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3845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CB066-62FD-40DD-99BB-F20E56FC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M-24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8FC53-9D0E-4BAA-A30B-CD0F52AD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3622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07/24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085FE-5E91-4BBC-AAAB-8E90D958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362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Discovery closeout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EA2D8-C3F0-4E08-B138-17C8B381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16A"/>
                </a:solidFill>
              </a:defRPr>
            </a:pPr>
            <a:r>
              <a:rPr sz="1350">
                <a:solidFill>
                  <a:srgbClr val="5B616A"/>
                </a:solidFill>
              </a:rPr>
              <a:t>Product Management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78EA81-545B-4DF6-AD77-F1DBF7B6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5267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E79D3-681B-4632-B137-8AA989FD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098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07355-776C-408E-8797-B26B8E2B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31DF4E-FDA8-4127-817B-EEE02B4A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M-25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FDB1BA-4512-42D8-B360-52DDB658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2004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08/07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CEE6A9-3F36-4C23-B0C0-834FBE93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200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Design + instrumentation ready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233258-5B66-4853-8B01-40561760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04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16A"/>
                </a:solidFill>
              </a:defRPr>
            </a:pPr>
            <a:r>
              <a:rPr sz="1350">
                <a:solidFill>
                  <a:srgbClr val="5B616A"/>
                </a:solidFill>
              </a:rPr>
              <a:t>Design +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BBC26C-A5FE-4C62-B0D5-79D00131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19087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736C07-850A-41B1-B781-9DBAA6AA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480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ON TRACK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419A35-FFFA-43A9-BE0F-071D66EA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52C0A1-7D17-4A94-A517-1D5EC414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M-26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6A6E32-19FE-4296-9330-F33B2696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0386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08/28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AB146B-39F8-4A1A-BC78-34953557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038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Beta cohort enabled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626C78-246A-4D0A-83F4-6D2BFD2B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16A"/>
                </a:solidFill>
              </a:defRPr>
            </a:pPr>
            <a:r>
              <a:rPr sz="1350">
                <a:solidFill>
                  <a:srgbClr val="5B616A"/>
                </a:solidFill>
              </a:rPr>
              <a:t>Engineering + 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83ACA4-410C-4436-9478-239E197E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2907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3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52D006-E60A-4F3A-BAAD-AE569132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862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AT RISK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12A21C-F443-4E2A-B6C5-8F51D3BC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5305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D29486-8B93-4D30-B7A9-F31EE877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M-27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61CB55-5149-442D-8AE9-6A9A6F7C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8768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</a:defRPr>
            </a:pPr>
            <a:r>
              <a:rPr sz="1500">
                <a:solidFill>
                  <a:srgbClr val="111111"/>
                </a:solidFill>
              </a:rPr>
              <a:t>09/18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AFDD3C-C217-452C-B0BD-7DB9014D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876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Q3 adoption decision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F5134A-C287-4023-AA58-812D61AB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16A"/>
                </a:solidFill>
              </a:defRPr>
            </a:pPr>
            <a:r>
              <a:rPr sz="1350">
                <a:solidFill>
                  <a:srgbClr val="5B616A"/>
                </a:solidFill>
              </a:rPr>
              <a:t>Product Management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DD5228-997A-4A6A-A0BC-E45EC96F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6727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A4F114-26BF-4D00-B351-F1A6FB71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244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PLANNED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BF3D1D-B2E7-4878-A8F4-4C281549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16A"/>
                </a:solidFill>
              </a:defRPr>
            </a:pPr>
            <a:r>
              <a:rPr sz="900" b="1">
                <a:solidFill>
                  <a:srgbClr val="5B616A"/>
                </a:solidFill>
              </a:rPr>
              <a:t>JUNIPER WORKS  /  PRODUCT ALPHA Q3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5E15C7-0237-4D88-BABC-153BD15B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616A"/>
                </a:solidFill>
              </a:defRPr>
            </a:pPr>
            <a:r>
              <a:rPr sz="975">
                <a:solidFill>
                  <a:srgbClr val="5B616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34314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doption-title">
            <a:extLst xmlns:a="http://schemas.openxmlformats.org/drawingml/2006/main">
              <a:ext uri="{FF2B5EF4-FFF2-40B4-BE49-F238E27FC236}">
                <a16:creationId xmlns:a16="http://schemas.microsoft.com/office/drawing/2014/main" id="{55E41D59-572F-45F2-9D2D-59D9EE9E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Q3 goal is a 7.6-point adoption gain by M-27.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00050" y="1238250"/>
          <a:ext xmlns:a="http://schemas.openxmlformats.org/drawingml/2006/main" cx="5191125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b4fe9c3d7d4b16"/>
          </a:graphicData>
        </a:graphic>
      </p:graphicFrame>
      <p:sp>
        <p:nvSpPr>
          <p:cNvPr id="3" name="adoption-summary">
            <a:extLst xmlns:a="http://schemas.openxmlformats.org/drawingml/2006/main">
              <a:ext uri="{FF2B5EF4-FFF2-40B4-BE49-F238E27FC236}">
                <a16:creationId xmlns:a16="http://schemas.microsoft.com/office/drawing/2014/main" id="{B2D80158-7211-4BEF-A6EB-78402370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57300"/>
            <a:ext cx="5524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14BAB-86DC-4450-BC1B-93A1C46A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1447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D8DFF"/>
                </a:solidFill>
              </a:defRPr>
            </a:pPr>
            <a:r>
              <a:rPr sz="2700" b="1">
                <a:solidFill>
                  <a:srgbClr val="3D8DFF"/>
                </a:solidFill>
              </a:rPr>
              <a:t>+7.6 points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7C37E-37E9-40EF-81E7-5EEBDDBD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16A"/>
                </a:solidFill>
              </a:defRPr>
            </a:pPr>
            <a:r>
              <a:rPr sz="1350">
                <a:solidFill>
                  <a:srgbClr val="5B616A"/>
                </a:solidFill>
              </a:rPr>
              <a:t>required to move from 18.4% to 26.0% adoption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8FD26-9BB1-4F7C-9EDE-A19AFBF5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38450"/>
            <a:ext cx="5524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401DB-A61B-4720-B889-9386ECA5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95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M-26 is the gating handoff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E9019-4716-4B06-BFC9-ACC36AF0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16A"/>
                </a:solidFill>
              </a:defRPr>
            </a:pPr>
            <a:r>
              <a:rPr sz="1350">
                <a:solidFill>
                  <a:srgbClr val="5B616A"/>
                </a:solidFill>
              </a:rPr>
              <a:t>Entitlement capacity confirmation remains at risk.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54297-04E9-4CF1-8653-7EB7A45F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19600"/>
            <a:ext cx="5524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763AD-D8C1-4A5A-8741-23596684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7677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Measure through the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16F17-98B0-4AEE-ABF8-4FD37999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054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16A"/>
                </a:solidFill>
              </a:defRPr>
            </a:pPr>
            <a:r>
              <a:rPr sz="1350">
                <a:solidFill>
                  <a:srgbClr val="5B616A"/>
                </a:solidFill>
              </a:rPr>
              <a:t>DEP-04 keeps the adoption readout attached to M-27.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A09361-7CDE-4846-892E-407175B7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16A"/>
                </a:solidFill>
              </a:defRPr>
            </a:pPr>
            <a:r>
              <a:rPr sz="900" b="1">
                <a:solidFill>
                  <a:srgbClr val="5B616A"/>
                </a:solidFill>
              </a:rPr>
              <a:t>JUNIPER WORKS  /  PRODUCT ALPHA Q3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707F6B-156F-400D-A891-106902A2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616A"/>
                </a:solidFill>
              </a:defRPr>
            </a:pPr>
            <a:r>
              <a:rPr sz="975">
                <a:solidFill>
                  <a:srgbClr val="5B616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98909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dependency-title">
            <a:extLst xmlns:a="http://schemas.openxmlformats.org/drawingml/2006/main">
              <a:ext uri="{FF2B5EF4-FFF2-40B4-BE49-F238E27FC236}">
                <a16:creationId xmlns:a16="http://schemas.microsoft.com/office/drawing/2014/main" id="{E61C1544-6DA3-4E50-8341-D60CB39C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Resolve the dependency chain before the M-27 decision.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6A38D-1955-4AB9-A27B-3655BD2E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436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16A"/>
                </a:solidFill>
              </a:defRPr>
            </a:pPr>
            <a:r>
              <a:rPr sz="975" b="1">
                <a:solidFill>
                  <a:srgbClr val="5B616A"/>
                </a:solidFill>
              </a:rPr>
              <a:t>DEPENDENCY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B9187-587F-4E86-A77D-514DD56D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28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16A"/>
                </a:solidFill>
              </a:defRPr>
            </a:pPr>
            <a:r>
              <a:rPr sz="975" b="1">
                <a:solidFill>
                  <a:srgbClr val="5B616A"/>
                </a:solidFill>
              </a:rPr>
              <a:t>TARGET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C9480-E63C-4986-B3AB-7929B4C1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16A"/>
                </a:solidFill>
              </a:defRPr>
            </a:pPr>
            <a:r>
              <a:rPr sz="975" b="1">
                <a:solidFill>
                  <a:srgbClr val="5B616A"/>
                </a:solidFill>
              </a:rPr>
              <a:t>ACCOUNTABLE ROLE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1475A-04EB-47D8-A316-46EBC9D2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28750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B616A"/>
                </a:solidFill>
              </a:defRPr>
            </a:pPr>
            <a:r>
              <a:rPr sz="975" b="1">
                <a:solidFill>
                  <a:srgbClr val="5B616A"/>
                </a:solidFill>
              </a:rPr>
              <a:t>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37344-5248-4135-A446-B500EB8B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77210-D4DF-45E0-AAE9-B8659A91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11382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3E6B0-9FE8-4EFB-9148-1EBCFF2C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6692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DEP-01  Event naming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70B1F0-E0A1-45CE-A8AB-203EC64B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669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M-25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D71B8-8946-4233-A1B4-2A2390B7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669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16A"/>
                </a:solidFill>
              </a:defRPr>
            </a:pPr>
            <a:r>
              <a:rPr sz="1350">
                <a:solidFill>
                  <a:srgbClr val="5B616A"/>
                </a:solidFill>
              </a:rPr>
              <a:t>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53478-5525-4CCA-9E01-C0E73F75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574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030B5A-7FE9-492B-B6A8-922DB531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145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ON TRACK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4B3B39-1D0A-4BBF-A7D3-273F6C30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DBF582-A953-4D1C-9E82-18B96862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11382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52694A-9C09-4072-8157-FFF2B2F5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DEP-02  Entitlement service capacity confirmation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34585D-B780-47E9-A128-60AB4C84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09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M-26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F0DA95-694C-49A2-9388-8AF9B5B8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16A"/>
                </a:solidFill>
              </a:defRPr>
            </a:pPr>
            <a:r>
              <a:rPr sz="1350">
                <a:solidFill>
                  <a:srgbClr val="5B616A"/>
                </a:solidFill>
              </a:rPr>
              <a:t>Engineering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3305A1-763F-4486-999C-29A68949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03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3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A6336C-FCB5-4D70-BCE7-2DD528F6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AT 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074CAE-5950-4E11-95EE-8724E101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2333DF-1E94-4701-B2B8-DEDB83EB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11382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566DB2-A170-410E-95FC-6A868CEA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5282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DEP-03  Beta onboarding playbook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F9418B-B180-4FBD-BE34-975F11F8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528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M-26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4D1D3A-BD28-4C11-B6C3-DC6B2F48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528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16A"/>
                </a:solidFill>
              </a:defRPr>
            </a:pPr>
            <a:r>
              <a:rPr sz="1350">
                <a:solidFill>
                  <a:srgbClr val="5B616A"/>
                </a:solidFill>
              </a:rPr>
              <a:t>Customer Success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EB988F-D175-43B2-92C6-B2925A7E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433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A3147B-2EE4-49BF-B8E9-F2955BF5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004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ON TRACK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DA5130-01E6-4829-B684-EA1CCA83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396D9F-4DB8-49DD-B9DA-F4158D66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11382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21CC25-3CB4-4CD2-808D-15870183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957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DEP-04  Adoption metric readout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29B2D8-7AC6-49EE-B24D-361B0FE7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957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M-27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621AA3-4EE4-4E76-9B37-B59B9D04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957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16A"/>
                </a:solidFill>
              </a:defRPr>
            </a:pPr>
            <a:r>
              <a:rPr sz="1350">
                <a:solidFill>
                  <a:srgbClr val="5B616A"/>
                </a:solidFill>
              </a:rPr>
              <a:t>Product Management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A41771-B730-4A13-B569-5D7DAA6D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862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C06038-5EAE-4633-8FA8-DE20CA64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434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PLANNED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17EE26-0208-4A80-8BD9-458FA345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7A8054-E090-43C9-AEDA-DEC3A4AE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0175"/>
            <a:ext cx="11382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CA2C4A-81F0-44ED-AA31-BE8F4337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Decision ask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175B92-C6CA-43C8-A752-49121EE9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5305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Engineering confirms DEP-02 capacity before the beta cohort; PM then locks the M-27 readout agenda.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DCD830-F57C-48E6-A843-A5CA4629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B616A"/>
                </a:solidFill>
              </a:defRPr>
            </a:pPr>
            <a:r>
              <a:rPr sz="900" b="1">
                <a:solidFill>
                  <a:srgbClr val="5B616A"/>
                </a:solidFill>
              </a:rPr>
              <a:t>JUNIPER WORKS  /  PRODUCT ALPHA Q3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09020C-EEA4-4AD1-B5AE-CE6F0C0B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B616A"/>
                </a:solidFill>
              </a:defRPr>
            </a:pPr>
            <a:r>
              <a:rPr sz="975">
                <a:solidFill>
                  <a:srgbClr val="5B616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345723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2026-08-23T15:13:13.3630000Z</dcterms:created>
  <dcterms:modified xsi:type="dcterms:W3CDTF">2026-08-23T15:13:13.3630000Z</dcterms:modified>
</coreProperties>
</file>