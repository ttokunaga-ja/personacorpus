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b85e494c11490b" /><Relationship Type="http://schemas.openxmlformats.org/officeDocument/2006/relationships/extended-properties" Target="/docProps/app.xml" Id="R96c13171a1614750" /><Relationship Type="http://schemas.openxmlformats.org/officeDocument/2006/relationships/officeDocument" Target="/ppt/presentation.xml" Id="R7de714518ee04e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6785ed90a14084"/>
  </p:sldMasterIdLst>
  <p:notesMasterIdLst>
    <p:notesMasterId xmlns:r="http://schemas.openxmlformats.org/officeDocument/2006/relationships" r:id="Rd6ce2199eef24b79"/>
  </p:notesMasterIdLst>
  <p:sldIdLst>
    <p:sldId xmlns:r="http://schemas.openxmlformats.org/officeDocument/2006/relationships" id="256" r:id="R403574dbfcac43d0"/>
    <p:sldId xmlns:r="http://schemas.openxmlformats.org/officeDocument/2006/relationships" id="257" r:id="R09ed1b0e70df4dbd"/>
    <p:sldId xmlns:r="http://schemas.openxmlformats.org/officeDocument/2006/relationships" id="258" r:id="R5579b07a211d4a57"/>
    <p:sldId xmlns:r="http://schemas.openxmlformats.org/officeDocument/2006/relationships" id="259" r:id="R8d14e06009364160"/>
    <p:sldId xmlns:r="http://schemas.openxmlformats.org/officeDocument/2006/relationships" id="260" r:id="R9811fac02de64685"/>
    <p:sldId xmlns:r="http://schemas.openxmlformats.org/officeDocument/2006/relationships" id="261" r:id="R092c77c5bc9643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40123079e54a3c" /><Relationship Type="http://schemas.openxmlformats.org/officeDocument/2006/relationships/slideMaster" Target="/ppt/slideMasters/slideMaster1.xml" Id="Ree6785ed90a14084" /><Relationship Type="http://schemas.openxmlformats.org/officeDocument/2006/relationships/notesMaster" Target="/ppt/notesMasters/notesMaster1.xml" Id="Rd6ce2199eef24b79" /><Relationship Type="http://schemas.openxmlformats.org/officeDocument/2006/relationships/presProps" Target="/ppt/presProps.xml" Id="Reb7fda15beae456e" /><Relationship Type="http://schemas.openxmlformats.org/officeDocument/2006/relationships/tableStyles" Target="/ppt/tableStyles.xml" Id="R8ba95b8184934588" /><Relationship Type="http://schemas.openxmlformats.org/officeDocument/2006/relationships/slide" Target="/ppt/slides/slide1.xml" Id="R403574dbfcac43d0" /><Relationship Type="http://schemas.openxmlformats.org/officeDocument/2006/relationships/slide" Target="/ppt/slides/slide2.xml" Id="R09ed1b0e70df4dbd" /><Relationship Type="http://schemas.openxmlformats.org/officeDocument/2006/relationships/slide" Target="/ppt/slides/slide3.xml" Id="R5579b07a211d4a57" /><Relationship Type="http://schemas.openxmlformats.org/officeDocument/2006/relationships/slide" Target="/ppt/slides/slide4.xml" Id="R8d14e06009364160" /><Relationship Type="http://schemas.openxmlformats.org/officeDocument/2006/relationships/slide" Target="/ppt/slides/slide5.xml" Id="R9811fac02de64685" /><Relationship Type="http://schemas.openxmlformats.org/officeDocument/2006/relationships/slide" Target="/ppt/slides/slide6.xml" Id="R092c77c5bc9643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b069bb1ff242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16ec593b244dba" /><Relationship Type="http://schemas.openxmlformats.org/officeDocument/2006/relationships/notesMaster" Target="/ppt/notesMasters/notesMaster1.xml" Id="R172b76c68cab4f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45774fe5674b35" /><Relationship Type="http://schemas.openxmlformats.org/officeDocument/2006/relationships/notesMaster" Target="/ppt/notesMasters/notesMaster1.xml" Id="R03e142f3321b41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59a17775e94142" /><Relationship Type="http://schemas.openxmlformats.org/officeDocument/2006/relationships/notesMaster" Target="/ppt/notesMasters/notesMaster1.xml" Id="R0497ae69f6e540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840ca9a62f48f1" /><Relationship Type="http://schemas.openxmlformats.org/officeDocument/2006/relationships/notesMaster" Target="/ppt/notesMasters/notesMaster1.xml" Id="R7b776e1fd6144c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6f3c82e8c942b7" /><Relationship Type="http://schemas.openxmlformats.org/officeDocument/2006/relationships/notesMaster" Target="/ppt/notesMasters/notesMaster1.xml" Id="Rb75d9fa747d647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76041ef0c334d6d" /><Relationship Type="http://schemas.openxmlformats.org/officeDocument/2006/relationships/notesMaster" Target="/ppt/notesMasters/notesMaster1.xml" Id="R7a91fa8bf8a040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8cfbbbb96c4d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e15fd0afc54417" /><Relationship Type="http://schemas.openxmlformats.org/officeDocument/2006/relationships/slideLayout" Target="/ppt/slideLayouts/slideLayout1.xml" Id="Rbf54dd1602c840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54dd1602c840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bc04019ed4728" /><Relationship Type="http://schemas.openxmlformats.org/officeDocument/2006/relationships/notesSlide" Target="/ppt/notesSlides/notesSlide1.xml" Id="R42f6f57ae45a43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77238b6b6a426d" /><Relationship Type="http://schemas.openxmlformats.org/officeDocument/2006/relationships/notesSlide" Target="/ppt/notesSlides/notesSlide2.xml" Id="Rece7856ad06a43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15a3116ce4650" /><Relationship Type="http://schemas.openxmlformats.org/officeDocument/2006/relationships/notesSlide" Target="/ppt/notesSlides/notesSlide3.xml" Id="R012bc38ee10347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aabf7c40f4048" /><Relationship Type="http://schemas.openxmlformats.org/officeDocument/2006/relationships/notesSlide" Target="/ppt/notesSlides/notesSlide4.xml" Id="Rfd14801195944a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6818779f54980" /><Relationship Type="http://schemas.openxmlformats.org/officeDocument/2006/relationships/notesSlide" Target="/ppt/notesSlides/notesSlide5.xml" Id="Rad90c865bda34d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aa3a179ff47df" /><Relationship Type="http://schemas.openxmlformats.org/officeDocument/2006/relationships/notesSlide" Target="/ppt/notesSlides/notesSlide6.xml" Id="Radf2066ca2f34b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B7D7E-2AB8-4B76-A82B-2F5D76B7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62000"/>
            <a:ext cx="762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0F172B"/>
                </a:solidFill>
              </a:defRPr>
            </a:pPr>
            <a:r>
              <a:rPr sz="4500" b="1">
                <a:solidFill>
                  <a:srgbClr val="0F172B"/>
                </a:solidFill>
              </a:rPr>
              <a:t>Q3 scope options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24F98-185C-430B-AF3E-DACB2D1C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573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5556C"/>
                </a:solidFill>
              </a:defRPr>
            </a:pPr>
            <a:r>
              <a:rPr sz="1725" b="0">
                <a:solidFill>
                  <a:srgbClr val="45556C"/>
                </a:solidFill>
              </a:rPr>
              <a:t>Product Alpha guided rollout | Juniper Works | Decision context: 2026-07-13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EAAAD-E861-44DE-9CD3-A768F01A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F172B"/>
                </a:solidFill>
              </a:defRPr>
            </a:pPr>
            <a:r>
              <a:rPr sz="1800" b="1">
                <a:solidFill>
                  <a:srgbClr val="0F172B"/>
                </a:solidFill>
              </a:rPr>
              <a:t>Target: move from 18.4% adoption to 26.0% across 1,240 eligible workspaces.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7CB4E-EA9F-4B4B-A0BF-64035B5C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48E"/>
                </a:solidFill>
              </a:defRPr>
            </a:pPr>
            <a:r>
              <a:rPr sz="825" b="1">
                <a:solidFill>
                  <a:srgbClr val="62748E"/>
                </a:solidFill>
              </a:rPr>
              <a:t>JUNIPER WORKS  /  PRODUCT ALPHA Q3  /  2026-07-13                                      1</a:t>
            </a:r>
          </a:p>
        </p:txBody>
      </p:sp>
    </p:spTree>
    <p:extLst>
      <p:ext uri="{BB962C8B-B14F-4D97-AF65-F5344CB8AC3E}">
        <p14:creationId xmlns:p14="http://schemas.microsoft.com/office/powerpoint/2010/main" val="17707396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D35495-BC7B-4B63-AC0B-307D676C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B"/>
                </a:solidFill>
              </a:defRPr>
            </a:pPr>
            <a:r>
              <a:rPr sz="2850" b="1">
                <a:solidFill>
                  <a:srgbClr val="0F172B"/>
                </a:solidFill>
              </a:rPr>
              <a:t>Option A: broad feature expansion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AA750-4B59-4299-93EC-9FF603B5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953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6BBDBD-2355-4012-B471-17888859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B"/>
                </a:solidFill>
              </a:defRPr>
            </a:pPr>
            <a:r>
              <a:rPr sz="1950" b="1">
                <a:solidFill>
                  <a:srgbClr val="0F172B"/>
                </a:solidFill>
              </a:rPr>
              <a:t>More surface area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7A9D8D-E623-4562-AAD6-1C848F0F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3857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556C"/>
                </a:solidFill>
              </a:defRPr>
            </a:pPr>
            <a:r>
              <a:rPr sz="1575" b="0">
                <a:solidFill>
                  <a:srgbClr val="45556C"/>
                </a:solidFill>
              </a:rPr>
              <a:t>Includes workflow redesign, billing adjacent work, notifications, and new governance controls.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19FD79-E98C-4C1D-9AD2-7D03C9CB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3857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D293D"/>
                </a:solidFill>
              </a:defRPr>
            </a:pPr>
            <a:r>
              <a:rPr sz="1500" b="1">
                <a:solidFill>
                  <a:srgbClr val="1D293D"/>
                </a:solidFill>
              </a:rPr>
              <a:t>Trade-off: high coordination cost; M-27 evidence becomes difficult to isolate.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9FE96-D7C4-4024-9C4F-4E6B457D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48E"/>
                </a:solidFill>
              </a:defRPr>
            </a:pPr>
            <a:r>
              <a:rPr sz="825" b="1">
                <a:solidFill>
                  <a:srgbClr val="62748E"/>
                </a:solidFill>
              </a:rPr>
              <a:t>JUNIPER WORKS  /  PRODUCT ALPHA Q3  /  2026-07-13                                      2</a:t>
            </a:r>
          </a:p>
        </p:txBody>
      </p:sp>
    </p:spTree>
    <p:extLst>
      <p:ext uri="{BB962C8B-B14F-4D97-AF65-F5344CB8AC3E}">
        <p14:creationId xmlns:p14="http://schemas.microsoft.com/office/powerpoint/2010/main" val="75209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D78B5-61B6-4F77-AB06-A5B32688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B"/>
                </a:solidFill>
              </a:defRPr>
            </a:pPr>
            <a:r>
              <a:rPr sz="2850" b="1">
                <a:solidFill>
                  <a:srgbClr val="0F172B"/>
                </a:solidFill>
              </a:rPr>
              <a:t>Option B: guided rollout (recommended)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65526-C9ED-4A94-9D3B-FC3C59D2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191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E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EFD98-08A3-4C6D-839E-99E975AF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885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F172B"/>
                </a:solidFill>
              </a:defRPr>
            </a:pPr>
            <a:r>
              <a:rPr sz="2100" b="1">
                <a:solidFill>
                  <a:srgbClr val="0F172B"/>
                </a:solidFill>
              </a:rPr>
              <a:t>A role-aware setup path, contextual invite flow, permission review, instrumentation, and accessible recovery.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18AEC-A1DC-4A0D-BD8A-8DA01618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Why it fits Q3: directly addresses activation breakpoints, preserves existing commercial logic, and supports a clean rollback.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A7CE5-90AD-48B8-AE43-0F066A11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D293D"/>
                </a:solidFill>
              </a:defRPr>
            </a:pPr>
            <a:r>
              <a:rPr sz="1500" b="1">
                <a:solidFill>
                  <a:srgbClr val="1D293D"/>
                </a:solidFill>
              </a:rPr>
              <a:t>M-27 criteria make expansion evidence-based: outcome movement plus zero critical safety defects.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0D068-6699-4579-8B99-A42FA4EA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48E"/>
                </a:solidFill>
              </a:defRPr>
            </a:pPr>
            <a:r>
              <a:rPr sz="825" b="1">
                <a:solidFill>
                  <a:srgbClr val="62748E"/>
                </a:solidFill>
              </a:rPr>
              <a:t>JUNIPER WORKS  /  PRODUCT ALPHA Q3  /  2026-07-13                                      3</a:t>
            </a:r>
          </a:p>
        </p:txBody>
      </p:sp>
    </p:spTree>
    <p:extLst>
      <p:ext uri="{BB962C8B-B14F-4D97-AF65-F5344CB8AC3E}">
        <p14:creationId xmlns:p14="http://schemas.microsoft.com/office/powerpoint/2010/main" val="11276808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3BA56-1EBA-4A0B-A9A4-49960E28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F172B"/>
                </a:solidFill>
              </a:defRPr>
            </a:pPr>
            <a:r>
              <a:rPr sz="2850" b="1">
                <a:solidFill>
                  <a:srgbClr val="0F172B"/>
                </a:solidFill>
              </a:rPr>
              <a:t>Option C: instrumentation-only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45C4D-1403-4713-A87A-E70FA686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497F0-2BFE-4D25-9FB7-80E0749D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F172B"/>
                </a:solidFill>
              </a:defRPr>
            </a:pPr>
            <a:r>
              <a:rPr sz="1950" b="1">
                <a:solidFill>
                  <a:srgbClr val="0F172B"/>
                </a:solidFill>
              </a:rPr>
              <a:t>Lower delivery risk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1104C-0754-4DA6-94DF-206DE823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3762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5556C"/>
                </a:solidFill>
              </a:defRPr>
            </a:pPr>
            <a:r>
              <a:rPr sz="1575" b="0">
                <a:solidFill>
                  <a:srgbClr val="45556C"/>
                </a:solidFill>
              </a:rPr>
              <a:t>Improve measurement first, defer user experience changes.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21237-E533-4E05-8102-F1CCB3A7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3905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Trade-off: learns about the problem but does not materially improve first value in Q3.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18561-68B6-4AAB-8BEF-3F93EF1E9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48E"/>
                </a:solidFill>
              </a:defRPr>
            </a:pPr>
            <a:r>
              <a:rPr sz="825" b="1">
                <a:solidFill>
                  <a:srgbClr val="62748E"/>
                </a:solidFill>
              </a:rPr>
              <a:t>JUNIPER WORKS  /  PRODUCT ALPHA Q3  /  2026-07-13                                      4</a:t>
            </a:r>
          </a:p>
        </p:txBody>
      </p:sp>
    </p:spTree>
    <p:extLst>
      <p:ext uri="{BB962C8B-B14F-4D97-AF65-F5344CB8AC3E}">
        <p14:creationId xmlns:p14="http://schemas.microsoft.com/office/powerpoint/2010/main" val="9603793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827959-3DB4-4737-85D3-FFAB31DD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172B"/>
                </a:solidFill>
              </a:defRPr>
            </a:pPr>
            <a:r>
              <a:rPr sz="2700" b="1">
                <a:solidFill>
                  <a:srgbClr val="0F172B"/>
                </a:solidFill>
              </a:rPr>
              <a:t>Decision rubric favors a bounded, observable release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7E53D-C26E-4F38-A1D0-D6259486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Activation impact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85F5B-3081-4FA0-83B0-E4109AAE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5716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High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0D7AA-D785-488F-9D6B-2AAB04A7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5716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69A8"/>
                </a:solidFill>
              </a:defRPr>
            </a:pPr>
            <a:r>
              <a:rPr sz="1500" b="1">
                <a:solidFill>
                  <a:srgbClr val="0069A8"/>
                </a:solidFill>
              </a:rPr>
              <a:t>High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21DF1-BA53-4B17-B23E-2FC63C0B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5716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B6AE8-D6A3-46E5-93F8-5AD8931E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Safety isolation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B17A5-96E4-42D4-80E4-DC2F0CE8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336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2A4D6-1036-4241-B7BA-8374F3AA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336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69A8"/>
                </a:solidFill>
              </a:defRPr>
            </a:pPr>
            <a:r>
              <a:rPr sz="1500" b="1">
                <a:solidFill>
                  <a:srgbClr val="0069A8"/>
                </a:solidFill>
              </a:rPr>
              <a:t>High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91CD2F-159F-453A-9F4B-32565290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3336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High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646824-EC1E-48BC-A64C-7CFC3188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M-27 decision clarity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A3DF6-9B19-47B6-89E6-4CCC3A8B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956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1A0B60-5DEB-41E3-BBB7-F9B90267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956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69A8"/>
                </a:solidFill>
              </a:defRPr>
            </a:pPr>
            <a:r>
              <a:rPr sz="1500" b="1">
                <a:solidFill>
                  <a:srgbClr val="0069A8"/>
                </a:solidFill>
              </a:rPr>
              <a:t>High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5A8655-9355-4AC5-AC2C-236D09DB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0956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Medium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7637B4-ED81-4B6F-AF2A-2863BF77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Q3 delivery confidence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1FBBD2-EEF4-47B7-95B6-BEDCBA74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576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D6B378-AA6C-4E20-BD4F-CE38952B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576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69A8"/>
                </a:solidFill>
              </a:defRPr>
            </a:pPr>
            <a:r>
              <a:rPr sz="1500" b="1">
                <a:solidFill>
                  <a:srgbClr val="0069A8"/>
                </a:solidFill>
              </a:rPr>
              <a:t>High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29597D-9B58-473B-AC88-6FDDE553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857625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0F172B"/>
                </a:solidFill>
              </a:defRPr>
            </a:pPr>
            <a:r>
              <a:rPr sz="1500" b="0">
                <a:solidFill>
                  <a:srgbClr val="0F172B"/>
                </a:solidFill>
              </a:rPr>
              <a:t>High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8242C1-9FF1-43B0-A08E-E2F28C93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095375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A: Broad expansion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CBB5CF-C773-498F-A10F-AC82BB7F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095375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5556C"/>
                </a:solidFill>
              </a:defRPr>
            </a:pPr>
            <a:r>
              <a:rPr sz="1125" b="1">
                <a:solidFill>
                  <a:srgbClr val="45556C"/>
                </a:solidFill>
              </a:rPr>
              <a:t>B: Guided rollout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D2EB58-2A1B-452F-A009-6EFF993D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095375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C: Instrumentation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DDBFD4-AE3F-4E55-B9CC-B78F21B3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48E"/>
                </a:solidFill>
              </a:defRPr>
            </a:pPr>
            <a:r>
              <a:rPr sz="825" b="1">
                <a:solidFill>
                  <a:srgbClr val="62748E"/>
                </a:solidFill>
              </a:rPr>
              <a:t>JUNIPER WORKS  /  PRODUCT ALPHA Q3  /  2026-07-13                                      5</a:t>
            </a:r>
          </a:p>
        </p:txBody>
      </p:sp>
    </p:spTree>
    <p:extLst>
      <p:ext uri="{BB962C8B-B14F-4D97-AF65-F5344CB8AC3E}">
        <p14:creationId xmlns:p14="http://schemas.microsoft.com/office/powerpoint/2010/main" val="21322857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091183-5817-41A6-A5F2-91A21FF0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F172B"/>
                </a:solidFill>
              </a:defRPr>
            </a:pPr>
            <a:r>
              <a:rPr sz="3150" b="1">
                <a:solidFill>
                  <a:srgbClr val="0F172B"/>
                </a:solidFill>
              </a:rPr>
              <a:t>Recommended 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4C02A-8582-42A1-AAC1-EE767A79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1000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158"/>
                </a:solidFill>
              </a:defRPr>
            </a:pPr>
            <a:r>
              <a:rPr sz="2175" b="0">
                <a:solidFill>
                  <a:srgbClr val="314158"/>
                </a:solidFill>
              </a:rPr>
              <a:t>Approve Option B, begin controlled cohort on Aug 24, and convene the Launch Council for M-27 on Sep 18.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1B47D-2689-4C69-9B7B-4AE2842F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10096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0F8D2-BB27-4A99-BC68-690D9E69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172B"/>
                </a:solidFill>
              </a:defRPr>
            </a:pPr>
            <a:r>
              <a:rPr sz="1650" b="1">
                <a:solidFill>
                  <a:srgbClr val="0F172B"/>
                </a:solidFill>
              </a:rPr>
              <a:t>Required preconditions: accessibility sign-off, authorization tests, event validation, support playbook, and rollback rehearsal.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D4ABE-F42D-4C4C-AB32-625E986F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2748E"/>
                </a:solidFill>
              </a:defRPr>
            </a:pPr>
            <a:r>
              <a:rPr sz="825" b="1">
                <a:solidFill>
                  <a:srgbClr val="62748E"/>
                </a:solidFill>
              </a:rPr>
              <a:t>JUNIPER WORKS  /  PRODUCT ALPHA Q3  /  2026-07-13                                      6</a:t>
            </a:r>
          </a:p>
        </p:txBody>
      </p:sp>
    </p:spTree>
    <p:extLst>
      <p:ext uri="{BB962C8B-B14F-4D97-AF65-F5344CB8AC3E}">
        <p14:creationId xmlns:p14="http://schemas.microsoft.com/office/powerpoint/2010/main" val="5064710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2026-08-23T15:03:41.1420000Z</dcterms:created>
  <dcterms:modified xsi:type="dcterms:W3CDTF">2026-08-23T15:03:41.1420000Z</dcterms:modified>
</coreProperties>
</file>