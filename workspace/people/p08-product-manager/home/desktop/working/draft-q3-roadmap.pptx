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15bd5e4ee4fe0" /><Relationship Type="http://schemas.openxmlformats.org/officeDocument/2006/relationships/extended-properties" Target="/docProps/app.xml" Id="R13971c12597c4d4d" /><Relationship Type="http://schemas.openxmlformats.org/officeDocument/2006/relationships/officeDocument" Target="/ppt/presentation.xml" Id="R873830147b7d42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b9108ebb7a4017"/>
  </p:sldMasterIdLst>
  <p:notesMasterIdLst>
    <p:notesMasterId xmlns:r="http://schemas.openxmlformats.org/officeDocument/2006/relationships" r:id="Re007179a323f405f"/>
  </p:notesMasterIdLst>
  <p:sldIdLst>
    <p:sldId xmlns:r="http://schemas.openxmlformats.org/officeDocument/2006/relationships" id="256" r:id="Re4791a7dd8d74d8a"/>
    <p:sldId xmlns:r="http://schemas.openxmlformats.org/officeDocument/2006/relationships" id="257" r:id="R6c3660629ff64cf6"/>
    <p:sldId xmlns:r="http://schemas.openxmlformats.org/officeDocument/2006/relationships" id="258" r:id="Rf957bfe57ae649c6"/>
    <p:sldId xmlns:r="http://schemas.openxmlformats.org/officeDocument/2006/relationships" id="259" r:id="R08c940ba4b384e44"/>
    <p:sldId xmlns:r="http://schemas.openxmlformats.org/officeDocument/2006/relationships" id="260" r:id="Rd28a2100cf774e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b66dfacec4dae" /><Relationship Type="http://schemas.openxmlformats.org/officeDocument/2006/relationships/slideMaster" Target="/ppt/slideMasters/slideMaster1.xml" Id="R2cb9108ebb7a4017" /><Relationship Type="http://schemas.openxmlformats.org/officeDocument/2006/relationships/notesMaster" Target="/ppt/notesMasters/notesMaster1.xml" Id="Re007179a323f405f" /><Relationship Type="http://schemas.openxmlformats.org/officeDocument/2006/relationships/presProps" Target="/ppt/presProps.xml" Id="R92e836b2fbf3447a" /><Relationship Type="http://schemas.openxmlformats.org/officeDocument/2006/relationships/tableStyles" Target="/ppt/tableStyles.xml" Id="Rc4b4cb336e944efc" /><Relationship Type="http://schemas.openxmlformats.org/officeDocument/2006/relationships/slide" Target="/ppt/slides/slide1.xml" Id="Re4791a7dd8d74d8a" /><Relationship Type="http://schemas.openxmlformats.org/officeDocument/2006/relationships/slide" Target="/ppt/slides/slide2.xml" Id="R6c3660629ff64cf6" /><Relationship Type="http://schemas.openxmlformats.org/officeDocument/2006/relationships/slide" Target="/ppt/slides/slide3.xml" Id="Rf957bfe57ae649c6" /><Relationship Type="http://schemas.openxmlformats.org/officeDocument/2006/relationships/slide" Target="/ppt/slides/slide4.xml" Id="R08c940ba4b384e44" /><Relationship Type="http://schemas.openxmlformats.org/officeDocument/2006/relationships/slide" Target="/ppt/slides/slide5.xml" Id="Rd28a2100cf774e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6a76c8ee24f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47f23bff94b93" /><Relationship Type="http://schemas.openxmlformats.org/officeDocument/2006/relationships/notesMaster" Target="/ppt/notesMasters/notesMaster1.xml" Id="Rd26af84bca2c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c58b464c5943a1" /><Relationship Type="http://schemas.openxmlformats.org/officeDocument/2006/relationships/notesMaster" Target="/ppt/notesMasters/notesMaster1.xml" Id="R299cff758f37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53a638a4d54fac" /><Relationship Type="http://schemas.openxmlformats.org/officeDocument/2006/relationships/notesMaster" Target="/ppt/notesMasters/notesMaster1.xml" Id="R1c1a80ba11e646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cc39e7b3ce4592" /><Relationship Type="http://schemas.openxmlformats.org/officeDocument/2006/relationships/notesMaster" Target="/ppt/notesMasters/notesMaster1.xml" Id="R0d85c9d59579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32455d35a44f36" /><Relationship Type="http://schemas.openxmlformats.org/officeDocument/2006/relationships/notesMaster" Target="/ppt/notesMasters/notesMaster1.xml" Id="R37d49b26b74042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cb51190d7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1512c415314e6d" /><Relationship Type="http://schemas.openxmlformats.org/officeDocument/2006/relationships/slideLayout" Target="/ppt/slideLayouts/slideLayout1.xml" Id="R3c76410edc0046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6410edc0046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135cfda084cea" /><Relationship Type="http://schemas.openxmlformats.org/officeDocument/2006/relationships/notesSlide" Target="/ppt/notesSlides/notesSlide1.xml" Id="Re062e644007245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fb2dd41e3443d" /><Relationship Type="http://schemas.openxmlformats.org/officeDocument/2006/relationships/notesSlide" Target="/ppt/notesSlides/notesSlide2.xml" Id="R2e5eefb587044a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41a595c24398" /><Relationship Type="http://schemas.openxmlformats.org/officeDocument/2006/relationships/notesSlide" Target="/ppt/notesSlides/notesSlide3.xml" Id="Rb8c4cfd5840045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755370ca74b99" /><Relationship Type="http://schemas.openxmlformats.org/officeDocument/2006/relationships/notesSlide" Target="/ppt/notesSlides/notesSlide4.xml" Id="Ra68d468d43de41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572c625c04020" /><Relationship Type="http://schemas.openxmlformats.org/officeDocument/2006/relationships/notesSlide" Target="/ppt/notesSlides/notesSlide5.xml" Id="Rb175abf88a9a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1D460-92BD-4822-B4AA-CC5202D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0DD"/>
                </a:solidFill>
              </a:defRPr>
            </a:pPr>
            <a:r>
              <a:rPr sz="1350" b="1">
                <a:solidFill>
                  <a:srgbClr val="B7E0DD"/>
                </a:solidFill>
              </a:rPr>
              <a:t>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6C437-48D7-429A-B190-16567FB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focused path to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M-27 adoption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49AB9-735F-4EF5-A06E-AEC45E9F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9F1"/>
                </a:solidFill>
              </a:defRPr>
            </a:pPr>
            <a:r>
              <a:rPr sz="1650" b="0">
                <a:solidFill>
                  <a:srgbClr val="DCE9F1"/>
                </a:solidFill>
              </a:rPr>
              <a:t>Roadmap review • 2026-07-13</a:t>
            </a:r>
          </a:p>
          <a:p xmlns:a="http://schemas.openxmlformats.org/drawingml/2006/main">
            <a:pPr>
              <a:defRPr sz="1650" b="0">
                <a:solidFill>
                  <a:srgbClr val="DCE9F1"/>
                </a:solidFill>
              </a:defRPr>
            </a:pPr>
            <a:r>
              <a:rPr sz="1650" b="0">
                <a:solidFill>
                  <a:srgbClr val="DCE9F1"/>
                </a:solidFill>
              </a:rPr>
              <a:t>Milestone: 2026-09-18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9FE34-7424-481D-9A9F-DB41D47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18.4%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9D3A-4855-48D5-B9C1-9ADF7D1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98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E0DD"/>
                </a:solidFill>
              </a:defRPr>
            </a:pPr>
            <a:r>
              <a:rPr sz="1275" b="0">
                <a:solidFill>
                  <a:srgbClr val="B7E0DD"/>
                </a:solidFill>
              </a:rPr>
              <a:t>current adoption across 1,240</a:t>
            </a:r>
          </a:p>
          <a:p xmlns:a="http://schemas.openxmlformats.org/drawingml/2006/main">
            <a:pPr>
              <a:defRPr sz="1275" b="0">
                <a:solidFill>
                  <a:srgbClr val="B7E0DD"/>
                </a:solidFill>
              </a:defRPr>
            </a:pPr>
            <a:r>
              <a:rPr sz="1275" b="0">
                <a:solidFill>
                  <a:srgbClr val="B7E0DD"/>
                </a:solidFill>
              </a:rPr>
              <a:t>synthetic workspaces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C81D1-00B5-4348-B431-C96A4EEC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BB737-6E9A-4A78-B46E-E1264F6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4845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B4637-B646-4770-B295-4B8852F9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Q3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17507-EEEA-4E91-BB12-D165014F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The adoption gap is visible—and addressable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7BBC6-2FBB-4EA5-928D-7C4C971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Our weekly goal is to move from 18.4% toward 26.0% with a narrower experience, not a larger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D6F88-F9FF-4A11-AB09-26A10423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CD601-46EF-4F7A-914B-6D9E14D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0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24D"/>
                </a:solidFill>
              </a:defRPr>
            </a:pPr>
            <a:r>
              <a:rPr sz="4350" b="1">
                <a:solidFill>
                  <a:srgbClr val="17324D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555D6-45F8-4ABC-A1AB-AF984CB8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current activated-workspace adoption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04AC-B644-4DC8-A23C-916EE91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713A-522B-41FF-BE4D-BF7E5DE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0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C7A7B"/>
                </a:solidFill>
              </a:defRPr>
            </a:pPr>
            <a:r>
              <a:rPr sz="4350" b="1">
                <a:solidFill>
                  <a:srgbClr val="2C7A7B"/>
                </a:solidFill>
              </a:rPr>
              <a:t>26.0%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5E8FE-0428-431E-A14D-AA7ADF0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62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Q3 operating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B12A9-DD41-45E3-8A34-21F5664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84092-038A-4176-9A29-94E9D16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0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+7.6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E4039-9552-4FA6-8DCE-9AAE910C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62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gap to close through clearer next actions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11EE9-BB0D-45B4-B65B-3C25F77D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7FA8C-0F79-475A-A1C1-34E9C12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270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BD542-5BB9-4DC1-9FA5-E8C83ECD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17359-F0B0-4672-A758-8AD97A0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Make M-27 the smallest credible adoption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28482-F4EE-420E-A062-110CC884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Three connected changes solve the most frequent triage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57C7D-C0AF-4BDC-A5D4-5F1CF71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8D963-78D4-4FF2-B1B5-5CF235E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7A7B"/>
                </a:solidFill>
              </a:defRPr>
            </a:pPr>
            <a:r>
              <a:rPr sz="1125" b="1">
                <a:solidFill>
                  <a:srgbClr val="2C7A7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16054-2ABE-432D-9453-5DBCA47F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Guided setup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C933D-ADED-44CF-950A-37BFB7B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Clarifies the next teammate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7A4E8-98AF-44AE-B71C-F77874D9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17D9A-4A18-42D5-B0F1-17019A8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7A7B"/>
                </a:solidFill>
              </a:defRPr>
            </a:pPr>
            <a:r>
              <a:rPr sz="1125" b="1">
                <a:solidFill>
                  <a:srgbClr val="2C7A7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D436-456F-41A0-9337-ED867E5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Weekly adoption 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17F76-E49C-4010-AC87-4C0453A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Shows progress against the 26.0%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7D1EA-BEC5-4079-83E1-A7E4257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143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5B3C-526C-48A9-942A-7B11D6B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C7A7B"/>
                </a:solidFill>
              </a:defRPr>
            </a:pPr>
            <a:r>
              <a:rPr sz="1125" b="1">
                <a:solidFill>
                  <a:srgbClr val="2C7A7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C0A38-3AFF-46B9-8DB0-5D4F330E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Empty-state rewrite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EB0C6-6FC1-415C-839D-E7C8F0A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Explains the first step without support help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A9C2D-77CF-403E-803D-54D1FCED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F10E9-465A-4991-95F5-FA2D9C3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2108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EDFDD-0731-48EB-B55F-2B85915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SEQUENCING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29A70-5D0C-4480-87BF-3D7A0EE7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Cut scope by dependency, not by aspiration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8229-DE53-4977-898B-E78D7EB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M-27 holds one material risk: the reporting schema must support a stable weekly denominator.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36019-235F-4E4B-B988-467D22AB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C7A7B"/>
                </a:solidFill>
              </a:defRPr>
            </a:pPr>
            <a:r>
              <a:rPr sz="1050" b="1">
                <a:solidFill>
                  <a:srgbClr val="2C7A7B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B1D62-EED9-4075-A6C4-5C25C25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Jul 13–17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Confirm cohort definition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Finalize empty-state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E81F5-A90F-4E13-83BB-8673CD3B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C7A7B"/>
                </a:solidFill>
              </a:defRPr>
            </a:pPr>
            <a:r>
              <a:rPr sz="1050" b="1">
                <a:solidFill>
                  <a:srgbClr val="2C7A7B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72F0-E726-4ABA-AF82-157A6CAD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Jul 20–Aug 28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Checklist + pulse build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Schema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351B6-9624-4BCE-B5C2-12B72E9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C7A7B"/>
                </a:solidFill>
              </a:defRPr>
            </a:pPr>
            <a:r>
              <a:rPr sz="1050" b="1">
                <a:solidFill>
                  <a:srgbClr val="2C7A7B"/>
                </a:solidFill>
              </a:rPr>
              <a:t>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6E58B-556C-42A5-9E4E-D16DC66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Sep 1–11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Synthetic cohort review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Support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0E2E3-D775-44EA-AE7E-8EAA799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C7A7B"/>
                </a:solidFill>
              </a:defRPr>
            </a:pPr>
            <a:r>
              <a:rPr sz="1050" b="1">
                <a:solidFill>
                  <a:srgbClr val="2C7A7B"/>
                </a:solidFill>
              </a:rPr>
              <a:t>M-27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52658-77DB-45E8-938C-7E23B66D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38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Sep 18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Focused release</a:t>
            </a:r>
          </a:p>
          <a:p xmlns:a="http://schemas.openxmlformats.org/drawingml/2006/main">
            <a:pPr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Weekly readout begins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D03E8-AC25-41B9-B490-CFD867D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BAC89-B881-41F3-8141-70DC6790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3871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9424B-1BC6-480B-AE40-9D242A7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929C1-CF05-4ED5-AD86-99443FFE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Approve the focused M-27 bundle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5781D-D869-4B85-84DF-80FE1416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Today’s choice preserves speed while keeping the Q3 target measurable.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D4464-F532-4A42-BEEE-163C40E0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66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03CC8-A7EE-4469-B321-662FA043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C7A7B"/>
                </a:solidFill>
              </a:defRPr>
            </a:pPr>
            <a:r>
              <a:rPr sz="2100" b="1">
                <a:solidFill>
                  <a:srgbClr val="2C7A7B"/>
                </a:solidFill>
              </a:rPr>
              <a:t>Approve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1B01-2A4A-40BF-9FDA-CD6A8ED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Guided setup checklist + adoption pulse + empty-state rewrite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F923C-C117-4A2F-9E62-CE58C555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Defer advanced CSV export until the reporting schema decision is closed.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8B39C-08BE-48C5-94BC-7317307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C123D-27B9-40A6-B9BB-712073B8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352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2026-08-23T15:15:49.8250000Z</dcterms:created>
  <dcterms:modified xsi:type="dcterms:W3CDTF">2026-08-23T15:15:49.8250000Z</dcterms:modified>
</coreProperties>
</file>