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2336baf2b64734" /><Relationship Type="http://schemas.openxmlformats.org/officeDocument/2006/relationships/extended-properties" Target="/docProps/app.xml" Id="Rbc200a21d62f492c" /><Relationship Type="http://schemas.openxmlformats.org/officeDocument/2006/relationships/officeDocument" Target="/ppt/presentation.xml" Id="Rfa02e0d2e21c40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0a0c5824214259"/>
  </p:sldMasterIdLst>
  <p:notesMasterIdLst>
    <p:notesMasterId xmlns:r="http://schemas.openxmlformats.org/officeDocument/2006/relationships" r:id="Rb8f2cc9703d146c0"/>
  </p:notesMasterIdLst>
  <p:sldIdLst>
    <p:sldId xmlns:r="http://schemas.openxmlformats.org/officeDocument/2006/relationships" id="256" r:id="Rda5a9aee77fa4105"/>
    <p:sldId xmlns:r="http://schemas.openxmlformats.org/officeDocument/2006/relationships" id="257" r:id="R6877c6db0c3e4f19"/>
    <p:sldId xmlns:r="http://schemas.openxmlformats.org/officeDocument/2006/relationships" id="258" r:id="R10f11c368a3e4555"/>
    <p:sldId xmlns:r="http://schemas.openxmlformats.org/officeDocument/2006/relationships" id="259" r:id="R9aa1bcec83474af0"/>
    <p:sldId xmlns:r="http://schemas.openxmlformats.org/officeDocument/2006/relationships" id="260" r:id="Rdecd9b8786d8488d"/>
    <p:sldId xmlns:r="http://schemas.openxmlformats.org/officeDocument/2006/relationships" id="261" r:id="Ra0a63eec2aa345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771ef4786e4c5b" /><Relationship Type="http://schemas.openxmlformats.org/officeDocument/2006/relationships/slideMaster" Target="/ppt/slideMasters/slideMaster1.xml" Id="Rdc0a0c5824214259" /><Relationship Type="http://schemas.openxmlformats.org/officeDocument/2006/relationships/notesMaster" Target="/ppt/notesMasters/notesMaster1.xml" Id="Rb8f2cc9703d146c0" /><Relationship Type="http://schemas.openxmlformats.org/officeDocument/2006/relationships/presProps" Target="/ppt/presProps.xml" Id="Rd75bc78575c542a7" /><Relationship Type="http://schemas.openxmlformats.org/officeDocument/2006/relationships/tableStyles" Target="/ppt/tableStyles.xml" Id="Rd6d8110e07bf46a1" /><Relationship Type="http://schemas.openxmlformats.org/officeDocument/2006/relationships/slide" Target="/ppt/slides/slide1.xml" Id="Rda5a9aee77fa4105" /><Relationship Type="http://schemas.openxmlformats.org/officeDocument/2006/relationships/slide" Target="/ppt/slides/slide2.xml" Id="R6877c6db0c3e4f19" /><Relationship Type="http://schemas.openxmlformats.org/officeDocument/2006/relationships/slide" Target="/ppt/slides/slide3.xml" Id="R10f11c368a3e4555" /><Relationship Type="http://schemas.openxmlformats.org/officeDocument/2006/relationships/slide" Target="/ppt/slides/slide4.xml" Id="R9aa1bcec83474af0" /><Relationship Type="http://schemas.openxmlformats.org/officeDocument/2006/relationships/slide" Target="/ppt/slides/slide5.xml" Id="Rdecd9b8786d8488d" /><Relationship Type="http://schemas.openxmlformats.org/officeDocument/2006/relationships/slide" Target="/ppt/slides/slide6.xml" Id="Ra0a63eec2aa345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5610a8078d4a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1756625b264eac" /><Relationship Type="http://schemas.openxmlformats.org/officeDocument/2006/relationships/notesMaster" Target="/ppt/notesMasters/notesMaster1.xml" Id="Rf6a162ddd0b44e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b9595ec2ff4ebd" /><Relationship Type="http://schemas.openxmlformats.org/officeDocument/2006/relationships/notesMaster" Target="/ppt/notesMasters/notesMaster1.xml" Id="Rc2decc1700d240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9de9baceb545ff" /><Relationship Type="http://schemas.openxmlformats.org/officeDocument/2006/relationships/notesMaster" Target="/ppt/notesMasters/notesMaster1.xml" Id="Re7be4bd4e88647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3676d473c74d8e" /><Relationship Type="http://schemas.openxmlformats.org/officeDocument/2006/relationships/notesMaster" Target="/ppt/notesMasters/notesMaster1.xml" Id="Re2d88b746ec245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4a939a2d704343" /><Relationship Type="http://schemas.openxmlformats.org/officeDocument/2006/relationships/notesMaster" Target="/ppt/notesMasters/notesMaster1.xml" Id="R32cc7055f2c54a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d3515e1c854cc5" /><Relationship Type="http://schemas.openxmlformats.org/officeDocument/2006/relationships/notesMaster" Target="/ppt/notesMasters/notesMaster1.xml" Id="R8caf819ad59a49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51373a457f40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15b26b2cdd4e2b" /><Relationship Type="http://schemas.openxmlformats.org/officeDocument/2006/relationships/slideLayout" Target="/ppt/slideLayouts/slideLayout1.xml" Id="R10bd7fec710847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bd7fec710847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a202967774080" /><Relationship Type="http://schemas.openxmlformats.org/officeDocument/2006/relationships/notesSlide" Target="/ppt/notesSlides/notesSlide1.xml" Id="Rfd70e781f46a44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92220a7504ad5" /><Relationship Type="http://schemas.openxmlformats.org/officeDocument/2006/relationships/notesSlide" Target="/ppt/notesSlides/notesSlide2.xml" Id="Rbcbea62c1e914d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a31af9c4b46f7" /><Relationship Type="http://schemas.openxmlformats.org/officeDocument/2006/relationships/notesSlide" Target="/ppt/notesSlides/notesSlide3.xml" Id="R9810156749c84f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e0d5ab5874e86" /><Relationship Type="http://schemas.openxmlformats.org/officeDocument/2006/relationships/notesSlide" Target="/ppt/notesSlides/notesSlide4.xml" Id="R07c933ea9e4140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bd400ae334ce0" /><Relationship Type="http://schemas.openxmlformats.org/officeDocument/2006/relationships/notesSlide" Target="/ppt/notesSlides/notesSlide5.xml" Id="Rf07cfde9b30d4e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f449780984047" /><Relationship Type="http://schemas.openxmlformats.org/officeDocument/2006/relationships/notesSlide" Target="/ppt/notesSlides/notesSlide6.xml" Id="R0c1f212f330547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F697A-E91C-4EC3-B13E-449795EA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PRODUCT ALPHA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565DC-E59F-4238-8618-446FD9EE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Q3 release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745D5-2C81-4E29-9A43-0C8FFA9B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BEAFE"/>
                </a:solidFill>
              </a:defRPr>
            </a:pPr>
            <a:r>
              <a:rPr sz="1950" b="0">
                <a:solidFill>
                  <a:srgbClr val="DBEAFE"/>
                </a:solidFill>
              </a:rPr>
              <a:t>A controlled route from internal learning to guided customer rollout.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2CF4C-AD9A-4D5A-A006-AA67B84C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Juniper Works  |  13 July 2026</a:t>
            </a:r>
          </a:p>
        </p:txBody>
      </p:sp>
    </p:spTree>
    <p:extLst>
      <p:ext uri="{BB962C8B-B14F-4D97-AF65-F5344CB8AC3E}">
        <p14:creationId xmlns:p14="http://schemas.microsoft.com/office/powerpoint/2010/main" val="2343064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CEEE73-AF6D-4885-B0C3-275140D1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DECISION FRAME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65643-94EA-42C1-A616-26727DFC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release earns expansion through evidence, not calendar pressure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6BD5D-3C09-4600-BC40-86FC20C8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1,240 eligible synthetic workspaces; adoption target 18.4% to 26.0%.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0F394-F9C4-48A2-B56D-E17D63D2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45F15-4619-4C33-859E-A00E5FCE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B2B09-70CB-4D48-B185-118F804D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050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06D"/>
                </a:solidFill>
              </a:defRPr>
            </a:pPr>
            <a:r>
              <a:rPr sz="1125" b="1">
                <a:solidFill>
                  <a:srgbClr val="52606D"/>
                </a:solidFill>
              </a:rPr>
              <a:t>CURRENT ADOPTION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2B2B4-DE38-4483-97CA-2E392AFA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18.4%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BB05F-1381-4D4B-BC86-6FA53E06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33625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AEEA1-B90D-4D14-A2FC-C04FFA91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050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06D"/>
                </a:solidFill>
              </a:defRPr>
            </a:pPr>
            <a:r>
              <a:rPr sz="1125" b="1">
                <a:solidFill>
                  <a:srgbClr val="52606D"/>
                </a:solidFill>
              </a:rPr>
              <a:t>Q3 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9C347-99B0-4E75-AAB1-54D37263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384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47857"/>
                </a:solidFill>
              </a:defRPr>
            </a:pPr>
            <a:r>
              <a:rPr sz="2550" b="1">
                <a:solidFill>
                  <a:srgbClr val="047857"/>
                </a:solidFill>
              </a:rPr>
              <a:t>26.0%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961228-D30A-428E-9D9A-D6734E6B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33625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E60728-E142-4FAE-99A6-DC4C55C5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050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06D"/>
                </a:solidFill>
              </a:defRPr>
            </a:pPr>
            <a:r>
              <a:rPr sz="1125" b="1">
                <a:solidFill>
                  <a:srgbClr val="52606D"/>
                </a:solidFill>
              </a:rPr>
              <a:t>GATE 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332DAC-749D-4D69-9953-67E149D3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384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18 Sep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E429F6-EDE7-491E-ACFE-44042B61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33625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4B9E11-27D2-4CE8-B8BF-F38097D8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050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06D"/>
                </a:solidFill>
              </a:defRPr>
            </a:pPr>
            <a:r>
              <a:rPr sz="1125" b="1">
                <a:solidFill>
                  <a:srgbClr val="52606D"/>
                </a:solidFill>
              </a:rPr>
              <a:t>ELIGIBLE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8F80FD-56E6-422D-9D5B-0870A6E8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384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1,240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F91FA9-F012-4E45-8F4B-FF9EF86E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830EA0-F725-48BC-81DF-B2525C5F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977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Protect customer workflow continuity while Product Alpha changes behavior.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C93EFB-BD7D-4EC2-BAA3-F360B3A6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34DB38-7EED-4026-AC58-07079C31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977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Make support capacity and rollback signals visible before each wave.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17B915-4A25-41BC-8474-C82F448E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Juniper Works  |  Product Alpha Q3  |  2026-07-13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6D292D-F019-4700-B64E-2434BB21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PLAN  2</a:t>
            </a:r>
          </a:p>
        </p:txBody>
      </p:sp>
    </p:spTree>
    <p:extLst>
      <p:ext uri="{BB962C8B-B14F-4D97-AF65-F5344CB8AC3E}">
        <p14:creationId xmlns:p14="http://schemas.microsoft.com/office/powerpoint/2010/main" val="13893558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970B16-B803-4A4A-BE11-41280770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ROLLOUT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A078E-D1CB-4EA8-B632-839F8DB9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Four waves create a reversible path to adoption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9D1C9-8FF4-4DCF-8FC0-3AAC0ED3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A472C-B0DD-4AA9-8460-AC89FF3B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8620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CDBFB-AB4C-4776-9AC1-52571E60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F33C25-6BB3-4C3A-8FE5-ECC5D24E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86175"/>
            <a:ext cx="114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478A1-C149-4C35-A567-4A317304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Internal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A5DC48-F07F-4319-A06F-306C7403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13 Jul - 31 Jul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CE686-1B88-48B7-A292-2FFAA3A8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38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FD5ED-E7F4-4379-8195-CC6F8845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86175"/>
            <a:ext cx="114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0D869C-6302-42B1-9437-84444CD9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19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7E0B00-3EF8-465A-9399-E2E4F05B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862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120 workspaces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659DA-D13D-415A-A35F-74A04CEB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38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86E596-49B5-4924-A628-E29524F8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86175"/>
            <a:ext cx="114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E4544-075D-4F80-B6AB-FB7163FF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19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Guided rollout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F6D76E-B132-4DD5-B200-8CA1B960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862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M-27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EB7E5E-A8E5-4632-8928-0774D826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38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98CB5F-8A45-4940-B0EB-42E86B45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86175"/>
            <a:ext cx="114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EC73B5-24EB-4984-8A5B-9C860842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19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A62B6C-D57A-455D-AB48-B60D0A76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862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Q3 close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6F83E6-B0EE-4F5A-AFAB-0FAE2878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583768-8016-4675-BF8B-F6320A2D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986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Internal learning is the only stage without external commitment.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91D4B2-A64D-4460-B577-CF4FFE20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28946D-4DDA-4450-A0FA-36C4D10E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2275"/>
            <a:ext cx="986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Pilot findings must close before guided rollout opens.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7D8E0D-7AB8-4825-8532-7647E483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Juniper Works  |  Product Alpha Q3  |  2026-07-13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901F25-2F1C-4D01-8B99-F8200940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PLAN  3</a:t>
            </a:r>
          </a:p>
        </p:txBody>
      </p:sp>
    </p:spTree>
    <p:extLst>
      <p:ext uri="{BB962C8B-B14F-4D97-AF65-F5344CB8AC3E}">
        <p14:creationId xmlns:p14="http://schemas.microsoft.com/office/powerpoint/2010/main" val="11304561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BEF937-5A1B-43DE-82E2-88508A6F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M-27 CRITERIA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BB01F2-AFC7-41E3-9D09-3D9DF12F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guided rollout gate requires all five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2D56C-BF94-4C5F-9863-4D99BCC6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366F2-E089-4F63-B478-CB1357A6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3DF18-20C6-4C51-95B2-AA7185A9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Product quality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30A85-F6DA-4DFA-9382-EB05A6B9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40030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No open severity-1 defects; severity-2 mitigation owned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EDBE35-7836-4842-9524-C3DEA3BD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03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953919-0A79-4BEA-B1BF-D8160236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9FBFE-FC0F-41DD-B3EF-0C8D2DD4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Adoption 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BE3FD-AE9A-40F5-A7BB-F5058DE4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2895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Pilot activation at or above 24% within 14 days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3D92C5-A416-4FDB-ABF8-4413086A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28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Analytics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9EEAA1-C07D-4A7C-AA51-61E8728A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675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6A941-D0C9-4383-9656-246E5737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Support readiness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994EA6-9101-4153-AA6C-6375A1A2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65760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Playbook published; on-call coverage confirmed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766304-2B45-4DA6-80D4-096FCD5E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57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Support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BD7A96-F183-477E-83CE-2AFF030E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01080C-DC58-4AF1-A42A-3327AC6E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Comms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1350B0-5DF2-438B-87DA-A4CFF5F9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28625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Customer notice and FAQ approved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92D8BA-4492-4A44-8DA6-41C733BB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86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PM + Comms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9DC141-6E74-4CEE-AE27-49990BCF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01FA6-1B3F-457D-A834-05B7BFBC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Rollback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E4FE40-43BB-4412-9B64-333028E8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91490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Restore path tested in pilot environment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A87B26-FD1E-47C0-BDFC-C3C66636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149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Release lead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E698BD-768F-470D-B382-9F935CAE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Juniper Works  |  Product Alpha Q3  |  2026-07-13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75E16D-0351-419D-9D82-5A5A44C7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PLAN  4</a:t>
            </a:r>
          </a:p>
        </p:txBody>
      </p:sp>
    </p:spTree>
    <p:extLst>
      <p:ext uri="{BB962C8B-B14F-4D97-AF65-F5344CB8AC3E}">
        <p14:creationId xmlns:p14="http://schemas.microsoft.com/office/powerpoint/2010/main" val="1424607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232832-CB06-4C01-8720-8628A043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OPERATING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54732-BE77-4EE8-9A84-D2FA1C4F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Every wave has an owner, a signal, and a rollback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3611B-731D-4F37-9F75-82E21B84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CBB84-E74D-470A-BB8A-279956F5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1AA57-F889-4E05-9BCB-4FEF553F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005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PM: chairs daily command center and records go/no-go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70626-3727-4BA5-BE7C-D48BD4F9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E33A55-45E1-475E-989D-6E096928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2275"/>
            <a:ext cx="1005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Engineering: monitors defects, latency, and restores the prior experience if thresholds breach.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58D2E1-7B19-4D78-8A59-A9CD511E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2FDA6-5041-448F-8B56-0FABCDE7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29025"/>
            <a:ext cx="1005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Support: routes issue themes, updates macros, and escalates urgent account impact.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BAF51C-56A8-4B73-ABBD-3E8A125E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1344F-5278-4515-89B3-AD1C43CB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5775"/>
            <a:ext cx="1005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Comms: sends staged notices only after the gate evidence is signed.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07D7C-8396-427E-9EBA-440A3206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Juniper Works  |  Product Alpha Q3  |  2026-07-13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D8C72-A640-4B85-9132-2390BDED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PLAN  5</a:t>
            </a:r>
          </a:p>
        </p:txBody>
      </p:sp>
    </p:spTree>
    <p:extLst>
      <p:ext uri="{BB962C8B-B14F-4D97-AF65-F5344CB8AC3E}">
        <p14:creationId xmlns:p14="http://schemas.microsoft.com/office/powerpoint/2010/main" val="14307211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4A7ABE-EFBE-451F-89B5-DF72304A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DECISION REQUEST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15B83-C2D8-4006-BFD7-C1FF58BE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Approve the M-27 readiness plan and pilot entry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4C11B-1945-4092-9F64-034AD7CB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Next checkpoint: pilot evidence review on 2026-09-14.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24F0A-EC04-49D7-B6A8-EF9554DB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85497-5D54-4882-A87B-7C3FEF1E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563EB"/>
                </a:solidFill>
              </a:defRPr>
            </a:pPr>
            <a:r>
              <a:rPr sz="2025" b="1">
                <a:solidFill>
                  <a:srgbClr val="2563EB"/>
                </a:solidFill>
              </a:rPr>
              <a:t>M-27 guided rollout gate: 2026-09-18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14CB0-9BF7-43C4-AC47-C6CB440A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1502E-53BE-4BDC-9958-A9700C94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43275"/>
            <a:ext cx="986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Authorize 120-workspace pilot after internal exit 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BE4C1-8098-4368-95A4-A413928F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7F9AA4-A6EB-494E-A23C-5B533515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0025"/>
            <a:ext cx="986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Hold guided rollout until every M-27 criterion is evidenced.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44C12-41FC-473C-873E-751B04BC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1017F9-F6CB-49F2-A2BD-D4C2E407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76775"/>
            <a:ext cx="986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Use rollback rather than exception-making when a safety threshold is breached.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D4D8D7-A4F8-4E81-BA4E-62B9077B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Juniper Works  |  Product Alpha Q3  |  2026-07-13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D70EE5-B1F6-4112-9BE1-54C8CC16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PLAN  6</a:t>
            </a:r>
          </a:p>
        </p:txBody>
      </p:sp>
    </p:spTree>
    <p:extLst>
      <p:ext uri="{BB962C8B-B14F-4D97-AF65-F5344CB8AC3E}">
        <p14:creationId xmlns:p14="http://schemas.microsoft.com/office/powerpoint/2010/main" val="8865452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2026-08-23T15:05:09.1380000Z</dcterms:created>
  <dcterms:modified xsi:type="dcterms:W3CDTF">2026-08-23T15:05:09.1380000Z</dcterms:modified>
</coreProperties>
</file>