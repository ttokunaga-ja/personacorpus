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f38c7e93524883" /><Relationship Type="http://schemas.openxmlformats.org/officeDocument/2006/relationships/extended-properties" Target="/docProps/app.xml" Id="Rb08a301a57fb4fdf" /><Relationship Type="http://schemas.openxmlformats.org/officeDocument/2006/relationships/officeDocument" Target="/ppt/presentation.xml" Id="Reabcd89a9ead45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c8d454f4dd41c7"/>
  </p:sldMasterIdLst>
  <p:notesMasterIdLst>
    <p:notesMasterId xmlns:r="http://schemas.openxmlformats.org/officeDocument/2006/relationships" r:id="Rddd289f7581b42e5"/>
  </p:notesMasterIdLst>
  <p:sldIdLst>
    <p:sldId xmlns:r="http://schemas.openxmlformats.org/officeDocument/2006/relationships" id="256" r:id="Rcc924b292de242aa"/>
    <p:sldId xmlns:r="http://schemas.openxmlformats.org/officeDocument/2006/relationships" id="257" r:id="Rd518e581133b4366"/>
    <p:sldId xmlns:r="http://schemas.openxmlformats.org/officeDocument/2006/relationships" id="258" r:id="R8136208e77da4b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b6317ded444419" /><Relationship Type="http://schemas.openxmlformats.org/officeDocument/2006/relationships/slideMaster" Target="/ppt/slideMasters/slideMaster1.xml" Id="Rc4c8d454f4dd41c7" /><Relationship Type="http://schemas.openxmlformats.org/officeDocument/2006/relationships/notesMaster" Target="/ppt/notesMasters/notesMaster1.xml" Id="Rddd289f7581b42e5" /><Relationship Type="http://schemas.openxmlformats.org/officeDocument/2006/relationships/presProps" Target="/ppt/presProps.xml" Id="R7937c1cf72c84ace" /><Relationship Type="http://schemas.openxmlformats.org/officeDocument/2006/relationships/tableStyles" Target="/ppt/tableStyles.xml" Id="R261e8049a2b146a5" /><Relationship Type="http://schemas.openxmlformats.org/officeDocument/2006/relationships/slide" Target="/ppt/slides/slide1.xml" Id="Rcc924b292de242aa" /><Relationship Type="http://schemas.openxmlformats.org/officeDocument/2006/relationships/slide" Target="/ppt/slides/slide2.xml" Id="Rd518e581133b4366" /><Relationship Type="http://schemas.openxmlformats.org/officeDocument/2006/relationships/slide" Target="/ppt/slides/slide3.xml" Id="R8136208e77da4b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d2e96922cc42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ca79397f214dc2" /><Relationship Type="http://schemas.openxmlformats.org/officeDocument/2006/relationships/notesMaster" Target="/ppt/notesMasters/notesMaster1.xml" Id="R25aa5423e9434f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ba825658c144d3" /><Relationship Type="http://schemas.openxmlformats.org/officeDocument/2006/relationships/notesMaster" Target="/ppt/notesMasters/notesMaster1.xml" Id="R80425c4cd87840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fae25706424859" /><Relationship Type="http://schemas.openxmlformats.org/officeDocument/2006/relationships/notesMaster" Target="/ppt/notesMasters/notesMaster1.xml" Id="Rc9e594e1d86a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source: Juniper Works Product Alpha Q3 roadmap working set, 2026-07-13. All metrics and entities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b81d2c3364e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4c345b2dd54e9a" /><Relationship Type="http://schemas.openxmlformats.org/officeDocument/2006/relationships/slideLayout" Target="/ppt/slideLayouts/slideLayout1.xml" Id="Raa76d1369cc042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76d1369cc042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2b6206ff549da" /><Relationship Type="http://schemas.openxmlformats.org/officeDocument/2006/relationships/notesSlide" Target="/ppt/notesSlides/notesSlide1.xml" Id="Reb9eab1fa6374f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587b891a84297" /><Relationship Type="http://schemas.openxmlformats.org/officeDocument/2006/relationships/notesSlide" Target="/ppt/notesSlides/notesSlide2.xml" Id="Ra8f3365e3d0a44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ceb442fb94b16" /><Relationship Type="http://schemas.openxmlformats.org/officeDocument/2006/relationships/notesSlide" Target="/ppt/notesSlides/notesSlide3.xml" Id="R4abde791e11347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995CA-5335-4648-89E4-9EB6B563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0C7B3"/>
                </a:solidFill>
              </a:defRPr>
            </a:pPr>
            <a:r>
              <a:rPr sz="1200" b="1">
                <a:solidFill>
                  <a:srgbClr val="50C7B3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D4BED-3BC2-4542-B292-0B01F9AE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23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Executive roadmap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2BFBC-1705-4CC0-86D5-E13C0FFD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Decision readout</a:t>
            </a:r>
          </a:p>
          <a:p xmlns:a="http://schemas.openxmlformats.org/drawingml/2006/main">
            <a:pPr>
              <a:defRPr sz="1800" b="0">
                <a:solidFill>
                  <a:srgbClr val="D9E5E8"/>
                </a:solidFill>
              </a:defRPr>
            </a:pPr>
            <a:r>
              <a:rPr sz="1800" b="0">
                <a:solidFill>
                  <a:srgbClr val="D9E5E8"/>
                </a:solidFill>
              </a:rPr>
              <a:t>13 July 2026 · Portfolio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1A4A0-3594-4DF3-A730-D3134DF0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762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D5E69-7F2E-44DE-BD8F-AFC29C0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76450"/>
            <a:ext cx="219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212B"/>
                </a:solidFill>
              </a:defRPr>
            </a:pPr>
            <a:r>
              <a:rPr sz="3750" b="1">
                <a:solidFill>
                  <a:srgbClr val="10212B"/>
                </a:solidFill>
              </a:rPr>
              <a:t>18.4%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19787-8B7C-42FD-BFD3-FCF2B360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527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adoption baseline</a:t>
            </a:r>
          </a:p>
          <a:p xmlns:a="http://schemas.openxmlformats.org/drawingml/2006/main">
            <a:pPr>
              <a:defRPr sz="1425" b="0">
                <a:solidFill>
                  <a:srgbClr val="10212B"/>
                </a:solidFill>
              </a:defRPr>
            </a:pPr>
            <a:r>
              <a:rPr sz="1425" b="0">
                <a:solidFill>
                  <a:srgbClr val="10212B"/>
                </a:solidFill>
              </a:rPr>
              <a:t>1,240 synthetic workspaces</a:t>
            </a:r>
          </a:p>
        </p:txBody>
      </p:sp>
    </p:spTree>
    <p:extLst>
      <p:ext uri="{BB962C8B-B14F-4D97-AF65-F5344CB8AC3E}">
        <p14:creationId xmlns:p14="http://schemas.microsoft.com/office/powerpoint/2010/main" val="2062604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81EF3E-A806-4D38-939E-F23F32A4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10F50-1C79-4BA8-BEFF-7090530E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Executive roadmap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74C13-5FC6-4F7F-995B-D763F7DB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Decision readout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76A91-8D14-4B46-9A80-575D5644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35B4E-440B-4A8B-B563-0706BAD7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9B36A-EBC0-4FAD-A6C6-A8EE1188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Workstream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CD4FC-4A74-4301-A96B-C949962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18097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34FA4-65BC-413E-AF07-417B5120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A0D7A-218E-4B1A-BF72-4395389F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314325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FB946-EB74-4F19-AAD6-5922CA07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Dependency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77472-6295-4C83-9995-6D5EDE56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52625"/>
            <a:ext cx="2095500" cy="428625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10212B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BC9C0-F69E-4287-8A27-F6516E9E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5262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C9BC5-8C7E-4A69-9A37-728BC42B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C2022-3FA3-408C-8C88-B07F63C1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61DB-9AE4-4792-9C22-353D2C03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431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C28F2-953B-4EDB-A4D2-16FB666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431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DA186-3AD5-47CF-BCE8-DC9482A7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431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2D698-BD28-414C-AAE8-71FC1413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431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Research synthesis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29BCE-FBA9-428C-B623-1DE03B5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0DE16-4B50-4663-A10C-66B2115A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431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High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40EE4-27DD-4A99-8B39-EB86FA95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86DAB-E969-4385-BE95-8EE7E897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Pilot enablement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6F174-125D-4061-A1F1-2099CC73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337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4EAC0-8558-4D10-B08C-8CAFF28D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337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78913-A205-40B1-99B7-12721F08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337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68F56-F44F-4B36-83C0-B44EC764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Support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AAD057-10DA-4DEB-B5C3-DFE86D1B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DAB03-28EF-4A93-BBB4-8902F7A1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337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89064-E9D5-4E43-AC19-232A041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11F633-C9F9-43EA-B210-2311A86F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Guided rollout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9C89E6-F6C1-4CBA-824A-AC48B2DE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2427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99ACCD-41AA-46BB-9575-DAA64DD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2427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BBA656-AC34-4B5E-BA7A-3562EACE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2427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24D37C-7063-4B15-A966-7FA406DC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24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M-27 go/no-go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49A29C-6872-4ED4-A8CD-1A1C2CFC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2427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9E8B33-9C62-4C5A-A971-F97E47B8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242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F3B311-9CCC-433A-B718-47BFD3B3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3333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1A65F3-DD3C-4903-BEAF-B57B7DB7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48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Q4 discovery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BBC453-1F86-447A-903E-B038CFF3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14825"/>
            <a:ext cx="18097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5FD078-1E5E-4CEC-A70F-8CD19876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14825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Beta PM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320743-0F24-4CDE-82A9-7CFDF0A4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3143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442F11-E245-45CB-B8F4-A1EC6C6C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Capacity release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223E75-BA89-4768-88F9-522E27C0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14825"/>
            <a:ext cx="2095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230FFB-FF4C-4ACB-810A-8BEE37BE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3148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12B"/>
                </a:solidFill>
              </a:defRPr>
            </a:pPr>
            <a:r>
              <a:rPr sz="1350" b="0">
                <a:solidFill>
                  <a:srgbClr val="10212B"/>
                </a:solidFill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80260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C86EE-884D-42F0-A0A5-761092D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080"/>
                </a:solidFill>
              </a:defRPr>
            </a:pPr>
            <a:r>
              <a:rPr sz="1050" b="1">
                <a:solidFill>
                  <a:srgbClr val="587080"/>
                </a:solidFill>
              </a:rPr>
              <a:t>JUNIPER WORKS  /  PRODUCT ALPHA 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678CA-AC5F-4B12-9171-2640367D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12B"/>
                </a:solidFill>
              </a:defRPr>
            </a:pPr>
            <a:r>
              <a:rPr sz="2700" b="1">
                <a:solidFill>
                  <a:srgbClr val="10212B"/>
                </a:solidFill>
              </a:rPr>
              <a:t>Shared execution spine through 18 September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8789A-4931-4440-9610-26BEB7F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25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7080"/>
                </a:solidFill>
              </a:defRPr>
            </a:pPr>
            <a:r>
              <a:rPr sz="1350" b="0">
                <a:solidFill>
                  <a:srgbClr val="587080"/>
                </a:solidFill>
              </a:rPr>
              <a:t>July discovery closure → August enablement/pilot → September guided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458FD-4A56-47CD-939D-C958FB2C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341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7080"/>
                </a:solidFill>
              </a:defRPr>
            </a:pPr>
            <a:r>
              <a:rPr sz="975" b="1">
                <a:solidFill>
                  <a:srgbClr val="58708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C6EA3-A026-48F9-8F3C-CA5661E8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Jul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9126D-B0FF-432B-90A1-BC5E789A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Aug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0C8D9-3472-4540-9518-FEF3CAEE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750" y="1600200"/>
            <a:ext cx="279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87080"/>
                </a:solidFill>
              </a:defRPr>
            </a:pPr>
            <a:r>
              <a:rPr sz="1500" b="1">
                <a:solidFill>
                  <a:srgbClr val="587080"/>
                </a:solidFill>
              </a:rPr>
              <a:t>Sep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37772-F0F3-44D4-8711-0C5CB9B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Discovery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D93A8-5C79-4826-A99C-B238FADE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251460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50C7B3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B3F85-472A-42CE-AE89-7DD21067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2324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PM / 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1C1A58-C4CC-482D-8651-AF5670B4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Enablement +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A6932-D4E2-4A70-8A9C-A51E5BA8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05125"/>
            <a:ext cx="284988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2C66D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A0885-F471-4AEB-BF60-6E43BAB5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65938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Enablement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C6AFE-4300-4117-A370-C54D6D8F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12B"/>
                </a:solidFill>
              </a:defRPr>
            </a:pPr>
            <a:r>
              <a:rPr sz="1350" b="1">
                <a:solidFill>
                  <a:srgbClr val="10212B"/>
                </a:solidFill>
              </a:rPr>
              <a:t>Guided rollout + 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6E035-AC1C-4D36-8D80-60478FD1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230" y="3810000"/>
            <a:ext cx="3017520" cy="409575"/>
          </a:xfrm>
          <a:prstGeom xmlns:a="http://schemas.openxmlformats.org/drawingml/2006/main" prst="roundRect">
            <a:avLst>
              <a:gd name="adj" fmla="val 37209"/>
            </a:avLst>
          </a:prstGeom>
          <a:solidFill xmlns:a="http://schemas.openxmlformats.org/drawingml/2006/main">
            <a:srgbClr val="F57E6F"/>
          </a:solidFill>
          <a:ln xmlns:a="http://schemas.openxmlformats.org/drawingml/2006/main" w="9525">
            <a:solidFill>
              <a:srgbClr val="C9D4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9349C-D77F-4FD1-A8BF-3DECE1E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9530" y="3810000"/>
            <a:ext cx="282702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12B"/>
                </a:solidFill>
              </a:defRPr>
            </a:pPr>
            <a:r>
              <a:rPr sz="1125" b="1">
                <a:solidFill>
                  <a:srgbClr val="10212B"/>
                </a:solidFill>
              </a:rPr>
              <a:t>Launch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E46A2-A52B-430C-BA60-49EB8C1C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Decision gate · M-27 guided rollout · 18 Sep 2026</a:t>
            </a:r>
          </a:p>
        </p:txBody>
      </p:sp>
    </p:spTree>
    <p:extLst>
      <p:ext uri="{BB962C8B-B14F-4D97-AF65-F5344CB8AC3E}">
        <p14:creationId xmlns:p14="http://schemas.microsoft.com/office/powerpoint/2010/main" val="1327602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2026-08-23T15:03:52.9370000Z</dcterms:created>
  <dcterms:modified xsi:type="dcterms:W3CDTF">2026-08-23T15:03:52.9370000Z</dcterms:modified>
</coreProperties>
</file>