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cf2f544e7584e05" /><Relationship Type="http://schemas.openxmlformats.org/officeDocument/2006/relationships/extended-properties" Target="/docProps/app.xml" Id="R5a070b1d34004ffc" /><Relationship Type="http://schemas.openxmlformats.org/officeDocument/2006/relationships/officeDocument" Target="/ppt/presentation.xml" Id="Rc166db7cf8dd442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07ef2cbcf5a4aec"/>
  </p:sldMasterIdLst>
  <p:notesMasterIdLst>
    <p:notesMasterId xmlns:r="http://schemas.openxmlformats.org/officeDocument/2006/relationships" r:id="R404dd3f1460547d5"/>
  </p:notesMasterIdLst>
  <p:sldIdLst>
    <p:sldId xmlns:r="http://schemas.openxmlformats.org/officeDocument/2006/relationships" id="256" r:id="R6769c5cacb054a6a"/>
    <p:sldId xmlns:r="http://schemas.openxmlformats.org/officeDocument/2006/relationships" id="257" r:id="R68b9038134d443f5"/>
    <p:sldId xmlns:r="http://schemas.openxmlformats.org/officeDocument/2006/relationships" id="258" r:id="Raf2092cc09164a1d"/>
    <p:sldId xmlns:r="http://schemas.openxmlformats.org/officeDocument/2006/relationships" id="259" r:id="R60f6c6441b984e0c"/>
    <p:sldId xmlns:r="http://schemas.openxmlformats.org/officeDocument/2006/relationships" id="260" r:id="Rdd89c877c6f84c49"/>
    <p:sldId xmlns:r="http://schemas.openxmlformats.org/officeDocument/2006/relationships" id="261" r:id="R1324c02d84dc42a2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352ae5de68f4f5f" /><Relationship Type="http://schemas.openxmlformats.org/officeDocument/2006/relationships/slideMaster" Target="/ppt/slideMasters/slideMaster1.xml" Id="R707ef2cbcf5a4aec" /><Relationship Type="http://schemas.openxmlformats.org/officeDocument/2006/relationships/notesMaster" Target="/ppt/notesMasters/notesMaster1.xml" Id="R404dd3f1460547d5" /><Relationship Type="http://schemas.openxmlformats.org/officeDocument/2006/relationships/presProps" Target="/ppt/presProps.xml" Id="Re3a54f890f474862" /><Relationship Type="http://schemas.openxmlformats.org/officeDocument/2006/relationships/tableStyles" Target="/ppt/tableStyles.xml" Id="R718cfaa8a3f9429b" /><Relationship Type="http://schemas.openxmlformats.org/officeDocument/2006/relationships/slide" Target="/ppt/slides/slide1.xml" Id="R6769c5cacb054a6a" /><Relationship Type="http://schemas.openxmlformats.org/officeDocument/2006/relationships/slide" Target="/ppt/slides/slide2.xml" Id="R68b9038134d443f5" /><Relationship Type="http://schemas.openxmlformats.org/officeDocument/2006/relationships/slide" Target="/ppt/slides/slide3.xml" Id="Raf2092cc09164a1d" /><Relationship Type="http://schemas.openxmlformats.org/officeDocument/2006/relationships/slide" Target="/ppt/slides/slide4.xml" Id="R60f6c6441b984e0c" /><Relationship Type="http://schemas.openxmlformats.org/officeDocument/2006/relationships/slide" Target="/ppt/slides/slide5.xml" Id="Rdd89c877c6f84c49" /><Relationship Type="http://schemas.openxmlformats.org/officeDocument/2006/relationships/slide" Target="/ppt/slides/slide6.xml" Id="R1324c02d84dc42a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be7d4bd41c048f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de7980092974241" /><Relationship Type="http://schemas.openxmlformats.org/officeDocument/2006/relationships/notesMaster" Target="/ppt/notesMasters/notesMaster1.xml" Id="R87e3f484e596492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191d4d671344248" /><Relationship Type="http://schemas.openxmlformats.org/officeDocument/2006/relationships/notesMaster" Target="/ppt/notesMasters/notesMaster1.xml" Id="Rcdded530e0304be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460bd9a29eb4a36" /><Relationship Type="http://schemas.openxmlformats.org/officeDocument/2006/relationships/notesMaster" Target="/ppt/notesMasters/notesMaster1.xml" Id="R07cfdbc51563436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f9463caa37a4bd6" /><Relationship Type="http://schemas.openxmlformats.org/officeDocument/2006/relationships/notesMaster" Target="/ppt/notesMasters/notesMaster1.xml" Id="R7817d9861866491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a3fabbdfa954484" /><Relationship Type="http://schemas.openxmlformats.org/officeDocument/2006/relationships/notesMaster" Target="/ppt/notesMasters/notesMaster1.xml" Id="R20ee56199729423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fa14832620cf4563" /><Relationship Type="http://schemas.openxmlformats.org/officeDocument/2006/relationships/notesMaster" Target="/ppt/notesMasters/notesMaster1.xml" Id="Rd2a26ff0dbd74d9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Synthetic internal source: Juniper Works Product Alpha Q3 roadmap working set, 2026-07-13. All metrics and entities are fictional.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Synthetic internal source: Juniper Works Product Alpha Q3 roadmap working set, 2026-07-13. All metrics and entities are fictional.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Synthetic internal source: Juniper Works Product Alpha Q3 roadmap working set, 2026-07-13. All metrics and entities are fictional.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Synthetic internal source: Juniper Works Product Alpha Q3 roadmap working set, 2026-07-13. All metrics and entities are fictional.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Synthetic internal source: Juniper Works Product Alpha Q3 roadmap working set, 2026-07-13. All metrics and entities are fictional.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Synthetic internal source: Juniper Works Product Alpha Q3 roadmap working set, 2026-07-13. All metrics and entities are fictional.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2756ff34841459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89c59e439de4394" /><Relationship Type="http://schemas.openxmlformats.org/officeDocument/2006/relationships/slideLayout" Target="/ppt/slideLayouts/slideLayout1.xml" Id="Raf5e6372606b4a2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f5e6372606b4a2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2575d56b5c0404a" /><Relationship Type="http://schemas.openxmlformats.org/officeDocument/2006/relationships/notesSlide" Target="/ppt/notesSlides/notesSlide1.xml" Id="R6343a65b05244b2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c76b34eda56401d" /><Relationship Type="http://schemas.openxmlformats.org/officeDocument/2006/relationships/notesSlide" Target="/ppt/notesSlides/notesSlide2.xml" Id="Rcf08a4e4f17a492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eddeed875734ff9" /><Relationship Type="http://schemas.openxmlformats.org/officeDocument/2006/relationships/notesSlide" Target="/ppt/notesSlides/notesSlide3.xml" Id="R7e0ef4fcf53d436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9266d2c30fb48ec" /><Relationship Type="http://schemas.openxmlformats.org/officeDocument/2006/relationships/notesSlide" Target="/ppt/notesSlides/notesSlide4.xml" Id="Rf1b9124ff7e6429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5dca0c257af4915" /><Relationship Type="http://schemas.openxmlformats.org/officeDocument/2006/relationships/notesSlide" Target="/ppt/notesSlides/notesSlide5.xml" Id="Rc75c525f8de1407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d3bf30eea8c4757" /><Relationship Type="http://schemas.openxmlformats.org/officeDocument/2006/relationships/notesSlide" Target="/ppt/notesSlides/notesSlide6.xml" Id="R6634dc9d289a492a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021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D0511CC-E246-4B61-A300-944E226C0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3400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50C7B3"/>
                </a:solidFill>
              </a:defRPr>
            </a:pPr>
            <a:r>
              <a:rPr sz="1200" b="1">
                <a:solidFill>
                  <a:srgbClr val="50C7B3"/>
                </a:solidFill>
              </a:rPr>
              <a:t>JUNIPER WORKS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6101625-2A3C-4F7D-810E-3170145A2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92392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4350" b="1">
                <a:solidFill>
                  <a:srgbClr val="FFFFFF"/>
                </a:solidFill>
              </a:defRPr>
            </a:pPr>
            <a:r>
              <a:rPr sz="4350" b="1">
                <a:solidFill>
                  <a:srgbClr val="FFFFFF"/>
                </a:solidFill>
              </a:rPr>
              <a:t>FY2026 Q3 quarterly roadmap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88A96B2-5C03-4E02-B6B7-6A2FD800A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81375"/>
            <a:ext cx="5715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D9E5E8"/>
                </a:solidFill>
              </a:defRPr>
            </a:pPr>
            <a:r>
              <a:rPr sz="1800" b="0">
                <a:solidFill>
                  <a:srgbClr val="D9E5E8"/>
                </a:solidFill>
              </a:rPr>
              <a:t>Executive decision deck</a:t>
            </a:r>
          </a:p>
          <a:p xmlns:a="http://schemas.openxmlformats.org/drawingml/2006/main">
            <a:pPr>
              <a:defRPr sz="1800" b="0">
                <a:solidFill>
                  <a:srgbClr val="D9E5E8"/>
                </a:solidFill>
              </a:defRPr>
            </a:pPr>
            <a:r>
              <a:rPr sz="1800" b="0">
                <a:solidFill>
                  <a:srgbClr val="D9E5E8"/>
                </a:solidFill>
              </a:rPr>
              <a:t>13 July 2026 · Portfolio planning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E2D3A24-A31C-4ABC-AABE-8B0056176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666875"/>
            <a:ext cx="2762250" cy="2714625"/>
          </a:xfrm>
          <a:prstGeom xmlns:a="http://schemas.openxmlformats.org/drawingml/2006/main" prst="roundRect">
            <a:avLst>
              <a:gd name="adj" fmla="val 5614"/>
            </a:avLst>
          </a:prstGeom>
          <a:solidFill xmlns:a="http://schemas.openxmlformats.org/drawingml/2006/main">
            <a:srgbClr val="50C7B3"/>
          </a:solidFill>
          <a:ln xmlns:a="http://schemas.openxmlformats.org/drawingml/2006/main" w="9525">
            <a:solidFill>
              <a:srgbClr val="C9D4D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863AF8A-CAA2-46CC-A42E-92EFFD8AC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2076450"/>
            <a:ext cx="21907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3750" b="1">
                <a:solidFill>
                  <a:srgbClr val="10212B"/>
                </a:solidFill>
              </a:defRPr>
            </a:pPr>
            <a:r>
              <a:rPr sz="3750" b="1">
                <a:solidFill>
                  <a:srgbClr val="10212B"/>
                </a:solidFill>
              </a:rPr>
              <a:t>18.4%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FAAB0A7-5DD6-45C9-AA6C-FFD61304B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2952750"/>
            <a:ext cx="2000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10212B"/>
                </a:solidFill>
              </a:defRPr>
            </a:pPr>
            <a:r>
              <a:rPr sz="1425" b="0">
                <a:solidFill>
                  <a:srgbClr val="10212B"/>
                </a:solidFill>
              </a:rPr>
              <a:t>adoption baseline</a:t>
            </a:r>
          </a:p>
          <a:p xmlns:a="http://schemas.openxmlformats.org/drawingml/2006/main">
            <a:pPr>
              <a:defRPr sz="1425" b="0">
                <a:solidFill>
                  <a:srgbClr val="10212B"/>
                </a:solidFill>
              </a:defRPr>
            </a:pPr>
            <a:r>
              <a:rPr sz="1425" b="0">
                <a:solidFill>
                  <a:srgbClr val="10212B"/>
                </a:solidFill>
              </a:rPr>
              <a:t>1,240 synthetic workspaces</a:t>
            </a:r>
          </a:p>
        </p:txBody>
      </p:sp>
    </p:spTree>
    <p:extLst>
      <p:ext uri="{BB962C8B-B14F-4D97-AF65-F5344CB8AC3E}">
        <p14:creationId xmlns:p14="http://schemas.microsoft.com/office/powerpoint/2010/main" val="43497582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5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39B8BD7-E668-4C91-A3C7-9F55BC715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666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587080"/>
                </a:solidFill>
              </a:defRPr>
            </a:pPr>
            <a:r>
              <a:rPr sz="1050" b="1">
                <a:solidFill>
                  <a:srgbClr val="587080"/>
                </a:solidFill>
              </a:rPr>
              <a:t>JUNIPER WORKS  /  PRODUCT ALPHA Q3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60D7D0E-FCA4-4C1F-B4DF-86555AD72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10001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0212B"/>
                </a:solidFill>
              </a:defRPr>
            </a:pPr>
            <a:r>
              <a:rPr sz="2700" b="1">
                <a:solidFill>
                  <a:srgbClr val="10212B"/>
                </a:solidFill>
              </a:rPr>
              <a:t>Decision path: Q3 delivery is gated, not date-driven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FB19EC5-86D9-4897-AC12-AEA81EA26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52525"/>
            <a:ext cx="1000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87080"/>
                </a:solidFill>
              </a:defRPr>
            </a:pPr>
            <a:r>
              <a:rPr sz="1350" b="0">
                <a:solidFill>
                  <a:srgbClr val="587080"/>
                </a:solidFill>
              </a:rPr>
              <a:t>July discovery closure → August enablement/pilot → September guided rollout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E94194D-FC3F-4BE2-B913-33546F2CB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334125"/>
            <a:ext cx="419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587080"/>
                </a:solidFill>
              </a:defRPr>
            </a:pPr>
            <a:r>
              <a:rPr sz="975" b="1">
                <a:solidFill>
                  <a:srgbClr val="587080"/>
                </a:solidFill>
              </a:rPr>
              <a:t>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FB2EC7A-6C58-45EE-94A4-FE461BF55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1600200"/>
            <a:ext cx="279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587080"/>
                </a:solidFill>
              </a:defRPr>
            </a:pPr>
            <a:r>
              <a:rPr sz="1500" b="1">
                <a:solidFill>
                  <a:srgbClr val="587080"/>
                </a:solidFill>
              </a:rPr>
              <a:t>Jul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C2CA13C-65C6-436F-BB70-278388964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4750" y="1600200"/>
            <a:ext cx="279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587080"/>
                </a:solidFill>
              </a:defRPr>
            </a:pPr>
            <a:r>
              <a:rPr sz="1500" b="1">
                <a:solidFill>
                  <a:srgbClr val="587080"/>
                </a:solidFill>
              </a:rPr>
              <a:t>Aug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0713ABB-DF90-47FD-A5C7-47A88F643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8750" y="1600200"/>
            <a:ext cx="279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587080"/>
                </a:solidFill>
              </a:defRPr>
            </a:pPr>
            <a:r>
              <a:rPr sz="1500" b="1">
                <a:solidFill>
                  <a:srgbClr val="587080"/>
                </a:solidFill>
              </a:rPr>
              <a:t>Sep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A709113-342B-46AD-A6FE-B465A6AA1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00250"/>
            <a:ext cx="1428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0212B"/>
                </a:solidFill>
              </a:defRPr>
            </a:pPr>
            <a:r>
              <a:rPr sz="1350" b="1">
                <a:solidFill>
                  <a:srgbClr val="10212B"/>
                </a:solidFill>
              </a:rPr>
              <a:t>Discovery closure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6711E33-F5E4-400E-9111-E9E6743CC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2000250"/>
            <a:ext cx="2514600" cy="409575"/>
          </a:xfrm>
          <a:prstGeom xmlns:a="http://schemas.openxmlformats.org/drawingml/2006/main" prst="roundRect">
            <a:avLst>
              <a:gd name="adj" fmla="val 37209"/>
            </a:avLst>
          </a:prstGeom>
          <a:solidFill xmlns:a="http://schemas.openxmlformats.org/drawingml/2006/main">
            <a:srgbClr val="50C7B3"/>
          </a:solidFill>
          <a:ln xmlns:a="http://schemas.openxmlformats.org/drawingml/2006/main" w="9525">
            <a:solidFill>
              <a:srgbClr val="C9D4D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5630F39-96E5-47CD-AA40-CA8CAFDF4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2000250"/>
            <a:ext cx="23241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0212B"/>
                </a:solidFill>
              </a:defRPr>
            </a:pPr>
            <a:r>
              <a:rPr sz="1125" b="1">
                <a:solidFill>
                  <a:srgbClr val="10212B"/>
                </a:solidFill>
              </a:rPr>
              <a:t>PM / Research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7836697-5C60-4D5E-9C00-E887BB30C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05125"/>
            <a:ext cx="1428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0212B"/>
                </a:solidFill>
              </a:defRPr>
            </a:pPr>
            <a:r>
              <a:rPr sz="1350" b="1">
                <a:solidFill>
                  <a:srgbClr val="10212B"/>
                </a:solidFill>
              </a:rPr>
              <a:t>Enablement + pilot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B20FAE0-009B-4319-8FC7-4EF87EB83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2905125"/>
            <a:ext cx="2849880" cy="409575"/>
          </a:xfrm>
          <a:prstGeom xmlns:a="http://schemas.openxmlformats.org/drawingml/2006/main" prst="roundRect">
            <a:avLst>
              <a:gd name="adj" fmla="val 37209"/>
            </a:avLst>
          </a:prstGeom>
          <a:solidFill xmlns:a="http://schemas.openxmlformats.org/drawingml/2006/main">
            <a:srgbClr val="F2C66D"/>
          </a:solidFill>
          <a:ln xmlns:a="http://schemas.openxmlformats.org/drawingml/2006/main" w="9525">
            <a:solidFill>
              <a:srgbClr val="C9D4D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A2E525F-CAA6-4988-BC4B-04D5DDC99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2905125"/>
            <a:ext cx="265938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0212B"/>
                </a:solidFill>
              </a:defRPr>
            </a:pPr>
            <a:r>
              <a:rPr sz="1125" b="1">
                <a:solidFill>
                  <a:srgbClr val="10212B"/>
                </a:solidFill>
              </a:rPr>
              <a:t>Enablement Lead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701EA67-E941-4DD5-BEBA-890BC1FBF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0"/>
            <a:ext cx="1428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0212B"/>
                </a:solidFill>
              </a:defRPr>
            </a:pPr>
            <a:r>
              <a:rPr sz="1350" b="1">
                <a:solidFill>
                  <a:srgbClr val="10212B"/>
                </a:solidFill>
              </a:rPr>
              <a:t>Guided rollout + M-27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ECFE548-737B-4CF0-974F-DA974B606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5230" y="3810000"/>
            <a:ext cx="3017520" cy="409575"/>
          </a:xfrm>
          <a:prstGeom xmlns:a="http://schemas.openxmlformats.org/drawingml/2006/main" prst="roundRect">
            <a:avLst>
              <a:gd name="adj" fmla="val 37209"/>
            </a:avLst>
          </a:prstGeom>
          <a:solidFill xmlns:a="http://schemas.openxmlformats.org/drawingml/2006/main">
            <a:srgbClr val="F57E6F"/>
          </a:solidFill>
          <a:ln xmlns:a="http://schemas.openxmlformats.org/drawingml/2006/main" w="9525">
            <a:solidFill>
              <a:srgbClr val="C9D4D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D47E06A-CCC7-4273-BEE3-EE6F490D5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9530" y="3810000"/>
            <a:ext cx="282702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0212B"/>
                </a:solidFill>
              </a:defRPr>
            </a:pPr>
            <a:r>
              <a:rPr sz="1125" b="1">
                <a:solidFill>
                  <a:srgbClr val="10212B"/>
                </a:solidFill>
              </a:rPr>
              <a:t>Launch Lead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0A961BB-8E4D-4B51-A540-6464D9C42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19700"/>
            <a:ext cx="857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0212B"/>
                </a:solidFill>
              </a:defRPr>
            </a:pPr>
            <a:r>
              <a:rPr sz="1725" b="1">
                <a:solidFill>
                  <a:srgbClr val="10212B"/>
                </a:solidFill>
              </a:rPr>
              <a:t>Decision gate · M-27 guided rollout · 18 Sep 2026</a:t>
            </a:r>
          </a:p>
        </p:txBody>
      </p:sp>
    </p:spTree>
    <p:extLst>
      <p:ext uri="{BB962C8B-B14F-4D97-AF65-F5344CB8AC3E}">
        <p14:creationId xmlns:p14="http://schemas.microsoft.com/office/powerpoint/2010/main" val="126386488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5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5CCF810-76EB-49BA-AB50-4D2B9DAAA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666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587080"/>
                </a:solidFill>
              </a:defRPr>
            </a:pPr>
            <a:r>
              <a:rPr sz="1050" b="1">
                <a:solidFill>
                  <a:srgbClr val="587080"/>
                </a:solidFill>
              </a:rPr>
              <a:t>JUNIPER WORKS  /  PRODUCT ALPHA Q3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7C55141-B326-40A5-BD55-0836EA531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10001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0212B"/>
                </a:solidFill>
              </a:defRPr>
            </a:pPr>
            <a:r>
              <a:rPr sz="2700" b="1">
                <a:solidFill>
                  <a:srgbClr val="10212B"/>
                </a:solidFill>
              </a:rPr>
              <a:t>The Q3 target requires a measured adoption step-up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246FF12-4399-43C8-90C3-505A355F8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52525"/>
            <a:ext cx="1000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E29375B-195D-480C-BB7E-9EC98D0CE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334125"/>
            <a:ext cx="419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587080"/>
                </a:solidFill>
              </a:defRPr>
            </a:pPr>
            <a:r>
              <a:rPr sz="975" b="1">
                <a:solidFill>
                  <a:srgbClr val="587080"/>
                </a:solidFill>
              </a:rPr>
              <a:t>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E032C5F-E7E6-4CFD-BF85-E86B0F4E8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52625"/>
            <a:ext cx="314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0212B"/>
                </a:solidFill>
              </a:defRPr>
            </a:pPr>
            <a:r>
              <a:rPr sz="1800" b="1">
                <a:solidFill>
                  <a:srgbClr val="10212B"/>
                </a:solidFill>
              </a:rPr>
              <a:t>Adoption trajectory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9CAF823-7548-4D2C-A5A6-391EDD77F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314950"/>
            <a:ext cx="1428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87080"/>
                </a:solidFill>
              </a:defRPr>
            </a:pPr>
            <a:r>
              <a:rPr sz="1275" b="0">
                <a:solidFill>
                  <a:srgbClr val="587080"/>
                </a:solidFill>
              </a:rPr>
              <a:t>Baseline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15717C0-BA5E-4314-8C20-C261B0F07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295650"/>
            <a:ext cx="1238250" cy="1752600"/>
          </a:xfrm>
          <a:prstGeom xmlns:a="http://schemas.openxmlformats.org/drawingml/2006/main" prst="roundRect">
            <a:avLst>
              <a:gd name="adj" fmla="val 12308"/>
            </a:avLst>
          </a:prstGeom>
          <a:solidFill xmlns:a="http://schemas.openxmlformats.org/drawingml/2006/main">
            <a:srgbClr val="F57E6F"/>
          </a:solidFill>
          <a:ln xmlns:a="http://schemas.openxmlformats.org/drawingml/2006/main" w="9525">
            <a:solidFill>
              <a:srgbClr val="C9D4D8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A56202A-00E2-4D58-BEE5-0A942C267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962275"/>
            <a:ext cx="1238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0212B"/>
                </a:solidFill>
              </a:defRPr>
            </a:pPr>
            <a:r>
              <a:rPr sz="1350" b="1">
                <a:solidFill>
                  <a:srgbClr val="10212B"/>
                </a:solidFill>
              </a:rPr>
              <a:t>18.4%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11DA749-4E3F-43DE-B207-814950A67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28975" y="5314950"/>
            <a:ext cx="1428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87080"/>
                </a:solidFill>
              </a:defRPr>
            </a:pPr>
            <a:r>
              <a:rPr sz="1275" b="0">
                <a:solidFill>
                  <a:srgbClr val="587080"/>
                </a:solidFill>
              </a:rPr>
              <a:t>Aug pilot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AC6A40E-17A3-40A1-AAFE-48E5DAFE4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28975" y="3095625"/>
            <a:ext cx="1238250" cy="1952625"/>
          </a:xfrm>
          <a:prstGeom xmlns:a="http://schemas.openxmlformats.org/drawingml/2006/main" prst="roundRect">
            <a:avLst>
              <a:gd name="adj" fmla="val 12308"/>
            </a:avLst>
          </a:prstGeom>
          <a:solidFill xmlns:a="http://schemas.openxmlformats.org/drawingml/2006/main">
            <a:srgbClr val="F57E6F"/>
          </a:solidFill>
          <a:ln xmlns:a="http://schemas.openxmlformats.org/drawingml/2006/main" w="9525">
            <a:solidFill>
              <a:srgbClr val="C9D4D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E543068-CA94-44A6-ACFD-57754CA8F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28975" y="2762250"/>
            <a:ext cx="1238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0212B"/>
                </a:solidFill>
              </a:defRPr>
            </a:pPr>
            <a:r>
              <a:rPr sz="1350" b="1">
                <a:solidFill>
                  <a:srgbClr val="10212B"/>
                </a:solidFill>
              </a:rPr>
              <a:t>20.5%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9D37BA0-F8A9-4E5C-BB49-E58800607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5314950"/>
            <a:ext cx="1428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87080"/>
                </a:solidFill>
              </a:defRPr>
            </a:pPr>
            <a:r>
              <a:rPr sz="1275" b="0">
                <a:solidFill>
                  <a:srgbClr val="587080"/>
                </a:solidFill>
              </a:rPr>
              <a:t>Sep rollout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19176D8-F075-472D-B427-A2EC454EF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2828925"/>
            <a:ext cx="1238250" cy="2219325"/>
          </a:xfrm>
          <a:prstGeom xmlns:a="http://schemas.openxmlformats.org/drawingml/2006/main" prst="roundRect">
            <a:avLst>
              <a:gd name="adj" fmla="val 12308"/>
            </a:avLst>
          </a:prstGeom>
          <a:solidFill xmlns:a="http://schemas.openxmlformats.org/drawingml/2006/main">
            <a:srgbClr val="F57E6F"/>
          </a:solidFill>
          <a:ln xmlns:a="http://schemas.openxmlformats.org/drawingml/2006/main" w="9525">
            <a:solidFill>
              <a:srgbClr val="C9D4D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501DD5A-D467-44B5-98AD-B64F8710F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2495550"/>
            <a:ext cx="1238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0212B"/>
                </a:solidFill>
              </a:defRPr>
            </a:pPr>
            <a:r>
              <a:rPr sz="1350" b="1">
                <a:solidFill>
                  <a:srgbClr val="10212B"/>
                </a:solidFill>
              </a:rPr>
              <a:t>23.3%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DA043A9-F529-4DDD-965B-BB648A20B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05725" y="5314950"/>
            <a:ext cx="1428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87080"/>
                </a:solidFill>
              </a:defRPr>
            </a:pPr>
            <a:r>
              <a:rPr sz="1275" b="0">
                <a:solidFill>
                  <a:srgbClr val="587080"/>
                </a:solidFill>
              </a:rPr>
              <a:t>Q3 target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5526E23-8D9E-4169-8E2E-07D586807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05725" y="2571750"/>
            <a:ext cx="1238250" cy="2476500"/>
          </a:xfrm>
          <a:prstGeom xmlns:a="http://schemas.openxmlformats.org/drawingml/2006/main" prst="roundRect">
            <a:avLst>
              <a:gd name="adj" fmla="val 12308"/>
            </a:avLst>
          </a:prstGeom>
          <a:solidFill xmlns:a="http://schemas.openxmlformats.org/drawingml/2006/main">
            <a:srgbClr val="50C7B3"/>
          </a:solidFill>
          <a:ln xmlns:a="http://schemas.openxmlformats.org/drawingml/2006/main" w="9525">
            <a:solidFill>
              <a:srgbClr val="C9D4D8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FD517AD-B226-4016-B587-2ABBC1802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05725" y="2238375"/>
            <a:ext cx="1238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0212B"/>
                </a:solidFill>
              </a:defRPr>
            </a:pPr>
            <a:r>
              <a:rPr sz="1350" b="1">
                <a:solidFill>
                  <a:srgbClr val="10212B"/>
                </a:solidFill>
              </a:rPr>
              <a:t>26.0%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A8727D3-0CEB-4060-98BA-23DB7F5F4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53125"/>
            <a:ext cx="809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87080"/>
                </a:solidFill>
              </a:defRPr>
            </a:pPr>
            <a:r>
              <a:rPr sz="1425" b="0">
                <a:solidFill>
                  <a:srgbClr val="587080"/>
                </a:solidFill>
              </a:rPr>
              <a:t>Target is contingent on guided rollout approval at M-27.</a:t>
            </a:r>
          </a:p>
        </p:txBody>
      </p:sp>
    </p:spTree>
    <p:extLst>
      <p:ext uri="{BB962C8B-B14F-4D97-AF65-F5344CB8AC3E}">
        <p14:creationId xmlns:p14="http://schemas.microsoft.com/office/powerpoint/2010/main" val="6200208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5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FFE32C8F-9A7C-4855-8EF9-A1940FC2E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666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587080"/>
                </a:solidFill>
              </a:defRPr>
            </a:pPr>
            <a:r>
              <a:rPr sz="1050" b="1">
                <a:solidFill>
                  <a:srgbClr val="587080"/>
                </a:solidFill>
              </a:rPr>
              <a:t>JUNIPER WORKS  /  PRODUCT ALPHA Q3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399DA71-6350-4E83-A6F1-CB03E6218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10001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0212B"/>
                </a:solidFill>
              </a:defRPr>
            </a:pPr>
            <a:r>
              <a:rPr sz="2700" b="1">
                <a:solidFill>
                  <a:srgbClr val="10212B"/>
                </a:solidFill>
              </a:rPr>
              <a:t>Ownership makes dependencies explicit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A0B8B95-4619-4A27-8473-CFC41A04D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52525"/>
            <a:ext cx="1000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709305E-A0BE-4FC5-B7FF-4FBBDD4F2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334125"/>
            <a:ext cx="419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587080"/>
                </a:solidFill>
              </a:defRPr>
            </a:pPr>
            <a:r>
              <a:rPr sz="975" b="1">
                <a:solidFill>
                  <a:srgbClr val="587080"/>
                </a:solidFill>
              </a:rPr>
              <a:t>03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098F3AA-F396-4CE3-B441-EC43F8275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52625"/>
            <a:ext cx="3333750" cy="428625"/>
          </a:xfrm>
          <a:prstGeom xmlns:a="http://schemas.openxmlformats.org/drawingml/2006/main" prst="roundRect">
            <a:avLst>
              <a:gd name="adj" fmla="val 35556"/>
            </a:avLst>
          </a:prstGeom>
          <a:solidFill xmlns:a="http://schemas.openxmlformats.org/drawingml/2006/main">
            <a:srgbClr val="10212B"/>
          </a:solidFill>
          <a:ln xmlns:a="http://schemas.openxmlformats.org/drawingml/2006/main" w="9525">
            <a:solidFill>
              <a:srgbClr val="C9D4D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D5AB143-BC0D-49C9-A179-44970206B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952625"/>
            <a:ext cx="3143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Workstream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B33EE15-8AF3-4EE4-ACB4-17A2D2D2F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1952625"/>
            <a:ext cx="1809750" cy="428625"/>
          </a:xfrm>
          <a:prstGeom xmlns:a="http://schemas.openxmlformats.org/drawingml/2006/main" prst="roundRect">
            <a:avLst>
              <a:gd name="adj" fmla="val 35556"/>
            </a:avLst>
          </a:prstGeom>
          <a:solidFill xmlns:a="http://schemas.openxmlformats.org/drawingml/2006/main">
            <a:srgbClr val="10212B"/>
          </a:solidFill>
          <a:ln xmlns:a="http://schemas.openxmlformats.org/drawingml/2006/main" w="9525">
            <a:solidFill>
              <a:srgbClr val="C9D4D8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B74B1C7-DF7B-4E53-BEC7-8EE8DFFDC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1952625"/>
            <a:ext cx="1619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Owner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36C8A24-F807-4F5C-8DED-8892F3BE8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1952625"/>
            <a:ext cx="3143250" cy="428625"/>
          </a:xfrm>
          <a:prstGeom xmlns:a="http://schemas.openxmlformats.org/drawingml/2006/main" prst="roundRect">
            <a:avLst>
              <a:gd name="adj" fmla="val 35556"/>
            </a:avLst>
          </a:prstGeom>
          <a:solidFill xmlns:a="http://schemas.openxmlformats.org/drawingml/2006/main">
            <a:srgbClr val="10212B"/>
          </a:solidFill>
          <a:ln xmlns:a="http://schemas.openxmlformats.org/drawingml/2006/main" w="9525">
            <a:solidFill>
              <a:srgbClr val="C9D4D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30D6B9B-40FF-4B13-B915-AD4941106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1952625"/>
            <a:ext cx="2952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Dependency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E448452-6B10-40B5-A1B5-53DA98966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1952625"/>
            <a:ext cx="2095500" cy="428625"/>
          </a:xfrm>
          <a:prstGeom xmlns:a="http://schemas.openxmlformats.org/drawingml/2006/main" prst="roundRect">
            <a:avLst>
              <a:gd name="adj" fmla="val 35556"/>
            </a:avLst>
          </a:prstGeom>
          <a:solidFill xmlns:a="http://schemas.openxmlformats.org/drawingml/2006/main">
            <a:srgbClr val="10212B"/>
          </a:solidFill>
          <a:ln xmlns:a="http://schemas.openxmlformats.org/drawingml/2006/main" w="9525">
            <a:solidFill>
              <a:srgbClr val="C9D4D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3281955-B560-4C75-8779-A34EBF0A7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1952625"/>
            <a:ext cx="1905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Confidence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505C1B7-95E6-4438-86AF-27833081B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43175"/>
            <a:ext cx="3333750" cy="552450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4D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A21863E-81D9-4AD4-81CB-7D13190D9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543175"/>
            <a:ext cx="314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0212B"/>
                </a:solidFill>
              </a:defRPr>
            </a:pPr>
            <a:r>
              <a:rPr sz="1350" b="0">
                <a:solidFill>
                  <a:srgbClr val="10212B"/>
                </a:solidFill>
              </a:rPr>
              <a:t>Discovery closure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7C67646-578C-4F8C-80BC-34D5D02AE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2543175"/>
            <a:ext cx="1809750" cy="552450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4D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2A61109-449B-4A8B-A6BE-B239C28EC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2543175"/>
            <a:ext cx="1619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0212B"/>
                </a:solidFill>
              </a:defRPr>
            </a:pPr>
            <a:r>
              <a:rPr sz="1350" b="0">
                <a:solidFill>
                  <a:srgbClr val="10212B"/>
                </a:solidFill>
              </a:rPr>
              <a:t>PM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0A51158-13C1-4899-BE9D-7EC7F65AE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2543175"/>
            <a:ext cx="3143250" cy="552450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4D8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C00511C-865C-4881-BC62-E69BD7A8A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543175"/>
            <a:ext cx="295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0212B"/>
                </a:solidFill>
              </a:defRPr>
            </a:pPr>
            <a:r>
              <a:rPr sz="1350" b="0">
                <a:solidFill>
                  <a:srgbClr val="10212B"/>
                </a:solidFill>
              </a:rPr>
              <a:t>Research synthesis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7A84054-9448-44A3-8FCE-F2E88740B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2543175"/>
            <a:ext cx="2095500" cy="552450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4D8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FFE09E2-42C9-4078-8B45-1BD7E44DA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2543175"/>
            <a:ext cx="1905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0212B"/>
                </a:solidFill>
              </a:defRPr>
            </a:pPr>
            <a:r>
              <a:rPr sz="1350" b="0">
                <a:solidFill>
                  <a:srgbClr val="10212B"/>
                </a:solidFill>
              </a:rPr>
              <a:t>High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0E8C89D-A6BB-4BEF-8A87-1CA491123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33725"/>
            <a:ext cx="3333750" cy="552450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4D8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4455A34-784F-4221-9B30-02B2A0DFA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33725"/>
            <a:ext cx="314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0212B"/>
                </a:solidFill>
              </a:defRPr>
            </a:pPr>
            <a:r>
              <a:rPr sz="1350" b="0">
                <a:solidFill>
                  <a:srgbClr val="10212B"/>
                </a:solidFill>
              </a:rPr>
              <a:t>Pilot enablement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74E5470-EF1E-414F-87AC-FFDAC1865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3133725"/>
            <a:ext cx="1809750" cy="552450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4D8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843294A-C105-4866-A766-65F3F2CDC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3133725"/>
            <a:ext cx="1619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0212B"/>
                </a:solidFill>
              </a:defRPr>
            </a:pPr>
            <a:r>
              <a:rPr sz="1350" b="0">
                <a:solidFill>
                  <a:srgbClr val="10212B"/>
                </a:solidFill>
              </a:rPr>
              <a:t>Enablement Lead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3952370-80EB-4ECC-AFC2-D6243DDD1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133725"/>
            <a:ext cx="3143250" cy="552450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4D8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B0368F7-362C-4C30-8ED2-91C03FDCE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3133725"/>
            <a:ext cx="295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0212B"/>
                </a:solidFill>
              </a:defRPr>
            </a:pPr>
            <a:r>
              <a:rPr sz="1350" b="0">
                <a:solidFill>
                  <a:srgbClr val="10212B"/>
                </a:solidFill>
              </a:rPr>
              <a:t>Support readiness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57D177D-0D88-4183-A10E-53254C2F1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3133725"/>
            <a:ext cx="2095500" cy="552450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4D8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44F4C85-F918-44AF-B7F2-BC3FFB155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3133725"/>
            <a:ext cx="1905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0212B"/>
                </a:solidFill>
              </a:defRPr>
            </a:pPr>
            <a:r>
              <a:rPr sz="1350" b="0">
                <a:solidFill>
                  <a:srgbClr val="10212B"/>
                </a:solidFill>
              </a:rPr>
              <a:t>Medium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8211F3B-C807-4DD5-96A5-4B20A5420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24275"/>
            <a:ext cx="3333750" cy="552450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4D8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C1C8E90-B2DD-409F-850A-C70283C31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724275"/>
            <a:ext cx="314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0212B"/>
                </a:solidFill>
              </a:defRPr>
            </a:pPr>
            <a:r>
              <a:rPr sz="1350" b="0">
                <a:solidFill>
                  <a:srgbClr val="10212B"/>
                </a:solidFill>
              </a:rPr>
              <a:t>Guided rollout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6F2807F-2439-44EF-96E2-EBB374475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3724275"/>
            <a:ext cx="1809750" cy="552450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4D8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5F35C3F-13D3-4A3E-BBA6-681FFEC5B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3724275"/>
            <a:ext cx="1619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0212B"/>
                </a:solidFill>
              </a:defRPr>
            </a:pPr>
            <a:r>
              <a:rPr sz="1350" b="0">
                <a:solidFill>
                  <a:srgbClr val="10212B"/>
                </a:solidFill>
              </a:rPr>
              <a:t>Launch Lead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B75344D-A9BF-4B5E-BB56-5F50FB8E5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724275"/>
            <a:ext cx="3143250" cy="552450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4D8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193E80B-6485-436D-B623-F078F75EE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3724275"/>
            <a:ext cx="295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0212B"/>
                </a:solidFill>
              </a:defRPr>
            </a:pPr>
            <a:r>
              <a:rPr sz="1350" b="0">
                <a:solidFill>
                  <a:srgbClr val="10212B"/>
                </a:solidFill>
              </a:rPr>
              <a:t>M-27 go/no-go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80A016F-34DA-4EDA-B06E-D53EAD4BF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3724275"/>
            <a:ext cx="2095500" cy="552450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F2C66D"/>
          </a:solidFill>
          <a:ln xmlns:a="http://schemas.openxmlformats.org/drawingml/2006/main" w="9525">
            <a:solidFill>
              <a:srgbClr val="C9D4D8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EEE2B01-6BC6-4A6B-813C-0CAE2E343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3724275"/>
            <a:ext cx="1905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0212B"/>
                </a:solidFill>
              </a:defRPr>
            </a:pPr>
            <a:r>
              <a:rPr sz="1350" b="0">
                <a:solidFill>
                  <a:srgbClr val="10212B"/>
                </a:solidFill>
              </a:rPr>
              <a:t>Medium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F745A59-3DBA-4CE5-B43C-BBA430A51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14825"/>
            <a:ext cx="3333750" cy="552450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4D8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3E5887AB-731F-4365-A01E-2FF2B10D9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314825"/>
            <a:ext cx="314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0212B"/>
                </a:solidFill>
              </a:defRPr>
            </a:pPr>
            <a:r>
              <a:rPr sz="1350" b="0">
                <a:solidFill>
                  <a:srgbClr val="10212B"/>
                </a:solidFill>
              </a:rPr>
              <a:t>Beta Q4 discovery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21DE4F30-ECC0-4D15-84B7-A8FBA5C2E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4314825"/>
            <a:ext cx="1809750" cy="552450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4D8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412415DB-7874-4DD1-AAA8-4DE609CEE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4314825"/>
            <a:ext cx="1619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0212B"/>
                </a:solidFill>
              </a:defRPr>
            </a:pPr>
            <a:r>
              <a:rPr sz="1350" b="0">
                <a:solidFill>
                  <a:srgbClr val="10212B"/>
                </a:solidFill>
              </a:rPr>
              <a:t>Beta PM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8D9BAFA4-8C9E-49B6-B774-9D52E7922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4314825"/>
            <a:ext cx="3143250" cy="552450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4D8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A7409263-2D43-438F-BC14-29E482D40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4314825"/>
            <a:ext cx="295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0212B"/>
                </a:solidFill>
              </a:defRPr>
            </a:pPr>
            <a:r>
              <a:rPr sz="1350" b="0">
                <a:solidFill>
                  <a:srgbClr val="10212B"/>
                </a:solidFill>
              </a:rPr>
              <a:t>Capacity release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1B807A00-EE2B-443C-8499-B6A86FC2C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4314825"/>
            <a:ext cx="2095500" cy="552450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4D8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F74FF72A-9950-4C5E-B021-D90114842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4314825"/>
            <a:ext cx="1905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0212B"/>
                </a:solidFill>
              </a:defRPr>
            </a:pPr>
            <a:r>
              <a:rPr sz="1350" b="0">
                <a:solidFill>
                  <a:srgbClr val="10212B"/>
                </a:solidFill>
              </a:rPr>
              <a:t>Medium</a:t>
            </a:r>
          </a:p>
        </p:txBody>
      </p:sp>
    </p:spTree>
    <p:extLst>
      <p:ext uri="{BB962C8B-B14F-4D97-AF65-F5344CB8AC3E}">
        <p14:creationId xmlns:p14="http://schemas.microsoft.com/office/powerpoint/2010/main" val="52910814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5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93E60E6-7A4F-4D78-BE3B-9B6298EC0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666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587080"/>
                </a:solidFill>
              </a:defRPr>
            </a:pPr>
            <a:r>
              <a:rPr sz="1050" b="1">
                <a:solidFill>
                  <a:srgbClr val="587080"/>
                </a:solidFill>
              </a:rPr>
              <a:t>JUNIPER WORKS  /  PRODUCT ALPHA Q3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12072EF-8E23-4742-9CFC-9386E00D2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10001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0212B"/>
                </a:solidFill>
              </a:defRPr>
            </a:pPr>
            <a:r>
              <a:rPr sz="2700" b="1">
                <a:solidFill>
                  <a:srgbClr val="10212B"/>
                </a:solidFill>
              </a:rPr>
              <a:t>Portfolio sequencing protects Alpha focus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C5EAE02-5E6D-4E54-A433-ADB1FCDD7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52525"/>
            <a:ext cx="1000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8942DC0-F6E4-4C51-9C2C-BF0800DBE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334125"/>
            <a:ext cx="419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587080"/>
                </a:solidFill>
              </a:defRPr>
            </a:pPr>
            <a:r>
              <a:rPr sz="975" b="1">
                <a:solidFill>
                  <a:srgbClr val="587080"/>
                </a:solidFill>
              </a:rPr>
              <a:t>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D3E39AB-2323-4E83-8653-0067553B7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95500"/>
            <a:ext cx="3143250" cy="2571750"/>
          </a:xfrm>
          <a:prstGeom xmlns:a="http://schemas.openxmlformats.org/drawingml/2006/main" prst="roundRect">
            <a:avLst>
              <a:gd name="adj" fmla="val 5926"/>
            </a:avLst>
          </a:prstGeom>
          <a:solidFill xmlns:a="http://schemas.openxmlformats.org/drawingml/2006/main">
            <a:srgbClr val="50C7B3"/>
          </a:solidFill>
          <a:ln xmlns:a="http://schemas.openxmlformats.org/drawingml/2006/main" w="9525">
            <a:solidFill>
              <a:srgbClr val="C9D4D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74CCEE3-40DE-4697-8FA3-F0A104A17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" y="238125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0212B"/>
                </a:solidFill>
              </a:defRPr>
            </a:pPr>
            <a:r>
              <a:rPr sz="1950" b="1">
                <a:solidFill>
                  <a:srgbClr val="10212B"/>
                </a:solidFill>
              </a:rPr>
              <a:t>NOW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4ED31D7-8E46-424C-B82D-A7D67EE6A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" y="2952750"/>
            <a:ext cx="2571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0212B"/>
                </a:solidFill>
              </a:defRPr>
            </a:pPr>
            <a:r>
              <a:rPr sz="1650" b="0">
                <a:solidFill>
                  <a:srgbClr val="10212B"/>
                </a:solidFill>
              </a:rPr>
              <a:t>Close discovery / fix evidence gaps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326ECB9-CFFD-4809-9E49-E3715098C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675" y="2095500"/>
            <a:ext cx="3143250" cy="2571750"/>
          </a:xfrm>
          <a:prstGeom xmlns:a="http://schemas.openxmlformats.org/drawingml/2006/main" prst="roundRect">
            <a:avLst>
              <a:gd name="adj" fmla="val 5926"/>
            </a:avLst>
          </a:prstGeom>
          <a:solidFill xmlns:a="http://schemas.openxmlformats.org/drawingml/2006/main">
            <a:srgbClr val="F2C66D"/>
          </a:solidFill>
          <a:ln xmlns:a="http://schemas.openxmlformats.org/drawingml/2006/main" w="9525">
            <a:solidFill>
              <a:srgbClr val="C9D4D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26EC76E-C55C-44B0-9038-37C9DE629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38125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0212B"/>
                </a:solidFill>
              </a:defRPr>
            </a:pPr>
            <a:r>
              <a:rPr sz="1950" b="1">
                <a:solidFill>
                  <a:srgbClr val="10212B"/>
                </a:solidFill>
              </a:rPr>
              <a:t>NEXT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0E4BE0D-406D-47C7-803A-EFA039E16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952750"/>
            <a:ext cx="2571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0212B"/>
                </a:solidFill>
              </a:defRPr>
            </a:pPr>
            <a:r>
              <a:rPr sz="1650" b="0">
                <a:solidFill>
                  <a:srgbClr val="10212B"/>
                </a:solidFill>
              </a:rPr>
              <a:t>Enable pilot teams / validate onboarding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7E79F70-850D-4004-8EFC-9F186FFD8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2095500"/>
            <a:ext cx="3143250" cy="2571750"/>
          </a:xfrm>
          <a:prstGeom xmlns:a="http://schemas.openxmlformats.org/drawingml/2006/main" prst="roundRect">
            <a:avLst>
              <a:gd name="adj" fmla="val 5926"/>
            </a:avLst>
          </a:prstGeom>
          <a:solidFill xmlns:a="http://schemas.openxmlformats.org/drawingml/2006/main">
            <a:srgbClr val="F57E6F"/>
          </a:solidFill>
          <a:ln xmlns:a="http://schemas.openxmlformats.org/drawingml/2006/main" w="9525">
            <a:solidFill>
              <a:srgbClr val="C9D4D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3CFB008-1D65-41B9-8414-568501A7E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67675" y="238125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0212B"/>
                </a:solidFill>
              </a:defRPr>
            </a:pPr>
            <a:r>
              <a:rPr sz="1950" b="1">
                <a:solidFill>
                  <a:srgbClr val="10212B"/>
                </a:solidFill>
              </a:rPr>
              <a:t>LATER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4BA5B53-5FEA-4B59-B865-6AE0C8972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67675" y="2952750"/>
            <a:ext cx="2571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0212B"/>
                </a:solidFill>
              </a:defRPr>
            </a:pPr>
            <a:r>
              <a:rPr sz="1650" b="0">
                <a:solidFill>
                  <a:srgbClr val="10212B"/>
                </a:solidFill>
              </a:rPr>
              <a:t>Guided rollout / begin Beta Q4 discovery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4C49140-01B7-4036-968A-11F13AFDC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29250"/>
            <a:ext cx="9525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0212B"/>
                </a:solidFill>
              </a:defRPr>
            </a:pPr>
            <a:r>
              <a:rPr sz="1650" b="1">
                <a:solidFill>
                  <a:srgbClr val="10212B"/>
                </a:solidFill>
              </a:rPr>
              <a:t>Capacity rule: Product Beta discovery starts only after Alpha M-27 gate clears.</a:t>
            </a:r>
          </a:p>
        </p:txBody>
      </p:sp>
    </p:spTree>
    <p:extLst>
      <p:ext uri="{BB962C8B-B14F-4D97-AF65-F5344CB8AC3E}">
        <p14:creationId xmlns:p14="http://schemas.microsoft.com/office/powerpoint/2010/main" val="162999935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5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6BBB87C6-BE58-400C-AC0B-0BD979AAA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666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587080"/>
                </a:solidFill>
              </a:defRPr>
            </a:pPr>
            <a:r>
              <a:rPr sz="1050" b="1">
                <a:solidFill>
                  <a:srgbClr val="587080"/>
                </a:solidFill>
              </a:rPr>
              <a:t>JUNIPER WORKS  /  PRODUCT ALPHA Q3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0CDD07D-EB23-4572-AA16-787F62A45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10001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0212B"/>
                </a:solidFill>
              </a:defRPr>
            </a:pPr>
            <a:r>
              <a:rPr sz="2700" b="1">
                <a:solidFill>
                  <a:srgbClr val="10212B"/>
                </a:solidFill>
              </a:rPr>
              <a:t>Decision request: approve the M-27 gate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32C5466-5369-466C-8B19-757615E48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52525"/>
            <a:ext cx="1000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207FEC5-1C19-4B18-8619-C9776639C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334125"/>
            <a:ext cx="419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587080"/>
                </a:solidFill>
              </a:defRPr>
            </a:pPr>
            <a:r>
              <a:rPr sz="975" b="1">
                <a:solidFill>
                  <a:srgbClr val="587080"/>
                </a:solidFill>
              </a:rPr>
              <a:t>03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4C3CC4F-5A7E-4242-A93D-1DEA47E6D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52625"/>
            <a:ext cx="3333750" cy="428625"/>
          </a:xfrm>
          <a:prstGeom xmlns:a="http://schemas.openxmlformats.org/drawingml/2006/main" prst="roundRect">
            <a:avLst>
              <a:gd name="adj" fmla="val 35556"/>
            </a:avLst>
          </a:prstGeom>
          <a:solidFill xmlns:a="http://schemas.openxmlformats.org/drawingml/2006/main">
            <a:srgbClr val="10212B"/>
          </a:solidFill>
          <a:ln xmlns:a="http://schemas.openxmlformats.org/drawingml/2006/main" w="9525">
            <a:solidFill>
              <a:srgbClr val="C9D4D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4349FB4-0776-4BB5-A81B-DFB7B8A0B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952625"/>
            <a:ext cx="3143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Workstream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B42B1EA-5500-4CC9-82F2-BB92DB5E9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1952625"/>
            <a:ext cx="1809750" cy="428625"/>
          </a:xfrm>
          <a:prstGeom xmlns:a="http://schemas.openxmlformats.org/drawingml/2006/main" prst="roundRect">
            <a:avLst>
              <a:gd name="adj" fmla="val 35556"/>
            </a:avLst>
          </a:prstGeom>
          <a:solidFill xmlns:a="http://schemas.openxmlformats.org/drawingml/2006/main">
            <a:srgbClr val="10212B"/>
          </a:solidFill>
          <a:ln xmlns:a="http://schemas.openxmlformats.org/drawingml/2006/main" w="9525">
            <a:solidFill>
              <a:srgbClr val="C9D4D8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848D8B7-8CC6-4D03-BE2C-FBBA653FD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1952625"/>
            <a:ext cx="1619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Owner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329C561-8C43-4D08-84CC-1670609ED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1952625"/>
            <a:ext cx="3143250" cy="428625"/>
          </a:xfrm>
          <a:prstGeom xmlns:a="http://schemas.openxmlformats.org/drawingml/2006/main" prst="roundRect">
            <a:avLst>
              <a:gd name="adj" fmla="val 35556"/>
            </a:avLst>
          </a:prstGeom>
          <a:solidFill xmlns:a="http://schemas.openxmlformats.org/drawingml/2006/main">
            <a:srgbClr val="10212B"/>
          </a:solidFill>
          <a:ln xmlns:a="http://schemas.openxmlformats.org/drawingml/2006/main" w="9525">
            <a:solidFill>
              <a:srgbClr val="C9D4D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81B519E-958D-4D5F-8A98-A486F2C05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1952625"/>
            <a:ext cx="2952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Dependency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894B028-50EB-45D5-AC03-ABBF22943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1952625"/>
            <a:ext cx="2095500" cy="428625"/>
          </a:xfrm>
          <a:prstGeom xmlns:a="http://schemas.openxmlformats.org/drawingml/2006/main" prst="roundRect">
            <a:avLst>
              <a:gd name="adj" fmla="val 35556"/>
            </a:avLst>
          </a:prstGeom>
          <a:solidFill xmlns:a="http://schemas.openxmlformats.org/drawingml/2006/main">
            <a:srgbClr val="10212B"/>
          </a:solidFill>
          <a:ln xmlns:a="http://schemas.openxmlformats.org/drawingml/2006/main" w="9525">
            <a:solidFill>
              <a:srgbClr val="C9D4D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5C42999-55CF-4DD4-8E71-FAC326F1B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1952625"/>
            <a:ext cx="1905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Confidence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9D52207-12C1-4F78-8645-DCFDA513F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43175"/>
            <a:ext cx="3333750" cy="552450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4D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D64D694-58FE-430B-99D8-3EB7E3507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543175"/>
            <a:ext cx="314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0212B"/>
                </a:solidFill>
              </a:defRPr>
            </a:pPr>
            <a:r>
              <a:rPr sz="1350" b="0">
                <a:solidFill>
                  <a:srgbClr val="10212B"/>
                </a:solidFill>
              </a:rPr>
              <a:t>Discovery closure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1C58787-928C-4B54-BE55-DD4918C81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2543175"/>
            <a:ext cx="1809750" cy="552450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4D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1E82DB2-CFF1-4736-8F74-91C482B7B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2543175"/>
            <a:ext cx="1619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0212B"/>
                </a:solidFill>
              </a:defRPr>
            </a:pPr>
            <a:r>
              <a:rPr sz="1350" b="0">
                <a:solidFill>
                  <a:srgbClr val="10212B"/>
                </a:solidFill>
              </a:rPr>
              <a:t>PM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A67BB0F-BCD0-4012-9F38-EEA075599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2543175"/>
            <a:ext cx="3143250" cy="552450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4D8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C4D8606-E18E-492F-AB32-CCDC846EB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543175"/>
            <a:ext cx="295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0212B"/>
                </a:solidFill>
              </a:defRPr>
            </a:pPr>
            <a:r>
              <a:rPr sz="1350" b="0">
                <a:solidFill>
                  <a:srgbClr val="10212B"/>
                </a:solidFill>
              </a:rPr>
              <a:t>Research synthesis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663D970-3B69-48FD-B018-F757A7B54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2543175"/>
            <a:ext cx="2095500" cy="552450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4D8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15AF82A-D9D2-4404-B1B4-881BD369D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2543175"/>
            <a:ext cx="1905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0212B"/>
                </a:solidFill>
              </a:defRPr>
            </a:pPr>
            <a:r>
              <a:rPr sz="1350" b="0">
                <a:solidFill>
                  <a:srgbClr val="10212B"/>
                </a:solidFill>
              </a:rPr>
              <a:t>High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0A770BA-6F5A-4015-8785-D3AED62F5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33725"/>
            <a:ext cx="3333750" cy="552450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4D8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C366F59-6228-4288-92A8-1A56BF2C1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33725"/>
            <a:ext cx="314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0212B"/>
                </a:solidFill>
              </a:defRPr>
            </a:pPr>
            <a:r>
              <a:rPr sz="1350" b="0">
                <a:solidFill>
                  <a:srgbClr val="10212B"/>
                </a:solidFill>
              </a:rPr>
              <a:t>Pilot enablement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00B0A7E-3EFB-44F2-993A-7BAF3EAA5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3133725"/>
            <a:ext cx="1809750" cy="552450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4D8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349C632-1DC1-412E-B400-7423D9023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3133725"/>
            <a:ext cx="1619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0212B"/>
                </a:solidFill>
              </a:defRPr>
            </a:pPr>
            <a:r>
              <a:rPr sz="1350" b="0">
                <a:solidFill>
                  <a:srgbClr val="10212B"/>
                </a:solidFill>
              </a:rPr>
              <a:t>Enablement Lead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59DC79E-4BC0-4B42-8E57-6D98BEE45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133725"/>
            <a:ext cx="3143250" cy="552450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4D8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34AEF76-2CB9-4A77-A4D6-65758EE29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3133725"/>
            <a:ext cx="295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0212B"/>
                </a:solidFill>
              </a:defRPr>
            </a:pPr>
            <a:r>
              <a:rPr sz="1350" b="0">
                <a:solidFill>
                  <a:srgbClr val="10212B"/>
                </a:solidFill>
              </a:rPr>
              <a:t>Support readiness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F239A5E-82F5-427B-982C-CC2BA06BF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3133725"/>
            <a:ext cx="2095500" cy="552450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4D8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CBAB8ED-D178-47FE-A212-F7BC2B458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3133725"/>
            <a:ext cx="1905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0212B"/>
                </a:solidFill>
              </a:defRPr>
            </a:pPr>
            <a:r>
              <a:rPr sz="1350" b="0">
                <a:solidFill>
                  <a:srgbClr val="10212B"/>
                </a:solidFill>
              </a:rPr>
              <a:t>Medium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EB3D0D1-400C-4F90-8005-F453CC175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24275"/>
            <a:ext cx="3333750" cy="552450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4D8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A78CEB8-26F6-408E-B164-0F2991F01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724275"/>
            <a:ext cx="314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0212B"/>
                </a:solidFill>
              </a:defRPr>
            </a:pPr>
            <a:r>
              <a:rPr sz="1350" b="0">
                <a:solidFill>
                  <a:srgbClr val="10212B"/>
                </a:solidFill>
              </a:rPr>
              <a:t>Guided rollout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F117E6D-BA3D-410A-B8E9-DB8E564D9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3724275"/>
            <a:ext cx="1809750" cy="552450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4D8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0A6F6BF-2DB9-4FBC-9E35-71DF4B764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3724275"/>
            <a:ext cx="1619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0212B"/>
                </a:solidFill>
              </a:defRPr>
            </a:pPr>
            <a:r>
              <a:rPr sz="1350" b="0">
                <a:solidFill>
                  <a:srgbClr val="10212B"/>
                </a:solidFill>
              </a:rPr>
              <a:t>Launch Lead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BF2281E-5813-4218-9910-9883E0A96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724275"/>
            <a:ext cx="3143250" cy="552450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4D8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41D2152-7DFC-4741-B432-E51D671D9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3724275"/>
            <a:ext cx="295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0212B"/>
                </a:solidFill>
              </a:defRPr>
            </a:pPr>
            <a:r>
              <a:rPr sz="1350" b="0">
                <a:solidFill>
                  <a:srgbClr val="10212B"/>
                </a:solidFill>
              </a:rPr>
              <a:t>M-27 go/no-go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2997592-FB05-443A-B58B-0F0FF41DC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3724275"/>
            <a:ext cx="2095500" cy="552450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F2C66D"/>
          </a:solidFill>
          <a:ln xmlns:a="http://schemas.openxmlformats.org/drawingml/2006/main" w="9525">
            <a:solidFill>
              <a:srgbClr val="C9D4D8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9E80A52-CE73-4247-A5D9-0DAE48264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3724275"/>
            <a:ext cx="1905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0212B"/>
                </a:solidFill>
              </a:defRPr>
            </a:pPr>
            <a:r>
              <a:rPr sz="1350" b="0">
                <a:solidFill>
                  <a:srgbClr val="10212B"/>
                </a:solidFill>
              </a:rPr>
              <a:t>Medium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81B38627-50D6-4FCE-BA88-E39B0ED15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14825"/>
            <a:ext cx="3333750" cy="552450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4D8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BB544E83-7195-4A1A-9955-2E98FCBCB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314825"/>
            <a:ext cx="314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0212B"/>
                </a:solidFill>
              </a:defRPr>
            </a:pPr>
            <a:r>
              <a:rPr sz="1350" b="0">
                <a:solidFill>
                  <a:srgbClr val="10212B"/>
                </a:solidFill>
              </a:rPr>
              <a:t>Beta Q4 discovery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645B2996-1524-4D9A-AD64-2815927D6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4314825"/>
            <a:ext cx="1809750" cy="552450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4D8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87EA74DA-6D5C-4075-B9EF-8D0DB0E6E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4314825"/>
            <a:ext cx="1619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0212B"/>
                </a:solidFill>
              </a:defRPr>
            </a:pPr>
            <a:r>
              <a:rPr sz="1350" b="0">
                <a:solidFill>
                  <a:srgbClr val="10212B"/>
                </a:solidFill>
              </a:rPr>
              <a:t>Beta PM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EECBB015-BA09-475F-8565-76E408772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4314825"/>
            <a:ext cx="3143250" cy="552450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4D8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E410DBD3-AED3-432B-9CD5-0A167F220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4314825"/>
            <a:ext cx="295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0212B"/>
                </a:solidFill>
              </a:defRPr>
            </a:pPr>
            <a:r>
              <a:rPr sz="1350" b="0">
                <a:solidFill>
                  <a:srgbClr val="10212B"/>
                </a:solidFill>
              </a:rPr>
              <a:t>Capacity release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795294D4-01CD-43C3-9A4C-771492D66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4314825"/>
            <a:ext cx="2095500" cy="552450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4D8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938BC177-12CA-49D9-B4AE-695E438AA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4314825"/>
            <a:ext cx="1905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0212B"/>
                </a:solidFill>
              </a:defRPr>
            </a:pPr>
            <a:r>
              <a:rPr sz="1350" b="0">
                <a:solidFill>
                  <a:srgbClr val="10212B"/>
                </a:solidFill>
              </a:rPr>
              <a:t>Medium</a:t>
            </a:r>
          </a:p>
        </p:txBody>
      </p:sp>
    </p:spTree>
    <p:extLst>
      <p:ext uri="{BB962C8B-B14F-4D97-AF65-F5344CB8AC3E}">
        <p14:creationId xmlns:p14="http://schemas.microsoft.com/office/powerpoint/2010/main" val="157525024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2026-08-23T15:03:52.2220000Z</dcterms:created>
  <dcterms:modified xsi:type="dcterms:W3CDTF">2026-08-23T15:03:52.2220000Z</dcterms:modified>
</coreProperties>
</file>