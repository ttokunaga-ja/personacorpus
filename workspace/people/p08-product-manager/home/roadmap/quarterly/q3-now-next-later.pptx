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293a83e02b43e4" /><Relationship Type="http://schemas.openxmlformats.org/officeDocument/2006/relationships/extended-properties" Target="/docProps/app.xml" Id="Rfe5c36e241bd4e85" /><Relationship Type="http://schemas.openxmlformats.org/officeDocument/2006/relationships/officeDocument" Target="/ppt/presentation.xml" Id="R1b51e0631c674b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99a7fa4ce34f80"/>
  </p:sldMasterIdLst>
  <p:notesMasterIdLst>
    <p:notesMasterId xmlns:r="http://schemas.openxmlformats.org/officeDocument/2006/relationships" r:id="R30b7b10e39254b50"/>
  </p:notesMasterIdLst>
  <p:sldIdLst>
    <p:sldId xmlns:r="http://schemas.openxmlformats.org/officeDocument/2006/relationships" id="256" r:id="R086107c625234473"/>
    <p:sldId xmlns:r="http://schemas.openxmlformats.org/officeDocument/2006/relationships" id="257" r:id="Rfe25107882b74c1b"/>
    <p:sldId xmlns:r="http://schemas.openxmlformats.org/officeDocument/2006/relationships" id="258" r:id="R1971d60f55754a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0ce944fe894eeb" /><Relationship Type="http://schemas.openxmlformats.org/officeDocument/2006/relationships/slideMaster" Target="/ppt/slideMasters/slideMaster1.xml" Id="R1599a7fa4ce34f80" /><Relationship Type="http://schemas.openxmlformats.org/officeDocument/2006/relationships/notesMaster" Target="/ppt/notesMasters/notesMaster1.xml" Id="R30b7b10e39254b50" /><Relationship Type="http://schemas.openxmlformats.org/officeDocument/2006/relationships/presProps" Target="/ppt/presProps.xml" Id="R14433d72362e4c66" /><Relationship Type="http://schemas.openxmlformats.org/officeDocument/2006/relationships/tableStyles" Target="/ppt/tableStyles.xml" Id="R222ec0611789400d" /><Relationship Type="http://schemas.openxmlformats.org/officeDocument/2006/relationships/slide" Target="/ppt/slides/slide1.xml" Id="R086107c625234473" /><Relationship Type="http://schemas.openxmlformats.org/officeDocument/2006/relationships/slide" Target="/ppt/slides/slide2.xml" Id="Rfe25107882b74c1b" /><Relationship Type="http://schemas.openxmlformats.org/officeDocument/2006/relationships/slide" Target="/ppt/slides/slide3.xml" Id="R1971d60f55754a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bf78f93cd34c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4c9d63161342b6" /><Relationship Type="http://schemas.openxmlformats.org/officeDocument/2006/relationships/notesMaster" Target="/ppt/notesMasters/notesMaster1.xml" Id="R0abfd614eb4d47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56d1c1c979474e" /><Relationship Type="http://schemas.openxmlformats.org/officeDocument/2006/relationships/notesMaster" Target="/ppt/notesMasters/notesMaster1.xml" Id="Rdaea1b89289340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dd45ab1477459e" /><Relationship Type="http://schemas.openxmlformats.org/officeDocument/2006/relationships/notesMaster" Target="/ppt/notesMasters/notesMaster1.xml" Id="Rb413a6a8e6d04c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source: Juniper Works Product Alpha Q3 roadmap working set, 2026-07-13. All metrics and entities are fictional.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source: Juniper Works Product Alpha Q3 roadmap working set, 2026-07-13. All metrics and entities are fictional.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source: Juniper Works Product Alpha Q3 roadmap working set, 2026-07-13. All metrics and entities are fictional.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3b99cc21ac40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3d46598f1a4945" /><Relationship Type="http://schemas.openxmlformats.org/officeDocument/2006/relationships/slideLayout" Target="/ppt/slideLayouts/slideLayout1.xml" Id="R3dc1fa6e97f449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c1fa6e97f449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9d5230e49843cb" /><Relationship Type="http://schemas.openxmlformats.org/officeDocument/2006/relationships/notesSlide" Target="/ppt/notesSlides/notesSlide1.xml" Id="R61938b560ada47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168631bff64e41" /><Relationship Type="http://schemas.openxmlformats.org/officeDocument/2006/relationships/notesSlide" Target="/ppt/notesSlides/notesSlide2.xml" Id="R0f18736ad25e4d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c9cb9ed76c42de" /><Relationship Type="http://schemas.openxmlformats.org/officeDocument/2006/relationships/notesSlide" Target="/ppt/notesSlides/notesSlide3.xml" Id="R8b5ffa9d289e409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1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8BDF64-5701-4688-9057-98D29580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0C7B3"/>
                </a:solidFill>
              </a:defRPr>
            </a:pPr>
            <a:r>
              <a:rPr sz="1200" b="1">
                <a:solidFill>
                  <a:srgbClr val="50C7B3"/>
                </a:solidFill>
              </a:rPr>
              <a:t>JUNIPER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C68B66-5564-447C-9039-C51A49EB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23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Q3 now / next / later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FEBCC0-910D-41A4-9353-AAB82944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571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9E5E8"/>
                </a:solidFill>
              </a:defRPr>
            </a:pPr>
            <a:r>
              <a:rPr sz="1800" b="0">
                <a:solidFill>
                  <a:srgbClr val="D9E5E8"/>
                </a:solidFill>
              </a:rPr>
              <a:t>Horizon framing</a:t>
            </a:r>
          </a:p>
          <a:p xmlns:a="http://schemas.openxmlformats.org/drawingml/2006/main">
            <a:pPr>
              <a:defRPr sz="1800" b="0">
                <a:solidFill>
                  <a:srgbClr val="D9E5E8"/>
                </a:solidFill>
              </a:defRPr>
            </a:pPr>
            <a:r>
              <a:rPr sz="1800" b="0">
                <a:solidFill>
                  <a:srgbClr val="D9E5E8"/>
                </a:solidFill>
              </a:rPr>
              <a:t>13 July 2026 · Portfolio planning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90F904-26F9-4F5E-A1E3-2FDD2C9C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66875"/>
            <a:ext cx="2762250" cy="2714625"/>
          </a:xfrm>
          <a:prstGeom xmlns:a="http://schemas.openxmlformats.org/drawingml/2006/main" prst="roundRect">
            <a:avLst>
              <a:gd name="adj" fmla="val 5614"/>
            </a:avLst>
          </a:prstGeom>
          <a:solidFill xmlns:a="http://schemas.openxmlformats.org/drawingml/2006/main">
            <a:srgbClr val="50C7B3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C11FED-D974-4CFD-BA2C-FCADB1D0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76450"/>
            <a:ext cx="2190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0212B"/>
                </a:solidFill>
              </a:defRPr>
            </a:pPr>
            <a:r>
              <a:rPr sz="3750" b="1">
                <a:solidFill>
                  <a:srgbClr val="10212B"/>
                </a:solidFill>
              </a:rPr>
              <a:t>18.4%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8506BA-FCCE-43D5-AF43-73BC7A6E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12B"/>
                </a:solidFill>
              </a:defRPr>
            </a:pPr>
            <a:r>
              <a:rPr sz="1425" b="0">
                <a:solidFill>
                  <a:srgbClr val="10212B"/>
                </a:solidFill>
              </a:rPr>
              <a:t>adoption baseline</a:t>
            </a:r>
          </a:p>
          <a:p xmlns:a="http://schemas.openxmlformats.org/drawingml/2006/main">
            <a:pPr>
              <a:defRPr sz="1425" b="0">
                <a:solidFill>
                  <a:srgbClr val="10212B"/>
                </a:solidFill>
              </a:defRPr>
            </a:pPr>
            <a:r>
              <a:rPr sz="1425" b="0">
                <a:solidFill>
                  <a:srgbClr val="10212B"/>
                </a:solidFill>
              </a:rPr>
              <a:t>1,240 synthetic workspaces</a:t>
            </a:r>
          </a:p>
        </p:txBody>
      </p:sp>
    </p:spTree>
    <p:extLst>
      <p:ext uri="{BB962C8B-B14F-4D97-AF65-F5344CB8AC3E}">
        <p14:creationId xmlns:p14="http://schemas.microsoft.com/office/powerpoint/2010/main" val="3472709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6014D3-1CBE-48FB-9A2E-91715DDA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7080"/>
                </a:solidFill>
              </a:defRPr>
            </a:pPr>
            <a:r>
              <a:rPr sz="1050" b="1">
                <a:solidFill>
                  <a:srgbClr val="587080"/>
                </a:solidFill>
              </a:rPr>
              <a:t>JUNIPER WORKS  /  PRODUCT ALPHA Q3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D9ADD0-8D3D-42F2-8995-71EB99B7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12B"/>
                </a:solidFill>
              </a:defRPr>
            </a:pPr>
            <a:r>
              <a:rPr sz="2700" b="1">
                <a:solidFill>
                  <a:srgbClr val="10212B"/>
                </a:solidFill>
              </a:rPr>
              <a:t>Q3 now / next / later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D941CB-3A7E-4D45-B8B0-7A712329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7080"/>
                </a:solidFill>
              </a:defRPr>
            </a:pPr>
            <a:r>
              <a:rPr sz="1350" b="0">
                <a:solidFill>
                  <a:srgbClr val="587080"/>
                </a:solidFill>
              </a:rPr>
              <a:t>Horizon framing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E5B899-3F78-42A9-AE1D-05C6D971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87080"/>
                </a:solidFill>
              </a:defRPr>
            </a:pPr>
            <a:r>
              <a:rPr sz="975" b="1">
                <a:solidFill>
                  <a:srgbClr val="587080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801F8B-83FE-4B39-9771-63A9E970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14325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50C7B3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F59AC4-F3E8-4DA2-90F3-294C9C27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381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12B"/>
                </a:solidFill>
              </a:defRPr>
            </a:pPr>
            <a:r>
              <a:rPr sz="1950" b="1">
                <a:solidFill>
                  <a:srgbClr val="10212B"/>
                </a:solidFill>
              </a:rPr>
              <a:t>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3414DD-769B-4CEF-9268-90B9A612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95275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212B"/>
                </a:solidFill>
              </a:defRPr>
            </a:pPr>
            <a:r>
              <a:rPr sz="1650" b="0">
                <a:solidFill>
                  <a:srgbClr val="10212B"/>
                </a:solidFill>
              </a:rPr>
              <a:t>Close discovery / fix evidence gaps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D47493-34E7-491F-B69A-74D73570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95500"/>
            <a:ext cx="314325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2C66D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87D76B-9C52-4ACC-BCD9-05875F83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81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12B"/>
                </a:solidFill>
              </a:defRPr>
            </a:pPr>
            <a:r>
              <a:rPr sz="1950" b="1">
                <a:solidFill>
                  <a:srgbClr val="10212B"/>
                </a:solidFill>
              </a:rPr>
              <a:t>NEXT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361ADF-862B-4569-8AD6-F851CA1A1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5275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212B"/>
                </a:solidFill>
              </a:defRPr>
            </a:pPr>
            <a:r>
              <a:rPr sz="1650" b="0">
                <a:solidFill>
                  <a:srgbClr val="10212B"/>
                </a:solidFill>
              </a:rPr>
              <a:t>Enable pilot teams / validate onboarding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017D92-F345-4121-8966-5271C747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95500"/>
            <a:ext cx="314325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57E6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D1800D-712C-45FF-A744-0E25CE9C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381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12B"/>
                </a:solidFill>
              </a:defRPr>
            </a:pPr>
            <a:r>
              <a:rPr sz="1950" b="1">
                <a:solidFill>
                  <a:srgbClr val="10212B"/>
                </a:solidFill>
              </a:rPr>
              <a:t>LATER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15E9D3-26CD-4A87-BAAF-BB5578B0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95275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212B"/>
                </a:solidFill>
              </a:defRPr>
            </a:pPr>
            <a:r>
              <a:rPr sz="1650" b="0">
                <a:solidFill>
                  <a:srgbClr val="10212B"/>
                </a:solidFill>
              </a:rPr>
              <a:t>Guided rollout / begin Beta Q4 discovery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1BE218-EC41-4126-A4E1-80F74479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12B"/>
                </a:solidFill>
              </a:defRPr>
            </a:pPr>
            <a:r>
              <a:rPr sz="1650" b="1">
                <a:solidFill>
                  <a:srgbClr val="10212B"/>
                </a:solidFill>
              </a:rPr>
              <a:t>Capacity rule: Product Beta discovery starts only after Alpha M-27 gate clears.</a:t>
            </a:r>
          </a:p>
        </p:txBody>
      </p:sp>
    </p:spTree>
    <p:extLst>
      <p:ext uri="{BB962C8B-B14F-4D97-AF65-F5344CB8AC3E}">
        <p14:creationId xmlns:p14="http://schemas.microsoft.com/office/powerpoint/2010/main" val="2172627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80C88F-18A7-4D59-B791-7F831C9B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7080"/>
                </a:solidFill>
              </a:defRPr>
            </a:pPr>
            <a:r>
              <a:rPr sz="1050" b="1">
                <a:solidFill>
                  <a:srgbClr val="587080"/>
                </a:solidFill>
              </a:rPr>
              <a:t>JUNIPER WORKS  /  PRODUCT ALPHA Q3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7A39D9-40E4-4B98-AF21-FB7F81C2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12B"/>
                </a:solidFill>
              </a:defRPr>
            </a:pPr>
            <a:r>
              <a:rPr sz="2700" b="1">
                <a:solidFill>
                  <a:srgbClr val="10212B"/>
                </a:solidFill>
              </a:rPr>
              <a:t>Shared execution spine through 18 September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8C29B0-526F-4797-82B3-D34AF281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7080"/>
                </a:solidFill>
              </a:defRPr>
            </a:pPr>
            <a:r>
              <a:rPr sz="1350" b="0">
                <a:solidFill>
                  <a:srgbClr val="587080"/>
                </a:solidFill>
              </a:rPr>
              <a:t>July discovery closure → August enablement/pilot → September guided rollout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0766BF-BAED-4CD1-8A46-C6EFB0FB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87080"/>
                </a:solidFill>
              </a:defRPr>
            </a:pPr>
            <a:r>
              <a:rPr sz="975" b="1">
                <a:solidFill>
                  <a:srgbClr val="587080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AA717D-0D18-4DDE-8BDB-8BE665B7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600200"/>
            <a:ext cx="279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87080"/>
                </a:solidFill>
              </a:defRPr>
            </a:pPr>
            <a:r>
              <a:rPr sz="1500" b="1">
                <a:solidFill>
                  <a:srgbClr val="587080"/>
                </a:solidFill>
              </a:rPr>
              <a:t>Jul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1E7294-DD3B-41C5-9897-74784E91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750" y="1600200"/>
            <a:ext cx="279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87080"/>
                </a:solidFill>
              </a:defRPr>
            </a:pPr>
            <a:r>
              <a:rPr sz="1500" b="1">
                <a:solidFill>
                  <a:srgbClr val="587080"/>
                </a:solidFill>
              </a:rPr>
              <a:t>Aug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EAE402-AC53-4A7F-9D8B-297BBDFF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8750" y="1600200"/>
            <a:ext cx="279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87080"/>
                </a:solidFill>
              </a:defRPr>
            </a:pPr>
            <a:r>
              <a:rPr sz="1500" b="1">
                <a:solidFill>
                  <a:srgbClr val="587080"/>
                </a:solidFill>
              </a:rPr>
              <a:t>Sep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24718B-DEEF-4182-8C49-6233F3BA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12B"/>
                </a:solidFill>
              </a:defRPr>
            </a:pPr>
            <a:r>
              <a:rPr sz="1350" b="1">
                <a:solidFill>
                  <a:srgbClr val="10212B"/>
                </a:solidFill>
              </a:rPr>
              <a:t>Discovery closure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FE13C4-F351-4C5F-B077-32849DC5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00250"/>
            <a:ext cx="2514600" cy="409575"/>
          </a:xfrm>
          <a:prstGeom xmlns:a="http://schemas.openxmlformats.org/drawingml/2006/main" prst="roundRect">
            <a:avLst>
              <a:gd name="adj" fmla="val 37209"/>
            </a:avLst>
          </a:prstGeom>
          <a:solidFill xmlns:a="http://schemas.openxmlformats.org/drawingml/2006/main">
            <a:srgbClr val="50C7B3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CB6E52-797F-474F-9690-EE92AE4F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000250"/>
            <a:ext cx="2324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12B"/>
                </a:solidFill>
              </a:defRPr>
            </a:pPr>
            <a:r>
              <a:rPr sz="1125" b="1">
                <a:solidFill>
                  <a:srgbClr val="10212B"/>
                </a:solidFill>
              </a:rPr>
              <a:t>PM / Research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BE20CF-006A-4DC6-88FD-2097FFD4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12B"/>
                </a:solidFill>
              </a:defRPr>
            </a:pPr>
            <a:r>
              <a:rPr sz="1350" b="1">
                <a:solidFill>
                  <a:srgbClr val="10212B"/>
                </a:solidFill>
              </a:rPr>
              <a:t>Enablement + pilot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159229-231E-4BC3-BFCB-88CF6AAD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05125"/>
            <a:ext cx="2849880" cy="409575"/>
          </a:xfrm>
          <a:prstGeom xmlns:a="http://schemas.openxmlformats.org/drawingml/2006/main" prst="roundRect">
            <a:avLst>
              <a:gd name="adj" fmla="val 37209"/>
            </a:avLst>
          </a:prstGeom>
          <a:solidFill xmlns:a="http://schemas.openxmlformats.org/drawingml/2006/main">
            <a:srgbClr val="F2C66D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C8050F-35C4-4DB3-A6E1-6C9659079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905125"/>
            <a:ext cx="265938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12B"/>
                </a:solidFill>
              </a:defRPr>
            </a:pPr>
            <a:r>
              <a:rPr sz="1125" b="1">
                <a:solidFill>
                  <a:srgbClr val="10212B"/>
                </a:solidFill>
              </a:rPr>
              <a:t>Enablement Lead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41656F-CB3F-4C2C-8DA9-69E6D402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12B"/>
                </a:solidFill>
              </a:defRPr>
            </a:pPr>
            <a:r>
              <a:rPr sz="1350" b="1">
                <a:solidFill>
                  <a:srgbClr val="10212B"/>
                </a:solidFill>
              </a:rPr>
              <a:t>Guided rollout + M-27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4B2F10-CD47-4F86-AED8-B2D0AD50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230" y="3810000"/>
            <a:ext cx="3017520" cy="409575"/>
          </a:xfrm>
          <a:prstGeom xmlns:a="http://schemas.openxmlformats.org/drawingml/2006/main" prst="roundRect">
            <a:avLst>
              <a:gd name="adj" fmla="val 37209"/>
            </a:avLst>
          </a:prstGeom>
          <a:solidFill xmlns:a="http://schemas.openxmlformats.org/drawingml/2006/main">
            <a:srgbClr val="F57E6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D5BDCA-7CC9-4F40-9B75-DF3AABCE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9530" y="3810000"/>
            <a:ext cx="282702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12B"/>
                </a:solidFill>
              </a:defRPr>
            </a:pPr>
            <a:r>
              <a:rPr sz="1125" b="1">
                <a:solidFill>
                  <a:srgbClr val="10212B"/>
                </a:solidFill>
              </a:rPr>
              <a:t>Launch Lead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3D1071-7E12-4AAD-A589-72FF3365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12B"/>
                </a:solidFill>
              </a:defRPr>
            </a:pPr>
            <a:r>
              <a:rPr sz="1725" b="1">
                <a:solidFill>
                  <a:srgbClr val="10212B"/>
                </a:solidFill>
              </a:rPr>
              <a:t>Decision gate · M-27 guided rollout · 18 Sep 2026</a:t>
            </a:r>
          </a:p>
        </p:txBody>
      </p:sp>
    </p:spTree>
    <p:extLst>
      <p:ext uri="{BB962C8B-B14F-4D97-AF65-F5344CB8AC3E}">
        <p14:creationId xmlns:p14="http://schemas.microsoft.com/office/powerpoint/2010/main" val="8177465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2026-08-23T15:03:53.3970000Z</dcterms:created>
  <dcterms:modified xsi:type="dcterms:W3CDTF">2026-08-23T15:03:53.3970000Z</dcterms:modified>
</coreProperties>
</file>