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e2eb7906ef49aa" /><Relationship Type="http://schemas.openxmlformats.org/officeDocument/2006/relationships/extended-properties" Target="/docProps/app.xml" Id="R4a535e57da914658" /><Relationship Type="http://schemas.openxmlformats.org/officeDocument/2006/relationships/officeDocument" Target="/ppt/presentation.xml" Id="Rf03222f5692743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efbbd5a70142dd"/>
  </p:sldMasterIdLst>
  <p:notesMasterIdLst>
    <p:notesMasterId xmlns:r="http://schemas.openxmlformats.org/officeDocument/2006/relationships" r:id="R07fd05651bcd4187"/>
  </p:notesMasterIdLst>
  <p:sldIdLst>
    <p:sldId xmlns:r="http://schemas.openxmlformats.org/officeDocument/2006/relationships" id="256" r:id="R4bdc0765fdf84cf3"/>
    <p:sldId xmlns:r="http://schemas.openxmlformats.org/officeDocument/2006/relationships" id="257" r:id="Rd925cb9be86e42fd"/>
    <p:sldId xmlns:r="http://schemas.openxmlformats.org/officeDocument/2006/relationships" id="258" r:id="R332b8eb5e8c4401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4f172ed9504b78" /><Relationship Type="http://schemas.openxmlformats.org/officeDocument/2006/relationships/slideMaster" Target="/ppt/slideMasters/slideMaster1.xml" Id="R3befbbd5a70142dd" /><Relationship Type="http://schemas.openxmlformats.org/officeDocument/2006/relationships/notesMaster" Target="/ppt/notesMasters/notesMaster1.xml" Id="R07fd05651bcd4187" /><Relationship Type="http://schemas.openxmlformats.org/officeDocument/2006/relationships/presProps" Target="/ppt/presProps.xml" Id="Rf8fd4d8a0c794fe2" /><Relationship Type="http://schemas.openxmlformats.org/officeDocument/2006/relationships/tableStyles" Target="/ppt/tableStyles.xml" Id="R63db0cb5137649a4" /><Relationship Type="http://schemas.openxmlformats.org/officeDocument/2006/relationships/slide" Target="/ppt/slides/slide1.xml" Id="R4bdc0765fdf84cf3" /><Relationship Type="http://schemas.openxmlformats.org/officeDocument/2006/relationships/slide" Target="/ppt/slides/slide2.xml" Id="Rd925cb9be86e42fd" /><Relationship Type="http://schemas.openxmlformats.org/officeDocument/2006/relationships/slide" Target="/ppt/slides/slide3.xml" Id="R332b8eb5e8c440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15e6b544e94f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21b208fda94100" /><Relationship Type="http://schemas.openxmlformats.org/officeDocument/2006/relationships/notesMaster" Target="/ppt/notesMasters/notesMaster1.xml" Id="R0f76b38ffed242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ba2d9637aa4838" /><Relationship Type="http://schemas.openxmlformats.org/officeDocument/2006/relationships/notesMaster" Target="/ppt/notesMasters/notesMaster1.xml" Id="R6738fc1c57bf49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14c68b0f5b48d6" /><Relationship Type="http://schemas.openxmlformats.org/officeDocument/2006/relationships/notesMaster" Target="/ppt/notesMasters/notesMaster1.xml" Id="Reb6eeaaa6b3340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source: Juniper Works Product Alpha Q3 roadmap working set, 2026-07-13. All metrics and entities are fictional.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source: Juniper Works Product Alpha Q3 roadmap working set, 2026-07-13. All metrics and entities are fictional.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source: Juniper Works Product Alpha Q3 roadmap working set, 2026-07-13. All metrics and entities are fictional.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203d5c366748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534c721ef84a49" /><Relationship Type="http://schemas.openxmlformats.org/officeDocument/2006/relationships/slideLayout" Target="/ppt/slideLayouts/slideLayout1.xml" Id="R6716b66ca69947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16b66ca69947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e798a671a74ca4" /><Relationship Type="http://schemas.openxmlformats.org/officeDocument/2006/relationships/notesSlide" Target="/ppt/notesSlides/notesSlide1.xml" Id="Rfa7c2ce59f114a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2644f5e9b743c4" /><Relationship Type="http://schemas.openxmlformats.org/officeDocument/2006/relationships/notesSlide" Target="/ppt/notesSlides/notesSlide2.xml" Id="R974dafb442054a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aa069f751d450d" /><Relationship Type="http://schemas.openxmlformats.org/officeDocument/2006/relationships/notesSlide" Target="/ppt/notesSlides/notesSlide3.xml" Id="Ra8b44d654c714f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1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2CA57B-0947-4834-9AF1-4AE34750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0C7B3"/>
                </a:solidFill>
              </a:defRPr>
            </a:pPr>
            <a:r>
              <a:rPr sz="1200" b="1">
                <a:solidFill>
                  <a:srgbClr val="50C7B3"/>
                </a:solidFill>
              </a:rPr>
              <a:t>JUNIPER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E218D7-B00F-401C-9E37-7B1F83DB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23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Q3 steering committee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FD55A5-4794-48EA-AFE7-1014C5D2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571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9E5E8"/>
                </a:solidFill>
              </a:defRPr>
            </a:pPr>
            <a:r>
              <a:rPr sz="1800" b="0">
                <a:solidFill>
                  <a:srgbClr val="D9E5E8"/>
                </a:solidFill>
              </a:rPr>
              <a:t>Steering decisions</a:t>
            </a:r>
          </a:p>
          <a:p xmlns:a="http://schemas.openxmlformats.org/drawingml/2006/main">
            <a:pPr>
              <a:defRPr sz="1800" b="0">
                <a:solidFill>
                  <a:srgbClr val="D9E5E8"/>
                </a:solidFill>
              </a:defRPr>
            </a:pPr>
            <a:r>
              <a:rPr sz="1800" b="0">
                <a:solidFill>
                  <a:srgbClr val="D9E5E8"/>
                </a:solidFill>
              </a:rPr>
              <a:t>13 July 2026 · Portfolio planning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6A820C-0FBC-435B-A39D-F3E0A986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66875"/>
            <a:ext cx="2762250" cy="2714625"/>
          </a:xfrm>
          <a:prstGeom xmlns:a="http://schemas.openxmlformats.org/drawingml/2006/main" prst="roundRect">
            <a:avLst>
              <a:gd name="adj" fmla="val 5614"/>
            </a:avLst>
          </a:prstGeom>
          <a:solidFill xmlns:a="http://schemas.openxmlformats.org/drawingml/2006/main">
            <a:srgbClr val="50C7B3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2F4DC0-F6A4-4EA5-A1AA-A903F030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76450"/>
            <a:ext cx="2190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0212B"/>
                </a:solidFill>
              </a:defRPr>
            </a:pPr>
            <a:r>
              <a:rPr sz="3750" b="1">
                <a:solidFill>
                  <a:srgbClr val="10212B"/>
                </a:solidFill>
              </a:rPr>
              <a:t>18.4%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595A65-8544-4E8F-B9EF-2B0261D8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12B"/>
                </a:solidFill>
              </a:defRPr>
            </a:pPr>
            <a:r>
              <a:rPr sz="1425" b="0">
                <a:solidFill>
                  <a:srgbClr val="10212B"/>
                </a:solidFill>
              </a:rPr>
              <a:t>adoption baseline</a:t>
            </a:r>
          </a:p>
          <a:p xmlns:a="http://schemas.openxmlformats.org/drawingml/2006/main">
            <a:pPr>
              <a:defRPr sz="1425" b="0">
                <a:solidFill>
                  <a:srgbClr val="10212B"/>
                </a:solidFill>
              </a:defRPr>
            </a:pPr>
            <a:r>
              <a:rPr sz="1425" b="0">
                <a:solidFill>
                  <a:srgbClr val="10212B"/>
                </a:solidFill>
              </a:rPr>
              <a:t>1,240 synthetic workspaces</a:t>
            </a:r>
          </a:p>
        </p:txBody>
      </p:sp>
    </p:spTree>
    <p:extLst>
      <p:ext uri="{BB962C8B-B14F-4D97-AF65-F5344CB8AC3E}">
        <p14:creationId xmlns:p14="http://schemas.microsoft.com/office/powerpoint/2010/main" val="8186988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DBE2C9D-ED2D-4F1B-A263-18CD5B7A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7080"/>
                </a:solidFill>
              </a:defRPr>
            </a:pPr>
            <a:r>
              <a:rPr sz="1050" b="1">
                <a:solidFill>
                  <a:srgbClr val="587080"/>
                </a:solidFill>
              </a:rPr>
              <a:t>JUNIPER WORKS  /  PRODUCT ALPHA Q3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903A89-82FA-48BE-B5EF-4BCB8091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12B"/>
                </a:solidFill>
              </a:defRPr>
            </a:pPr>
            <a:r>
              <a:rPr sz="2700" b="1">
                <a:solidFill>
                  <a:srgbClr val="10212B"/>
                </a:solidFill>
              </a:rPr>
              <a:t>Q3 steering committee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C9AA85-D74F-4C42-A958-D9A067AE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7080"/>
                </a:solidFill>
              </a:defRPr>
            </a:pPr>
            <a:r>
              <a:rPr sz="1350" b="0">
                <a:solidFill>
                  <a:srgbClr val="587080"/>
                </a:solidFill>
              </a:rPr>
              <a:t>Steering decisions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D17AAD-358B-4726-9FE8-B4A931BE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87080"/>
                </a:solidFill>
              </a:defRPr>
            </a:pPr>
            <a:r>
              <a:rPr sz="975" b="1">
                <a:solidFill>
                  <a:srgbClr val="587080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B60D89-3F90-41B6-8020-E0D3658B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333750" cy="428625"/>
          </a:xfrm>
          <a:prstGeom xmlns:a="http://schemas.openxmlformats.org/drawingml/2006/main" prst="roundRect">
            <a:avLst>
              <a:gd name="adj" fmla="val 35556"/>
            </a:avLst>
          </a:prstGeom>
          <a:solidFill xmlns:a="http://schemas.openxmlformats.org/drawingml/2006/main">
            <a:srgbClr val="10212B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43ED92-30B7-4D0F-972F-72491C13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Workstream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E1C81E-1B25-424A-8508-8BB83B5C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952625"/>
            <a:ext cx="1809750" cy="428625"/>
          </a:xfrm>
          <a:prstGeom xmlns:a="http://schemas.openxmlformats.org/drawingml/2006/main" prst="roundRect">
            <a:avLst>
              <a:gd name="adj" fmla="val 35556"/>
            </a:avLst>
          </a:prstGeom>
          <a:solidFill xmlns:a="http://schemas.openxmlformats.org/drawingml/2006/main">
            <a:srgbClr val="10212B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D967FC-62DB-40D9-A5A5-19FC946F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52625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Owner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8BFE32-E06A-4CEC-AFB6-C5254F72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52625"/>
            <a:ext cx="3143250" cy="428625"/>
          </a:xfrm>
          <a:prstGeom xmlns:a="http://schemas.openxmlformats.org/drawingml/2006/main" prst="roundRect">
            <a:avLst>
              <a:gd name="adj" fmla="val 35556"/>
            </a:avLst>
          </a:prstGeom>
          <a:solidFill xmlns:a="http://schemas.openxmlformats.org/drawingml/2006/main">
            <a:srgbClr val="10212B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DEED90-EB1E-4907-AC8A-C52DB2EA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5262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Dependency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08B19B-497E-4E42-B81F-8B11B35F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952625"/>
            <a:ext cx="2095500" cy="428625"/>
          </a:xfrm>
          <a:prstGeom xmlns:a="http://schemas.openxmlformats.org/drawingml/2006/main" prst="roundRect">
            <a:avLst>
              <a:gd name="adj" fmla="val 35556"/>
            </a:avLst>
          </a:prstGeom>
          <a:solidFill xmlns:a="http://schemas.openxmlformats.org/drawingml/2006/main">
            <a:srgbClr val="10212B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64C64C-83E7-4486-AAD0-27E89F0D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952625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Confidence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3C9520-0D25-47DC-89AD-D3BC9170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33337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5EF4DD-D944-4100-AF2C-A43DAE70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4317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Discovery closure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F9BFB9-28CB-4D24-A320-6893B7C7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43175"/>
            <a:ext cx="18097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FF1114-128E-40E7-A341-7CB9CE5C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4317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PM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5BFCC8-C020-43DB-9E42-583C060B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43175"/>
            <a:ext cx="3143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FFEB71-8DB8-4E10-8358-AAAD1471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431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Research synthesis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0D8722-AA22-493E-B24C-C8EB2C39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43175"/>
            <a:ext cx="20955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8B32D2-D4C6-4E27-84A4-96EAB959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543175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High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8BF05F-71E5-439A-996A-602DB212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33337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637559-1791-46E0-925F-3A42C22B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3372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Pilot enablement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BA70DC-7B18-4B45-AA0C-4C762F67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33725"/>
            <a:ext cx="18097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FD9C93-1C02-4826-9108-E4F71BBC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3372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Enablement Lead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90A79F-348E-4AB3-8FE7-420E97B8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33725"/>
            <a:ext cx="3143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270C8A-66EF-472D-BBFC-F0EF212A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3372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Support readiness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4B4FE2-E72A-4BC5-BF62-B8171D51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33725"/>
            <a:ext cx="20955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E7F45B-63E1-4CC8-A790-000E9679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33725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Medium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991835-9841-40AA-B5ED-D46FF50C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33337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06BEAD-9541-4218-B2F8-78D9DF3B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2427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Guided rollout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F29738-2E3D-4991-A425-A7D976B7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24275"/>
            <a:ext cx="18097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018F62-7C91-4283-9153-AEF54B47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2427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Launch Lead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82BB95-1D77-4842-8095-B9F3D83B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24275"/>
            <a:ext cx="3143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7ECF43-3F8C-4185-85AC-8629032E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242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M-27 go/no-go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2388FD-DF32-4578-8579-F9C1C8D9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24275"/>
            <a:ext cx="20955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2C66D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C7A64B-163F-45D5-B1C5-6EF43FD5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724275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Medium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783852-D7AF-45CF-9614-0F58D4E0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33337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17498C9-FF4C-4A9D-A6E3-76BEFEF1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1482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Beta Q4 discovery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6B9C249-C75B-49BD-A4A2-DC54DCCB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314825"/>
            <a:ext cx="18097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3720851-E1D7-4F1A-BFE8-2D09881F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31482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Beta PM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502F267-3F12-4F12-B1F0-2B4FB648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14825"/>
            <a:ext cx="3143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E5C70EE-61B3-4D0E-A42D-557BB667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1482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Capacity release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F263935-788C-4F3B-9226-95ADBFBE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314825"/>
            <a:ext cx="20955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FCE7175-19D0-4C1C-99C0-18D199F0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314825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Medium</a:t>
            </a:r>
          </a:p>
        </p:txBody>
      </p:sp>
    </p:spTree>
    <p:extLst>
      <p:ext uri="{BB962C8B-B14F-4D97-AF65-F5344CB8AC3E}">
        <p14:creationId xmlns:p14="http://schemas.microsoft.com/office/powerpoint/2010/main" val="2996635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1D78A6-E5BE-4D2F-901F-59350A92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7080"/>
                </a:solidFill>
              </a:defRPr>
            </a:pPr>
            <a:r>
              <a:rPr sz="1050" b="1">
                <a:solidFill>
                  <a:srgbClr val="587080"/>
                </a:solidFill>
              </a:rPr>
              <a:t>JUNIPER WORKS  /  PRODUCT ALPHA Q3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2AC6C4-0DF9-4885-8615-733D34B6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12B"/>
                </a:solidFill>
              </a:defRPr>
            </a:pPr>
            <a:r>
              <a:rPr sz="2700" b="1">
                <a:solidFill>
                  <a:srgbClr val="10212B"/>
                </a:solidFill>
              </a:rPr>
              <a:t>Shared execution spine through 18 September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EDBCA3-9871-42B6-89C8-452AE984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7080"/>
                </a:solidFill>
              </a:defRPr>
            </a:pPr>
            <a:r>
              <a:rPr sz="1350" b="0">
                <a:solidFill>
                  <a:srgbClr val="587080"/>
                </a:solidFill>
              </a:rPr>
              <a:t>July discovery closure → August enablement/pilot → September guided rollout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5FA320-0DF2-4F37-9578-023149F5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87080"/>
                </a:solidFill>
              </a:defRPr>
            </a:pPr>
            <a:r>
              <a:rPr sz="975" b="1">
                <a:solidFill>
                  <a:srgbClr val="587080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023C78-4D89-427B-A152-0ECAA0CB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00200"/>
            <a:ext cx="279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87080"/>
                </a:solidFill>
              </a:defRPr>
            </a:pPr>
            <a:r>
              <a:rPr sz="1500" b="1">
                <a:solidFill>
                  <a:srgbClr val="587080"/>
                </a:solidFill>
              </a:rPr>
              <a:t>Jul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9891A8-59F3-448B-8BAF-9F3A0965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750" y="1600200"/>
            <a:ext cx="279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87080"/>
                </a:solidFill>
              </a:defRPr>
            </a:pPr>
            <a:r>
              <a:rPr sz="1500" b="1">
                <a:solidFill>
                  <a:srgbClr val="587080"/>
                </a:solidFill>
              </a:rPr>
              <a:t>Aug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B4C8B9-85C7-4530-9B7F-054168FB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8750" y="1600200"/>
            <a:ext cx="279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87080"/>
                </a:solidFill>
              </a:defRPr>
            </a:pPr>
            <a:r>
              <a:rPr sz="1500" b="1">
                <a:solidFill>
                  <a:srgbClr val="587080"/>
                </a:solidFill>
              </a:rPr>
              <a:t>Sep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8C0970-E95E-4E31-8FB7-A506D0AB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12B"/>
                </a:solidFill>
              </a:defRPr>
            </a:pPr>
            <a:r>
              <a:rPr sz="1350" b="1">
                <a:solidFill>
                  <a:srgbClr val="10212B"/>
                </a:solidFill>
              </a:rPr>
              <a:t>Discovery closure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812C76-2737-488F-A395-2898E98D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00250"/>
            <a:ext cx="2514600" cy="409575"/>
          </a:xfrm>
          <a:prstGeom xmlns:a="http://schemas.openxmlformats.org/drawingml/2006/main" prst="roundRect">
            <a:avLst>
              <a:gd name="adj" fmla="val 37209"/>
            </a:avLst>
          </a:prstGeom>
          <a:solidFill xmlns:a="http://schemas.openxmlformats.org/drawingml/2006/main">
            <a:srgbClr val="50C7B3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419B5A-BA98-4D5C-9BEC-F17ABF2D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000250"/>
            <a:ext cx="2324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12B"/>
                </a:solidFill>
              </a:defRPr>
            </a:pPr>
            <a:r>
              <a:rPr sz="1125" b="1">
                <a:solidFill>
                  <a:srgbClr val="10212B"/>
                </a:solidFill>
              </a:rPr>
              <a:t>PM / Research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FF81F3-DAC4-46AF-9B9F-226C9A54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12B"/>
                </a:solidFill>
              </a:defRPr>
            </a:pPr>
            <a:r>
              <a:rPr sz="1350" b="1">
                <a:solidFill>
                  <a:srgbClr val="10212B"/>
                </a:solidFill>
              </a:rPr>
              <a:t>Enablement + pilot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4F9C78-AABE-4944-9308-167AB840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05125"/>
            <a:ext cx="2849880" cy="409575"/>
          </a:xfrm>
          <a:prstGeom xmlns:a="http://schemas.openxmlformats.org/drawingml/2006/main" prst="roundRect">
            <a:avLst>
              <a:gd name="adj" fmla="val 37209"/>
            </a:avLst>
          </a:prstGeom>
          <a:solidFill xmlns:a="http://schemas.openxmlformats.org/drawingml/2006/main">
            <a:srgbClr val="F2C66D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F58812-DD71-4699-A05A-BE911E2D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905125"/>
            <a:ext cx="265938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12B"/>
                </a:solidFill>
              </a:defRPr>
            </a:pPr>
            <a:r>
              <a:rPr sz="1125" b="1">
                <a:solidFill>
                  <a:srgbClr val="10212B"/>
                </a:solidFill>
              </a:rPr>
              <a:t>Enablement Lead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03B562-3CED-473D-B1B4-C4C9357E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12B"/>
                </a:solidFill>
              </a:defRPr>
            </a:pPr>
            <a:r>
              <a:rPr sz="1350" b="1">
                <a:solidFill>
                  <a:srgbClr val="10212B"/>
                </a:solidFill>
              </a:rPr>
              <a:t>Guided rollout + M-27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686B4F-ED40-4A40-86AE-1803E561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230" y="3810000"/>
            <a:ext cx="3017520" cy="409575"/>
          </a:xfrm>
          <a:prstGeom xmlns:a="http://schemas.openxmlformats.org/drawingml/2006/main" prst="roundRect">
            <a:avLst>
              <a:gd name="adj" fmla="val 37209"/>
            </a:avLst>
          </a:prstGeom>
          <a:solidFill xmlns:a="http://schemas.openxmlformats.org/drawingml/2006/main">
            <a:srgbClr val="F57E6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BF2E39-07B5-447E-B245-CFFA56F8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9530" y="3810000"/>
            <a:ext cx="282702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12B"/>
                </a:solidFill>
              </a:defRPr>
            </a:pPr>
            <a:r>
              <a:rPr sz="1125" b="1">
                <a:solidFill>
                  <a:srgbClr val="10212B"/>
                </a:solidFill>
              </a:rPr>
              <a:t>Launch Lead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E438DA-1E59-4A06-B0F5-2F1D35C4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12B"/>
                </a:solidFill>
              </a:defRPr>
            </a:pPr>
            <a:r>
              <a:rPr sz="1725" b="1">
                <a:solidFill>
                  <a:srgbClr val="10212B"/>
                </a:solidFill>
              </a:rPr>
              <a:t>Decision gate · M-27 guided rollout · 18 Sep 2026</a:t>
            </a:r>
          </a:p>
        </p:txBody>
      </p:sp>
    </p:spTree>
    <p:extLst>
      <p:ext uri="{BB962C8B-B14F-4D97-AF65-F5344CB8AC3E}">
        <p14:creationId xmlns:p14="http://schemas.microsoft.com/office/powerpoint/2010/main" val="1820281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2026-08-23T15:03:53.6200000Z</dcterms:created>
  <dcterms:modified xsi:type="dcterms:W3CDTF">2026-08-23T15:03:53.6200000Z</dcterms:modified>
</coreProperties>
</file>