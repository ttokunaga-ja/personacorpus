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d2d24e243f4ee0" /><Relationship Type="http://schemas.openxmlformats.org/officeDocument/2006/relationships/extended-properties" Target="/docProps/app.xml" Id="Rfddd385cf8fe4a62" /><Relationship Type="http://schemas.openxmlformats.org/officeDocument/2006/relationships/officeDocument" Target="/ppt/presentation.xml" Id="Rf3bb753c2bfd4c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38ec2ace5543f3"/>
  </p:sldMasterIdLst>
  <p:notesMasterIdLst>
    <p:notesMasterId xmlns:r="http://schemas.openxmlformats.org/officeDocument/2006/relationships" r:id="R72f54ae3eb1f4203"/>
  </p:notesMasterIdLst>
  <p:sldIdLst>
    <p:sldId xmlns:r="http://schemas.openxmlformats.org/officeDocument/2006/relationships" id="256" r:id="Rb9cc7f41c8ae47f6"/>
    <p:sldId xmlns:r="http://schemas.openxmlformats.org/officeDocument/2006/relationships" id="257" r:id="R69712fd4bfdf435e"/>
    <p:sldId xmlns:r="http://schemas.openxmlformats.org/officeDocument/2006/relationships" id="258" r:id="R5076c8687bc745ec"/>
    <p:sldId xmlns:r="http://schemas.openxmlformats.org/officeDocument/2006/relationships" id="259" r:id="R0c6f77a301c64e83"/>
    <p:sldId xmlns:r="http://schemas.openxmlformats.org/officeDocument/2006/relationships" id="260" r:id="R5372ea6363fc4f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305d6ad3ba4f38" /><Relationship Type="http://schemas.openxmlformats.org/officeDocument/2006/relationships/slideMaster" Target="/ppt/slideMasters/slideMaster1.xml" Id="Rb838ec2ace5543f3" /><Relationship Type="http://schemas.openxmlformats.org/officeDocument/2006/relationships/notesMaster" Target="/ppt/notesMasters/notesMaster1.xml" Id="R72f54ae3eb1f4203" /><Relationship Type="http://schemas.openxmlformats.org/officeDocument/2006/relationships/presProps" Target="/ppt/presProps.xml" Id="R3a0815f7dc844c75" /><Relationship Type="http://schemas.openxmlformats.org/officeDocument/2006/relationships/tableStyles" Target="/ppt/tableStyles.xml" Id="R19f96cfc9a064251" /><Relationship Type="http://schemas.openxmlformats.org/officeDocument/2006/relationships/slide" Target="/ppt/slides/slide1.xml" Id="Rb9cc7f41c8ae47f6" /><Relationship Type="http://schemas.openxmlformats.org/officeDocument/2006/relationships/slide" Target="/ppt/slides/slide2.xml" Id="R69712fd4bfdf435e" /><Relationship Type="http://schemas.openxmlformats.org/officeDocument/2006/relationships/slide" Target="/ppt/slides/slide3.xml" Id="R5076c8687bc745ec" /><Relationship Type="http://schemas.openxmlformats.org/officeDocument/2006/relationships/slide" Target="/ppt/slides/slide4.xml" Id="R0c6f77a301c64e83" /><Relationship Type="http://schemas.openxmlformats.org/officeDocument/2006/relationships/slide" Target="/ppt/slides/slide5.xml" Id="R5372ea6363fc4f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2e5abc09c644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6b013c8899441d" /><Relationship Type="http://schemas.openxmlformats.org/officeDocument/2006/relationships/notesMaster" Target="/ppt/notesMasters/notesMaster1.xml" Id="R9a56f6d1a3f844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297b9a6ef543d9" /><Relationship Type="http://schemas.openxmlformats.org/officeDocument/2006/relationships/notesMaster" Target="/ppt/notesMasters/notesMaster1.xml" Id="R592899bdf15149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8dffb207f04897" /><Relationship Type="http://schemas.openxmlformats.org/officeDocument/2006/relationships/notesMaster" Target="/ppt/notesMasters/notesMaster1.xml" Id="R7d65c17e46dc4d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c211f1ff874b2e" /><Relationship Type="http://schemas.openxmlformats.org/officeDocument/2006/relationships/notesMaster" Target="/ppt/notesMasters/notesMaster1.xml" Id="R47a7571c485c47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2a45b8b93a4cd5" /><Relationship Type="http://schemas.openxmlformats.org/officeDocument/2006/relationships/notesMaster" Target="/ppt/notesMasters/notesMaster1.xml" Id="R6cef8e2b130e44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proposed takeaway. Confirm the audience and decision expected.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bracketed prompts with audience-ready content. Keep the decision statement specific enough to approve or redirect.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chart as an editable example. Replace categories, units, and values with validated client data; cite evidence in these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native editable table to make work, gates, and ownership visible. Replace the illustrative sequence to suit the engagement.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concise decision, owner, and checkpoint. The client example is synthetic and should be replaced.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05d617b2e24b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2f1fc1708b4681" /><Relationship Type="http://schemas.openxmlformats.org/officeDocument/2006/relationships/slideLayout" Target="/ppt/slideLayouts/slideLayout1.xml" Id="R92d92e6580b744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d92e6580b744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11b20f7d2491b" /><Relationship Type="http://schemas.openxmlformats.org/officeDocument/2006/relationships/notesSlide" Target="/ppt/notesSlides/notesSlide1.xml" Id="Rada183b808fd42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095c13dc345f5" /><Relationship Type="http://schemas.openxmlformats.org/officeDocument/2006/relationships/notesSlide" Target="/ppt/notesSlides/notesSlide2.xml" Id="Ra066951c2fc04a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f3a0c5dd6434e" /><Relationship Type="http://schemas.openxmlformats.org/officeDocument/2006/relationships/chart" Target="/ppt/slides/charts/chart1.xml" Id="R0f97f61644fc48f0" /><Relationship Type="http://schemas.openxmlformats.org/officeDocument/2006/relationships/notesSlide" Target="/ppt/notesSlides/notesSlide3.xml" Id="Rc199177c022a43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8a51fce414d23" /><Relationship Type="http://schemas.openxmlformats.org/officeDocument/2006/relationships/notesSlide" Target="/ppt/notesSlides/notesSlide4.xml" Id="Rdd8f0fd601b043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c61b85684424d" /><Relationship Type="http://schemas.openxmlformats.org/officeDocument/2006/relationships/notesSlide" Target="/ppt/notesSlides/notesSlide5.xml" Id="R488368313a2e47e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Illustrative value (¥M)</c:v>
          </c:tx>
          <c:spPr>
            <a:solidFill xmlns:a="http://schemas.openxmlformats.org/drawingml/2006/main">
              <a:srgbClr val="63BCEB"/>
            </a:solidFill>
          </c:spPr>
          <c:cat>
            <c:strLit>
              <c:ptCount val="4"/>
              <c:pt idx="0">
                <c:v>Baseline</c:v>
              </c:pt>
              <c:pt idx="1">
                <c:v>Option A</c:v>
              </c:pt>
              <c:pt idx="2">
                <c:v>Option B</c:v>
              </c:pt>
              <c:pt idx="3">
                <c:v>Target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8.6</c:v>
              </c:pt>
              <c:pt idx="2">
                <c:v>19.4</c:v>
              </c:pt>
              <c:pt idx="3">
                <c:v>42.8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7D6E4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F037C-D15B-468B-BCF3-8E5B54BF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2999F-EC4E-4AE3-8DEA-5E8469E5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A3103-3C91-49AE-90AF-0FC936D3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E4356-B269-4ED3-9DA2-553CE998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B5671-B8C2-442C-9EC9-4090FE82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914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67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Sequencing the work protects value while building execution capacity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FF3A0-3E35-4E4E-B12F-98D30CA1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Reusable example template | Replace bracketed prompts and illustrative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A3AB6-AE68-460B-8A11-D30C1AC7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CE033-4C55-4B78-AD57-B95ABDA9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Client Alpha | Phase 1 | Finance | 13 Jul 2026 | ¥42.8M example—replace before use</a:t>
            </a:r>
          </a:p>
        </p:txBody>
      </p:sp>
    </p:spTree>
    <p:extLst>
      <p:ext uri="{BB962C8B-B14F-4D97-AF65-F5344CB8AC3E}">
        <p14:creationId xmlns:p14="http://schemas.microsoft.com/office/powerpoint/2010/main" val="6199536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557C65-BF17-4C56-842D-25331BFE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FA6F4-98B0-4E42-95DB-7DF03752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D4042-8A0A-4C14-BDAB-A51A553C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6BE13-4990-44E5-BDA6-2FAB5DB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09A74-F730-4EB4-BC6F-225D0049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Frame the decision before reviewing the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C07A7-847D-4303-8F98-1051717B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Use this page to align the question, boundaries, and success measures.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BAD7A-9540-42A2-AB58-BD16ECE4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Decision needed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A66F9-33AF-4246-B7BF-4821FA07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[Decision statement]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42839-AE5A-4FD0-A75D-044A44C7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8D3E4-C326-4673-AC8C-4B4EBDC2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Why 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89C4E-FCDC-485C-878C-6BDF442E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[Business context / trigger]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31767-A819-4677-9658-475D16EA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1DE69-DE62-4BA7-A1CF-57046404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DF90A-1DAF-463A-B1E9-E12DD037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[Recommended direction]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E4180-2769-4867-8E0E-3210F9AB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DEE4B-052E-4C3D-B76E-C4340041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Owner &amp; 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73BDB0-CDF4-417B-8A64-167E6CE1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[Named owner] | [Date]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4861B8-4703-4D2D-8904-56F9B850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2AE868-5BA9-463E-AAB0-B91B6C57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42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Client Alpha | Phase 1 | Finance | 13 Jul 2026 | ¥42.8M example—replace before use</a:t>
            </a:r>
          </a:p>
        </p:txBody>
      </p:sp>
    </p:spTree>
    <p:extLst>
      <p:ext uri="{BB962C8B-B14F-4D97-AF65-F5344CB8AC3E}">
        <p14:creationId xmlns:p14="http://schemas.microsoft.com/office/powerpoint/2010/main" val="16010528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35436-CDE1-4344-9325-0AC866B5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E07F5-7B1A-487C-9CE9-B5E2EE62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71F1A-2776-4BE4-98D3-16FAB05E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F5A65-7CBB-49C5-8FEB-BE75D5AA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AFF77-6D0D-48D8-B982-6D0E2C95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9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Roadmap and dependencies should lead to a practical conclusion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6381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97f61644fc48f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C2695-2FC2-47FF-BC7C-F08AED80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81200"/>
            <a:ext cx="41719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F5289-A82B-4873-84E6-A2E88798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05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9AC49-22DD-470A-B7DE-A65E1B80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1940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• The example target is ¥42.8M.</a:t>
            </a:r>
          </a:p>
          <a:p xmlns:a="http://schemas.openxmlformats.org/drawingml/2006/main">
            <a:pPr algn="l">
              <a:defRPr sz="135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• Test key assumptions before committing.</a:t>
            </a:r>
          </a:p>
          <a:p xmlns:a="http://schemas.openxmlformats.org/drawingml/2006/main">
            <a:pPr algn="l">
              <a:defRPr sz="135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• Show only the evidence needed for the decision.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A9041-6EB9-4250-A388-06D7493F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57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Illustrative data only—replace before use.</a:t>
            </a:r>
          </a:p>
        </p:txBody>
      </p:sp>
    </p:spTree>
    <p:extLst>
      <p:ext uri="{BB962C8B-B14F-4D97-AF65-F5344CB8AC3E}">
        <p14:creationId xmlns:p14="http://schemas.microsoft.com/office/powerpoint/2010/main" val="3304859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AC2ED-F42E-488B-94BA-4A0583D1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A362A-8FC8-4EE1-94BD-DC7ECB5C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D1069-77B4-4DED-944A-40B01750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3CEA8-9941-4071-9014-7F9F85D1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61C1B-CB39-4C74-AF33-2BE68FB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Make the path to action explicit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2190750"/>
          <a:ext xmlns:a="http://schemas.openxmlformats.org/drawingml/2006/main" cx="1112520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81300"/>
                <a:gridCol w="2781300"/>
                <a:gridCol w="2781300"/>
                <a:gridCol w="2781300"/>
              </a:tblGrid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Workstream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Illustrative output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Decision gate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Diagnose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Validated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Scope confirmed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Design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Prioritized initiatives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Investment approved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Mobilize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90-day plan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Launch agreed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Track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Benefits dashboard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Course correction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1DF36-C00F-49DA-8219-E61265D2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816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Example context: Client Alpha Phase 1 | Finance | ¥42.8M total opportunity—replace before use.</a:t>
            </a:r>
          </a:p>
        </p:txBody>
      </p:sp>
    </p:spTree>
    <p:extLst>
      <p:ext uri="{BB962C8B-B14F-4D97-AF65-F5344CB8AC3E}">
        <p14:creationId xmlns:p14="http://schemas.microsoft.com/office/powerpoint/2010/main" val="13830556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9791AF-F7F6-4C45-AD5B-13674F1F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57C98-9BD1-4884-B840-C6EC519E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3FA7B-E1EF-47F3-B5BE-BAF4C542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17412-4B5B-4CBE-910B-BBB68DB9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9795C-6F3A-46CD-B45D-2F7F6C5D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Prioritize the critical path and decision gates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09D30-62A6-459B-A474-1521D9B9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B8B8B-21E4-43F7-AEFD-F86508E3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BC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BCE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36AA9-5AC7-4582-9179-EC7BF755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[Decision or approval]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79D5D-6D46-4E41-883E-4F9AF8B0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What must be resolved 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5A69D-2DF7-4CB8-86E2-5A984671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328C2-FD66-435C-8AA8-C7624B33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BC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BCE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E109F-3D7D-477F-9642-DAF3CB03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8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[Named owner]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0EE64-6BF1-4CC0-8833-2A508D2D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81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Who will move the work forward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AE7D7-A6B6-455D-8120-31F8C2DD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479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CA8C4E-26AF-4F1B-B4A1-FAED0E83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BC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BCE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AA811-ECA4-4758-A57F-D6C539B6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8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[Next checkpoint]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4F036-FFD8-49AB-AE21-A03585C3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81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When progress returns for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AE517-53A4-4F60-9AB7-7F95FCB7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Template reference: Client Alpha Phase 1 / Finance / 2026-07-13 / budget ¥42.8M (synthetic).</a:t>
            </a:r>
          </a:p>
        </p:txBody>
      </p:sp>
    </p:spTree>
    <p:extLst>
      <p:ext uri="{BB962C8B-B14F-4D97-AF65-F5344CB8AC3E}">
        <p14:creationId xmlns:p14="http://schemas.microsoft.com/office/powerpoint/2010/main" val="37935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2026-08-23T15:08:10.9700000Z</dcterms:created>
  <dcterms:modified xsi:type="dcterms:W3CDTF">2026-08-23T15:08:10.9700000Z</dcterms:modified>
</coreProperties>
</file>