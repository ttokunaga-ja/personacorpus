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385501199a495a" /><Relationship Type="http://schemas.openxmlformats.org/officeDocument/2006/relationships/extended-properties" Target="/docProps/app.xml" Id="Rd59acac5bd57435a" /><Relationship Type="http://schemas.openxmlformats.org/officeDocument/2006/relationships/officeDocument" Target="/ppt/presentation.xml" Id="Rb1f5848868704d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99b84996344f25"/>
  </p:sldMasterIdLst>
  <p:notesMasterIdLst>
    <p:notesMasterId xmlns:r="http://schemas.openxmlformats.org/officeDocument/2006/relationships" r:id="Rcc21150dbbe24ff7"/>
  </p:notesMasterIdLst>
  <p:sldIdLst>
    <p:sldId xmlns:r="http://schemas.openxmlformats.org/officeDocument/2006/relationships" id="256" r:id="Rf4e9ce368d0a4fbf"/>
    <p:sldId xmlns:r="http://schemas.openxmlformats.org/officeDocument/2006/relationships" id="257" r:id="R1d80b8563a664297"/>
    <p:sldId xmlns:r="http://schemas.openxmlformats.org/officeDocument/2006/relationships" id="258" r:id="Rd32637ef3dad465c"/>
    <p:sldId xmlns:r="http://schemas.openxmlformats.org/officeDocument/2006/relationships" id="259" r:id="R6ddf6dc79568488d"/>
    <p:sldId xmlns:r="http://schemas.openxmlformats.org/officeDocument/2006/relationships" id="260" r:id="Rf8a15543194b46a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a2ad46a054467b" /><Relationship Type="http://schemas.openxmlformats.org/officeDocument/2006/relationships/slideMaster" Target="/ppt/slideMasters/slideMaster1.xml" Id="Rc399b84996344f25" /><Relationship Type="http://schemas.openxmlformats.org/officeDocument/2006/relationships/notesMaster" Target="/ppt/notesMasters/notesMaster1.xml" Id="Rcc21150dbbe24ff7" /><Relationship Type="http://schemas.openxmlformats.org/officeDocument/2006/relationships/presProps" Target="/ppt/presProps.xml" Id="R804a079119c54a74" /><Relationship Type="http://schemas.openxmlformats.org/officeDocument/2006/relationships/tableStyles" Target="/ppt/tableStyles.xml" Id="R23dfdd1ed547477e" /><Relationship Type="http://schemas.openxmlformats.org/officeDocument/2006/relationships/slide" Target="/ppt/slides/slide1.xml" Id="Rf4e9ce368d0a4fbf" /><Relationship Type="http://schemas.openxmlformats.org/officeDocument/2006/relationships/slide" Target="/ppt/slides/slide2.xml" Id="R1d80b8563a664297" /><Relationship Type="http://schemas.openxmlformats.org/officeDocument/2006/relationships/slide" Target="/ppt/slides/slide3.xml" Id="Rd32637ef3dad465c" /><Relationship Type="http://schemas.openxmlformats.org/officeDocument/2006/relationships/slide" Target="/ppt/slides/slide4.xml" Id="R6ddf6dc79568488d" /><Relationship Type="http://schemas.openxmlformats.org/officeDocument/2006/relationships/slide" Target="/ppt/slides/slide5.xml" Id="Rf8a15543194b46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2152b2efbb144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d002dd484c4c11" /><Relationship Type="http://schemas.openxmlformats.org/officeDocument/2006/relationships/notesMaster" Target="/ppt/notesMasters/notesMaster1.xml" Id="R79339192e81947b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39aa25fc714c41" /><Relationship Type="http://schemas.openxmlformats.org/officeDocument/2006/relationships/notesMaster" Target="/ppt/notesMasters/notesMaster1.xml" Id="R734a95a0546640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88437fc679146ec" /><Relationship Type="http://schemas.openxmlformats.org/officeDocument/2006/relationships/notesMaster" Target="/ppt/notesMasters/notesMaster1.xml" Id="Ra1e4a4cef4d740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31743ba2ab64a5a" /><Relationship Type="http://schemas.openxmlformats.org/officeDocument/2006/relationships/notesMaster" Target="/ppt/notesMasters/notesMaster1.xml" Id="R1d5d20cba98f4c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9bda88df9694c69" /><Relationship Type="http://schemas.openxmlformats.org/officeDocument/2006/relationships/notesMaster" Target="/ppt/notesMasters/notesMaster1.xml" Id="R75b0d1d6b71044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proposed takeaway. Confirm the audience and decision expected.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 Template/synthetic internal content. Client Alpha Phase 1 / Finance / 2026-07-13 / ¥42.8M is illustrative; replace example data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Replace bracketed prompts with audience-ready content. Keep the decision statement specific enough to approve or redirect.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 Template/synthetic internal content. Client Alpha Phase 1 / Finance / 2026-07-13 / ¥42.8M is illustrative; replace example data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chart as an editable example. Replace categories, units, and values with validated client data; cite evidence in these notes.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 Template/synthetic internal content. Client Alpha Phase 1 / Finance / 2026-07-13 / ¥42.8M is illustrative; replace example data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native editable table to make work, gates, and ownership visible. Replace the illustrative sequence to suit the engagement.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 Template/synthetic internal content. Client Alpha Phase 1 / Finance / 2026-07-13 / ¥42.8M is illustrative; replace example data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a concise decision, owner, and checkpoint. The client example is synthetic and should be replaced.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 Template/synthetic internal content. Client Alpha Phase 1 / Finance / 2026-07-13 / ¥42.8M is illustrative; replace example data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9eb04fcf0a48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f8c646c13d44cf" /><Relationship Type="http://schemas.openxmlformats.org/officeDocument/2006/relationships/slideLayout" Target="/ppt/slideLayouts/slideLayout1.xml" Id="R20bb112defeb476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bb112defeb476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00f8b4dc4a4ae4" /><Relationship Type="http://schemas.openxmlformats.org/officeDocument/2006/relationships/notesSlide" Target="/ppt/notesSlides/notesSlide1.xml" Id="R368484bdd70046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35f082188346d1" /><Relationship Type="http://schemas.openxmlformats.org/officeDocument/2006/relationships/notesSlide" Target="/ppt/notesSlides/notesSlide2.xml" Id="Rd3660c65ec944b3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01ad09b6414286" /><Relationship Type="http://schemas.openxmlformats.org/officeDocument/2006/relationships/chart" Target="/ppt/slides/charts/chart1.xml" Id="Rb115b9ed5296408e" /><Relationship Type="http://schemas.openxmlformats.org/officeDocument/2006/relationships/notesSlide" Target="/ppt/notesSlides/notesSlide3.xml" Id="R035526c7b4da41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caab5be74b444b" /><Relationship Type="http://schemas.openxmlformats.org/officeDocument/2006/relationships/notesSlide" Target="/ppt/notesSlides/notesSlide4.xml" Id="R0626b95ec1e544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4c6b114cd245be" /><Relationship Type="http://schemas.openxmlformats.org/officeDocument/2006/relationships/notesSlide" Target="/ppt/notesSlides/notesSlide5.xml" Id="R4927acdbcc7942e0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Illustrative value (¥M)</c:v>
          </c:tx>
          <c:spPr>
            <a:solidFill xmlns:a="http://schemas.openxmlformats.org/drawingml/2006/main">
              <a:srgbClr val="63BCEB"/>
            </a:solidFill>
          </c:spPr>
          <c:cat>
            <c:strLit>
              <c:ptCount val="4"/>
              <c:pt idx="0">
                <c:v>Baseline</c:v>
              </c:pt>
              <c:pt idx="1">
                <c:v>Option A</c:v>
              </c:pt>
              <c:pt idx="2">
                <c:v>Option B</c:v>
              </c:pt>
              <c:pt idx="3">
                <c:v>Target</c:v>
              </c:pt>
            </c:strLit>
          </c:cat>
          <c:val>
            <c:numLit>
              <c:formatCode>0</c:formatCode>
              <c:ptCount val="4"/>
              <c:pt idx="0">
                <c:v>0</c:v>
              </c:pt>
              <c:pt idx="1">
                <c:v>8.6</c:v>
              </c:pt>
              <c:pt idx="2">
                <c:v>19.4</c:v>
              </c:pt>
              <c:pt idx="3">
                <c:v>42.8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7D6E4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465D89-F11E-4DEC-AADD-1E99AE3C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FCA2AE-FD7D-43DB-A16C-A8FBBD05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D82018-96BE-4DB0-AF4C-EB036AE51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48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B7D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928468-C790-490A-99BA-8F61449E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F5BE03-63AD-4DE1-99E4-14DA8891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9144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67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The analysis supports a clear choice when assumptions are explicit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63F534-A661-494C-9FEF-FB08C091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8130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Reusable example template | Replace bracketed prompts and illustrative 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15FBEC-5D4A-4F05-BAF3-41B511A1D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33800"/>
            <a:ext cx="3429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B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804619-4DA3-47E6-93F6-BCD9B94E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Client Alpha | Phase 1 | Finance | 13 Jul 2026 | ¥42.8M example—replace before use</a:t>
            </a:r>
          </a:p>
        </p:txBody>
      </p:sp>
    </p:spTree>
    <p:extLst>
      <p:ext uri="{BB962C8B-B14F-4D97-AF65-F5344CB8AC3E}">
        <p14:creationId xmlns:p14="http://schemas.microsoft.com/office/powerpoint/2010/main" val="81832935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7FF442-9A6F-4F62-BC5B-7A6BD78C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DC45E6-4F41-49E8-87CB-D2967494C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C0EA23-2E93-4904-9E90-5DB9DF93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48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B7D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7651F9-7EA8-4FEB-A081-1C32C470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0C2C98-D4DA-4BD9-A0A9-D1CD170B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Frame the decision before reviewing the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FE1689-9EC4-4C9C-9B10-B8F066E4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Use this page to align the question, boundaries, and success measures.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4F1E9C-3681-4360-AC6A-699E2BB8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Decision needed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8B24DC-4BBA-40EC-8991-3FF0B11D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955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2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23A"/>
                </a:solidFill>
                <a:latin typeface="Arial"/>
                <a:ea typeface="Arial"/>
                <a:cs typeface="Arial"/>
              </a:rPr>
              <a:t>[Decision statement]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7C3A31-A471-4C09-8B41-61747A59B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05075"/>
            <a:ext cx="948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6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7FDE27-AB20-4ADD-BF85-148CA878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Why now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E43B19-9414-475D-935C-6ED70B93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718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2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23A"/>
                </a:solidFill>
                <a:latin typeface="Arial"/>
                <a:ea typeface="Arial"/>
                <a:cs typeface="Arial"/>
              </a:rPr>
              <a:t>[Business context / trigger]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5718F2-867C-437D-B9A1-B91732A5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948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6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E5361F-D7D8-4128-B324-A6E98AB7C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Recommendation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840684-8B85-4716-A4C7-BC932CAB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481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2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23A"/>
                </a:solidFill>
                <a:latin typeface="Arial"/>
                <a:ea typeface="Arial"/>
                <a:cs typeface="Arial"/>
              </a:rPr>
              <a:t>[Recommended direction]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496CFD-8585-4E8A-AAEC-6C798115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948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6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C9ADF8-E9A5-4A0F-ABD4-849CC8D3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Owner &amp; date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398830-A611-4B96-8FE2-AD17776F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244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2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23A"/>
                </a:solidFill>
                <a:latin typeface="Arial"/>
                <a:ea typeface="Arial"/>
                <a:cs typeface="Arial"/>
              </a:rPr>
              <a:t>[Named owner] | [Date]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502213-C8BB-4DC7-968C-BF79B1BF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3975"/>
            <a:ext cx="948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6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7582C2-A058-448E-A7CC-D4013D0C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942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Client Alpha | Phase 1 | Finance | 13 Jul 2026 | ¥42.8M example—replace before use</a:t>
            </a:r>
          </a:p>
        </p:txBody>
      </p:sp>
    </p:spTree>
    <p:extLst>
      <p:ext uri="{BB962C8B-B14F-4D97-AF65-F5344CB8AC3E}">
        <p14:creationId xmlns:p14="http://schemas.microsoft.com/office/powerpoint/2010/main" val="40015772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DCF1C3-E6DF-495D-B4D8-E1FF6CB4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CE5C98-E21E-4F42-8462-8B4E0402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A62955-4F2F-4627-885C-96166DC47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48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B7D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BC8407-8B81-4BB2-9A1F-453BB4C71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849586-9E74-4295-B08E-209F27C5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Findings and sensitivity should lead to a practical conclusion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533400" y="1981200"/>
          <a:ext xmlns:a="http://schemas.openxmlformats.org/drawingml/2006/main" cx="63817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115b9ed5296408e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4B6F26-EC46-4F79-A14F-0ADB998F7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981200"/>
            <a:ext cx="41719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470ED0-2941-43ED-9719-5F415A1BB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3050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093977-1D88-4BD0-8558-1060DD6A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819400"/>
            <a:ext cx="333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2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23A"/>
                </a:solidFill>
                <a:latin typeface="Arial"/>
                <a:ea typeface="Arial"/>
                <a:cs typeface="Arial"/>
              </a:rPr>
              <a:t>• The example target is ¥42.8M.</a:t>
            </a:r>
          </a:p>
          <a:p xmlns:a="http://schemas.openxmlformats.org/drawingml/2006/main">
            <a:pPr algn="l">
              <a:defRPr sz="1350" b="0">
                <a:solidFill>
                  <a:srgbClr val="1022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23A"/>
                </a:solidFill>
                <a:latin typeface="Arial"/>
                <a:ea typeface="Arial"/>
                <a:cs typeface="Arial"/>
              </a:rPr>
              <a:t>• Test key assumptions before committing.</a:t>
            </a:r>
          </a:p>
          <a:p xmlns:a="http://schemas.openxmlformats.org/drawingml/2006/main">
            <a:pPr algn="l">
              <a:defRPr sz="1350" b="0">
                <a:solidFill>
                  <a:srgbClr val="1022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23A"/>
                </a:solidFill>
                <a:latin typeface="Arial"/>
                <a:ea typeface="Arial"/>
                <a:cs typeface="Arial"/>
              </a:rPr>
              <a:t>• Show only the evidence needed for the decision.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54107C-3275-406F-8307-C93CE9B6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8577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Illustrative data only—replace before use.</a:t>
            </a:r>
          </a:p>
        </p:txBody>
      </p:sp>
    </p:spTree>
    <p:extLst>
      <p:ext uri="{BB962C8B-B14F-4D97-AF65-F5344CB8AC3E}">
        <p14:creationId xmlns:p14="http://schemas.microsoft.com/office/powerpoint/2010/main" val="180233743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4FBA5F-DD60-4026-B619-F6732BCC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2CBBBF-9981-4122-9E9A-659D510E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121E6C-404E-4B58-80D3-F9BD64875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48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B7D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8D9EE6-ED5A-4228-9624-0BEB88770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213BE0-025A-4910-A784-4FC68DF9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Make the path to action explicit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33400" y="2190750"/>
          <a:ext xmlns:a="http://schemas.openxmlformats.org/drawingml/2006/main" cx="11125200" cy="2476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781300"/>
                <a:gridCol w="2781300"/>
                <a:gridCol w="2781300"/>
                <a:gridCol w="2781300"/>
              </a:tblGrid>
              <a:tr h="4953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Workstream</a:t>
                      </a:r>
                    </a:p>
                  </a:txBody>
                  <a:tcPr marL="91440" marR="91440" marT="45720" marB="45720">
                    <a:solidFill>
                      <a:srgbClr val="082B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Illustrative output</a:t>
                      </a:r>
                    </a:p>
                  </a:txBody>
                  <a:tcPr marL="91440" marR="91440" marT="45720" marB="45720">
                    <a:solidFill>
                      <a:srgbClr val="082B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Decision gate</a:t>
                      </a:r>
                    </a:p>
                  </a:txBody>
                  <a:tcPr marL="91440" marR="91440" marT="45720" marB="45720">
                    <a:solidFill>
                      <a:srgbClr val="082B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 marL="91440" marR="91440" marT="45720" marB="45720">
                    <a:solidFill>
                      <a:srgbClr val="082B59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Diagnose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Validated baseline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Scope confirmed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[Owner]</a:t>
                      </a:r>
                    </a:p>
                  </a:txBody>
                  <a:tcPr marL="91440" marR="91440" marT="45720" marB="45720"/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Design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Prioritized initiatives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Investment approved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[Owner]</a:t>
                      </a:r>
                    </a:p>
                  </a:txBody>
                  <a:tcPr marL="91440" marR="91440" marT="45720" marB="45720"/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Mobilize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90-day plan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Launch agreed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[Owner]</a:t>
                      </a:r>
                    </a:p>
                  </a:txBody>
                  <a:tcPr marL="91440" marR="91440" marT="45720" marB="45720"/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Track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Benefits dashboard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Course correction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[Owner]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A5E71B-E10F-48E4-B7FB-C3EAEC73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8160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Example context: Client Alpha Phase 1 | Finance | ¥42.8M total opportunity—replace before use.</a:t>
            </a:r>
          </a:p>
        </p:txBody>
      </p:sp>
    </p:spTree>
    <p:extLst>
      <p:ext uri="{BB962C8B-B14F-4D97-AF65-F5344CB8AC3E}">
        <p14:creationId xmlns:p14="http://schemas.microsoft.com/office/powerpoint/2010/main" val="43772922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5D59AA-1CFE-40B1-BEE5-91C5D49D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44AA5A-0AFC-43AE-A1FF-ACB45D92F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C887BA-6CB3-473F-937B-D80523FF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48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B7D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D9E611-9E6A-4F49-BAD1-963772873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A71C2-F7FF-4C2D-8528-03EF20880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1000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Align on the implication—not just the numbers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2F7ED2-42EF-4C69-8F49-D542B57A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47900"/>
            <a:ext cx="3238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128CA9-E819-4D13-929A-5250CDC23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3BCE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3BCE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5EF879-79FD-4A6A-98A9-029591C98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[Decision or approval]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5C240-ED51-4622-9AD8-76419F45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814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2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23A"/>
                </a:solidFill>
                <a:latin typeface="Arial"/>
                <a:ea typeface="Arial"/>
                <a:cs typeface="Arial"/>
              </a:rPr>
              <a:t>What must be resolved now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63A135-DE5B-42E8-9DDF-83B4DAFA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47900"/>
            <a:ext cx="3238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4867F9-3C33-4CE7-AD17-CB6FC876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7650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3BCE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3BCE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68658B-CF1A-454E-90A6-9274F085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861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[Named owner]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E56B38-7DFA-4158-8CD8-30D620F2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814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2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23A"/>
                </a:solidFill>
                <a:latin typeface="Arial"/>
                <a:ea typeface="Arial"/>
                <a:cs typeface="Arial"/>
              </a:rPr>
              <a:t>Who will move the work forward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7FAED5-C6D6-4CBE-BFF4-9CAB1E1BB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47900"/>
            <a:ext cx="3238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20FEE1-A06A-4CAC-93C6-C6D3F46C3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7650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3BCE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3BCE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ACBF54-090F-409E-9013-98061823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861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[Next checkpoint]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5AA710-72F7-4533-9855-72E21592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814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2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23A"/>
                </a:solidFill>
                <a:latin typeface="Arial"/>
                <a:ea typeface="Arial"/>
                <a:cs typeface="Arial"/>
              </a:rPr>
              <a:t>When progress returns for 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310941-5B4C-4533-B735-8E98ADB1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Template reference: Client Alpha Phase 1 / Finance / 2026-07-13 / budget ¥42.8M (synthetic).</a:t>
            </a:r>
          </a:p>
        </p:txBody>
      </p:sp>
    </p:spTree>
    <p:extLst>
      <p:ext uri="{BB962C8B-B14F-4D97-AF65-F5344CB8AC3E}">
        <p14:creationId xmlns:p14="http://schemas.microsoft.com/office/powerpoint/2010/main" val="10137773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2026-08-23T15:08:08.8460000Z</dcterms:created>
  <dcterms:modified xsi:type="dcterms:W3CDTF">2026-08-23T15:08:08.8460000Z</dcterms:modified>
</coreProperties>
</file>