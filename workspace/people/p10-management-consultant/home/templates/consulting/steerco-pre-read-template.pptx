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b93aef33134beb" /><Relationship Type="http://schemas.openxmlformats.org/officeDocument/2006/relationships/extended-properties" Target="/docProps/app.xml" Id="R0ac6f48adcb1421f" /><Relationship Type="http://schemas.openxmlformats.org/officeDocument/2006/relationships/officeDocument" Target="/ppt/presentation.xml" Id="Rc3822cb2c1d3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5aecdd24e84b6b"/>
  </p:sldMasterIdLst>
  <p:notesMasterIdLst>
    <p:notesMasterId xmlns:r="http://schemas.openxmlformats.org/officeDocument/2006/relationships" r:id="R0c2579c93022427d"/>
  </p:notesMasterIdLst>
  <p:sldIdLst>
    <p:sldId xmlns:r="http://schemas.openxmlformats.org/officeDocument/2006/relationships" id="256" r:id="Re993ac5fc39e47c5"/>
    <p:sldId xmlns:r="http://schemas.openxmlformats.org/officeDocument/2006/relationships" id="257" r:id="R76796140cb4e49ec"/>
    <p:sldId xmlns:r="http://schemas.openxmlformats.org/officeDocument/2006/relationships" id="258" r:id="R47dde5751b934384"/>
    <p:sldId xmlns:r="http://schemas.openxmlformats.org/officeDocument/2006/relationships" id="259" r:id="R93121f1c2d0a44f9"/>
    <p:sldId xmlns:r="http://schemas.openxmlformats.org/officeDocument/2006/relationships" id="260" r:id="R74afbcadbe8441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c0b993b60c4d7f" /><Relationship Type="http://schemas.openxmlformats.org/officeDocument/2006/relationships/slideMaster" Target="/ppt/slideMasters/slideMaster1.xml" Id="R0b5aecdd24e84b6b" /><Relationship Type="http://schemas.openxmlformats.org/officeDocument/2006/relationships/notesMaster" Target="/ppt/notesMasters/notesMaster1.xml" Id="R0c2579c93022427d" /><Relationship Type="http://schemas.openxmlformats.org/officeDocument/2006/relationships/presProps" Target="/ppt/presProps.xml" Id="Rfeb6df85e3304fed" /><Relationship Type="http://schemas.openxmlformats.org/officeDocument/2006/relationships/tableStyles" Target="/ppt/tableStyles.xml" Id="Rb4cbf3479d4c4800" /><Relationship Type="http://schemas.openxmlformats.org/officeDocument/2006/relationships/slide" Target="/ppt/slides/slide1.xml" Id="Re993ac5fc39e47c5" /><Relationship Type="http://schemas.openxmlformats.org/officeDocument/2006/relationships/slide" Target="/ppt/slides/slide2.xml" Id="R76796140cb4e49ec" /><Relationship Type="http://schemas.openxmlformats.org/officeDocument/2006/relationships/slide" Target="/ppt/slides/slide3.xml" Id="R47dde5751b934384" /><Relationship Type="http://schemas.openxmlformats.org/officeDocument/2006/relationships/slide" Target="/ppt/slides/slide4.xml" Id="R93121f1c2d0a44f9" /><Relationship Type="http://schemas.openxmlformats.org/officeDocument/2006/relationships/slide" Target="/ppt/slides/slide5.xml" Id="R74afbcadbe8441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6c754ba7a740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3037c537d04dee" /><Relationship Type="http://schemas.openxmlformats.org/officeDocument/2006/relationships/notesMaster" Target="/ppt/notesMasters/notesMaster1.xml" Id="R5634f873aa3e40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97968fd72c4e78" /><Relationship Type="http://schemas.openxmlformats.org/officeDocument/2006/relationships/notesMaster" Target="/ppt/notesMasters/notesMaster1.xml" Id="R82487b974fc94a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a8d61964fb4ee1" /><Relationship Type="http://schemas.openxmlformats.org/officeDocument/2006/relationships/notesMaster" Target="/ppt/notesMasters/notesMaster1.xml" Id="Ra337c752a732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eda0cd079d4b5e" /><Relationship Type="http://schemas.openxmlformats.org/officeDocument/2006/relationships/notesMaster" Target="/ppt/notesMasters/notesMaster1.xml" Id="Raeca6dea181e45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b1b371d3c24749" /><Relationship Type="http://schemas.openxmlformats.org/officeDocument/2006/relationships/notesMaster" Target="/ppt/notesMasters/notesMaster1.xml" Id="Raf5bbb8aa6184f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proposed takeaway. Confirm the audience and decision expected.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bracketed prompts with audience-ready content. Keep the decision statement specific enough to approve or redirect.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as an editable example. Replace categories, units, and values with validated client data; cite evidence in these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native editable table to make work, gates, and ownership visible. Replace the illustrative sequence to suit the engagement.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concise decision, owner, and checkpoint. The client example is synthetic and should be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 Template/synthetic internal content. Client Alpha Phase 1 / Finance / 2026-07-13 / ¥42.8M is illustrative; replace example data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323ba3d4743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bad062170c4967" /><Relationship Type="http://schemas.openxmlformats.org/officeDocument/2006/relationships/slideLayout" Target="/ppt/slideLayouts/slideLayout1.xml" Id="Re114d57ec75048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14d57ec75048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4ad335a4548d7" /><Relationship Type="http://schemas.openxmlformats.org/officeDocument/2006/relationships/notesSlide" Target="/ppt/notesSlides/notesSlide1.xml" Id="Rc0a151941042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29c68adcc4930" /><Relationship Type="http://schemas.openxmlformats.org/officeDocument/2006/relationships/notesSlide" Target="/ppt/notesSlides/notesSlide2.xml" Id="R0e25227b6b7d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706ed12ac41c1" /><Relationship Type="http://schemas.openxmlformats.org/officeDocument/2006/relationships/chart" Target="/ppt/slides/charts/chart1.xml" Id="R8db5c1fcf55140ed" /><Relationship Type="http://schemas.openxmlformats.org/officeDocument/2006/relationships/notesSlide" Target="/ppt/notesSlides/notesSlide3.xml" Id="R3695d8e822f740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cf8fb20054736" /><Relationship Type="http://schemas.openxmlformats.org/officeDocument/2006/relationships/notesSlide" Target="/ppt/notesSlides/notesSlide4.xml" Id="Rfbbfdf431db749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41bbfbd6d4b50" /><Relationship Type="http://schemas.openxmlformats.org/officeDocument/2006/relationships/notesSlide" Target="/ppt/notesSlides/notesSlide5.xml" Id="R2726ab59763a4fa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Illustrative value (¥M)</c:v>
          </c:tx>
          <c:spPr>
            <a:solidFill xmlns:a="http://schemas.openxmlformats.org/drawingml/2006/main">
              <a:srgbClr val="63BCEB"/>
            </a:solidFill>
          </c:spPr>
          <c:cat>
            <c:strLit>
              <c:ptCount val="4"/>
              <c:pt idx="0">
                <c:v>Baseline</c:v>
              </c:pt>
              <c:pt idx="1">
                <c:v>Option A</c:v>
              </c:pt>
              <c:pt idx="2">
                <c:v>Option B</c:v>
              </c:pt>
              <c:pt idx="3">
                <c:v>Target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8.6</c:v>
              </c:pt>
              <c:pt idx="2">
                <c:v>19.4</c:v>
              </c:pt>
              <c:pt idx="3">
                <c:v>42.8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7D6E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C8C49-836D-42F9-8346-27D8E293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2819C-7056-476E-BA58-7B0BF479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223EA-33A6-4BF1-A9EC-54916F5F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STEERCO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2A0FB-3ED5-45FC-AFD1-76113E46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D1320-6AB3-4C9F-87CA-61403E15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6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This steering decision keeps Phase 1 on the value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06C00-7FF3-40E2-A5F5-69E0C9FC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Reusable example template | Replace bracketed prompts and illustrative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D77B6-EDAC-4D13-A737-6589C258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B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45642-F122-4A5C-8AE8-F1687232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0524201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53BD9-4815-4060-A98F-A1B66CC7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60B55-C187-4D78-8A59-F8A54F4F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568AC-13A5-465C-A71E-8C8BEB46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STEERCO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4F31A-8FED-48A9-969D-B680257A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5EAD4-0669-4891-92BB-F7C48D3E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Frame the decision before reviewing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8FD22-904C-49D3-B1A5-6CEE762A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Use this page to align the question, boundaries, and success measures.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1DE46-4F34-4BEA-8BDF-9240CE5D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19FA4-51BE-455B-A64C-274661F4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[Decision statement]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3B24B-8C5B-44B7-8A50-A21196B1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0CCAD-E1FA-4667-8610-2BF535B8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C989E-C3C1-48A4-B81F-6EC2B24A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[Business context / trigger]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EFA19-A729-46F6-8FDE-CC9BC5B8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16CE5-2044-42BF-BD49-63D1F908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80FAB-79BB-4A09-A9C9-6C101265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[Recommended direction]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8F33A-BE4D-4F20-B44D-C11406E1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FC7F1-D994-4FAC-86AB-01C46C42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Owner &amp;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9EA97-257E-40CB-AAD1-3FD2A90B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[Named owner] | [Date]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E602C-FA4E-4C8B-9173-36CB388C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948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70260-57F3-4B0F-B7C1-7066CB2F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Client Alpha | Phase 1 | Finance | 13 Jul 2026 | ¥42.8M example—replace before use</a:t>
            </a:r>
          </a:p>
        </p:txBody>
      </p:sp>
    </p:spTree>
    <p:extLst>
      <p:ext uri="{BB962C8B-B14F-4D97-AF65-F5344CB8AC3E}">
        <p14:creationId xmlns:p14="http://schemas.microsoft.com/office/powerpoint/2010/main" val="17869509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B93F7-79AF-4AD7-B511-A7991B28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923BD-98B7-42B5-B001-40DCD269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71316-B726-415F-B38A-8282213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STEERCO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0A163-DA06-4447-8ADE-433144EA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63F10-9666-4430-99E6-4B935B7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Decision pack should lead to a practical conclusion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6381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b5c1fcf55140e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71745-35DB-41E4-B497-1E62BB6D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4171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1DCB4-1683-4663-9934-13C7B92B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25661-0673-4F81-8DA7-F362CF8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The example target is ¥42.8M.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Test key assumptions before committing.</a:t>
            </a:r>
          </a:p>
          <a:p xmlns:a="http://schemas.openxmlformats.org/drawingml/2006/main">
            <a:pPr algn="l">
              <a:defRPr sz="135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• Show only the evidence needed for the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06754-7A24-4909-9C6B-41BB17B1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57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Illustrative data only—replace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3072835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F030D-60A9-444B-A3E7-5C20751C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9D620-75F5-4379-852F-98B7B991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E7E4B-C59D-403E-98DE-8C6D0A4F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STEERCO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99E7E-695C-4D6C-AC78-D5D57FC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63F4E-5D49-425F-8C8C-EC1D6894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Make the path to action explicit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81300"/>
                <a:gridCol w="2781300"/>
                <a:gridCol w="2781300"/>
                <a:gridCol w="2781300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Illustrative output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82B5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Diagnose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Validated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Scope confirmed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Prioritized initiatives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Investment approved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Mobilize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90-day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Launch agreed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Track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Benefits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Course correction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223A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D9D16-C359-48C3-9EF8-281B8169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Example context: Client Alpha Phase 1 | Finance | ¥42.8M total opportunity—replace before use.</a:t>
            </a:r>
          </a:p>
        </p:txBody>
      </p:sp>
    </p:spTree>
    <p:extLst>
      <p:ext uri="{BB962C8B-B14F-4D97-AF65-F5344CB8AC3E}">
        <p14:creationId xmlns:p14="http://schemas.microsoft.com/office/powerpoint/2010/main" val="2951999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8A2E2-FFB7-4D37-91B9-02A3F9F3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3D1B4-7A27-4A2F-9214-FDF3EF8A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285E4-0D2B-4AF3-A339-78EAA064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B7D"/>
                </a:solidFill>
                <a:latin typeface="Arial"/>
                <a:ea typeface="Arial"/>
                <a:cs typeface="Arial"/>
              </a:rPr>
              <a:t>STEERCO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4E1CD-08BF-496C-9610-5735F14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A46BE-CAF6-46E6-878B-7F388E20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12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Use the meeting to decide—not to rediscover the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88287-3351-40E0-AE54-AFD1BDA9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07814-FC33-4EDD-8CCA-58654350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90E1-0D9A-4B53-8B82-F6A1D74A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[Decision or approval]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E7B61-7069-4430-9FD0-EF7ABF6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What must be resolved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9DFB6-B5B7-4429-82DE-14895C9B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452A0-825C-478F-BF6E-F339B0A4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599F9-7B70-4792-AEBB-18255199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[Named owner]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349E4-FF25-4E4E-BB45-2FD0E74E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Who will move the work forward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67FE5-8712-4431-98DD-109191F8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4AA6D-940B-4E61-A4D4-5F83EAF1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3BC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BC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10206-528E-4701-95CC-5BAD4B18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B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B59"/>
                </a:solidFill>
                <a:latin typeface="Arial"/>
                <a:ea typeface="Arial"/>
                <a:cs typeface="Arial"/>
              </a:rPr>
              <a:t>[Next checkpoint]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4AA9F-6D3C-436D-8E87-F940551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2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23A"/>
                </a:solidFill>
                <a:latin typeface="Arial"/>
                <a:ea typeface="Arial"/>
                <a:cs typeface="Arial"/>
              </a:rPr>
              <a:t>When progress returns for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A9C10-95CE-4BC6-B657-3F163A26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B7D"/>
                </a:solidFill>
                <a:latin typeface="Arial"/>
                <a:ea typeface="Arial"/>
                <a:cs typeface="Arial"/>
              </a:rPr>
              <a:t>Template reference: Client Alpha Phase 1 / Finance / 2026-07-13 / budget ¥42.8M (synthetic).</a:t>
            </a:r>
          </a:p>
        </p:txBody>
      </p:sp>
    </p:spTree>
    <p:extLst>
      <p:ext uri="{BB962C8B-B14F-4D97-AF65-F5344CB8AC3E}">
        <p14:creationId xmlns:p14="http://schemas.microsoft.com/office/powerpoint/2010/main" val="149461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2026-08-23T15:08:12.4810000Z</dcterms:created>
  <dcterms:modified xsi:type="dcterms:W3CDTF">2026-08-23T15:08:12.4810000Z</dcterms:modified>
</coreProperties>
</file>