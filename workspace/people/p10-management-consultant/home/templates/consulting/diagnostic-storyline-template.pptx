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2134bdda6c441a" /><Relationship Type="http://schemas.openxmlformats.org/officeDocument/2006/relationships/extended-properties" Target="/docProps/app.xml" Id="R55a695a5521249a8" /><Relationship Type="http://schemas.openxmlformats.org/officeDocument/2006/relationships/officeDocument" Target="/ppt/presentation.xml" Id="R500e1de6c49543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170b8ae9a14edb"/>
  </p:sldMasterIdLst>
  <p:notesMasterIdLst>
    <p:notesMasterId xmlns:r="http://schemas.openxmlformats.org/officeDocument/2006/relationships" r:id="R8d903df339c74984"/>
  </p:notesMasterIdLst>
  <p:sldIdLst>
    <p:sldId xmlns:r="http://schemas.openxmlformats.org/officeDocument/2006/relationships" id="256" r:id="R9a3b1fe35ad74096"/>
    <p:sldId xmlns:r="http://schemas.openxmlformats.org/officeDocument/2006/relationships" id="257" r:id="Ra80ce722ab4b4d5b"/>
    <p:sldId xmlns:r="http://schemas.openxmlformats.org/officeDocument/2006/relationships" id="258" r:id="Re9715e90b80c4fa1"/>
    <p:sldId xmlns:r="http://schemas.openxmlformats.org/officeDocument/2006/relationships" id="259" r:id="R56ede9dba8e34e9f"/>
    <p:sldId xmlns:r="http://schemas.openxmlformats.org/officeDocument/2006/relationships" id="260" r:id="R30c9680bd0234b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545a76670245dc" /><Relationship Type="http://schemas.openxmlformats.org/officeDocument/2006/relationships/slideMaster" Target="/ppt/slideMasters/slideMaster1.xml" Id="R01170b8ae9a14edb" /><Relationship Type="http://schemas.openxmlformats.org/officeDocument/2006/relationships/notesMaster" Target="/ppt/notesMasters/notesMaster1.xml" Id="R8d903df339c74984" /><Relationship Type="http://schemas.openxmlformats.org/officeDocument/2006/relationships/presProps" Target="/ppt/presProps.xml" Id="R2a651465c979488f" /><Relationship Type="http://schemas.openxmlformats.org/officeDocument/2006/relationships/tableStyles" Target="/ppt/tableStyles.xml" Id="R6f1d388d74ff4fbc" /><Relationship Type="http://schemas.openxmlformats.org/officeDocument/2006/relationships/slide" Target="/ppt/slides/slide1.xml" Id="R9a3b1fe35ad74096" /><Relationship Type="http://schemas.openxmlformats.org/officeDocument/2006/relationships/slide" Target="/ppt/slides/slide2.xml" Id="Ra80ce722ab4b4d5b" /><Relationship Type="http://schemas.openxmlformats.org/officeDocument/2006/relationships/slide" Target="/ppt/slides/slide3.xml" Id="Re9715e90b80c4fa1" /><Relationship Type="http://schemas.openxmlformats.org/officeDocument/2006/relationships/slide" Target="/ppt/slides/slide4.xml" Id="R56ede9dba8e34e9f" /><Relationship Type="http://schemas.openxmlformats.org/officeDocument/2006/relationships/slide" Target="/ppt/slides/slide5.xml" Id="R30c9680bd0234b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e508aaf31e45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9363b70b4f4846" /><Relationship Type="http://schemas.openxmlformats.org/officeDocument/2006/relationships/notesMaster" Target="/ppt/notesMasters/notesMaster1.xml" Id="Raf7f9594328c47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6d0a63549c494d" /><Relationship Type="http://schemas.openxmlformats.org/officeDocument/2006/relationships/notesMaster" Target="/ppt/notesMasters/notesMaster1.xml" Id="R4d2894834f0c43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b86adcb0db49b8" /><Relationship Type="http://schemas.openxmlformats.org/officeDocument/2006/relationships/notesMaster" Target="/ppt/notesMasters/notesMaster1.xml" Id="R62784aec02754e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ccdfe076424eb1" /><Relationship Type="http://schemas.openxmlformats.org/officeDocument/2006/relationships/notesMaster" Target="/ppt/notesMasters/notesMaster1.xml" Id="Raace91e9bd4b42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28f3f5803440b7" /><Relationship Type="http://schemas.openxmlformats.org/officeDocument/2006/relationships/notesMaster" Target="/ppt/notesMasters/notesMaster1.xml" Id="R74870fcdd6354d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proposed takeaway. Confirm the audience and decision expected.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bracketed prompts with audience-ready content. Keep the decision statement specific enough to approve or redirect.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chart as an editable example. Replace categories, units, and values with validated client data; cite evidence in these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native editable table to make work, gates, and ownership visible. Replace the illustrative sequence to suit the engagement.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concise decision, owner, and checkpoint. The client example is synthetic and should be replaced.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41e3f8388445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16188374424cfa" /><Relationship Type="http://schemas.openxmlformats.org/officeDocument/2006/relationships/slideLayout" Target="/ppt/slideLayouts/slideLayout1.xml" Id="Rd07ea9aceaa145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7ea9aceaa145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446315c174bc1" /><Relationship Type="http://schemas.openxmlformats.org/officeDocument/2006/relationships/notesSlide" Target="/ppt/notesSlides/notesSlide1.xml" Id="R6c021d9a34db4e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207934a2c48f9" /><Relationship Type="http://schemas.openxmlformats.org/officeDocument/2006/relationships/notesSlide" Target="/ppt/notesSlides/notesSlide2.xml" Id="R015dcf84511844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fd0b9e75349d7" /><Relationship Type="http://schemas.openxmlformats.org/officeDocument/2006/relationships/chart" Target="/ppt/slides/charts/chart1.xml" Id="R52ad208ec64a4bd5" /><Relationship Type="http://schemas.openxmlformats.org/officeDocument/2006/relationships/notesSlide" Target="/ppt/notesSlides/notesSlide3.xml" Id="R3277b2f7d6f544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1cea20ca74f30" /><Relationship Type="http://schemas.openxmlformats.org/officeDocument/2006/relationships/notesSlide" Target="/ppt/notesSlides/notesSlide4.xml" Id="Radabbbfeb73547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b7c33c6b54efa" /><Relationship Type="http://schemas.openxmlformats.org/officeDocument/2006/relationships/notesSlide" Target="/ppt/notesSlides/notesSlide5.xml" Id="Rcb62f8ff23f14de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Illustrative value (¥M)</c:v>
          </c:tx>
          <c:spPr>
            <a:solidFill xmlns:a="http://schemas.openxmlformats.org/drawingml/2006/main">
              <a:srgbClr val="63BCEB"/>
            </a:solidFill>
          </c:spPr>
          <c:cat>
            <c:strLit>
              <c:ptCount val="4"/>
              <c:pt idx="0">
                <c:v>Baseline</c:v>
              </c:pt>
              <c:pt idx="1">
                <c:v>Option A</c:v>
              </c:pt>
              <c:pt idx="2">
                <c:v>Option B</c:v>
              </c:pt>
              <c:pt idx="3">
                <c:v>Target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8.6</c:v>
              </c:pt>
              <c:pt idx="2">
                <c:v>19.4</c:v>
              </c:pt>
              <c:pt idx="3">
                <c:v>42.8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7D6E4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246BF-F78B-44A1-B3DE-97EF6341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DBDFA-0E6D-4AC4-A0E0-5DF1A951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8368A-2F49-4A99-9581-73FA7E02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DIAGNOSTIC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0625F-02F7-49A0-85FD-2457FA4E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D2452-C5B2-4864-811B-D0DE3468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914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67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The initial diagnostic points to three root causes worth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BE658-9AA1-401B-A1C3-EF1DCF12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Reusable example template | Replace bracketed prompts and illustrative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F7035-A0DD-4938-82B6-1E520B1D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F0DC6-5E40-4240-A36F-744B2EA8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Client Alpha | Phase 1 | Finance | 13 Jul 2026 | ¥42.8M example—replace before use</a:t>
            </a:r>
          </a:p>
        </p:txBody>
      </p:sp>
    </p:spTree>
    <p:extLst>
      <p:ext uri="{BB962C8B-B14F-4D97-AF65-F5344CB8AC3E}">
        <p14:creationId xmlns:p14="http://schemas.microsoft.com/office/powerpoint/2010/main" val="10234570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5E5722-5D32-4A07-B80B-F4FB4BC6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D75B3-4B18-4A14-A222-7328F2FD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A46FF-2B9A-4189-9EA9-E4A0F4DE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DIAGNOSTIC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F61D4-C053-400B-BF93-B1CEB63A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A8BA8-FD59-4EC6-8D3B-37622482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Frame the decision before reviewing the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714A3-A04F-44F0-8B2A-368C676C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Use this page to align the question, boundaries, and success measures.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66DD2-6A2C-489E-8F6C-50B2A537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Decision needed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A79DC-C985-4D0B-9736-5B7C60B8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[Decision statement]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DC9E4-45B6-48CB-89E8-C254F28F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31B82-9425-41AC-8F45-6AD839C3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Why 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8275F-854B-4BC4-BA2D-B65DFED6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[Business context / trigger]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FA334-B6EE-4D1D-8F52-212FEB37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1E725-2C3D-404D-ACBB-FE377FE8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8771E-C79D-49A6-AFC6-48ABC8FD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[Recommended direction]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6ECB8-5FC9-4366-9DB9-2E6CC5DA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69F493-633C-4F15-877E-4CECBC6F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Owner &amp; 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541A71-1BEF-41E3-B410-2074674E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[Named owner] | [Date]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0F4D49-1395-4B35-A2D0-880B6E2E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5AA03-C604-428F-9B09-B13F9E09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42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Client Alpha | Phase 1 | Finance | 13 Jul 2026 | ¥42.8M example—replace before use</a:t>
            </a:r>
          </a:p>
        </p:txBody>
      </p:sp>
    </p:spTree>
    <p:extLst>
      <p:ext uri="{BB962C8B-B14F-4D97-AF65-F5344CB8AC3E}">
        <p14:creationId xmlns:p14="http://schemas.microsoft.com/office/powerpoint/2010/main" val="11290643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563EA-2249-4032-A551-E0B5D7E0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E7CCD-9A4D-415A-B891-2C916074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31410-535E-462A-AE5A-4E9EAF60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DIAGNOSTIC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2DFF1-C79F-4EE4-9B80-8E4609C3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1B53A-CE31-4092-BA94-24005539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Root-cause hypotheses should lead to a practical conclusion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6381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ad208ec64a4bd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4C3AF-4E86-4AF3-A94F-580D59DF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81200"/>
            <a:ext cx="41719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77449-087A-4EFA-92BF-30B31DF3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05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32D18-78B7-4DE5-BAD7-5CFF6911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1940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• The example target is ¥42.8M.</a:t>
            </a:r>
          </a:p>
          <a:p xmlns:a="http://schemas.openxmlformats.org/drawingml/2006/main">
            <a:pPr algn="l">
              <a:defRPr sz="135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• Test key assumptions before committing.</a:t>
            </a:r>
          </a:p>
          <a:p xmlns:a="http://schemas.openxmlformats.org/drawingml/2006/main">
            <a:pPr algn="l">
              <a:defRPr sz="135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• Show only the evidence needed for the decision.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D954A-FF9B-4488-8731-596041ED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57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Illustrative data only—replace before use.</a:t>
            </a:r>
          </a:p>
        </p:txBody>
      </p:sp>
    </p:spTree>
    <p:extLst>
      <p:ext uri="{BB962C8B-B14F-4D97-AF65-F5344CB8AC3E}">
        <p14:creationId xmlns:p14="http://schemas.microsoft.com/office/powerpoint/2010/main" val="5874016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ABEA9-4BA1-4AF1-A0AA-4F673968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AAFDD-EF29-4B51-8F3F-35F2D5DE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9BD8A-64DD-40AD-BE27-6E87515E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DIAGNOSTIC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870C2-5149-4597-99EB-95B00813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DCB97-1395-4013-94B6-5CCC556B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Make the path to action explicit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2190750"/>
          <a:ext xmlns:a="http://schemas.openxmlformats.org/drawingml/2006/main" cx="1112520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81300"/>
                <a:gridCol w="2781300"/>
                <a:gridCol w="2781300"/>
                <a:gridCol w="2781300"/>
              </a:tblGrid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Workstream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Illustrative output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Decision gate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Diagnose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Validated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Scope confirmed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Design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Prioritized initiatives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Investment approved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Mobilize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90-day plan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Launch agreed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Track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Benefits dashboard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Course correction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51B7C-10D8-4AE4-BC32-3A04C1AE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816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Example context: Client Alpha Phase 1 | Finance | ¥42.8M total opportunity—replace before use.</a:t>
            </a:r>
          </a:p>
        </p:txBody>
      </p:sp>
    </p:spTree>
    <p:extLst>
      <p:ext uri="{BB962C8B-B14F-4D97-AF65-F5344CB8AC3E}">
        <p14:creationId xmlns:p14="http://schemas.microsoft.com/office/powerpoint/2010/main" val="3783185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333BC3-9E3C-4268-9017-9AAE83EF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DFB59-1FE5-4373-A652-55978406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A9DA3-74D4-42B7-A62F-9C057FA4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DIAGNOSTIC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0F9EC-B685-4AF6-AD9B-1D41E63F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E05FF-AC32-4C9A-9C39-F53BA8BF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Agree the storyline before expanding the fact base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4029D-CC76-481A-8D21-B77AA610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B94FB-96F0-4BA4-A889-D4C5C38E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BC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BCE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7EC03-48F9-495F-9FDD-01ADC2D3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[Decision or approval]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8564E-E6DC-4438-96F3-A63DBF2E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What must be resolved 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E0E10-156E-4129-9868-CCB38AC0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5E0E1-C4CD-4153-A7C6-15796210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BC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BCE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4BF4B-8F7A-4AE0-A249-7F25C99F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86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[Named owner]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DC6FE-0A5C-4B96-BDBA-DC720599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81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Who will move the work forward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EB94E-E959-4056-BC2F-00229974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479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470CDE-5543-4B6E-A161-076C9692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BC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BCE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E2A87-9CE2-468C-8D89-310BAD77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86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[Next checkpoint]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2FBBF-2293-4C3C-9A9C-41094A8E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81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When progress returns for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5CF99-C6B1-4979-880D-9345FF68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Template reference: Client Alpha Phase 1 / Finance / 2026-07-13 / budget ¥42.8M (synthetic).</a:t>
            </a:r>
          </a:p>
        </p:txBody>
      </p:sp>
    </p:spTree>
    <p:extLst>
      <p:ext uri="{BB962C8B-B14F-4D97-AF65-F5344CB8AC3E}">
        <p14:creationId xmlns:p14="http://schemas.microsoft.com/office/powerpoint/2010/main" val="15435109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2026-08-23T15:08:09.5530000Z</dcterms:created>
  <dcterms:modified xsi:type="dcterms:W3CDTF">2026-08-23T15:08:09.5530000Z</dcterms:modified>
</coreProperties>
</file>