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89c4bc6e914f21" /><Relationship Type="http://schemas.openxmlformats.org/officeDocument/2006/relationships/extended-properties" Target="/docProps/app.xml" Id="R16a1e8a8923445c4" /><Relationship Type="http://schemas.openxmlformats.org/officeDocument/2006/relationships/officeDocument" Target="/ppt/presentation.xml" Id="R542b075d470b44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66f6640ddb4e0a"/>
  </p:sldMasterIdLst>
  <p:notesMasterIdLst>
    <p:notesMasterId xmlns:r="http://schemas.openxmlformats.org/officeDocument/2006/relationships" r:id="Re33f92ad32194a6f"/>
  </p:notesMasterIdLst>
  <p:sldIdLst>
    <p:sldId xmlns:r="http://schemas.openxmlformats.org/officeDocument/2006/relationships" id="256" r:id="R8a023a3f2e764283"/>
    <p:sldId xmlns:r="http://schemas.openxmlformats.org/officeDocument/2006/relationships" id="257" r:id="R73875445dcfa45e0"/>
    <p:sldId xmlns:r="http://schemas.openxmlformats.org/officeDocument/2006/relationships" id="258" r:id="R3c6bf069a714433e"/>
    <p:sldId xmlns:r="http://schemas.openxmlformats.org/officeDocument/2006/relationships" id="259" r:id="R4bd499a07b364f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1174cfe5e946b7" /><Relationship Type="http://schemas.openxmlformats.org/officeDocument/2006/relationships/slideMaster" Target="/ppt/slideMasters/slideMaster1.xml" Id="R5c66f6640ddb4e0a" /><Relationship Type="http://schemas.openxmlformats.org/officeDocument/2006/relationships/notesMaster" Target="/ppt/notesMasters/notesMaster1.xml" Id="Re33f92ad32194a6f" /><Relationship Type="http://schemas.openxmlformats.org/officeDocument/2006/relationships/presProps" Target="/ppt/presProps.xml" Id="Rdba2d96754f54e05" /><Relationship Type="http://schemas.openxmlformats.org/officeDocument/2006/relationships/tableStyles" Target="/ppt/tableStyles.xml" Id="R5cd75e202d4442ea" /><Relationship Type="http://schemas.openxmlformats.org/officeDocument/2006/relationships/slide" Target="/ppt/slides/slide1.xml" Id="R8a023a3f2e764283" /><Relationship Type="http://schemas.openxmlformats.org/officeDocument/2006/relationships/slide" Target="/ppt/slides/slide2.xml" Id="R73875445dcfa45e0" /><Relationship Type="http://schemas.openxmlformats.org/officeDocument/2006/relationships/slide" Target="/ppt/slides/slide3.xml" Id="R3c6bf069a714433e" /><Relationship Type="http://schemas.openxmlformats.org/officeDocument/2006/relationships/slide" Target="/ppt/slides/slide4.xml" Id="R4bd499a07b364f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39af390d0343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5cfa72c8aa43e6" /><Relationship Type="http://schemas.openxmlformats.org/officeDocument/2006/relationships/notesMaster" Target="/ppt/notesMasters/notesMaster1.xml" Id="Rc67e5079d07a49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100d7efa824e36" /><Relationship Type="http://schemas.openxmlformats.org/officeDocument/2006/relationships/notesMaster" Target="/ppt/notesMasters/notesMaster1.xml" Id="Rbbde7f84afa843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23ba7c2f194dbf" /><Relationship Type="http://schemas.openxmlformats.org/officeDocument/2006/relationships/notesMaster" Target="/ppt/notesMasters/notesMaster1.xml" Id="Re00501fcabd84a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f20ab356064e06" /><Relationship Type="http://schemas.openxmlformats.org/officeDocument/2006/relationships/notesMaster" Target="/ppt/notesMasters/notesMaster1.xml" Id="R81a7164f53444d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Summit Vale Advisory synthetic working assumptions; Client Alpha Phase 1; 2026-07-13; slide 1;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Summit Vale Advisory synthetic working assumptions; Client Alpha Phase 1; 2026-07-13; slide 2;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Summit Vale Advisory synthetic working assumptions; Client Alpha Phase 1; 2026-07-13; slide 3;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Summit Vale Advisory synthetic working assumptions; Client Alpha Phase 1; 2026-07-13; slide 4;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cc0f7b427a47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b943f9eaac4d01" /><Relationship Type="http://schemas.openxmlformats.org/officeDocument/2006/relationships/slideLayout" Target="/ppt/slideLayouts/slideLayout1.xml" Id="R5b1700720bd448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1700720bd448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415c86e9d14f9f" /><Relationship Type="http://schemas.openxmlformats.org/officeDocument/2006/relationships/notesSlide" Target="/ppt/notesSlides/notesSlide1.xml" Id="R2bc2705de5ff4a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c4d0c9dd74699" /><Relationship Type="http://schemas.openxmlformats.org/officeDocument/2006/relationships/notesSlide" Target="/ppt/notesSlides/notesSlide2.xml" Id="R7ae983ab517f43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71f6a2a3e47c4" /><Relationship Type="http://schemas.openxmlformats.org/officeDocument/2006/relationships/notesSlide" Target="/ppt/notesSlides/notesSlide3.xml" Id="R2f897a19d60746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e9e0e561c4a8c" /><Relationship Type="http://schemas.openxmlformats.org/officeDocument/2006/relationships/notesSlide" Target="/ppt/notesSlides/notesSlide4.xml" Id="Rb8c874ad452944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FBC01-2A26-4601-8B87-CC8C5ACB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SUMMIT VALE ADVISORY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20482-6BDA-4F5A-BA89-E1D2E04B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102A43"/>
                </a:solidFill>
              </a:defRPr>
            </a:pPr>
            <a:r>
              <a:rPr sz="4350" b="1">
                <a:solidFill>
                  <a:srgbClr val="102A43"/>
                </a:solidFill>
              </a:rPr>
              <a:t>Client Alpha Phase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0A5F0B-FFAB-4957-AE4A-2BF0F460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486581"/>
                </a:solidFill>
              </a:defRPr>
            </a:pPr>
            <a:r>
              <a:rPr sz="1875" b="0">
                <a:solidFill>
                  <a:srgbClr val="486581"/>
                </a:solidFill>
              </a:rPr>
              <a:t>Synthesis working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45ADB-8C4C-4104-BE69-A2F93B03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627D98"/>
                </a:solidFill>
              </a:defRPr>
            </a:pPr>
            <a:r>
              <a:rPr sz="1275" b="0">
                <a:solidFill>
                  <a:srgbClr val="627D98"/>
                </a:solidFill>
              </a:rPr>
              <a:t>Finance portfolio anchor: ¥42.8M  •  13 July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421F1-4738-4640-B0E8-A8E2A7F7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800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FF78BC-B236-4BED-A6EC-4347CEB7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102A43"/>
                </a:solidFill>
              </a:defRPr>
            </a:pPr>
            <a:r>
              <a:rPr sz="1950" b="1">
                <a:solidFill>
                  <a:srgbClr val="102A43"/>
                </a:solidFill>
              </a:rPr>
              <a:t>A focused Phase 1 recommendation can be made decision-ready this week.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0236D-12DC-4D7E-891F-B212E2B1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27D98"/>
                </a:solidFill>
              </a:defRPr>
            </a:pPr>
            <a:r>
              <a:rPr sz="1050" b="0">
                <a:solidFill>
                  <a:srgbClr val="627D98"/>
                </a:solidFill>
              </a:rPr>
              <a:t>Working team: Avery Calder, Nina Solberg, Theo Mercer, Keiko Ward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7C9D79-94AD-4375-84CB-2FB4EF02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627D98"/>
                </a:solidFill>
              </a:defRPr>
            </a:pPr>
            <a:r>
              <a:rPr sz="750" b="1">
                <a:solidFill>
                  <a:srgbClr val="627D98"/>
                </a:solidFill>
              </a:rPr>
              <a:t>SUMMIT VALE ADVISORY  |  WORKING DRAFT  |  13 JUL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FDBE2D-6A8D-4AF3-BAE7-507E9EF2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627D98"/>
                </a:solidFill>
              </a:defRPr>
            </a:pPr>
            <a:r>
              <a:rPr sz="750" b="1">
                <a:solidFill>
                  <a:srgbClr val="627D9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678494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481775-FB57-4003-92B2-B01A8418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CURRENT 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008621-7B40-4567-95B1-11CC62C2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Client Alpha can focus the next decision on a manageable set of levers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465450-CC0B-4267-A54A-3E1CD690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86581"/>
                </a:solidFill>
              </a:defRPr>
            </a:pPr>
            <a:r>
              <a:rPr sz="1350" b="0">
                <a:solidFill>
                  <a:srgbClr val="486581"/>
                </a:solidFill>
              </a:rPr>
              <a:t>The immediate task is to turn open evidence into a clear owner, gate, and finance implication.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05DF7-8292-40E2-90EB-73096B1B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E1017-9724-49AB-9A27-A2EBC00C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D6821-3620-49B3-9FE8-BE03228E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Decision cadence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69919-FBC1-4623-B211-9D56817F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66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A simple owner/date/evidence gate reduces unresolved choices.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F7AE6-1E21-4A5A-8BB8-22D37EB3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338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3B10C6-7712-4776-B856-02565FB2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FC446A-7C78-4C2E-8C8E-5A584E31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Capacity visibility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2312F3-17DF-402D-BC40-45F7DB2D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33750"/>
            <a:ext cx="266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Shared specialist demand is explicit across Alpha and Beta.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F0A1A-A15C-4362-8AF6-122D30A1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338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A4FEAA-2E58-4831-A657-1A5A9426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7175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72BA0D-CA42-4CC6-B17A-B959947B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57500"/>
            <a:ext cx="2714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Evidence confidence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5E073-43F2-4EBB-9BAD-DB2D19EB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33750"/>
            <a:ext cx="266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Inputs are tiered by traceability and decision relevance.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9052EF-ADAD-497E-923A-70124FB8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338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D8DFF"/>
                </a:solidFill>
              </a:defRPr>
            </a:pPr>
            <a:r>
              <a:rPr sz="210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DE52D5-3B0C-4CF8-B6C3-1B707DB4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627D98"/>
                </a:solidFill>
              </a:defRPr>
            </a:pPr>
            <a:r>
              <a:rPr sz="750" b="1">
                <a:solidFill>
                  <a:srgbClr val="627D98"/>
                </a:solidFill>
              </a:rPr>
              <a:t>SUMMIT VALE ADVISORY  |  WORKING DRAFT  |  13 JUL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5C5980-954B-4942-82A8-41FE6925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627D98"/>
                </a:solidFill>
              </a:defRPr>
            </a:pPr>
            <a:r>
              <a:rPr sz="750" b="1">
                <a:solidFill>
                  <a:srgbClr val="627D9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004415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3F176D-89D4-4253-85FE-23AFC5E5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EVIDENCE AND IMPLICATION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DF6C0-CAEE-428B-88A5-4C3952CB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The working evidence points to control-and-decision routines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A79BB-224F-4E59-B4CD-04CD11F1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86581"/>
                </a:solidFill>
              </a:defRPr>
            </a:pPr>
            <a:r>
              <a:rPr sz="1350" b="0">
                <a:solidFill>
                  <a:srgbClr val="486581"/>
                </a:solidFill>
              </a:rPr>
              <a:t>This is a draft interpretation; the next tests determine whether the recommendation should be narrowed or advanced.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819B2-AAAA-4D31-9735-4C0B9AD1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BE134-2063-4934-8524-DAD5287A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Evidence observed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EBBA7-F441-4206-A49C-F77BA654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C4DD2-7DD6-4C5E-BC6F-73D5CF15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0375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Decision ownership is uneven across workstreams.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C17E4-8D1D-4672-8E56-07DA8FFB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2705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Delays are more likely to be governance-related than analytical.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58A167-B213-48F8-8EE2-C7C206C3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529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Install a lightweight finance gate before the next release.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EEE6D-1C2A-43F1-B5D6-A5D2B50D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003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What it means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093FD-AE5A-4C79-A9B1-51CBC2D7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241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0D976C-FC05-432E-84F8-A60DAD6B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00375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Specialist demand overlaps with Beta Phase 2.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D5C952-A0C8-426E-B700-FF56EFE1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14750"/>
            <a:ext cx="2705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Local staffing choices have portfolio consequences.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6BD157-2CAE-4E37-8737-ABD933DB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529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Protect critical days in the weekly plan.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E5D1E0-6A14-4FE1-A293-B5A960F7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003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Decision implication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469089-B082-403C-A22C-AACAC6E8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E9E96C-9040-45A0-944F-A35D7A89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00375"/>
            <a:ext cx="2705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Data quality varies by source and date.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98620D-7554-4168-B772-23AF6ED4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14750"/>
            <a:ext cx="2705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86581"/>
                </a:solidFill>
              </a:defRPr>
            </a:pPr>
            <a:r>
              <a:rPr sz="1200" b="0">
                <a:solidFill>
                  <a:srgbClr val="486581"/>
                </a:solidFill>
              </a:rPr>
              <a:t>Confidence must be visible in the synthesis.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FB4834-DA09-4757-A28F-5A68264F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52950"/>
            <a:ext cx="270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Use evidence tiers in steering materials.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F2A392-A3D9-4C5F-A50D-8D9847FD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627D98"/>
                </a:solidFill>
              </a:defRPr>
            </a:pPr>
            <a:r>
              <a:rPr sz="750" b="1">
                <a:solidFill>
                  <a:srgbClr val="627D98"/>
                </a:solidFill>
              </a:rPr>
              <a:t>SUMMIT VALE ADVISORY  |  WORKING DRAFT  |  13 JUL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D5EB9D-1169-4E77-BA4A-9461734D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627D98"/>
                </a:solidFill>
              </a:defRPr>
            </a:pPr>
            <a:r>
              <a:rPr sz="750" b="1">
                <a:solidFill>
                  <a:srgbClr val="627D9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811903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630D0D-D54B-44F6-A363-1F0A7E7E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NEXT WORKING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1EBAA-2038-4B8D-B8DF-7A7BC11D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2A43"/>
                </a:solidFill>
              </a:defRPr>
            </a:pPr>
            <a:r>
              <a:rPr sz="2550" b="1">
                <a:solidFill>
                  <a:srgbClr val="102A43"/>
                </a:solidFill>
              </a:rPr>
              <a:t>Close four tests, then return with a decision-ready recommendation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7CA23-9190-4ED6-9C6B-047E0CAF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86581"/>
                </a:solidFill>
              </a:defRPr>
            </a:pPr>
            <a:r>
              <a:rPr sz="1350" b="0">
                <a:solidFill>
                  <a:srgbClr val="486581"/>
                </a:solidFill>
              </a:rPr>
              <a:t>Each gate has a named lead and a concrete output; no conclusion is positioned as final until the evidence is sufficient.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C7A7E-D807-4957-8458-A6F4D4C6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034E5E-6E45-4CCC-B13A-70307E42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93C486-22AD-4E8C-BBCD-6F9DF130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3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15 Jul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56F49-8B39-4BDA-AFB3-30A5F4F6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19375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Value and decision-path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BE9BB-6323-4DF1-9FF0-CD50E46D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384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Avery Calder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C812BE-7D02-4133-BEB7-379536F9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38EE2-668B-4132-8AF1-C594B851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194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16 Jul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23C52-555C-4F87-8E26-01822F4B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00425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Finance control and capacity reconciliation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865BCB-4B9A-452A-A524-5FBA887C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194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Nina Solberg / Keiko Ward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9C39FB-C395-46B5-B9EB-893D0579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88DB0D-F090-4E3F-B0A0-E437F29E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005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17 Jul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483DC7-4A21-422F-9B6B-8EF740E8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81475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Data-confidence classification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6E9B00-AEDF-4DE0-8274-24EC28EE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005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Theo Mercer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670808-DCF8-4BB9-AA3A-33992C1C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DDEE80-4098-4E2C-8C89-AB314E9B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815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20 Jul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45FD42-BBEC-4AB7-B9AB-CF75F442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62525"/>
            <a:ext cx="552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Steering narrative and portfolio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C0AA16-0997-4081-9E8D-EA68C922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815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86581"/>
                </a:solidFill>
              </a:defRPr>
            </a:pPr>
            <a:r>
              <a:rPr sz="1275" b="0">
                <a:solidFill>
                  <a:srgbClr val="486581"/>
                </a:solidFill>
              </a:rPr>
              <a:t>All leads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62703A-D23C-4BC4-A64C-E2C4AD04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Working conclusion: concentrate the next cycle on decision usefulness, visible finance controls, and the Alpha–Beta portfolio trade-off.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C57116-ED90-4A4B-BA1C-CCA23BB0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627D98"/>
                </a:solidFill>
              </a:defRPr>
            </a:pPr>
            <a:r>
              <a:rPr sz="750" b="1">
                <a:solidFill>
                  <a:srgbClr val="627D98"/>
                </a:solidFill>
              </a:rPr>
              <a:t>SUMMIT VALE ADVISORY  |  WORKING DRAFT  |  13 JUL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657ECD-6766-4067-A184-F8D6C4C03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627D98"/>
                </a:solidFill>
              </a:defRPr>
            </a:pPr>
            <a:r>
              <a:rPr sz="750" b="1">
                <a:solidFill>
                  <a:srgbClr val="627D9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851866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2026-08-23T15:30:30.7730000Z</dcterms:created>
  <dcterms:modified xsi:type="dcterms:W3CDTF">2026-08-23T15:30:30.7730000Z</dcterms:modified>
</coreProperties>
</file>