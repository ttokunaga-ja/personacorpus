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ad75f8040642f1" /><Relationship Type="http://schemas.openxmlformats.org/officeDocument/2006/relationships/extended-properties" Target="/docProps/app.xml" Id="Re91117c92d1a4323" /><Relationship Type="http://schemas.openxmlformats.org/officeDocument/2006/relationships/officeDocument" Target="/ppt/presentation.xml" Id="Rd919984d992f4a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cdecc31a014634"/>
  </p:sldMasterIdLst>
  <p:notesMasterIdLst>
    <p:notesMasterId xmlns:r="http://schemas.openxmlformats.org/officeDocument/2006/relationships" r:id="Rf0162c4f0542431b"/>
  </p:notesMasterIdLst>
  <p:sldIdLst>
    <p:sldId xmlns:r="http://schemas.openxmlformats.org/officeDocument/2006/relationships" id="256" r:id="R51e0c14e08bd49b2"/>
    <p:sldId xmlns:r="http://schemas.openxmlformats.org/officeDocument/2006/relationships" id="257" r:id="Ra3a70e3373ca4f53"/>
    <p:sldId xmlns:r="http://schemas.openxmlformats.org/officeDocument/2006/relationships" id="258" r:id="R105a2ceafa05485a"/>
    <p:sldId xmlns:r="http://schemas.openxmlformats.org/officeDocument/2006/relationships" id="259" r:id="R29401cff78444b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efca4ffb7f4768" /><Relationship Type="http://schemas.openxmlformats.org/officeDocument/2006/relationships/slideMaster" Target="/ppt/slideMasters/slideMaster1.xml" Id="Rc4cdecc31a014634" /><Relationship Type="http://schemas.openxmlformats.org/officeDocument/2006/relationships/notesMaster" Target="/ppt/notesMasters/notesMaster1.xml" Id="Rf0162c4f0542431b" /><Relationship Type="http://schemas.openxmlformats.org/officeDocument/2006/relationships/presProps" Target="/ppt/presProps.xml" Id="R13fef6ae0b944a58" /><Relationship Type="http://schemas.openxmlformats.org/officeDocument/2006/relationships/tableStyles" Target="/ppt/tableStyles.xml" Id="R6909c22b142d4bf7" /><Relationship Type="http://schemas.openxmlformats.org/officeDocument/2006/relationships/slide" Target="/ppt/slides/slide1.xml" Id="R51e0c14e08bd49b2" /><Relationship Type="http://schemas.openxmlformats.org/officeDocument/2006/relationships/slide" Target="/ppt/slides/slide2.xml" Id="Ra3a70e3373ca4f53" /><Relationship Type="http://schemas.openxmlformats.org/officeDocument/2006/relationships/slide" Target="/ppt/slides/slide3.xml" Id="R105a2ceafa05485a" /><Relationship Type="http://schemas.openxmlformats.org/officeDocument/2006/relationships/slide" Target="/ppt/slides/slide4.xml" Id="R29401cff78444b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1ef14c7ddb41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ac40eaf8604f9b" /><Relationship Type="http://schemas.openxmlformats.org/officeDocument/2006/relationships/notesMaster" Target="/ppt/notesMasters/notesMaster1.xml" Id="R8ef45728ff0c4e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19bf5f3f094280" /><Relationship Type="http://schemas.openxmlformats.org/officeDocument/2006/relationships/notesMaster" Target="/ppt/notesMasters/notesMaster1.xml" Id="R3c72468ea71d4a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046435a70d46a9" /><Relationship Type="http://schemas.openxmlformats.org/officeDocument/2006/relationships/notesMaster" Target="/ppt/notesMasters/notesMaster1.xml" Id="R29dc4eb85f4c41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2971df162e48f8" /><Relationship Type="http://schemas.openxmlformats.org/officeDocument/2006/relationships/notesMaster" Target="/ppt/notesMasters/notesMaster1.xml" Id="Rd0041b26432947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aa8656b3bb45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75645839b84ab5" /><Relationship Type="http://schemas.openxmlformats.org/officeDocument/2006/relationships/slideLayout" Target="/ppt/slideLayouts/slideLayout1.xml" Id="Rbef9b0f7b1cf49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f9b0f7b1cf49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4b10f29214050" /><Relationship Type="http://schemas.openxmlformats.org/officeDocument/2006/relationships/notesSlide" Target="/ppt/notesSlides/notesSlide1.xml" Id="Rc8f1815109c141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b83ccc9984ac3" /><Relationship Type="http://schemas.openxmlformats.org/officeDocument/2006/relationships/chart" Target="/ppt/slides/charts/chart1.xml" Id="Rc0298c951dfc4301" /><Relationship Type="http://schemas.openxmlformats.org/officeDocument/2006/relationships/notesSlide" Target="/ppt/notesSlides/notesSlide2.xml" Id="R291169ddd2074c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38011992046ee" /><Relationship Type="http://schemas.openxmlformats.org/officeDocument/2006/relationships/notesSlide" Target="/ppt/notesSlides/notesSlide3.xml" Id="Raabe7c98c20e4c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3e54854d74a79" /><Relationship Type="http://schemas.openxmlformats.org/officeDocument/2006/relationships/notesSlide" Target="/ppt/notesSlides/notesSlide4.xml" Id="R165155515f2744c3" /></Relationships>
</file>

<file path=ppt/slides/charts/chart1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Synthetic analysis</c:v>
          </c:tx>
          <c:spPr>
            <a:solidFill xmlns:a="http://schemas.openxmlformats.org/drawingml/2006/main">
              <a:srgbClr val="3D8DFF"/>
            </a:solidFill>
            <a:ln xmlns:a="http://schemas.openxmlformats.org/drawingml/2006/main" w="28575">
              <a:solidFill>
                <a:srgbClr val="3D8DFF"/>
              </a:solidFill>
              <a:prstDash val="solid"/>
            </a:ln>
          </c:spPr>
          <c:cat>
            <c:strLit>
              <c:ptCount val="4"/>
              <c:pt idx="0">
                <c:v>Commercial</c:v>
              </c:pt>
              <c:pt idx="1">
                <c:v>Supply</c:v>
              </c:pt>
              <c:pt idx="2">
                <c:v>Cash</c:v>
              </c:pt>
              <c:pt idx="3">
                <c:v>Model</c:v>
              </c:pt>
            </c:strLit>
          </c:cat>
          <c:val>
            <c:numLit>
              <c:formatCode>General</c:formatCode>
              <c:ptCount val="4"/>
              <c:pt idx="0">
                <c:v>6.5</c:v>
              </c:pt>
              <c:pt idx="1">
                <c:v>5</c:v>
              </c:pt>
              <c:pt idx="2">
                <c:v>3.9</c:v>
              </c:pt>
              <c:pt idx="3">
                <c:v>3.2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holeSize val="60"/>
      </c:doughnutChart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268685-84D5-441A-9CB9-854F3C73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D4EC4-25F7-49AB-8363-EEDD42C9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/  PHASE 1  /  FINANCE WORKSTREAM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752DE-2049-44B9-9E6D-D05DC191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381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Recommendation decision pack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13794-8749-4210-B9E0-D6239A9C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A focused finance transformation portfolio merits immediate sponsorship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0C446-745B-4A46-BB4C-EB7B87CA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Decision discussion • 13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21F3C-5578-4F82-A2D3-75208C18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721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Avery Calder • Nina Solberg • Theo Mercer • Keiko Ward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79CBF-88A9-496F-8005-6ECF99FF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09600"/>
            <a:ext cx="45720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84B118-A1FC-43E6-9B66-C56A74EB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123950"/>
            <a:ext cx="3409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4A9B32-7F54-4389-8DA6-7AA2417F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954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¥42.8M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EEF6C-8D70-4207-A2D5-0FC9E6E3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145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engagement budget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3F8A14-8AA8-4CE0-BAD0-D1BB95DC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241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¥18.6M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554B3F-6A22-4614-AA78-BD07C3DC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48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annual run-rate opportunity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BD48B3-75F5-4E4D-9DF2-401FD11B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6237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04FF36-3E3A-4E04-970D-275D2F1A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481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Phase 1 findings</a:t>
            </a:r>
          </a:p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Decision-ready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12120803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BA0FD6-51F7-4D93-ADA4-E48BFC1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A9ECB-EB68-4191-988B-61EBF984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RECOMMENDATION DECISION PACK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8C87F-93F1-4F5F-B487-F0F79213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2DAD4-EBB5-4BE8-8EFB-E2720D22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D96A2-03B3-42F2-98C0-55B7D757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decision package focuses leadership attention on the choices that unlock value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BABF2-DCC9-48B2-A346-E6780ACD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Recommended portfolio allocation (¥M)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28650" y="2238375"/>
          <a:ext xmlns:a="http://schemas.openxmlformats.org/drawingml/2006/main" cx="64770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298c951dfc4301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35D6D8-AB63-47DD-9442-4684B6C8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38375"/>
            <a:ext cx="3333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EA110F-7473-49FC-ACE2-40F1A603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What it means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CF9FA-48EA-4FC6-9B53-A526308A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2571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Leadership can reduce delivery risk by deciding mandate, owner, and funding together.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278862-4509-4900-BE7D-14D2714E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33875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Recommended next move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92543A-9872-4BA5-B917-E85B07D4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91050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Approve the portfolio, owners, and first funding gate</a:t>
            </a:r>
          </a:p>
        </p:txBody>
      </p:sp>
    </p:spTree>
    <p:extLst>
      <p:ext uri="{BB962C8B-B14F-4D97-AF65-F5344CB8AC3E}">
        <p14:creationId xmlns:p14="http://schemas.microsoft.com/office/powerpoint/2010/main" val="6011830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9D6E6F-EDC6-4013-9D02-1FA7DBCC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7618CC-08F1-45F9-99AD-86F3058B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RECOMMENDATION DECISION PACK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9FD812-A68E-49A1-BF7F-3EFCF6F9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7290A-0A48-4661-9866-4F04DFE6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6946F-DFE9-4873-9DE9-75505A95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decision metrics translate sponsorship into measurable commitments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1C67C3-AF7A-471C-8BB7-7E484243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AF466E-3CE4-4B60-BD88-5BA0D676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¥18.6M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D083B-AB2B-494E-992B-C0D073C2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portfolio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22AB3-9098-4F81-BB11-9D9B9F4E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Primary measure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0A2999-5076-4210-A726-FBEE2384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EBC259-B853-4F35-B076-32F3BADE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C91091-E27F-437E-B595-454C0788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mandates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1BBA0B-0DF0-49EF-9EA5-242BEEF9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Critical proof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979E1B-C54E-40D8-B1E7-08906EBA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C1FA3C-8272-413E-96CE-70D3EB5E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72225C-7C1E-4F04-9390-A5611476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sponsor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868AA2-0D9B-49C9-8729-97491A11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Management horizon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1FB43D-EBEA-4166-B33B-4DCB718D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E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80BC96-7852-4547-AF5C-1F19A490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Management implication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7DA8FE-89D8-4A93-ADF5-C83ED2A7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625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Use the metrics as the SteerCo contract: every approval carries an owner, a value measure, and a decision date.</a:t>
            </a:r>
          </a:p>
        </p:txBody>
      </p:sp>
    </p:spTree>
    <p:extLst>
      <p:ext uri="{BB962C8B-B14F-4D97-AF65-F5344CB8AC3E}">
        <p14:creationId xmlns:p14="http://schemas.microsoft.com/office/powerpoint/2010/main" val="14544669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D56237-E116-407B-A656-4E90FCB6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ABC4B1-4E34-4542-A776-B5095DFC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RECOMMENDATION DECISION PACK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E1CF8D-4227-4109-90FC-FEAA7990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B06B1-6FA3-4C85-B0AC-33A8EECD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695EC4-F375-477B-9AE2-64BEFFE1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Decision rights, ownership, and timing make the recommendation implementable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1714500"/>
          <a:ext xmlns:a="http://schemas.openxmlformats.org/drawingml/2006/main" cx="10515600" cy="2381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28900"/>
                <a:gridCol w="2628900"/>
                <a:gridCol w="2628900"/>
                <a:gridCol w="2628900"/>
              </a:tblGrid>
              <a:tr h="59531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Decision gate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Now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Approve portfolio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Avery Calder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Mandate issued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Jul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Confirm owners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Nina Solberg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Benefits linked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Sep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Review results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Keiko Ward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Funding gate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30879-4D7F-4E18-B124-ED3B5139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0515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D64882-2A75-41E0-9267-063A5100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Decision requested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BC9417-0E0E-47A8-AAD6-6DE95FF8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Approve the portfolio, owners, and first funding gate</a:t>
            </a:r>
          </a:p>
        </p:txBody>
      </p:sp>
    </p:spTree>
    <p:extLst>
      <p:ext uri="{BB962C8B-B14F-4D97-AF65-F5344CB8AC3E}">
        <p14:creationId xmlns:p14="http://schemas.microsoft.com/office/powerpoint/2010/main" val="18220954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2026-08-23T15:19:07.0710000Z</dcterms:created>
  <dcterms:modified xsi:type="dcterms:W3CDTF">2026-08-23T15:19:07.0710000Z</dcterms:modified>
</coreProperties>
</file>