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49a5ef6de44396" /><Relationship Type="http://schemas.openxmlformats.org/officeDocument/2006/relationships/extended-properties" Target="/docProps/app.xml" Id="R7087b7deb15e45f1" /><Relationship Type="http://schemas.openxmlformats.org/officeDocument/2006/relationships/officeDocument" Target="/ppt/presentation.xml" Id="Ra3b35d89d0fc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73d1e1c1a4680"/>
  </p:sldMasterIdLst>
  <p:notesMasterIdLst>
    <p:notesMasterId xmlns:r="http://schemas.openxmlformats.org/officeDocument/2006/relationships" r:id="Rbc3492c1e7e4488e"/>
  </p:notesMasterIdLst>
  <p:sldIdLst>
    <p:sldId xmlns:r="http://schemas.openxmlformats.org/officeDocument/2006/relationships" id="256" r:id="R54f02cc579e54e4d"/>
    <p:sldId xmlns:r="http://schemas.openxmlformats.org/officeDocument/2006/relationships" id="257" r:id="R324862e3b0fc47eb"/>
    <p:sldId xmlns:r="http://schemas.openxmlformats.org/officeDocument/2006/relationships" id="258" r:id="R154dc29085f94ae0"/>
    <p:sldId xmlns:r="http://schemas.openxmlformats.org/officeDocument/2006/relationships" id="259" r:id="R746f7741dc9d4a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3377ec419a45ae" /><Relationship Type="http://schemas.openxmlformats.org/officeDocument/2006/relationships/slideMaster" Target="/ppt/slideMasters/slideMaster1.xml" Id="R61e73d1e1c1a4680" /><Relationship Type="http://schemas.openxmlformats.org/officeDocument/2006/relationships/notesMaster" Target="/ppt/notesMasters/notesMaster1.xml" Id="Rbc3492c1e7e4488e" /><Relationship Type="http://schemas.openxmlformats.org/officeDocument/2006/relationships/presProps" Target="/ppt/presProps.xml" Id="Rceb82f1f61864cab" /><Relationship Type="http://schemas.openxmlformats.org/officeDocument/2006/relationships/tableStyles" Target="/ppt/tableStyles.xml" Id="R748509ee6d4d4bbf" /><Relationship Type="http://schemas.openxmlformats.org/officeDocument/2006/relationships/slide" Target="/ppt/slides/slide1.xml" Id="R54f02cc579e54e4d" /><Relationship Type="http://schemas.openxmlformats.org/officeDocument/2006/relationships/slide" Target="/ppt/slides/slide2.xml" Id="R324862e3b0fc47eb" /><Relationship Type="http://schemas.openxmlformats.org/officeDocument/2006/relationships/slide" Target="/ppt/slides/slide3.xml" Id="R154dc29085f94ae0" /><Relationship Type="http://schemas.openxmlformats.org/officeDocument/2006/relationships/slide" Target="/ppt/slides/slide4.xml" Id="R746f7741dc9d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bd9df1e5042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333862260e4c33" /><Relationship Type="http://schemas.openxmlformats.org/officeDocument/2006/relationships/notesMaster" Target="/ppt/notesMasters/notesMaster1.xml" Id="R2b5a2da495a84a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b4b75f22c24524" /><Relationship Type="http://schemas.openxmlformats.org/officeDocument/2006/relationships/notesMaster" Target="/ppt/notesMasters/notesMaster1.xml" Id="R6f882026344441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9ee73394dd4cdd" /><Relationship Type="http://schemas.openxmlformats.org/officeDocument/2006/relationships/notesMaster" Target="/ppt/notesMasters/notesMaster1.xml" Id="R8441bcaca3494f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548d88a23143b5" /><Relationship Type="http://schemas.openxmlformats.org/officeDocument/2006/relationships/notesMaster" Target="/ppt/notesMasters/notesMaster1.xml" Id="R12be3bde12234c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88996936e4c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ea3403fc2843f9" /><Relationship Type="http://schemas.openxmlformats.org/officeDocument/2006/relationships/slideLayout" Target="/ppt/slideLayouts/slideLayout1.xml" Id="Rb58c29593a2a4e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8c29593a2a4e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b0aec88af4b98" /><Relationship Type="http://schemas.openxmlformats.org/officeDocument/2006/relationships/notesSlide" Target="/ppt/notesSlides/notesSlide1.xml" Id="Rce104a4118234c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bd6b4f14e4a9f" /><Relationship Type="http://schemas.openxmlformats.org/officeDocument/2006/relationships/chart" Target="/ppt/slides/charts/chart1.xml" Id="Rc5fc7aad3ab14f23" /><Relationship Type="http://schemas.openxmlformats.org/officeDocument/2006/relationships/notesSlide" Target="/ppt/notesSlides/notesSlide2.xml" Id="R3b72a260b02a4f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c2eb5081a4fe0" /><Relationship Type="http://schemas.openxmlformats.org/officeDocument/2006/relationships/notesSlide" Target="/ppt/notesSlides/notesSlide3.xml" Id="Rcb6a0efa74bd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15db2fdc748a9" /><Relationship Type="http://schemas.openxmlformats.org/officeDocument/2006/relationships/notesSlide" Target="/ppt/notesSlides/notesSlide4.xml" Id="R14802fe45748464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3"/>
              <c:pt idx="0">
                <c:v>Centralized</c:v>
              </c:pt>
              <c:pt idx="1">
                <c:v>Federated</c:v>
              </c:pt>
              <c:pt idx="2">
                <c:v>Business-led</c:v>
              </c:pt>
            </c:strLit>
          </c:cat>
          <c:val>
            <c:numLit>
              <c:formatCode>General</c:formatCode>
              <c:ptCount val="3"/>
              <c:pt idx="0">
                <c:v>68</c:v>
              </c:pt>
              <c:pt idx="1">
                <c:v>87</c:v>
              </c:pt>
              <c:pt idx="2">
                <c:v>61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D42E1-4CA6-42AA-BD08-9E2BFFCB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5FAFB-0A3E-40E5-876A-E92085E4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74606-DCAD-453A-85B8-3985038C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Operating model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774EE-9A50-4D83-8FA7-3FAE8919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 federated finance model best balances control, speed, and business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E8482-B0F4-40A8-8D46-6B9A6A5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8ECCF-621B-4438-927E-595C72A0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A3421-72F9-4139-845B-F5EE0BA2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53E55-2E92-4D82-8B51-3837A4E8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91648-5FA1-4C97-8502-A0B388B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D175F-AFA5-4921-ABB1-C9738BFD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BCAC6-8C3C-405A-B5E9-B53D745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¥14.8M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8D3A4-7576-49EF-ABDD-30958AA8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749C3-C4D3-4C23-9FC2-80B2AEA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D7834-377D-44F7-8E5A-A25AD2B5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543830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9327D-1DE5-4648-8DCC-0D9E6800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6F7C6-DE47-4E29-807D-D04F8A21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OPERATING MODEL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E61BB-E35B-4E28-A9CA-ACE1785B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F538A-2AB8-46CD-B720-33233C3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5A270-5DAE-4E54-8C90-77D82587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option set makes the trade-off between value and readiness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8279A-4FF1-4739-9A03-B2A27FB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Operating-model option score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fc7aad3ab14f2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361AA-EAD1-4C31-A8B8-00ED0E27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98F8A-C7BB-4965-AF6E-840F546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52A4C-E280-46A7-9A10-5918D50A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highest-scoring choices combine material value with enough readiness to move in the first wave.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40E6D-D59D-4081-8FA7-5A10227E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BF053-ACB7-46BF-B6F7-D052C594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Approve the federated model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623777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F35F8-C8F1-4526-8244-FB3D24AA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5831B-5517-4562-84CE-B1B5350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OPERATING MODEL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3F92D-787C-47B4-B2CC-CA7D82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F259D-BD05-4F12-85B1-02CADEBE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DB41D-20EF-45AE-8438-0F366257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evaluation criteria keep the portfolio focused on executable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DEF56-014B-48C5-9D75-DF504B62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96931-033A-4C95-B2E2-42F1C608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65589-FD0A-4618-ADA7-ABAA423B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federated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5A05B-B090-4711-839F-14CC9491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42D67-7FE1-4EC3-A34D-11D487C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E7D0A-C175-4C2A-A423-39D99ABB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1A530-92B6-46B5-987B-9E9252F4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design principles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E6A17-C2A1-4E49-8DF1-9C41E08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5FE69-3D7C-4FF2-ACD0-DD676327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1D42F-A594-428A-A1B8-5DE388C3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F9E76-70A9-4CB6-A356-2A94F0A8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shared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2DC16-AFA3-4D28-9A8E-2D82AA34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2DF50-A2B2-4726-AEFA-8CD089FA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1472A-E840-46C0-ACA0-7EF15B75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1C09C-1B9F-467D-9BFA-875F5178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scorecard to protect first-wave capacity for initiatives that can deliver with disciplined ownership.</a:t>
            </a:r>
          </a:p>
        </p:txBody>
      </p:sp>
    </p:spTree>
    <p:extLst>
      <p:ext uri="{BB962C8B-B14F-4D97-AF65-F5344CB8AC3E}">
        <p14:creationId xmlns:p14="http://schemas.microsoft.com/office/powerpoint/2010/main" val="501800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DCF4E-19FF-4341-B845-C72D91A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B6417-B5C8-426E-9789-EEEA537E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OPERATING MODEL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BB164-419A-40CF-8D9D-DE7647E6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44C3B-57CB-474F-A069-FB7D5ACF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A46E0-FBDE-4155-936B-403702AE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staged choice architecture turns the portfolio into an executable first wave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Approve principles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Target model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Define roles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RACI signed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Pilot routines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Pilot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C4D75-4EB1-4FAD-BF52-87EC384F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D7BBC-BFB3-41C8-A100-1453504B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30B4E-6CD2-410E-9797-D26508E7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Approve the federated model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886207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2026-08-23T15:19:06.8710000Z</dcterms:created>
  <dcterms:modified xsi:type="dcterms:W3CDTF">2026-08-23T15:19:06.8710000Z</dcterms:modified>
</coreProperties>
</file>