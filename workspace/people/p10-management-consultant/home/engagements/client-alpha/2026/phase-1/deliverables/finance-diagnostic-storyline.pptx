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26c32269154ca0" /><Relationship Type="http://schemas.openxmlformats.org/officeDocument/2006/relationships/extended-properties" Target="/docProps/app.xml" Id="R45525d3b842f466f" /><Relationship Type="http://schemas.openxmlformats.org/officeDocument/2006/relationships/officeDocument" Target="/ppt/presentation.xml" Id="Re5e4561cd16a4e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b6c18472344ff9"/>
  </p:sldMasterIdLst>
  <p:notesMasterIdLst>
    <p:notesMasterId xmlns:r="http://schemas.openxmlformats.org/officeDocument/2006/relationships" r:id="R8f320782ba5e43e9"/>
  </p:notesMasterIdLst>
  <p:sldIdLst>
    <p:sldId xmlns:r="http://schemas.openxmlformats.org/officeDocument/2006/relationships" id="256" r:id="R39b4a5ed616748bf"/>
    <p:sldId xmlns:r="http://schemas.openxmlformats.org/officeDocument/2006/relationships" id="257" r:id="Re5a88ebac71a48f0"/>
    <p:sldId xmlns:r="http://schemas.openxmlformats.org/officeDocument/2006/relationships" id="258" r:id="Rf1f369ff178748a6"/>
    <p:sldId xmlns:r="http://schemas.openxmlformats.org/officeDocument/2006/relationships" id="259" r:id="R324812eeaa3344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4a112ea4dd4386" /><Relationship Type="http://schemas.openxmlformats.org/officeDocument/2006/relationships/slideMaster" Target="/ppt/slideMasters/slideMaster1.xml" Id="R90b6c18472344ff9" /><Relationship Type="http://schemas.openxmlformats.org/officeDocument/2006/relationships/notesMaster" Target="/ppt/notesMasters/notesMaster1.xml" Id="R8f320782ba5e43e9" /><Relationship Type="http://schemas.openxmlformats.org/officeDocument/2006/relationships/presProps" Target="/ppt/presProps.xml" Id="R7b6c040203264474" /><Relationship Type="http://schemas.openxmlformats.org/officeDocument/2006/relationships/tableStyles" Target="/ppt/tableStyles.xml" Id="R706d95ea610c4dbc" /><Relationship Type="http://schemas.openxmlformats.org/officeDocument/2006/relationships/slide" Target="/ppt/slides/slide1.xml" Id="R39b4a5ed616748bf" /><Relationship Type="http://schemas.openxmlformats.org/officeDocument/2006/relationships/slide" Target="/ppt/slides/slide2.xml" Id="Re5a88ebac71a48f0" /><Relationship Type="http://schemas.openxmlformats.org/officeDocument/2006/relationships/slide" Target="/ppt/slides/slide3.xml" Id="Rf1f369ff178748a6" /><Relationship Type="http://schemas.openxmlformats.org/officeDocument/2006/relationships/slide" Target="/ppt/slides/slide4.xml" Id="R324812eeaa3344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ffda7d18dd4c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cd8c8ed7f64f4b" /><Relationship Type="http://schemas.openxmlformats.org/officeDocument/2006/relationships/notesMaster" Target="/ppt/notesMasters/notesMaster1.xml" Id="R9b0fbb82fae54a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8d2535c54f4e74" /><Relationship Type="http://schemas.openxmlformats.org/officeDocument/2006/relationships/notesMaster" Target="/ppt/notesMasters/notesMaster1.xml" Id="Re472e38dc98f46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ccdc864fdd438f" /><Relationship Type="http://schemas.openxmlformats.org/officeDocument/2006/relationships/notesMaster" Target="/ppt/notesMasters/notesMaster1.xml" Id="Rc859d7ee71db4d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424fecc138417a" /><Relationship Type="http://schemas.openxmlformats.org/officeDocument/2006/relationships/notesMaster" Target="/ppt/notesMasters/notesMaster1.xml" Id="R20f1af3d678441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1c2e8fd4243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b941ee125e4794" /><Relationship Type="http://schemas.openxmlformats.org/officeDocument/2006/relationships/slideLayout" Target="/ppt/slideLayouts/slideLayout1.xml" Id="R04960d50435441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960d50435441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67ec85d374cfe" /><Relationship Type="http://schemas.openxmlformats.org/officeDocument/2006/relationships/notesSlide" Target="/ppt/notesSlides/notesSlide1.xml" Id="R41b89f34b02140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edebec5c740e5" /><Relationship Type="http://schemas.openxmlformats.org/officeDocument/2006/relationships/chart" Target="/ppt/slides/charts/chart1.xml" Id="Rcbc514e8996e421c" /><Relationship Type="http://schemas.openxmlformats.org/officeDocument/2006/relationships/notesSlide" Target="/ppt/notesSlides/notesSlide2.xml" Id="R7b8909e5d1f141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1362395924ad8" /><Relationship Type="http://schemas.openxmlformats.org/officeDocument/2006/relationships/notesSlide" Target="/ppt/notesSlides/notesSlide3.xml" Id="R6f4c9ffafdce4d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caf9475364618" /><Relationship Type="http://schemas.openxmlformats.org/officeDocument/2006/relationships/notesSlide" Target="/ppt/notesSlides/notesSlide4.xml" Id="Rbb19652800db4250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none"/>
          </c:marke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12.8</c:v>
              </c:pt>
              <c:pt idx="1">
                <c:v>11.9</c:v>
              </c:pt>
              <c:pt idx="2">
                <c:v>10.7</c:v>
              </c:pt>
              <c:pt idx="3">
                <c:v>9.6</c:v>
              </c:pt>
            </c:numLit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7989F-D5D9-45DC-B972-1DD137A2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F1BB5-0CDE-43E7-88EF-2981F060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7FD7E-D46C-41EE-B73E-61F9712D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Finance diagnostic storyline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47B3D-50EB-4022-8C64-6CB1C424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Margin pressure is concentrated in commercial leakage and cost-to-serve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EC8CE-DA7F-475C-9F40-4009D54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C3C7E-14B4-4EE1-8C15-80F39FC3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D0964-4BA8-42FC-884B-75630B3E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C6D30-4A2B-4835-BB1F-3178B6C2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920E8-4C16-4AE0-B5FC-89C7C8B8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54B2B-64E6-4667-8715-65A5C981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7C664-CAEA-40CF-97B4-8B6B5F0D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¥18.6M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B2A26-7177-4295-97BE-C440DD9E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F7FAC-A589-418C-8740-43F8C1C5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2164B-05D1-4B5D-A34F-947D7421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91322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1012C-A8D0-41F0-9F90-9D29CD30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CAA26-789A-47A6-B0D3-030E52D4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FINANCE DIAGNOSTIC STORYLINE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7F7B4-B7A3-4170-B5E3-DCCF4CCD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4E7B1-19A2-477F-8F91-6D53E529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EC787-99F9-4912-8F47-4456C04C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diagnostic isolates the variance that needs management attention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934EE-6056-49D5-82CA-69A8A143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Margin bridge: synthetic leakage and cost-to-serve trend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c514e8996e421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26D53-342E-4CA1-AEEC-24C1B2FF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BB690-4E8F-4B2A-AEB8-B9331B2B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BC27D-2B0E-4EFB-922C-3768CFF0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 spread points to a targeted fact base and a short control agenda, rather than a broad redesign.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1FB11-8A41-4F68-9716-FF168B1A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61A8C-AB84-4728-931C-2EA4CD40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diagnostic to focus the transformation mandate</a:t>
            </a:r>
          </a:p>
        </p:txBody>
      </p:sp>
    </p:spTree>
    <p:extLst>
      <p:ext uri="{BB962C8B-B14F-4D97-AF65-F5344CB8AC3E}">
        <p14:creationId xmlns:p14="http://schemas.microsoft.com/office/powerpoint/2010/main" val="549929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39632-0D8D-4D8F-B306-E3AF6078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86EEF-F543-4D4B-A66F-3D11BC62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FINANCE DIAGNOSTIC STORYLINE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C3B39-DFDE-4A4B-B50E-0BD4EFEF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BC1C4-75EC-4AE1-A810-F9183042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282B2-158C-48FD-8A0C-1A604C2D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KPI set gives Finance a fact-based way to manage the root cause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73993-0034-4512-A456-6CFF7875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D7B57-FDCB-462A-8FE8-910D00B6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3.2 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FEE88-C741-4840-80D3-2DB8B183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margin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A3B57-67A4-4715-BBD2-4BB67D26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9679C-8B10-4E18-B935-18FA2F0F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CD59D-2B39-457D-83EF-0A371D03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¥6.5M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523F1-3F9A-4CD7-9136-BC43D37C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pricing leakage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9DBD5-C1A8-49FF-9186-2035F472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6A144-2B87-4966-B2C7-8DC81A10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E658C-C374-4DAC-9949-31481396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¥3.2M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07533-43FC-49FB-BD34-5A149E0A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service 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4B56E-A753-4371-9DAA-6DD44369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7DE47-A5F8-428D-926E-CECF9339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FCB56-E2AB-4B47-966D-004362F0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F0DD9-3DA8-48B5-A945-EC87C232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variance measures to focus weekly escalation on the few levers that change the financial outcome.</a:t>
            </a:r>
          </a:p>
        </p:txBody>
      </p:sp>
    </p:spTree>
    <p:extLst>
      <p:ext uri="{BB962C8B-B14F-4D97-AF65-F5344CB8AC3E}">
        <p14:creationId xmlns:p14="http://schemas.microsoft.com/office/powerpoint/2010/main" val="8451039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7126C-E7A6-4256-AC40-FA91465E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3A899-9FEC-45BB-98E4-022FF0B0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FINANCE DIAGNOSTIC STORYLINE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BBCC3-0FC7-496B-9905-6DE29389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C4180-1B86-49F4-98A7-4D643D13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BFF21-E0C3-4B9F-85AB-4A8D05C7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 focused fact-to-action cycle converts the diagnostic into controlled execution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Jul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Validate bridge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Root causes set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Aug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Set controls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Control design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Sep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Track recovery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Margin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56496-8A74-4AE9-8F7F-DEBD86BF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D3BB9-495C-42A3-A4F6-9AA12691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D54D2-9A06-4C84-A8F4-061BA86D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diagnostic to focus the transformation mandate</a:t>
            </a:r>
          </a:p>
        </p:txBody>
      </p:sp>
    </p:spTree>
    <p:extLst>
      <p:ext uri="{BB962C8B-B14F-4D97-AF65-F5344CB8AC3E}">
        <p14:creationId xmlns:p14="http://schemas.microsoft.com/office/powerpoint/2010/main" val="595137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2026-08-23T15:19:06.4370000Z</dcterms:created>
  <dcterms:modified xsi:type="dcterms:W3CDTF">2026-08-23T15:19:06.4370000Z</dcterms:modified>
</coreProperties>
</file>