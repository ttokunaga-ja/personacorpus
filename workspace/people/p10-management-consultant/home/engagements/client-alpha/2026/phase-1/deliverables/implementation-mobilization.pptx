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a1dca86e484906" /><Relationship Type="http://schemas.openxmlformats.org/officeDocument/2006/relationships/extended-properties" Target="/docProps/app.xml" Id="Rc738669958114bff" /><Relationship Type="http://schemas.openxmlformats.org/officeDocument/2006/relationships/officeDocument" Target="/ppt/presentation.xml" Id="Rb5e55bf3a27a43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26e228d2e247aa"/>
  </p:sldMasterIdLst>
  <p:notesMasterIdLst>
    <p:notesMasterId xmlns:r="http://schemas.openxmlformats.org/officeDocument/2006/relationships" r:id="Re997c14895cc41af"/>
  </p:notesMasterIdLst>
  <p:sldIdLst>
    <p:sldId xmlns:r="http://schemas.openxmlformats.org/officeDocument/2006/relationships" id="256" r:id="Rbf91a28f7e8b4203"/>
    <p:sldId xmlns:r="http://schemas.openxmlformats.org/officeDocument/2006/relationships" id="257" r:id="Rc0cd3cb2979e4caf"/>
    <p:sldId xmlns:r="http://schemas.openxmlformats.org/officeDocument/2006/relationships" id="258" r:id="Rf081c16fdcca436f"/>
    <p:sldId xmlns:r="http://schemas.openxmlformats.org/officeDocument/2006/relationships" id="259" r:id="Rade80f0ebaa442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d4492e6ae94bdc" /><Relationship Type="http://schemas.openxmlformats.org/officeDocument/2006/relationships/slideMaster" Target="/ppt/slideMasters/slideMaster1.xml" Id="Ra426e228d2e247aa" /><Relationship Type="http://schemas.openxmlformats.org/officeDocument/2006/relationships/notesMaster" Target="/ppt/notesMasters/notesMaster1.xml" Id="Re997c14895cc41af" /><Relationship Type="http://schemas.openxmlformats.org/officeDocument/2006/relationships/presProps" Target="/ppt/presProps.xml" Id="Rf9b1dfee41354f94" /><Relationship Type="http://schemas.openxmlformats.org/officeDocument/2006/relationships/tableStyles" Target="/ppt/tableStyles.xml" Id="Re2ccb6edd1b24e22" /><Relationship Type="http://schemas.openxmlformats.org/officeDocument/2006/relationships/slide" Target="/ppt/slides/slide1.xml" Id="Rbf91a28f7e8b4203" /><Relationship Type="http://schemas.openxmlformats.org/officeDocument/2006/relationships/slide" Target="/ppt/slides/slide2.xml" Id="Rc0cd3cb2979e4caf" /><Relationship Type="http://schemas.openxmlformats.org/officeDocument/2006/relationships/slide" Target="/ppt/slides/slide3.xml" Id="Rf081c16fdcca436f" /><Relationship Type="http://schemas.openxmlformats.org/officeDocument/2006/relationships/slide" Target="/ppt/slides/slide4.xml" Id="Rade80f0ebaa442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1127be228f4b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8abad94f874f6a" /><Relationship Type="http://schemas.openxmlformats.org/officeDocument/2006/relationships/notesMaster" Target="/ppt/notesMasters/notesMaster1.xml" Id="Racf00b75ef2e4a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99ee84022a4e38" /><Relationship Type="http://schemas.openxmlformats.org/officeDocument/2006/relationships/notesMaster" Target="/ppt/notesMasters/notesMaster1.xml" Id="R5ed4aa31ac944c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011b462dff4543" /><Relationship Type="http://schemas.openxmlformats.org/officeDocument/2006/relationships/notesMaster" Target="/ppt/notesMasters/notesMaster1.xml" Id="Rcfe1e34be5034d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55d2a4ad5847b3" /><Relationship Type="http://schemas.openxmlformats.org/officeDocument/2006/relationships/notesMaster" Target="/ppt/notesMasters/notesMaster1.xml" Id="R2adb524f2ccb48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75b068d934d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785d43ddd142b9" /><Relationship Type="http://schemas.openxmlformats.org/officeDocument/2006/relationships/slideLayout" Target="/ppt/slideLayouts/slideLayout1.xml" Id="Rfbcf02583dab48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cf02583dab48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231ff5e7043ce" /><Relationship Type="http://schemas.openxmlformats.org/officeDocument/2006/relationships/notesSlide" Target="/ppt/notesSlides/notesSlide1.xml" Id="R9aed4ff8c3ab49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d897f7b72490e" /><Relationship Type="http://schemas.openxmlformats.org/officeDocument/2006/relationships/chart" Target="/ppt/slides/charts/chart1.xml" Id="R3d97c52c5a4d48b7" /><Relationship Type="http://schemas.openxmlformats.org/officeDocument/2006/relationships/notesSlide" Target="/ppt/notesSlides/notesSlide2.xml" Id="Rd610846d3b8048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54f69884147de" /><Relationship Type="http://schemas.openxmlformats.org/officeDocument/2006/relationships/notesSlide" Target="/ppt/notesSlides/notesSlide3.xml" Id="Rdd90925f66f44b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a6369257e46f2" /><Relationship Type="http://schemas.openxmlformats.org/officeDocument/2006/relationships/notesSlide" Target="/ppt/notesSlides/notesSlide4.xml" Id="R1d3df0768490442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Synthetic analysis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cat>
            <c:strLit>
              <c:ptCount val="4"/>
              <c:pt idx="0">
                <c:v>Pricing</c:v>
              </c:pt>
              <c:pt idx="1">
                <c:v>Sourcing</c:v>
              </c:pt>
              <c:pt idx="2">
                <c:v>Cash</c:v>
              </c:pt>
              <c:pt idx="3">
                <c:v>PMO</c:v>
              </c:pt>
            </c:strLit>
          </c:cat>
          <c:val>
            <c:numLit>
              <c:formatCode>General</c:formatCode>
              <c:ptCount val="4"/>
              <c:pt idx="0">
                <c:v>85</c:v>
              </c:pt>
              <c:pt idx="1">
                <c:v>72</c:v>
              </c:pt>
              <c:pt idx="2">
                <c:v>64</c:v>
              </c:pt>
              <c:pt idx="3">
                <c:v>91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2C5BE-BEB0-44C2-B89D-6754351E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73F00-641E-4B07-BD5E-F6159D2C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/  PHASE 1  /  FINANCE WORKSTREAM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E1FFD-1FA5-4D25-AEF0-43A9E31F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Implementation mobilization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7C712-B996-4D06-97FE-BCD9C4B0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 12-week mobilization converts the value case into owned work packages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5A86C-26EF-4E0D-9BE8-189CE9D4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discussion • 13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5E4C5-CDBE-4CF6-897B-A50FE42B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Avery Calder • Nina Solberg • Theo Mercer • Keiko 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33FCB-728E-4279-8950-A067092A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9600"/>
            <a:ext cx="4572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194F2-05AF-4E89-9389-FB015C8B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7340F-3DC2-42E8-BF43-42C5DDFD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¥42.8M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BD3BE-08A4-4BFE-8C5F-79F4AC08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engagement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74A61-EB5A-4CA3-9B9F-05474ED2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¥18.6M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12091-AF11-4224-A6F9-75E47AEC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annual run-rate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7C6EC-C013-4632-B9F8-B7A82234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E5AC6-EC0E-4A9E-ABDA-E4584485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findings</a:t>
            </a:r>
          </a:p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Decision-ready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325951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E8686-99DF-47C8-ACD6-1EA7AF8F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616D7-7265-4EBA-92F9-7A0D6DE7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IMPLEMENTATION MOBILIZATION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1DEDC-BA6E-40C1-AA19-454A0D95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35914-0126-4B3C-BD82-9CAD0BA6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319CF-E18C-4087-9972-09E6794A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delivery path shows how value builds through sequenced waves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8B5FE-9A65-4CE1-9238-8893B6E7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Mobilization readiness by work package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97c52c5a4d48b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1BF79-CAB3-4602-8CC8-8B65A72E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7E591-0BC9-4CD8-81B7-93987CFE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3208E-5C4C-4C21-802F-4B34B56C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Early controls create confidence, then larger benefits arrive as the operating rhythm becomes routine.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3B368-39D6-4C9F-8D66-B9491132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5C614-85EF-4327-AFB1-B1170094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Name workstream leads and launch the first decision gates</a:t>
            </a:r>
          </a:p>
        </p:txBody>
      </p:sp>
    </p:spTree>
    <p:extLst>
      <p:ext uri="{BB962C8B-B14F-4D97-AF65-F5344CB8AC3E}">
        <p14:creationId xmlns:p14="http://schemas.microsoft.com/office/powerpoint/2010/main" val="8908798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AFE7A-5969-4034-8BE3-58E7C185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4A80F-3183-419B-B8B0-1F70F04B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IMPLEMENTATION MOBILIZATION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C2746-0B18-4F52-BEC1-4DCA426A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3AE2E-8F1B-4F6C-A0F2-C6AF287D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0972E-E56E-45B2-83EA-EE665F8C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milestones make benefits and capability-building visible together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39A20-164A-49F5-A59D-CC60B004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2A733-F14C-488D-B11E-AAAA86CB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4C7F7-FB6C-485E-9E4D-0FA5B4E2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work packages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500F2-2303-4C95-BFF7-C19AA086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Primary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7A723-DFEE-4383-9BF7-A430D077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B1A0D-A0BB-4060-AF2A-9024B5B5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12 wks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F465A-7A24-4E3F-9B0E-73355239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mobilization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5587C-7298-4C9B-A641-D1790F57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Critical proof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B30BF-4B9A-4BCF-AECC-5AB6BE53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91378-1339-40E6-8329-2EE33432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DC6AF-0388-4DD3-B467-61A555BB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gates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EC66B-8187-41E8-94FC-8EDC6E6D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Management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28743-0E2D-4F1B-84DE-08AC5840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EE545-92A5-474F-A78A-72148CB9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5EF2D-3575-4928-8327-63FB883D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each milestone as a benefit gate: confirm delivery evidence before releasing the next wave.</a:t>
            </a:r>
          </a:p>
        </p:txBody>
      </p:sp>
    </p:spTree>
    <p:extLst>
      <p:ext uri="{BB962C8B-B14F-4D97-AF65-F5344CB8AC3E}">
        <p14:creationId xmlns:p14="http://schemas.microsoft.com/office/powerpoint/2010/main" val="5677984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7EBB3-2E06-4708-B9A4-D666F009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BCB89-2FB8-4718-85DC-831F8A60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IMPLEMENTATION MOBILIZATION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16804-9E30-4B35-BB45-380A171B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7D290-2177-4873-8F62-8873A463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BF623-B54C-4CB1-BE19-69988E51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Clear wave gates keep the roadmap anchored to realized benefits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515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0–2 wks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Set charter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Mobilize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3–6 wks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Run sprints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Design ready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7–12 wks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Embed controls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Benefit gate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3E83D-B9AF-4EC0-8EF9-2B6898A8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051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DBCF3-C2B5-437C-A959-9A29534C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784EA-A1D8-48ED-BB12-50BD71F8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Name workstream leads and launch the first decision gates</a:t>
            </a:r>
          </a:p>
        </p:txBody>
      </p:sp>
    </p:spTree>
    <p:extLst>
      <p:ext uri="{BB962C8B-B14F-4D97-AF65-F5344CB8AC3E}">
        <p14:creationId xmlns:p14="http://schemas.microsoft.com/office/powerpoint/2010/main" val="7452826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2026-08-23T15:19:06.5990000Z</dcterms:created>
  <dcterms:modified xsi:type="dcterms:W3CDTF">2026-08-23T15:19:06.5990000Z</dcterms:modified>
</coreProperties>
</file>