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e2f1286c7c4e09" /><Relationship Type="http://schemas.openxmlformats.org/officeDocument/2006/relationships/extended-properties" Target="/docProps/app.xml" Id="R1a429ba3968d4cd1" /><Relationship Type="http://schemas.openxmlformats.org/officeDocument/2006/relationships/officeDocument" Target="/ppt/presentation.xml" Id="R394498471ad44c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04f8e412424036"/>
  </p:sldMasterIdLst>
  <p:notesMasterIdLst>
    <p:notesMasterId xmlns:r="http://schemas.openxmlformats.org/officeDocument/2006/relationships" r:id="R0905ad261fce48e0"/>
  </p:notesMasterIdLst>
  <p:sldIdLst>
    <p:sldId xmlns:r="http://schemas.openxmlformats.org/officeDocument/2006/relationships" id="256" r:id="R14dd6cd9bf064a53"/>
    <p:sldId xmlns:r="http://schemas.openxmlformats.org/officeDocument/2006/relationships" id="257" r:id="R7bc6b05b07904047"/>
    <p:sldId xmlns:r="http://schemas.openxmlformats.org/officeDocument/2006/relationships" id="258" r:id="R86c8b2a68273407f"/>
    <p:sldId xmlns:r="http://schemas.openxmlformats.org/officeDocument/2006/relationships" id="259" r:id="Rcaa7fea849fd4c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0ebf597ab0413e" /><Relationship Type="http://schemas.openxmlformats.org/officeDocument/2006/relationships/slideMaster" Target="/ppt/slideMasters/slideMaster1.xml" Id="R3f04f8e412424036" /><Relationship Type="http://schemas.openxmlformats.org/officeDocument/2006/relationships/notesMaster" Target="/ppt/notesMasters/notesMaster1.xml" Id="R0905ad261fce48e0" /><Relationship Type="http://schemas.openxmlformats.org/officeDocument/2006/relationships/presProps" Target="/ppt/presProps.xml" Id="R4fbc1df0d1854afa" /><Relationship Type="http://schemas.openxmlformats.org/officeDocument/2006/relationships/tableStyles" Target="/ppt/tableStyles.xml" Id="R0cbedb14d18242cc" /><Relationship Type="http://schemas.openxmlformats.org/officeDocument/2006/relationships/slide" Target="/ppt/slides/slide1.xml" Id="R14dd6cd9bf064a53" /><Relationship Type="http://schemas.openxmlformats.org/officeDocument/2006/relationships/slide" Target="/ppt/slides/slide2.xml" Id="R7bc6b05b07904047" /><Relationship Type="http://schemas.openxmlformats.org/officeDocument/2006/relationships/slide" Target="/ppt/slides/slide3.xml" Id="R86c8b2a68273407f" /><Relationship Type="http://schemas.openxmlformats.org/officeDocument/2006/relationships/slide" Target="/ppt/slides/slide4.xml" Id="Rcaa7fea849fd4c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78aecfe74a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1f78b6bb7846f8" /><Relationship Type="http://schemas.openxmlformats.org/officeDocument/2006/relationships/notesMaster" Target="/ppt/notesMasters/notesMaster1.xml" Id="R2fa3853316a041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2debf719241f7" /><Relationship Type="http://schemas.openxmlformats.org/officeDocument/2006/relationships/notesMaster" Target="/ppt/notesMasters/notesMaster1.xml" Id="Rcd4aa0a1f3dc49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4a1be29d924c88" /><Relationship Type="http://schemas.openxmlformats.org/officeDocument/2006/relationships/notesMaster" Target="/ppt/notesMasters/notesMaster1.xml" Id="Rb3101c92f36749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0c60285afb4bd1" /><Relationship Type="http://schemas.openxmlformats.org/officeDocument/2006/relationships/notesMaster" Target="/ppt/notesMasters/notesMaster1.xml" Id="R9a08fbe5a57344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7a3b3598f46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802346384d44b8" /><Relationship Type="http://schemas.openxmlformats.org/officeDocument/2006/relationships/slideLayout" Target="/ppt/slideLayouts/slideLayout1.xml" Id="R2a3ed775409f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ed775409f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3d887b3644766" /><Relationship Type="http://schemas.openxmlformats.org/officeDocument/2006/relationships/notesSlide" Target="/ppt/notesSlides/notesSlide1.xml" Id="Rf61c9b253dd841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93658ed5c4e94" /><Relationship Type="http://schemas.openxmlformats.org/officeDocument/2006/relationships/chart" Target="/ppt/slides/charts/chart1.xml" Id="R3c22b341385443ee" /><Relationship Type="http://schemas.openxmlformats.org/officeDocument/2006/relationships/notesSlide" Target="/ppt/notesSlides/notesSlide2.xml" Id="R91334fa333cf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5d3af24734fce" /><Relationship Type="http://schemas.openxmlformats.org/officeDocument/2006/relationships/notesSlide" Target="/ppt/notesSlides/notesSlide3.xml" Id="Re7858d879b5542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61aa2245440ba" /><Relationship Type="http://schemas.openxmlformats.org/officeDocument/2006/relationships/notesSlide" Target="/ppt/notesSlides/notesSlide4.xml" Id="R0f459c5e584b4c5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Pricing</c:v>
              </c:pt>
              <c:pt idx="1">
                <c:v>Sourcing</c:v>
              </c:pt>
              <c:pt idx="2">
                <c:v>Mix</c:v>
              </c:pt>
              <c:pt idx="3">
                <c:v>Service</c:v>
              </c:pt>
            </c:strLit>
          </c:cat>
          <c:val>
            <c:numLit>
              <c:formatCode>General</c:formatCode>
              <c:ptCount val="4"/>
              <c:pt idx="0">
                <c:v>6.5</c:v>
              </c:pt>
              <c:pt idx="1">
                <c:v>5</c:v>
              </c:pt>
              <c:pt idx="2">
                <c:v>4.1</c:v>
              </c:pt>
              <c:pt idx="3">
                <c:v>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8EB8B-9A68-4B2D-BB8B-15F37EC7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2E4D3-8269-45DD-A0D6-2D663A2E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3FF76-8E17-480A-B889-98BA5A42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Margin improvement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E5F14-AD2D-43D4-8697-73AA419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Commercial discipline and procurement reset are the largest margin levers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5BBCC-55B5-41B4-AF19-336C6785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ED927-D416-4C89-86CE-30B82A5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74CC2-E300-4581-B2A4-07E45ABD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4C449-FD86-49BD-95EF-AD23BD03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31F8C-B3F2-4633-8BCA-8F284BD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6B23C-9BD7-4552-8D6D-FF110A04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4BFD3-F2AD-451E-9ED1-AD1C0D0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A000F-EF22-49B1-8CCC-4DE300BC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F15EC-F6F6-4226-AD6B-3DF613E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C37E4-E9F0-4921-9AAD-94DD7EA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201591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EEE2C-C186-4AA5-8649-8E2ACBE9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1C520-4EEB-4D0E-BCC7-0B541C27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MARGIN IMPROVEMENT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8442B-3B34-48C6-9E16-89535C6B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4E293-5216-4ACC-994E-0DE6751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ADE2D-3085-4D4E-A1FB-54ADFD3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option set makes the trade-off between value and readiness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AFA59-DCFF-4DCF-AF2E-7BFF8BC8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Margin improvement options (¥M)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22b341385443e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23E95-23D9-4D78-BF46-2127173B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4DF08-7AFE-411E-AD2C-DE75C4D3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E9B5F-3C5C-4014-B655-099D6E9A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highest-scoring choices combine material value with enough readiness to move in the first wave.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822EC-6024-423C-90B0-38C9044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79024-2C20-4B7B-8011-BE84481F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Select the balanced portfolio for a 10-point margin uplift</a:t>
            </a:r>
          </a:p>
        </p:txBody>
      </p:sp>
    </p:spTree>
    <p:extLst>
      <p:ext uri="{BB962C8B-B14F-4D97-AF65-F5344CB8AC3E}">
        <p14:creationId xmlns:p14="http://schemas.microsoft.com/office/powerpoint/2010/main" val="911980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475AC-048C-4781-BE89-35234A61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D0C0A-D00F-4D0A-9733-DAB5EA41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MARGIN IMPROVEMENT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6358F-2EEA-4A58-B4EF-29385FFE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BD634-F170-4F0E-8C5E-821C894F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03F2D-FB76-4E78-BCD6-CD3272A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evaluation criteria keep the portfolio focused on executable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5C824-7A46-4B67-989E-8598BAA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FCBAE-B685-47E3-B45F-4098F5A6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92C94-F131-457F-808C-79AA65F9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balanced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40946-9805-4355-A0B0-153D2D95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96320-F14A-49AB-A62F-C23E0396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474C1-E200-4F8E-A797-571C6292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¥11.5M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A365F-0C07-4B33-B981-0997F522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low-risk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8750E-573D-4591-88FE-4B1B254E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CA8CD-D772-4725-B6BF-B8BC4ABB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CE67C-CB94-4F81-A27B-418A3143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10 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F9E2B-39E7-4CC0-874C-284D5610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uplift ambition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A481D-F0C7-4F07-A244-A7A1DF83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047FD-7AF1-46CD-9A05-85DB918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C5BD3-C72F-4815-BD84-A8BD75B8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13679-6CFB-4523-8F03-B5802BD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scorecard to protect first-wave capacity for initiatives that can deliver with disciplined ownership.</a:t>
            </a:r>
          </a:p>
        </p:txBody>
      </p:sp>
    </p:spTree>
    <p:extLst>
      <p:ext uri="{BB962C8B-B14F-4D97-AF65-F5344CB8AC3E}">
        <p14:creationId xmlns:p14="http://schemas.microsoft.com/office/powerpoint/2010/main" val="1421951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3F021-C383-4FBE-9359-84F60B0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44D41-D388-4D44-953C-62C981B1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MARGIN IMPROVEMENT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E6525-B6E1-4427-950C-7B6E2EB5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97D40-B68A-477E-B878-71F770A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3432-991D-43EA-B751-C7972C48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staged choice architecture turns the portfolio into an executable first wave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Select portfolio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Option chosen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Launch pricing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Commercial gate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Aug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Launch sourcing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Savings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A8079-104E-4846-B51A-A57260E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02995-956B-4F89-9429-1FB23775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A60A0-48E7-4C5E-B29A-BB278FD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Select the balanced portfolio for a 10-point margin uplift</a:t>
            </a:r>
          </a:p>
        </p:txBody>
      </p:sp>
    </p:spTree>
    <p:extLst>
      <p:ext uri="{BB962C8B-B14F-4D97-AF65-F5344CB8AC3E}">
        <p14:creationId xmlns:p14="http://schemas.microsoft.com/office/powerpoint/2010/main" val="898130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2026-08-23T15:19:06.7870000Z</dcterms:created>
  <dcterms:modified xsi:type="dcterms:W3CDTF">2026-08-23T15:19:06.7870000Z</dcterms:modified>
</coreProperties>
</file>