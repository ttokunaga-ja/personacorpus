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41c55e012e4ac1" /><Relationship Type="http://schemas.openxmlformats.org/officeDocument/2006/relationships/extended-properties" Target="/docProps/app.xml" Id="R4749267adf80482e" /><Relationship Type="http://schemas.openxmlformats.org/officeDocument/2006/relationships/officeDocument" Target="/ppt/presentation.xml" Id="R38d54a14eaf746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1b23e5d84429e"/>
  </p:sldMasterIdLst>
  <p:notesMasterIdLst>
    <p:notesMasterId xmlns:r="http://schemas.openxmlformats.org/officeDocument/2006/relationships" r:id="Rf3be8239763a4771"/>
  </p:notesMasterIdLst>
  <p:sldIdLst>
    <p:sldId xmlns:r="http://schemas.openxmlformats.org/officeDocument/2006/relationships" id="256" r:id="Rea18159d15ae466c"/>
    <p:sldId xmlns:r="http://schemas.openxmlformats.org/officeDocument/2006/relationships" id="257" r:id="R58bb0fe165cc4ab8"/>
    <p:sldId xmlns:r="http://schemas.openxmlformats.org/officeDocument/2006/relationships" id="258" r:id="R64178eaef3504698"/>
    <p:sldId xmlns:r="http://schemas.openxmlformats.org/officeDocument/2006/relationships" id="259" r:id="R59957b5a3f4741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8d806a88f94f1b" /><Relationship Type="http://schemas.openxmlformats.org/officeDocument/2006/relationships/slideMaster" Target="/ppt/slideMasters/slideMaster1.xml" Id="R8241b23e5d84429e" /><Relationship Type="http://schemas.openxmlformats.org/officeDocument/2006/relationships/notesMaster" Target="/ppt/notesMasters/notesMaster1.xml" Id="Rf3be8239763a4771" /><Relationship Type="http://schemas.openxmlformats.org/officeDocument/2006/relationships/presProps" Target="/ppt/presProps.xml" Id="R7940c7478b5b4cbe" /><Relationship Type="http://schemas.openxmlformats.org/officeDocument/2006/relationships/tableStyles" Target="/ppt/tableStyles.xml" Id="Rff7a2515242b47c9" /><Relationship Type="http://schemas.openxmlformats.org/officeDocument/2006/relationships/slide" Target="/ppt/slides/slide1.xml" Id="Rea18159d15ae466c" /><Relationship Type="http://schemas.openxmlformats.org/officeDocument/2006/relationships/slide" Target="/ppt/slides/slide2.xml" Id="R58bb0fe165cc4ab8" /><Relationship Type="http://schemas.openxmlformats.org/officeDocument/2006/relationships/slide" Target="/ppt/slides/slide3.xml" Id="R64178eaef3504698" /><Relationship Type="http://schemas.openxmlformats.org/officeDocument/2006/relationships/slide" Target="/ppt/slides/slide4.xml" Id="R59957b5a3f47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af24e11e2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037aef44a41ee" /><Relationship Type="http://schemas.openxmlformats.org/officeDocument/2006/relationships/notesMaster" Target="/ppt/notesMasters/notesMaster1.xml" Id="R22265c0335cf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90e6c2f5f4473d" /><Relationship Type="http://schemas.openxmlformats.org/officeDocument/2006/relationships/notesMaster" Target="/ppt/notesMasters/notesMaster1.xml" Id="R23a6870eddfb4f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c75c414b4542fd" /><Relationship Type="http://schemas.openxmlformats.org/officeDocument/2006/relationships/notesMaster" Target="/ppt/notesMasters/notesMaster1.xml" Id="Rf7f6ac2a8f6347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08731ecb854cf5" /><Relationship Type="http://schemas.openxmlformats.org/officeDocument/2006/relationships/notesMaster" Target="/ppt/notesMasters/notesMaster1.xml" Id="R99fdc9db3778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0fb305196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2eb432af84a36" /><Relationship Type="http://schemas.openxmlformats.org/officeDocument/2006/relationships/slideLayout" Target="/ppt/slideLayouts/slideLayout1.xml" Id="R9475994a9054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75994a9054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67a1b31cc464d" /><Relationship Type="http://schemas.openxmlformats.org/officeDocument/2006/relationships/notesSlide" Target="/ppt/notesSlides/notesSlide1.xml" Id="R8d9134cf5a234b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cc706f389481b" /><Relationship Type="http://schemas.openxmlformats.org/officeDocument/2006/relationships/chart" Target="/ppt/slides/charts/chart1.xml" Id="Re641f4615b0b49c9" /><Relationship Type="http://schemas.openxmlformats.org/officeDocument/2006/relationships/notesSlide" Target="/ppt/notesSlides/notesSlide2.xml" Id="R262fc34f45fb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a518b08d24448" /><Relationship Type="http://schemas.openxmlformats.org/officeDocument/2006/relationships/notesSlide" Target="/ppt/notesSlides/notesSlide3.xml" Id="R56c664a5d4b64b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b803f15a849a9" /><Relationship Type="http://schemas.openxmlformats.org/officeDocument/2006/relationships/notesSlide" Target="/ppt/notesSlides/notesSlide4.xml" Id="R327f1a9c69de4e6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Receivables</c:v>
              </c:pt>
              <c:pt idx="1">
                <c:v>Inventory</c:v>
              </c:pt>
              <c:pt idx="2">
                <c:v>Terms</c:v>
              </c:pt>
              <c:pt idx="3">
                <c:v>Disputes</c:v>
              </c:pt>
            </c:strLit>
          </c:cat>
          <c:val>
            <c:numLit>
              <c:formatCode>General</c:formatCode>
              <c:ptCount val="4"/>
              <c:pt idx="0">
                <c:v>1.8</c:v>
              </c:pt>
              <c:pt idx="1">
                <c:v>1.4</c:v>
              </c:pt>
              <c:pt idx="2">
                <c:v>0.9</c:v>
              </c:pt>
              <c:pt idx="3">
                <c:v>0.6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749BA-F622-4690-B3E9-3B3566EE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1DF86-A64F-430C-BDB1-434E5CD8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BBDC3-F0CE-4325-BFE0-AD33CEC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Working capital deep dive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1B335-2843-461C-8825-528914C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Receivables discipline and inventory policies can release ¥4.7M of cash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44E4C-E3CE-45DE-A458-EF618BC6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5D108-B2E0-44A7-ACEA-86C9B465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9927E-E5E6-4B01-98A7-51CCEEB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22C77-FB45-4F94-9A55-09ADB4F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C51E1-B590-4651-B7F9-7BE629AB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2C7E1-E2F4-4DFA-B247-0A9778A1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7D2F6-9B4E-4041-8952-64B39004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¥4.7M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AB7FC-DCDE-412A-89E2-62E7F573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B4170-4188-4B34-861A-3C50321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7A911-394B-4D7E-A8F7-5426A1AA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799772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2ECDE-91B7-41A8-B1BF-947F083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D5293-5FCA-4022-9A32-D8224C13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WORKING CAPITAL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5708A-1CFB-42A9-9F3E-1D20AD0A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84A24-9A63-4E65-B724-0EC2C559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0AE77-445B-4B55-87A9-01F36F33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diagnostic isolates the variance that needs management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56D43-35B6-454A-94CB-B2261F0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Cash release by working-capital lever (¥M)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41f4615b0b49c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FE4E5-AA7C-4234-8491-481EA7E7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0803B-DF5F-4064-A494-FB0A6513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B3550-830A-42E4-9B40-E8289B77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spread points to a targeted fact base and a short control agenda, rather than a broad redesign.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75D60-3579-481D-8E5F-70D4C192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CDB35-6715-4FED-84F4-D9C72EA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Launch the cash-control sprint with Finance and Operations</a:t>
            </a:r>
          </a:p>
        </p:txBody>
      </p:sp>
    </p:spTree>
    <p:extLst>
      <p:ext uri="{BB962C8B-B14F-4D97-AF65-F5344CB8AC3E}">
        <p14:creationId xmlns:p14="http://schemas.microsoft.com/office/powerpoint/2010/main" val="138253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CBE18-959E-49C8-8A3B-8B4613E6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5DC8B-0FC7-445F-94A8-FC54383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WORKING CAPITAL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4BA92-8CD8-4B35-AC1A-EF41C25E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170A9-1859-4459-9AAE-D49C5CF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A55A9-F2B9-45BC-9B3C-B45209DF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KPI set gives Finance a fact-based way to manage the root cause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FA7FD-1F23-407F-98AB-4B60E399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EDA47-E9E4-45A0-B08C-C0C2031E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¥4.7M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60E6A-AD6E-48FA-8610-B9C18D5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cash 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A0792-5EAF-41B4-9D6B-AAC07B25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8D64F-388D-44EF-A20B-F58ECA81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EA07D-C40F-48E3-87F8-0069F1C2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39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6748F-FEE3-4E5C-86E8-46E65B0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DSO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AAF2F-FB79-4CF7-9551-F156DF77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38099-0FFA-4415-91F7-76AD7DB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8747F-A34D-4443-A232-161619D9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F454E-99AE-40E9-9BC2-0F4FDAA0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inventory cut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22DB4-1DD7-442E-AB82-E658F976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5187F-23D9-48A8-A469-18DC3D45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92BFB-14C8-406D-8ADF-7A61CB7A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7D65C-499E-432B-BFF1-078D4E3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variance measures to focus weekly escalation on the few levers that change the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697626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7CD6C-A0F3-429E-8B33-607B39C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AF7C2-95EC-4323-9576-D12C31C7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WORKING CAPITAL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C5C3B-A57F-40B6-9D23-45DD3D58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0411E-AD38-4614-BD90-E4E706EF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AFD6F-9EE5-41A4-BE7F-11B33ED8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focused fact-to-action cycle converts the diagnostic into controlled execution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Launch AR sprint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Cash baseline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Set stock policy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Inventory gate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Review cash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Release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C6FBC-CC4B-4452-ACDC-45594B0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F2E7A-FFDF-490B-98B6-AC20599A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DAAEA-1132-4353-A277-0257EF5F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Launch the cash-control sprint with Finance and Operations</a:t>
            </a:r>
          </a:p>
        </p:txBody>
      </p:sp>
    </p:spTree>
    <p:extLst>
      <p:ext uri="{BB962C8B-B14F-4D97-AF65-F5344CB8AC3E}">
        <p14:creationId xmlns:p14="http://schemas.microsoft.com/office/powerpoint/2010/main" val="611456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2026-08-23T15:19:07.2830000Z</dcterms:created>
  <dcterms:modified xsi:type="dcterms:W3CDTF">2026-08-23T15:19:07.2830000Z</dcterms:modified>
</coreProperties>
</file>