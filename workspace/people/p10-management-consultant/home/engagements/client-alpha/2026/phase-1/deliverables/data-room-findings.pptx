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72d23114b4592" /><Relationship Type="http://schemas.openxmlformats.org/officeDocument/2006/relationships/extended-properties" Target="/docProps/app.xml" Id="R286f3811fb6d468f" /><Relationship Type="http://schemas.openxmlformats.org/officeDocument/2006/relationships/officeDocument" Target="/ppt/presentation.xml" Id="R96efc95f7f6048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fe929c7d84ddf"/>
  </p:sldMasterIdLst>
  <p:notesMasterIdLst>
    <p:notesMasterId xmlns:r="http://schemas.openxmlformats.org/officeDocument/2006/relationships" r:id="Rfb4188c3ac9b4adb"/>
  </p:notesMasterIdLst>
  <p:sldIdLst>
    <p:sldId xmlns:r="http://schemas.openxmlformats.org/officeDocument/2006/relationships" id="256" r:id="R2ecf6cbe958142bf"/>
    <p:sldId xmlns:r="http://schemas.openxmlformats.org/officeDocument/2006/relationships" id="257" r:id="R767c723e06694537"/>
    <p:sldId xmlns:r="http://schemas.openxmlformats.org/officeDocument/2006/relationships" id="258" r:id="Rf522a2aaed204f7f"/>
    <p:sldId xmlns:r="http://schemas.openxmlformats.org/officeDocument/2006/relationships" id="259" r:id="Rc1c24d7f1d99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a180da34ca49a3" /><Relationship Type="http://schemas.openxmlformats.org/officeDocument/2006/relationships/slideMaster" Target="/ppt/slideMasters/slideMaster1.xml" Id="R528fe929c7d84ddf" /><Relationship Type="http://schemas.openxmlformats.org/officeDocument/2006/relationships/notesMaster" Target="/ppt/notesMasters/notesMaster1.xml" Id="Rfb4188c3ac9b4adb" /><Relationship Type="http://schemas.openxmlformats.org/officeDocument/2006/relationships/presProps" Target="/ppt/presProps.xml" Id="R05713c2df4b844e4" /><Relationship Type="http://schemas.openxmlformats.org/officeDocument/2006/relationships/tableStyles" Target="/ppt/tableStyles.xml" Id="Re6a69ececf734beb" /><Relationship Type="http://schemas.openxmlformats.org/officeDocument/2006/relationships/slide" Target="/ppt/slides/slide1.xml" Id="R2ecf6cbe958142bf" /><Relationship Type="http://schemas.openxmlformats.org/officeDocument/2006/relationships/slide" Target="/ppt/slides/slide2.xml" Id="R767c723e06694537" /><Relationship Type="http://schemas.openxmlformats.org/officeDocument/2006/relationships/slide" Target="/ppt/slides/slide3.xml" Id="Rf522a2aaed204f7f" /><Relationship Type="http://schemas.openxmlformats.org/officeDocument/2006/relationships/slide" Target="/ppt/slides/slide4.xml" Id="Rc1c24d7f1d99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6deca0d3d6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395f12db584a8e" /><Relationship Type="http://schemas.openxmlformats.org/officeDocument/2006/relationships/notesMaster" Target="/ppt/notesMasters/notesMaster1.xml" Id="R68fb3a68ab594e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2933ec830f446a" /><Relationship Type="http://schemas.openxmlformats.org/officeDocument/2006/relationships/notesMaster" Target="/ppt/notesMasters/notesMaster1.xml" Id="Rac1ae574e91449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5e913a9754754" /><Relationship Type="http://schemas.openxmlformats.org/officeDocument/2006/relationships/notesMaster" Target="/ppt/notesMasters/notesMaster1.xml" Id="Rb7e8bbb93d26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b16efca88647d2" /><Relationship Type="http://schemas.openxmlformats.org/officeDocument/2006/relationships/notesMaster" Target="/ppt/notesMasters/notesMaster1.xml" Id="Rb70808c8b84140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fb75306244a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309486e9af447c" /><Relationship Type="http://schemas.openxmlformats.org/officeDocument/2006/relationships/slideLayout" Target="/ppt/slideLayouts/slideLayout1.xml" Id="R3d2ce466f75f42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2ce466f75f42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3c709c2a346e2" /><Relationship Type="http://schemas.openxmlformats.org/officeDocument/2006/relationships/notesSlide" Target="/ppt/notesSlides/notesSlide1.xml" Id="Rb356e5e620d24c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789045f1c4c13" /><Relationship Type="http://schemas.openxmlformats.org/officeDocument/2006/relationships/chart" Target="/ppt/slides/charts/chart1.xml" Id="R5c2149ddaf944355" /><Relationship Type="http://schemas.openxmlformats.org/officeDocument/2006/relationships/notesSlide" Target="/ppt/notesSlides/notesSlide2.xml" Id="R5e35f6413a2d4b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a30493c2c4dd9" /><Relationship Type="http://schemas.openxmlformats.org/officeDocument/2006/relationships/notesSlide" Target="/ppt/notesSlides/notesSlide3.xml" Id="Rd140f4d3062f46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a962830cd4088" /><Relationship Type="http://schemas.openxmlformats.org/officeDocument/2006/relationships/notesSlide" Target="/ppt/notesSlides/notesSlide4.xml" Id="R2e1c5385bd0a4d9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Revenue</c:v>
              </c:pt>
              <c:pt idx="1">
                <c:v>Spend</c:v>
              </c:pt>
              <c:pt idx="2">
                <c:v>AR</c:v>
              </c:pt>
              <c:pt idx="3">
                <c:v>Inventory</c:v>
              </c:pt>
            </c:strLit>
          </c:cat>
          <c:val>
            <c:numLit>
              <c:formatCode>General</c:formatCode>
              <c:ptCount val="4"/>
              <c:pt idx="0">
                <c:v>84</c:v>
              </c:pt>
              <c:pt idx="1">
                <c:v>76</c:v>
              </c:pt>
              <c:pt idx="2">
                <c:v>69</c:v>
              </c:pt>
              <c:pt idx="3">
                <c:v>61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31B389-B087-4010-8FE3-119C1A0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CD64A-1ECD-4B1B-AB1C-1953939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03771-4B4E-4286-9F9A-B1932820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Data-room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5C3DB-35AC-4BDA-AD4A-2BF18415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data room supports action in four levers, with controls needed on pricing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9687E-1DE9-451E-8594-165BF430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6E595-C48F-4299-B7BD-88218B23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178EB-152C-49BC-8976-F900DF50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7034C-B5B9-4AB9-A9D3-0C2ECD99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9C17-85E1-40C2-B9B5-2F98E68B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D3EB8-FC7B-40AF-B756-29CE2072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CEB7F-5DFB-4B36-87FD-6667641A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¥16.9M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9AA9B-4A30-401A-A724-8106912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FD8B6-A781-468E-8522-3A6ACB6D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33D41-DBA3-47E1-AE1A-A93408AE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034731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85FEA-31A0-4FE9-A0ED-14CB713B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B634F-C53A-43F6-B889-1C4F3E7A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DATA-ROOM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75B75-1254-450B-A70F-814FD325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82D02-DE6A-4B21-BC39-1EA11593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65761-3F5D-48D7-B5F0-5AE2AFC6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diagnostic isolates the variance that needs management attention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5C783-BC97-4011-93B5-9097AB8D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Evidence confidence by data-room domain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2149ddaf94435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36BC7-B9BA-486D-B1AB-A9A40484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9D59C-7235-4D30-8BE8-2EDA080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18101-C8A4-4D36-BFAB-0F20EEFC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The spread points to a targeted fact base and a short control agenda, rather than a broad redesign.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86B4C-D030-4443-8BBB-017AAA8E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C11EB-571A-4FA2-9999-CFDD3CC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Prioritize validation of the two highest-value data gaps</a:t>
            </a:r>
          </a:p>
        </p:txBody>
      </p:sp>
    </p:spTree>
    <p:extLst>
      <p:ext uri="{BB962C8B-B14F-4D97-AF65-F5344CB8AC3E}">
        <p14:creationId xmlns:p14="http://schemas.microsoft.com/office/powerpoint/2010/main" val="15186172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5FC04-152F-4753-B712-954109C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92865-A85F-41FC-89E1-A7B1BCD1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DATA-ROOM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1C86B-EDF9-42B6-B96E-3F824235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997E3-F31B-4C47-B103-6F3C4B7D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41CE5-FAC5-4E34-AA01-FF368F0E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KPI set gives Finance a fact-based way to manage the root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4F297-E087-410D-9024-38F7E823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0ABC2-329C-4678-9248-619A43BB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84%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6386E-8709-470A-8A69-FE037D74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revenue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9CED2-7A23-4D7B-A149-16A56EB6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F5E2A-D214-4B22-8FCF-BE4F9559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6EC5A-7F9C-49A4-BE44-97B7967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61%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F4004-B3E3-40EA-98FA-F9DFD9E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inventory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5B9E7E-AD5E-472B-A1DE-6BFD3E8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BA250-4172-45A1-B1F8-02A39269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22C984-1A67-4FBE-A854-FF1CA7A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99BBB-2D17-4D61-A4F9-10CB8F3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data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38DBC-FACA-4CDC-881E-69DCD502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BFED1-31F5-419C-A801-BECF7368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603BD-7B77-45BA-8BE0-E5168A6A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ED72B-92AD-4A19-9FE4-B102ED5D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variance measures to focus weekly escalation on the few levers that change the financial outcome.</a:t>
            </a:r>
          </a:p>
        </p:txBody>
      </p:sp>
    </p:spTree>
    <p:extLst>
      <p:ext uri="{BB962C8B-B14F-4D97-AF65-F5344CB8AC3E}">
        <p14:creationId xmlns:p14="http://schemas.microsoft.com/office/powerpoint/2010/main" val="581047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E1529-E29A-4E75-90E9-4135BA51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FDD80-67B0-45B0-8479-19EAA57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DATA-ROOM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D369C-698A-4ABA-92DB-630A2CA7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F6773-AABE-415F-A684-3D83763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B4542-FD87-4634-A499-17F09983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 focused fact-to-action cycle converts the diagnostic into controlled execution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Close rebate data gap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Pricing baseline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Reconcile inventory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Cash baseline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Week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Sign off 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Diagnostic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7CEFA-2849-4450-B8A1-108428E7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5D659-FC56-45B0-8716-387D597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5885F-ECDE-4DED-A410-18ACC68F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Prioritize validation of the two highest-value data gaps</a:t>
            </a:r>
          </a:p>
        </p:txBody>
      </p:sp>
    </p:spTree>
    <p:extLst>
      <p:ext uri="{BB962C8B-B14F-4D97-AF65-F5344CB8AC3E}">
        <p14:creationId xmlns:p14="http://schemas.microsoft.com/office/powerpoint/2010/main" val="374099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2026-08-23T15:19:06.3620000Z</dcterms:created>
  <dcterms:modified xsi:type="dcterms:W3CDTF">2026-08-23T15:19:06.3620000Z</dcterms:modified>
</coreProperties>
</file>