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f6827884c44fdf" /><Relationship Type="http://schemas.openxmlformats.org/officeDocument/2006/relationships/extended-properties" Target="/docProps/app.xml" Id="R37dd02a2a4b646f4" /><Relationship Type="http://schemas.openxmlformats.org/officeDocument/2006/relationships/officeDocument" Target="/ppt/presentation.xml" Id="R78dee14d360a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77150e6c0b4e81"/>
  </p:sldMasterIdLst>
  <p:notesMasterIdLst>
    <p:notesMasterId xmlns:r="http://schemas.openxmlformats.org/officeDocument/2006/relationships" r:id="R93637afbde564750"/>
  </p:notesMasterIdLst>
  <p:sldIdLst>
    <p:sldId xmlns:r="http://schemas.openxmlformats.org/officeDocument/2006/relationships" id="256" r:id="Rf048ba48e76743b6"/>
    <p:sldId xmlns:r="http://schemas.openxmlformats.org/officeDocument/2006/relationships" id="257" r:id="Rfa70a533f40e4d2c"/>
    <p:sldId xmlns:r="http://schemas.openxmlformats.org/officeDocument/2006/relationships" id="258" r:id="R5ac29ff2427e4721"/>
    <p:sldId xmlns:r="http://schemas.openxmlformats.org/officeDocument/2006/relationships" id="259" r:id="R66dc93ec0452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83cb4b7c54208" /><Relationship Type="http://schemas.openxmlformats.org/officeDocument/2006/relationships/slideMaster" Target="/ppt/slideMasters/slideMaster1.xml" Id="Ref77150e6c0b4e81" /><Relationship Type="http://schemas.openxmlformats.org/officeDocument/2006/relationships/notesMaster" Target="/ppt/notesMasters/notesMaster1.xml" Id="R93637afbde564750" /><Relationship Type="http://schemas.openxmlformats.org/officeDocument/2006/relationships/presProps" Target="/ppt/presProps.xml" Id="R2c4dd782608c43b4" /><Relationship Type="http://schemas.openxmlformats.org/officeDocument/2006/relationships/tableStyles" Target="/ppt/tableStyles.xml" Id="Rd0d6cbfc2f0849a1" /><Relationship Type="http://schemas.openxmlformats.org/officeDocument/2006/relationships/slide" Target="/ppt/slides/slide1.xml" Id="Rf048ba48e76743b6" /><Relationship Type="http://schemas.openxmlformats.org/officeDocument/2006/relationships/slide" Target="/ppt/slides/slide2.xml" Id="Rfa70a533f40e4d2c" /><Relationship Type="http://schemas.openxmlformats.org/officeDocument/2006/relationships/slide" Target="/ppt/slides/slide3.xml" Id="R5ac29ff2427e4721" /><Relationship Type="http://schemas.openxmlformats.org/officeDocument/2006/relationships/slide" Target="/ppt/slides/slide4.xml" Id="R66dc93ec0452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1f55604ce6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a113b43724e8b" /><Relationship Type="http://schemas.openxmlformats.org/officeDocument/2006/relationships/notesMaster" Target="/ppt/notesMasters/notesMaster1.xml" Id="Rf5c1b101becb40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c8603833b74a0b" /><Relationship Type="http://schemas.openxmlformats.org/officeDocument/2006/relationships/notesMaster" Target="/ppt/notesMasters/notesMaster1.xml" Id="R7b68874b5b64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692c9440c34734" /><Relationship Type="http://schemas.openxmlformats.org/officeDocument/2006/relationships/notesMaster" Target="/ppt/notesMasters/notesMaster1.xml" Id="R24fdf965db1344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f1d93cd3b4077" /><Relationship Type="http://schemas.openxmlformats.org/officeDocument/2006/relationships/notesMaster" Target="/ppt/notesMasters/notesMaster1.xml" Id="Re7e5bfe7b29544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ab4b96c8d40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5285c06854456" /><Relationship Type="http://schemas.openxmlformats.org/officeDocument/2006/relationships/slideLayout" Target="/ppt/slideLayouts/slideLayout1.xml" Id="Racb15aa9a59a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15aa9a59a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01a332fa04376" /><Relationship Type="http://schemas.openxmlformats.org/officeDocument/2006/relationships/notesSlide" Target="/ppt/notesSlides/notesSlide1.xml" Id="R410af0d87acc49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2af242b064910" /><Relationship Type="http://schemas.openxmlformats.org/officeDocument/2006/relationships/chart" Target="/ppt/slides/charts/chart1.xml" Id="R031dbef90f024047" /><Relationship Type="http://schemas.openxmlformats.org/officeDocument/2006/relationships/notesSlide" Target="/ppt/notesSlides/notesSlide2.xml" Id="R738aa80c3a31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6a1ca5cb4ea4" /><Relationship Type="http://schemas.openxmlformats.org/officeDocument/2006/relationships/notesSlide" Target="/ppt/notesSlides/notesSlide3.xml" Id="R8b21ff7ec02e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1e5c5f0e340ac" /><Relationship Type="http://schemas.openxmlformats.org/officeDocument/2006/relationships/notesSlide" Target="/ppt/notesSlides/notesSlide4.xml" Id="Ra4e7f3a91ab3433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Pricing controls</c:v>
              </c:pt>
              <c:pt idx="1">
                <c:v>Supplier reset</c:v>
              </c:pt>
              <c:pt idx="2">
                <c:v>AR sprint</c:v>
              </c:pt>
              <c:pt idx="3">
                <c:v>Cost-to-serve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85</c:v>
              </c:pt>
              <c:pt idx="2">
                <c:v>76</c:v>
              </c:pt>
              <c:pt idx="3">
                <c:v>68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EEB80-9DB2-4510-AFC4-2CA93951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3D3F3-0303-4305-97BF-FA44ABF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BEDFF-7A14-4730-820E-02571299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Initiative prioritization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5F95E-3DC3-490B-AD1B-8AA4A067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Six initiatives clear the value, readiness, and control thresholds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19BF-F595-4843-AE3D-BC3AA20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3E617-9166-4F23-B1AE-23961B67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E339E-8C31-4C77-9158-16B92A0B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B20FE-519B-48AF-9DC3-DF636D07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4591D-3C1E-4CCA-A5D9-E7E44B8B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64034-E2DD-4AAD-BEF3-7261BA0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DCB80-EDE3-44B1-BC8A-1A6E1347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105AE-756E-451E-925B-15FFCDEB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786DB-33D3-43EC-BAB2-BC49C31C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84216-B179-4B24-AECC-039750FD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934049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B3CA2-D82E-4B7C-8018-BD074A25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79FE5-0A05-42AD-B3DF-761A759D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INITIATIVE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26FBF-EF69-4ED7-B340-DAD45055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3266B-6E6A-42D0-9521-3475CA11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4E1E8-D03B-4B66-B044-0E07738A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option set makes the trade-off between value and readiness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E046-E941-41A9-B067-A69F1EC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Priority score: value × readiness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1dbef90f02404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28157-7FBB-4875-96C2-2D7D4F23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D3DDE-805A-4D70-9149-437E0CC3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F3D53-0548-4504-813D-E898250E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highest-scoring choices combine material value with enough readiness to move in the first wave.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9BF85-37C6-4671-A646-B7B2EE30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2C9BD-6853-41F4-8ADE-2AED859E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Sequence the top three initiatives into the first wave</a:t>
            </a:r>
          </a:p>
        </p:txBody>
      </p:sp>
    </p:spTree>
    <p:extLst>
      <p:ext uri="{BB962C8B-B14F-4D97-AF65-F5344CB8AC3E}">
        <p14:creationId xmlns:p14="http://schemas.microsoft.com/office/powerpoint/2010/main" val="2005350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7C327-2DF0-4DE8-AC89-9792A9B5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31D0D-BA94-4641-99F7-86387973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INITIATIVE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AB1D5-0CE8-4F28-9991-BA01998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5065A-38BA-4A8F-8117-4AE5B3F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AB19C-A45F-42E5-8D3F-B93E422F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evaluation criteria keep the portfolio focused on executable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D5E52-CFF2-480F-8E95-764C37F4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41130-1B19-4E73-8D3C-E93FF042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7EC3E-619D-439C-AA02-300C7345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top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242D0-0A78-4C6B-9636-76EA0EE9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8108B-51A0-4E3B-AC2F-DDDD230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D185D-BF4E-4155-AF5F-1A62C14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4F12F-6141-4CFC-AB98-CE608AB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qualified ideas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28F9E-974E-40C5-865C-91A430F3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AF4A2-AD11-43E9-B97B-33EEBFBF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FDC72-78EF-4BE1-91D9-301FE6B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2527B-B157-4CEB-AF0A-16490222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first-wave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681E7-A1C2-494F-A23E-365E5541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7EC27-FF3D-4716-85E0-26D82841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A9968-B526-4026-961A-7712000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E4723-6871-466A-BAB0-F8ED7D53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scorecard to protect first-wave capacity for initiatives that can deliver with disciplined ownership.</a:t>
            </a:r>
          </a:p>
        </p:txBody>
      </p:sp>
    </p:spTree>
    <p:extLst>
      <p:ext uri="{BB962C8B-B14F-4D97-AF65-F5344CB8AC3E}">
        <p14:creationId xmlns:p14="http://schemas.microsoft.com/office/powerpoint/2010/main" val="1271994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C0BE7-0260-4D2F-90C3-543E4C8C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71623-2401-4215-9378-7F28A430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INITIATIVE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4340-C528-4513-9BE1-69166E98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5B57A-4769-4145-B0C2-7AFBEA7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5266D-81FF-4AFE-8DAB-7573B829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staged choice architecture turns the portfolio into an executable first wave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Approve top three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Portfolio set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Assign owners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Owners named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Review readiness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Wave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9471E-0C4B-4551-8820-9E269C9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6AA83-76B2-43AF-AE2C-6F5E7B96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F43F9-0985-423A-BE9C-B36296F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Sequence the top three initiatives into the first wave</a:t>
            </a:r>
          </a:p>
        </p:txBody>
      </p:sp>
    </p:spTree>
    <p:extLst>
      <p:ext uri="{BB962C8B-B14F-4D97-AF65-F5344CB8AC3E}">
        <p14:creationId xmlns:p14="http://schemas.microsoft.com/office/powerpoint/2010/main" val="1159923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2026-08-23T15:19:06.6850000Z</dcterms:created>
  <dcterms:modified xsi:type="dcterms:W3CDTF">2026-08-23T15:19:06.6850000Z</dcterms:modified>
</coreProperties>
</file>