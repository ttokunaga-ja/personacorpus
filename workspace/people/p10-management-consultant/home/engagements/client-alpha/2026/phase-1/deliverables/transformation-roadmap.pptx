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3927e2b2bb4dc8" /><Relationship Type="http://schemas.openxmlformats.org/officeDocument/2006/relationships/extended-properties" Target="/docProps/app.xml" Id="Rc27ef3001794444e" /><Relationship Type="http://schemas.openxmlformats.org/officeDocument/2006/relationships/officeDocument" Target="/ppt/presentation.xml" Id="R4e67d86e75c84c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c11e75168f4a63"/>
  </p:sldMasterIdLst>
  <p:notesMasterIdLst>
    <p:notesMasterId xmlns:r="http://schemas.openxmlformats.org/officeDocument/2006/relationships" r:id="R3c3a3c659ee740b7"/>
  </p:notesMasterIdLst>
  <p:sldIdLst>
    <p:sldId xmlns:r="http://schemas.openxmlformats.org/officeDocument/2006/relationships" id="256" r:id="Rdcfd96d0a9ab4f38"/>
    <p:sldId xmlns:r="http://schemas.openxmlformats.org/officeDocument/2006/relationships" id="257" r:id="R2ac86ebbc52b4725"/>
    <p:sldId xmlns:r="http://schemas.openxmlformats.org/officeDocument/2006/relationships" id="258" r:id="Rb5a752f361904c06"/>
    <p:sldId xmlns:r="http://schemas.openxmlformats.org/officeDocument/2006/relationships" id="259" r:id="Rd4df10e81a7e4f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34199ad53c4382" /><Relationship Type="http://schemas.openxmlformats.org/officeDocument/2006/relationships/slideMaster" Target="/ppt/slideMasters/slideMaster1.xml" Id="R10c11e75168f4a63" /><Relationship Type="http://schemas.openxmlformats.org/officeDocument/2006/relationships/notesMaster" Target="/ppt/notesMasters/notesMaster1.xml" Id="R3c3a3c659ee740b7" /><Relationship Type="http://schemas.openxmlformats.org/officeDocument/2006/relationships/presProps" Target="/ppt/presProps.xml" Id="R7bd4fd21535e4980" /><Relationship Type="http://schemas.openxmlformats.org/officeDocument/2006/relationships/tableStyles" Target="/ppt/tableStyles.xml" Id="R3062e81d73974b64" /><Relationship Type="http://schemas.openxmlformats.org/officeDocument/2006/relationships/slide" Target="/ppt/slides/slide1.xml" Id="Rdcfd96d0a9ab4f38" /><Relationship Type="http://schemas.openxmlformats.org/officeDocument/2006/relationships/slide" Target="/ppt/slides/slide2.xml" Id="R2ac86ebbc52b4725" /><Relationship Type="http://schemas.openxmlformats.org/officeDocument/2006/relationships/slide" Target="/ppt/slides/slide3.xml" Id="Rb5a752f361904c06" /><Relationship Type="http://schemas.openxmlformats.org/officeDocument/2006/relationships/slide" Target="/ppt/slides/slide4.xml" Id="Rd4df10e81a7e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ef0398a5aa4d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07f43ae19e4c70" /><Relationship Type="http://schemas.openxmlformats.org/officeDocument/2006/relationships/notesMaster" Target="/ppt/notesMasters/notesMaster1.xml" Id="R06a34b8025b641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5ce9e13b4e49b9" /><Relationship Type="http://schemas.openxmlformats.org/officeDocument/2006/relationships/notesMaster" Target="/ppt/notesMasters/notesMaster1.xml" Id="R46a262e853d6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d4e85ca4074c98" /><Relationship Type="http://schemas.openxmlformats.org/officeDocument/2006/relationships/notesMaster" Target="/ppt/notesMasters/notesMaster1.xml" Id="R0bf9e6bb105a4d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e924d64b374395" /><Relationship Type="http://schemas.openxmlformats.org/officeDocument/2006/relationships/notesMaster" Target="/ppt/notesMasters/notesMaster1.xml" Id="R1dbe29b6cd1b4b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bd944e6004e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47db964aa64214" /><Relationship Type="http://schemas.openxmlformats.org/officeDocument/2006/relationships/slideLayout" Target="/ppt/slideLayouts/slideLayout1.xml" Id="R54f136bb148a48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136bb148a48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15d84daee404e" /><Relationship Type="http://schemas.openxmlformats.org/officeDocument/2006/relationships/notesSlide" Target="/ppt/notesSlides/notesSlide1.xml" Id="R694f42c2ec3546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42c3375664a57" /><Relationship Type="http://schemas.openxmlformats.org/officeDocument/2006/relationships/chart" Target="/ppt/slides/charts/chart1.xml" Id="R16325668c19440c4" /><Relationship Type="http://schemas.openxmlformats.org/officeDocument/2006/relationships/notesSlide" Target="/ppt/notesSlides/notesSlide2.xml" Id="R46dca94534aa44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732c3adbe4941" /><Relationship Type="http://schemas.openxmlformats.org/officeDocument/2006/relationships/notesSlide" Target="/ppt/notesSlides/notesSlide3.xml" Id="R98199a1f04a741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e73657fc045b6" /><Relationship Type="http://schemas.openxmlformats.org/officeDocument/2006/relationships/notesSlide" Target="/ppt/notesSlides/notesSlide4.xml" Id="R706778adb8574f56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none"/>
          </c:marker>
          <c:cat>
            <c:strLit>
              <c:ptCount val="4"/>
              <c:pt idx="0">
                <c:v>Q3</c:v>
              </c:pt>
              <c:pt idx="1">
                <c:v>Q4</c:v>
              </c:pt>
              <c:pt idx="2">
                <c:v>Q1</c:v>
              </c:pt>
              <c:pt idx="3">
                <c:v>Q2</c:v>
              </c:pt>
            </c:strLit>
          </c:cat>
          <c:val>
            <c:numLit>
              <c:formatCode>General</c:formatCode>
              <c:ptCount val="4"/>
              <c:pt idx="0">
                <c:v>1.8</c:v>
              </c:pt>
              <c:pt idx="1">
                <c:v>6.4</c:v>
              </c:pt>
              <c:pt idx="2">
                <c:v>12.1</c:v>
              </c:pt>
              <c:pt idx="3">
                <c:v>18.6</c:v>
              </c:pt>
            </c:numLit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382A6-D139-47AD-93BF-DB076F64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E73C8-B070-4C05-85DC-7E31BA88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8BED2-12C8-43EA-AE2C-D449B499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Transformation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0D99E-72AB-411D-8223-0863DF2F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Value can be realized in three waves while building durable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DE8BB-8FB5-418B-A6E7-11468B1B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6F9BB-D360-4726-8D95-F83B583E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63B33-DBA1-43CD-9E5A-6D7BD272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967A9-2F28-499B-8D0D-830343B3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AE455-C5B3-43F0-A946-48E85513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DD00C-4C50-4F7B-9BE8-785855F7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39F55-5C46-4665-AA18-3BF23BEE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1756B-CB5C-4C9E-BC93-BB7F2B46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A2B29-394C-45B5-820E-CE079235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1CE24-3EDA-454F-A4D3-AF259223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26934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97C84-4E2E-48D8-A9A3-B0A39E7C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2CB3C-9BF9-4F59-BAE5-5E81E797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TRANSFORMATION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7797E-4665-4CF8-849E-C82C2485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AED7F-0C06-444E-920E-B520B97D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A9FEF-F0A4-4E72-B751-65BB90D1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delivery path shows how value builds through sequenced waves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32C82-5E8E-43C6-8D86-9D07F34F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Cumulative benefit realization (¥M)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325668c19440c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46172-FE20-4EBA-9D06-4F842ECE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95BDD-9839-4307-8B1C-9588C2EC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75F9C-CCAC-48B9-B1BE-1726EEAD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Early controls create confidence, then larger benefits arrive as the operating rhythm becomes routine.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01BEF-8B59-424F-9856-EDFE0922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69372-B3A1-411D-B334-82496FE0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Confirm wave sequencing and quarterly benefit gates</a:t>
            </a:r>
          </a:p>
        </p:txBody>
      </p:sp>
    </p:spTree>
    <p:extLst>
      <p:ext uri="{BB962C8B-B14F-4D97-AF65-F5344CB8AC3E}">
        <p14:creationId xmlns:p14="http://schemas.microsoft.com/office/powerpoint/2010/main" val="1653634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EEFAE-5E94-4C5D-9CEC-BBDE3F52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E206B-F23E-4111-861C-8933B16D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TRANSFORMATION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227CD-0C6B-4164-93C8-5DE13730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83A5A-6D4D-43FC-8DCC-B80E1836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BB319-DA0E-421A-B308-FFC05890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milestones make benefits and capability-building visible together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456D7-31B5-433B-98A0-3980B81E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FEA97-8837-4783-83AA-7531E5FA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F65F2-BFF7-4E99-A647-EE6A640E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waves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E4137-869F-4F7C-8CAC-1F0CA56F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0373B-B0E1-4BD3-B439-19E16B2A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A20C9-B974-4C68-B83D-2D1437EF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¥6.4M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65C3B-D1E2-4209-850F-5C781B8E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by Q4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21F73-AEA3-4618-8E62-1867FA87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3BCD4-5656-4142-93AE-7C5B1E5F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2C963-1394-4DBB-ABB8-061E8FE3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6012A-45C5-4FEF-97C0-24BB45C2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by Q2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8E03C-8595-428C-89DB-8395C898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5FE63E-02ED-4B8E-96F1-09DD4A07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65426-87E1-45C6-B7ED-EB23FC08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C90F0-09A3-4AB9-97F7-A4F106A7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each milestone as a benefit gate: confirm delivery evidence before releasing the next wave.</a:t>
            </a:r>
          </a:p>
        </p:txBody>
      </p:sp>
    </p:spTree>
    <p:extLst>
      <p:ext uri="{BB962C8B-B14F-4D97-AF65-F5344CB8AC3E}">
        <p14:creationId xmlns:p14="http://schemas.microsoft.com/office/powerpoint/2010/main" val="1607793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47436-E91A-4FC5-BD7A-D14871E5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96719-CFB2-45E6-ADDA-E8375A3B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TRANSFORMATION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45E33-E743-4067-BBFA-D4C72A3C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94AD1-3B21-4976-8C85-8B30FDDC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9CAD8-6E0E-4EB1-8BC5-5C5A82E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Clear wave gates keep the roadmap anchored to realized benefits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Wave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Stabilize controls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Q3 gate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Wave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Scale levers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Q4 gate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Wave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Embed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Q2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8F49C-A79A-4C75-B32F-3EAA84F5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292E9-466D-4907-8B21-9B390570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45045-5F8F-4EA8-AA00-7F0F640F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Confirm wave sequencing and quarterly benefit gates</a:t>
            </a:r>
          </a:p>
        </p:txBody>
      </p:sp>
    </p:spTree>
    <p:extLst>
      <p:ext uri="{BB962C8B-B14F-4D97-AF65-F5344CB8AC3E}">
        <p14:creationId xmlns:p14="http://schemas.microsoft.com/office/powerpoint/2010/main" val="2053638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2026-08-23T15:19:07.2020000Z</dcterms:created>
  <dcterms:modified xsi:type="dcterms:W3CDTF">2026-08-23T15:19:07.2020000Z</dcterms:modified>
</coreProperties>
</file>