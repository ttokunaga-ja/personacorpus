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b14cb42ec14086" /><Relationship Type="http://schemas.openxmlformats.org/officeDocument/2006/relationships/extended-properties" Target="/docProps/app.xml" Id="Ra90bb3a19e4d49e7" /><Relationship Type="http://schemas.openxmlformats.org/officeDocument/2006/relationships/officeDocument" Target="/ppt/presentation.xml" Id="R712473c0bab64d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1cbd2a72b24474"/>
  </p:sldMasterIdLst>
  <p:notesMasterIdLst>
    <p:notesMasterId xmlns:r="http://schemas.openxmlformats.org/officeDocument/2006/relationships" r:id="R258aeae8ed0f4f92"/>
  </p:notesMasterIdLst>
  <p:sldIdLst>
    <p:sldId xmlns:r="http://schemas.openxmlformats.org/officeDocument/2006/relationships" id="256" r:id="R87efa71594bf43ec"/>
    <p:sldId xmlns:r="http://schemas.openxmlformats.org/officeDocument/2006/relationships" id="257" r:id="R6c59f1fe777146d0"/>
    <p:sldId xmlns:r="http://schemas.openxmlformats.org/officeDocument/2006/relationships" id="258" r:id="R3074f28265cc4e90"/>
    <p:sldId xmlns:r="http://schemas.openxmlformats.org/officeDocument/2006/relationships" id="259" r:id="R43f06f1d62a340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c13cdbfba1416a" /><Relationship Type="http://schemas.openxmlformats.org/officeDocument/2006/relationships/slideMaster" Target="/ppt/slideMasters/slideMaster1.xml" Id="Ra41cbd2a72b24474" /><Relationship Type="http://schemas.openxmlformats.org/officeDocument/2006/relationships/notesMaster" Target="/ppt/notesMasters/notesMaster1.xml" Id="R258aeae8ed0f4f92" /><Relationship Type="http://schemas.openxmlformats.org/officeDocument/2006/relationships/presProps" Target="/ppt/presProps.xml" Id="R93cf6109e1c4415a" /><Relationship Type="http://schemas.openxmlformats.org/officeDocument/2006/relationships/tableStyles" Target="/ppt/tableStyles.xml" Id="R999dfbab49074236" /><Relationship Type="http://schemas.openxmlformats.org/officeDocument/2006/relationships/slide" Target="/ppt/slides/slide1.xml" Id="R87efa71594bf43ec" /><Relationship Type="http://schemas.openxmlformats.org/officeDocument/2006/relationships/slide" Target="/ppt/slides/slide2.xml" Id="R6c59f1fe777146d0" /><Relationship Type="http://schemas.openxmlformats.org/officeDocument/2006/relationships/slide" Target="/ppt/slides/slide3.xml" Id="R3074f28265cc4e90" /><Relationship Type="http://schemas.openxmlformats.org/officeDocument/2006/relationships/slide" Target="/ppt/slides/slide4.xml" Id="R43f06f1d62a340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deb376bdc047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dea2a506e043cc" /><Relationship Type="http://schemas.openxmlformats.org/officeDocument/2006/relationships/notesMaster" Target="/ppt/notesMasters/notesMaster1.xml" Id="R07a4846d815b43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aa4fc2102841d8" /><Relationship Type="http://schemas.openxmlformats.org/officeDocument/2006/relationships/notesMaster" Target="/ppt/notesMasters/notesMaster1.xml" Id="R19a97544f57f43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e9530ce89d4512" /><Relationship Type="http://schemas.openxmlformats.org/officeDocument/2006/relationships/notesMaster" Target="/ppt/notesMasters/notesMaster1.xml" Id="R6efe03bcc23440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7276cee61a4f1d" /><Relationship Type="http://schemas.openxmlformats.org/officeDocument/2006/relationships/notesMaster" Target="/ppt/notesMasters/notesMaster1.xml" Id="Rde708eff9db44c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8979810b1547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23fd316ec741c4" /><Relationship Type="http://schemas.openxmlformats.org/officeDocument/2006/relationships/slideLayout" Target="/ppt/slideLayouts/slideLayout1.xml" Id="R4556819fad3249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56819fad3249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41844957e426e" /><Relationship Type="http://schemas.openxmlformats.org/officeDocument/2006/relationships/notesSlide" Target="/ppt/notesSlides/notesSlide1.xml" Id="Ra03e1eb77d9747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adf2401ab4145" /><Relationship Type="http://schemas.openxmlformats.org/officeDocument/2006/relationships/chart" Target="/ppt/slides/charts/chart1.xml" Id="Rdf3aa9047d234363" /><Relationship Type="http://schemas.openxmlformats.org/officeDocument/2006/relationships/notesSlide" Target="/ppt/notesSlides/notesSlide2.xml" Id="R90167e37f9dc46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c7a79b0a042fd" /><Relationship Type="http://schemas.openxmlformats.org/officeDocument/2006/relationships/notesSlide" Target="/ppt/notesSlides/notesSlide3.xml" Id="R4759f27a0f1941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4a293dc984eab" /><Relationship Type="http://schemas.openxmlformats.org/officeDocument/2006/relationships/notesSlide" Target="/ppt/notesSlides/notesSlide4.xml" Id="Rfb1d732ea09b446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Synthetic analysis</c:v>
          </c:tx>
          <c:spPr>
            <a:solidFill xmlns:a="http://schemas.openxmlformats.org/drawingml/2006/main">
              <a:srgbClr val="3D8DFF"/>
            </a:solidFill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cat>
            <c:strLit>
              <c:ptCount val="4"/>
              <c:pt idx="0">
                <c:v>Indirect</c:v>
              </c:pt>
              <c:pt idx="1">
                <c:v>Packaging</c:v>
              </c:pt>
              <c:pt idx="2">
                <c:v>Logistics</c:v>
              </c:pt>
              <c:pt idx="3">
                <c:v>MRO</c:v>
              </c:pt>
            </c:strLit>
          </c:cat>
          <c:val>
            <c:numLit>
              <c:formatCode>General</c:formatCode>
              <c:ptCount val="4"/>
              <c:pt idx="0">
                <c:v>1.8</c:v>
              </c:pt>
              <c:pt idx="1">
                <c:v>1.4</c:v>
              </c:pt>
              <c:pt idx="2">
                <c:v>1.1</c:v>
              </c:pt>
              <c:pt idx="3">
                <c:v>0.8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D142F1-6A2E-4599-B1BC-983DEFE2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3FB0C0-49ED-424E-BE76-F22A3FE3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/  PHASE 1  /  FINANCE WORKSTREAM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1B587-3FD7-4932-BB72-3E5B7398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381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Procurement opportunity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7F38B-A87A-4F70-9647-A4370F9E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Supplier consolidation and demand discipline can release ¥5.1M sustainably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44BF1-FC3A-4ED9-B056-69470E15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discussion • 13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BBCDB-2843-4F6F-B4B6-03CC98F4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Avery Calder • Nina Solberg • Theo Mercer • Keiko Ward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F851C-447D-4660-BF42-A823E460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09600"/>
            <a:ext cx="45720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85333-CED8-4CAF-883D-6975C0FF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23950"/>
            <a:ext cx="3409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7D901-0D77-4402-95E3-A9596848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95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¥42.8M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666CA-B179-4DC1-AC47-9448ABF5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engagement budget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0DE70-17BC-4119-8E01-63573706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241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¥5.1M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065EE-E9F1-4CC9-992B-44E413E2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48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annual run-rate opportunity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890FD5-CFE2-4B0C-857F-CB07FE0A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6237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FD33E1-C28F-480A-8439-13293525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481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Phase 1 findings</a:t>
            </a:r>
          </a:p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Decision-ready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7438570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5BF9C2-14A7-425E-8840-D647C370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D78934-D61A-4A01-9116-4D44A5EE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PROCUREMENT OPPORTUNITY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86F19-FC67-4C65-ABC2-4F5C017F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ED96B-CCA9-427F-9D93-105ACA1C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CD473-B294-45E4-98ED-9A6B1294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diagnostic isolates the variance that needs management attention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23A45-9D2C-40C0-8141-E4C65111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Procurement opportunity by category (¥M)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28650" y="2238375"/>
          <a:ext xmlns:a="http://schemas.openxmlformats.org/drawingml/2006/main" cx="6477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3aa9047d234363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032F5-BDE1-497C-A51F-7CE80F97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3333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7C5EE-1380-45B8-A554-EEEA51EC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What it means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6352CE-4A68-4929-88DB-F9A743F7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The spread points to a targeted fact base and a short control agenda, rather than a broad redesign.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03E59-9925-4D4E-9F24-DD4F1079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338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Recommended next move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EF955F-53D9-4348-B102-25BB5CAC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Authorize category sprints in the highest-spend areas</a:t>
            </a:r>
          </a:p>
        </p:txBody>
      </p:sp>
    </p:spTree>
    <p:extLst>
      <p:ext uri="{BB962C8B-B14F-4D97-AF65-F5344CB8AC3E}">
        <p14:creationId xmlns:p14="http://schemas.microsoft.com/office/powerpoint/2010/main" val="3171453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FB8B62-A6C1-4AB6-B639-E85B755A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83B3B-1516-4F4E-BF22-96C5158B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PROCUREMENT OPPORTUNITY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EE01C-2A4A-4A02-B846-892B720F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BDD90-0C9D-43C3-AE77-9429F375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B3A67-743C-440C-8C9A-0E257D46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KPI set gives Finance a fact-based way to manage the root cause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063DB-E14E-418C-8496-1D7C9ED1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94237-7E77-4439-B3EE-E7855F84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¥5.1M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04756D-A3F5-458A-BC13-6DC7D540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opportunity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D845D-2D21-424C-9F17-49BA6BB4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Primary 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DE908-A3F5-409A-ACF1-612E7E62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CA37D-9DBA-4A65-BD63-5262C8B8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545E9-84F1-4305-AEF4-179C351A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categories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39394-F546-4740-82D1-1D0A3145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Critical proof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C1F80D-96C9-4C73-A7BB-4CDEBBE5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6AADBD-DDE3-4014-8F74-4DD43EAD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80%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0A527C-716B-4E86-80D2-9D5702E2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addressable spend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8171D6-FA1E-42DD-93A2-DE2FCC85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Management horizon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2B900A-F23B-4255-BFE3-3E7D5F94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E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EEAAEC-2DF3-4E01-A26E-301CE0CD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Management implication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352C0A-49AC-4189-9F09-07FB1B9F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Use the variance measures to focus weekly escalation on the few levers that change the financial outcome.</a:t>
            </a:r>
          </a:p>
        </p:txBody>
      </p:sp>
    </p:spTree>
    <p:extLst>
      <p:ext uri="{BB962C8B-B14F-4D97-AF65-F5344CB8AC3E}">
        <p14:creationId xmlns:p14="http://schemas.microsoft.com/office/powerpoint/2010/main" val="17047681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504DE-C65C-453A-A2F4-39711F3B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B26F9-D105-49C8-A3FD-FA47ED9D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PROCUREMENT OPPORTUNITY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D558A-CEE2-4A22-9B10-1A89EC8E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0BE03-BC70-4B45-B236-76BAFFB8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F9AB8-52CE-4AC7-A95D-E40207B9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 focused fact-to-action cycle converts the diagnostic into controlled execution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051560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28900"/>
                <a:gridCol w="2628900"/>
                <a:gridCol w="2628900"/>
                <a:gridCol w="2628900"/>
              </a:tblGrid>
              <a:tr h="59531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Decision gate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Week 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Validate spend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Theo Mercer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Category facts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Week 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Issue bids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Keiko Ward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Supplier short-list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Week 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Award waves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Avery Calder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Savings gate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61269-8C45-4E86-8CE2-26384FF5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0515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97475-2441-4E03-AAF9-442FD8DB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requested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BAB096-1709-4ED8-947F-2E083085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Authorize category sprints in the highest-spend areas</a:t>
            </a:r>
          </a:p>
        </p:txBody>
      </p:sp>
    </p:spTree>
    <p:extLst>
      <p:ext uri="{BB962C8B-B14F-4D97-AF65-F5344CB8AC3E}">
        <p14:creationId xmlns:p14="http://schemas.microsoft.com/office/powerpoint/2010/main" val="15617183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2026-08-23T15:19:07.0000000Z</dcterms:created>
  <dcterms:modified xsi:type="dcterms:W3CDTF">2026-08-23T15:19:07.0000000Z</dcterms:modified>
</coreProperties>
</file>