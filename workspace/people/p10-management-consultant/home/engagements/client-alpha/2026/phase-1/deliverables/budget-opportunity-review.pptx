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7c89da6b1431d" /><Relationship Type="http://schemas.openxmlformats.org/officeDocument/2006/relationships/extended-properties" Target="/docProps/app.xml" Id="R2ecdba6b687345ef" /><Relationship Type="http://schemas.openxmlformats.org/officeDocument/2006/relationships/officeDocument" Target="/ppt/presentation.xml" Id="Rdd2e1ed3002544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3e36e5acb64903"/>
  </p:sldMasterIdLst>
  <p:notesMasterIdLst>
    <p:notesMasterId xmlns:r="http://schemas.openxmlformats.org/officeDocument/2006/relationships" r:id="R2c93f619d40e4d62"/>
  </p:notesMasterIdLst>
  <p:sldIdLst>
    <p:sldId xmlns:r="http://schemas.openxmlformats.org/officeDocument/2006/relationships" id="256" r:id="Ra9aec522e6cb477a"/>
    <p:sldId xmlns:r="http://schemas.openxmlformats.org/officeDocument/2006/relationships" id="257" r:id="Rd5f6d0bc4d8d40bf"/>
    <p:sldId xmlns:r="http://schemas.openxmlformats.org/officeDocument/2006/relationships" id="258" r:id="Re2bca7491e704b07"/>
    <p:sldId xmlns:r="http://schemas.openxmlformats.org/officeDocument/2006/relationships" id="259" r:id="Re20870bec5dd46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77a795333143ea" /><Relationship Type="http://schemas.openxmlformats.org/officeDocument/2006/relationships/slideMaster" Target="/ppt/slideMasters/slideMaster1.xml" Id="R153e36e5acb64903" /><Relationship Type="http://schemas.openxmlformats.org/officeDocument/2006/relationships/notesMaster" Target="/ppt/notesMasters/notesMaster1.xml" Id="R2c93f619d40e4d62" /><Relationship Type="http://schemas.openxmlformats.org/officeDocument/2006/relationships/presProps" Target="/ppt/presProps.xml" Id="R71e6dd821adb4272" /><Relationship Type="http://schemas.openxmlformats.org/officeDocument/2006/relationships/tableStyles" Target="/ppt/tableStyles.xml" Id="R76e0bbfccb2141c7" /><Relationship Type="http://schemas.openxmlformats.org/officeDocument/2006/relationships/slide" Target="/ppt/slides/slide1.xml" Id="Ra9aec522e6cb477a" /><Relationship Type="http://schemas.openxmlformats.org/officeDocument/2006/relationships/slide" Target="/ppt/slides/slide2.xml" Id="Rd5f6d0bc4d8d40bf" /><Relationship Type="http://schemas.openxmlformats.org/officeDocument/2006/relationships/slide" Target="/ppt/slides/slide3.xml" Id="Re2bca7491e704b07" /><Relationship Type="http://schemas.openxmlformats.org/officeDocument/2006/relationships/slide" Target="/ppt/slides/slide4.xml" Id="Re20870bec5dd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566f68a27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389f55047440b" /><Relationship Type="http://schemas.openxmlformats.org/officeDocument/2006/relationships/notesMaster" Target="/ppt/notesMasters/notesMaster1.xml" Id="Rdbeded06b0c6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54284f6c54740" /><Relationship Type="http://schemas.openxmlformats.org/officeDocument/2006/relationships/notesMaster" Target="/ppt/notesMasters/notesMaster1.xml" Id="R2bf60f8d36d0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d40cbfdd54b4c" /><Relationship Type="http://schemas.openxmlformats.org/officeDocument/2006/relationships/notesMaster" Target="/ppt/notesMasters/notesMaster1.xml" Id="Rad2c824afe9e4b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cf2becd24d4ba1" /><Relationship Type="http://schemas.openxmlformats.org/officeDocument/2006/relationships/notesMaster" Target="/ppt/notesMasters/notesMaster1.xml" Id="R3a8bdd2f0e73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242930a6b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5b77b67afb4009" /><Relationship Type="http://schemas.openxmlformats.org/officeDocument/2006/relationships/slideLayout" Target="/ppt/slideLayouts/slideLayout1.xml" Id="R09acf2ca41f8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cf2ca41f8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dc65e7364397" /><Relationship Type="http://schemas.openxmlformats.org/officeDocument/2006/relationships/notesSlide" Target="/ppt/notesSlides/notesSlide1.xml" Id="R2bf187074f90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668c9cb9840e4" /><Relationship Type="http://schemas.openxmlformats.org/officeDocument/2006/relationships/chart" Target="/ppt/slides/charts/chart1.xml" Id="R946de950b0b04df8" /><Relationship Type="http://schemas.openxmlformats.org/officeDocument/2006/relationships/notesSlide" Target="/ppt/notesSlides/notesSlide2.xml" Id="R95e541e12f4a48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a3a549684caa" /><Relationship Type="http://schemas.openxmlformats.org/officeDocument/2006/relationships/notesSlide" Target="/ppt/notesSlides/notesSlide3.xml" Id="Rc05baf7a501045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45862cefc4fb5" /><Relationship Type="http://schemas.openxmlformats.org/officeDocument/2006/relationships/notesSlide" Target="/ppt/notesSlides/notesSlide4.xml" Id="R2b7c89b4f7424a0c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Commercial</c:v>
              </c:pt>
              <c:pt idx="1">
                <c:v>Supply</c:v>
              </c:pt>
              <c:pt idx="2">
                <c:v>Cash</c:v>
              </c:pt>
              <c:pt idx="3">
                <c:v>Enablement</c:v>
              </c:pt>
            </c:strLit>
          </c:cat>
          <c:val>
            <c:numLit>
              <c:formatCode>General</c:formatCode>
              <c:ptCount val="4"/>
              <c:pt idx="0">
                <c:v>15.4</c:v>
              </c:pt>
              <c:pt idx="1">
                <c:v>10.8</c:v>
              </c:pt>
              <c:pt idx="2">
                <c:v>7.2</c:v>
              </c:pt>
              <c:pt idx="3">
                <c:v>9.4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holeSize val="60"/>
      </c:doughnutChart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60132-0D60-4822-9B90-F7A33332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ECD8F-835E-493E-91DE-86824BDF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4C28D-41BF-4805-95BF-249EA8EE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Budget opportunity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9B2B-E927-44E2-B6C8-3C337F7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 ¥42.8M envelope can unlock a higher-confidence ¥18.6M run-rate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4FB1-BDDF-492F-8A1B-838ED82E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5480B-7E10-419F-A837-99D520D8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921CC-DEE8-4C15-9BEC-31CC21A4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63482-7B6E-417C-922E-61128FD5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846E1-D05C-4DA8-95DE-46B47AD2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D2760-B57A-4565-B09E-9D084168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4CCC2-252E-4DF7-96B9-1369482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A35DD-F717-4E73-B628-2D92635C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2AF86-1DCE-4609-907D-3B2756ED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91DC4A-5BA4-40BC-B6EB-7F2AC6C5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635762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601FF-8F51-4ABD-BD65-C101411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2E5B5-26EA-48A2-A615-AE9F80D0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BUDGET OPPORTUNITY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5EAEF-5E6F-4AD8-8469-6FBCED90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3EAF6-01B4-4591-827E-9530EF4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F9CE0-B761-434E-9CBA-4C726CD6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option set makes the trade-off between value and readiness explicit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2E6D3-9728-457E-8634-9BC54F67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Proposed use of the ¥42.8M engagement envelope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de950b0b04df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583A7-CB42-44BD-85AE-FAF1EE25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3DE9F-0840-45D4-BD25-D3E26456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0B997-D105-472B-B61C-437249B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highest-scoring choices combine material value with enough readiness to move in the first wave.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5C06F-D39B-41D1-A89D-6604C84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DBBE2-B602-41A4-9A8A-E4FB5F97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Authorize workstreams against the gated funding envelope</a:t>
            </a:r>
          </a:p>
        </p:txBody>
      </p:sp>
    </p:spTree>
    <p:extLst>
      <p:ext uri="{BB962C8B-B14F-4D97-AF65-F5344CB8AC3E}">
        <p14:creationId xmlns:p14="http://schemas.microsoft.com/office/powerpoint/2010/main" val="1849277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5A138-E154-4B5B-93BF-A832568A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01C91-8C66-404B-A947-DF9C1DC9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BUDGET OPPORTUNITY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609AF-E689-40DA-A995-BCAA5F12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F30A4-96BA-455F-9BCE-8B59838E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7DF7B-2901-4FE2-A57F-ED8D1BC8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evaluation criteria keep the portfolio focused on executable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F69C-C3A3-4A8A-B588-8132202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47973-41FC-499D-8E52-D91F5D78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¥15.4M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32461-F566-429E-8E74-B2D8FF59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6255B-8C6B-4CEA-9E2C-B2771A9D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B22F7-B127-411A-A8A5-52FAAE1F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BE590-043A-4391-AC8C-E8E1F776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¥10.8M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C357-AD7A-4962-994E-EB1ED3C4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09984-DE9A-48C8-917F-BB5CD11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6A227-37A0-4803-BA84-B0864F1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2B306-D784-430F-BF31-87174026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1.7x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47F00-465E-40BC-B24A-0E337BED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value /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C68DE-BABB-4A61-8F7E-F08B3860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52522-E069-4954-9435-F5EA4A2F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3D06E-E1BA-4824-BFF3-F73782C7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1F82B-F3C7-435A-A56A-E837ADCB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scorecard to protect first-wave capacity for initiatives that can deliver with disciplined ownership.</a:t>
            </a:r>
          </a:p>
        </p:txBody>
      </p:sp>
    </p:spTree>
    <p:extLst>
      <p:ext uri="{BB962C8B-B14F-4D97-AF65-F5344CB8AC3E}">
        <p14:creationId xmlns:p14="http://schemas.microsoft.com/office/powerpoint/2010/main" val="634693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C470F-4C50-4F04-AB7A-EFC34C03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98158-0BB5-4951-BF74-15ECFB72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BUDGET OPPORTUNITY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2B013-BB39-4DE8-84BA-EA2BFA76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B857D-5C86-4731-95D4-CF7AC61D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F9D8-E577-461C-BF64-A7017E1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staged choice architecture turns the portfolio into an executable first wave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Fund commercial sprint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Release tranche 1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Fund category sprints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Release tranche 2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Rebase envelope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Benefit review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FA5C5-606B-44D8-A026-499CC36F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61BFE-AE2D-4C4F-8EC5-390A121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BBB86-2E3A-44C0-B9C4-9CDD4502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Authorize workstreams against the gated funding envelope</a:t>
            </a:r>
          </a:p>
        </p:txBody>
      </p:sp>
    </p:spTree>
    <p:extLst>
      <p:ext uri="{BB962C8B-B14F-4D97-AF65-F5344CB8AC3E}">
        <p14:creationId xmlns:p14="http://schemas.microsoft.com/office/powerpoint/2010/main" val="508182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2026-08-23T15:19:06.1440000Z</dcterms:created>
  <dcterms:modified xsi:type="dcterms:W3CDTF">2026-08-23T15:19:06.1440000Z</dcterms:modified>
</coreProperties>
</file>