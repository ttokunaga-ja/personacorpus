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4e4371d5e2466f" /><Relationship Type="http://schemas.openxmlformats.org/officeDocument/2006/relationships/extended-properties" Target="/docProps/app.xml" Id="Rf99788518ebc4c2a" /><Relationship Type="http://schemas.openxmlformats.org/officeDocument/2006/relationships/officeDocument" Target="/ppt/presentation.xml" Id="R7845a00b466f47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0b03eb03c401f"/>
  </p:sldMasterIdLst>
  <p:notesMasterIdLst>
    <p:notesMasterId xmlns:r="http://schemas.openxmlformats.org/officeDocument/2006/relationships" r:id="R6b9df36824714fc8"/>
  </p:notesMasterIdLst>
  <p:sldIdLst>
    <p:sldId xmlns:r="http://schemas.openxmlformats.org/officeDocument/2006/relationships" id="256" r:id="Rcec8e0acbbf34428"/>
    <p:sldId xmlns:r="http://schemas.openxmlformats.org/officeDocument/2006/relationships" id="257" r:id="Rdf6e7a59ea554bfc"/>
    <p:sldId xmlns:r="http://schemas.openxmlformats.org/officeDocument/2006/relationships" id="258" r:id="R4b6deee96a77485e"/>
    <p:sldId xmlns:r="http://schemas.openxmlformats.org/officeDocument/2006/relationships" id="259" r:id="R8d1a12d751fa42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18734b56364caa" /><Relationship Type="http://schemas.openxmlformats.org/officeDocument/2006/relationships/slideMaster" Target="/ppt/slideMasters/slideMaster1.xml" Id="R4580b03eb03c401f" /><Relationship Type="http://schemas.openxmlformats.org/officeDocument/2006/relationships/notesMaster" Target="/ppt/notesMasters/notesMaster1.xml" Id="R6b9df36824714fc8" /><Relationship Type="http://schemas.openxmlformats.org/officeDocument/2006/relationships/presProps" Target="/ppt/presProps.xml" Id="Rffa3e2d4df524806" /><Relationship Type="http://schemas.openxmlformats.org/officeDocument/2006/relationships/tableStyles" Target="/ppt/tableStyles.xml" Id="R342950082bf44a9e" /><Relationship Type="http://schemas.openxmlformats.org/officeDocument/2006/relationships/slide" Target="/ppt/slides/slide1.xml" Id="Rcec8e0acbbf34428" /><Relationship Type="http://schemas.openxmlformats.org/officeDocument/2006/relationships/slide" Target="/ppt/slides/slide2.xml" Id="Rdf6e7a59ea554bfc" /><Relationship Type="http://schemas.openxmlformats.org/officeDocument/2006/relationships/slide" Target="/ppt/slides/slide3.xml" Id="R4b6deee96a77485e" /><Relationship Type="http://schemas.openxmlformats.org/officeDocument/2006/relationships/slide" Target="/ppt/slides/slide4.xml" Id="R8d1a12d751fa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812fa2db85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0e6f36bcb49c8" /><Relationship Type="http://schemas.openxmlformats.org/officeDocument/2006/relationships/notesMaster" Target="/ppt/notesMasters/notesMaster1.xml" Id="R24d820c1189c47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778b83a67b4a64" /><Relationship Type="http://schemas.openxmlformats.org/officeDocument/2006/relationships/notesMaster" Target="/ppt/notesMasters/notesMaster1.xml" Id="Ree6bf25c5e614e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94a3d279c5442a" /><Relationship Type="http://schemas.openxmlformats.org/officeDocument/2006/relationships/notesMaster" Target="/ppt/notesMasters/notesMaster1.xml" Id="R7ee63b93065d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4310e8c82c43a7" /><Relationship Type="http://schemas.openxmlformats.org/officeDocument/2006/relationships/notesMaster" Target="/ppt/notesMasters/notesMaster1.xml" Id="Reae0d5320ba449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4ac30511f4a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860ee4dcf34d3f" /><Relationship Type="http://schemas.openxmlformats.org/officeDocument/2006/relationships/slideLayout" Target="/ppt/slideLayouts/slideLayout1.xml" Id="R600a2b9e87f54d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0a2b9e87f5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1a96e2a464982" /><Relationship Type="http://schemas.openxmlformats.org/officeDocument/2006/relationships/notesSlide" Target="/ppt/notesSlides/notesSlide1.xml" Id="Rbe223ccc35cb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21caabd834c37" /><Relationship Type="http://schemas.openxmlformats.org/officeDocument/2006/relationships/chart" Target="/ppt/slides/charts/chart1.xml" Id="Ra4c07a64a2a6495a" /><Relationship Type="http://schemas.openxmlformats.org/officeDocument/2006/relationships/notesSlide" Target="/ppt/notesSlides/notesSlide2.xml" Id="R533372c6c24d45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2b200dc974a81" /><Relationship Type="http://schemas.openxmlformats.org/officeDocument/2006/relationships/notesSlide" Target="/ppt/notesSlides/notesSlide3.xml" Id="R3ad3e2408fa246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278418acb4c09" /><Relationship Type="http://schemas.openxmlformats.org/officeDocument/2006/relationships/notesSlide" Target="/ppt/notesSlides/notesSlide4.xml" Id="Rf179b3d52db448a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Discounts</c:v>
              </c:pt>
              <c:pt idx="1">
                <c:v>Rebates</c:v>
              </c:pt>
              <c:pt idx="2">
                <c:v>Terms</c:v>
              </c:pt>
              <c:pt idx="3">
                <c:v>Claims</c:v>
              </c:pt>
            </c:strLit>
          </c:cat>
          <c:val>
            <c:numLit>
              <c:formatCode>General</c:formatCode>
              <c:ptCount val="4"/>
              <c:pt idx="0">
                <c:v>2.6</c:v>
              </c:pt>
              <c:pt idx="1">
                <c:v>1.8</c:v>
              </c:pt>
              <c:pt idx="2">
                <c:v>1.2</c:v>
              </c:pt>
              <c:pt idx="3">
                <c:v>0.8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09C63-403D-463C-B5F7-7504B277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AC635-2EA3-4F1F-BC0B-B53E36EC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90F41-6FA5-4312-9B1C-5D216F9D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Pricing leakage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1A81F-7823-43FD-AEF7-A8D9C529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Uncontrolled discounting and rebate exceptions create a ¥6.4M leakage pool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E1C5F-DEB7-43AE-9C78-E5909050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E150D-2A3B-43CC-9B4A-1C5BCB39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7F478-E883-40B2-B637-5F894A37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0F44C-C018-4874-9967-7AE4ACAB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96C26-6C21-4637-BCAA-3111895F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400C4-E741-48BA-A208-356AA9C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AB19B-7559-47AA-95D7-6EF20F67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¥6.4M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B08F9-0255-4143-9B8A-96B1244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2287A-7B4E-4037-8677-7829144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6425A-485B-4CE2-AFED-0AA5F11B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338998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D1DD6-56C5-4D0E-98DB-EF2753A7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E167A-A470-4172-A948-121BE9E4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PRICING LEAKAGE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A1EC3-BAA2-4284-9022-238D2BB7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2F06D-6B30-4EF8-8ABF-24708F20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F77AD-9506-4715-9E91-25CC3DCB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diagnostic isolates the variance that needs management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C1046-2B54-4FD0-AF21-2D14753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Pricing leakage by exception type (¥M)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c07a64a2a6495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35C00-D0A3-46FA-9F99-EF38D05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2ADC4-F3D6-4132-A64B-5539B55E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58625-ED7A-4F99-AC56-EACD15A4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spread points to a targeted fact base and a short control agenda, rather than a broad redesign.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EA222-6FF0-49C5-BD01-2CE32A7D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F82B4-8F19-4F99-9AAF-F86E730C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Install deal controls before the next pricing cycle</a:t>
            </a:r>
          </a:p>
        </p:txBody>
      </p:sp>
    </p:spTree>
    <p:extLst>
      <p:ext uri="{BB962C8B-B14F-4D97-AF65-F5344CB8AC3E}">
        <p14:creationId xmlns:p14="http://schemas.microsoft.com/office/powerpoint/2010/main" val="1817182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6EA91-4A00-4E6A-A6F6-9FDFCEDD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13C82-69CB-442A-9C9E-6D78E37F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PRICING LEAKAGE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FC71A-0951-4AF4-A420-CFEC49CB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03896-8346-4C8A-A421-4D3D940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AA3DD-AB16-4829-8C26-EF5AC89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KPI set gives Finance a fact-based way to manage the root cause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C650D-FD71-4A40-B531-AED19572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70880-DF07-4DAB-A6B7-DFB73312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¥6.4M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58673-F99A-4799-B91B-186B741C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leakage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08EF6-70A5-4629-82CA-AD798F45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0BEB3-A4A8-4CC6-A2BA-8CE31C11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8A688-D164-454C-8237-86F44067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C96AD-F1A5-497E-B54E-7F743BC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discount related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C83BE-496D-49F1-BA02-321B3F0F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13058-E120-4C03-ABAF-FE751935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3F2D3-F45C-4A64-9FFA-6485D100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70117-5BF0-424C-94CA-A7D947DC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deal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39265-DD0B-4AB4-9650-C6054ADE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A9BEB-7740-446C-9CC2-9DFB2C72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23BD2-EDC5-4C0A-B9F8-6DE11CFA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7182D-9804-4FB1-A312-9ABE7A59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variance measures to focus weekly escalation on the few levers that change the financial outcome.</a:t>
            </a:r>
          </a:p>
        </p:txBody>
      </p:sp>
    </p:spTree>
    <p:extLst>
      <p:ext uri="{BB962C8B-B14F-4D97-AF65-F5344CB8AC3E}">
        <p14:creationId xmlns:p14="http://schemas.microsoft.com/office/powerpoint/2010/main" val="1224275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8D3EC-7333-45F4-B19B-C4B07DEA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0A0D7-CFF7-40A0-AB13-62D27E16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PRICING LEAKAGE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C6AE-7D17-4644-A0AA-209B2CD7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8C857-DF9F-4959-9310-79A54689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86B5-0406-48CB-92FC-A416A769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focused fact-to-action cycle converts the diagnostic into controlled execution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Set approval bands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Control live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Clean exceptions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Leakage baseline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Audit deals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Compliance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96159-6219-44E3-AD21-AFEE81FF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9B079-A2FB-453D-B0E8-E1BDB974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F6B4A-E207-4A63-94B2-2FF6D60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Install deal controls before the next pricing cycle</a:t>
            </a:r>
          </a:p>
        </p:txBody>
      </p:sp>
    </p:spTree>
    <p:extLst>
      <p:ext uri="{BB962C8B-B14F-4D97-AF65-F5344CB8AC3E}">
        <p14:creationId xmlns:p14="http://schemas.microsoft.com/office/powerpoint/2010/main" val="1402458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2026-08-23T15:19:06.9360000Z</dcterms:created>
  <dcterms:modified xsi:type="dcterms:W3CDTF">2026-08-23T15:19:06.9360000Z</dcterms:modified>
</coreProperties>
</file>