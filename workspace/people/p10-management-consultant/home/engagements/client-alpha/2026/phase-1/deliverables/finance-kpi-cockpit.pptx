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a4d31f74414ec1" /><Relationship Type="http://schemas.openxmlformats.org/officeDocument/2006/relationships/extended-properties" Target="/docProps/app.xml" Id="R1edee67003984efd" /><Relationship Type="http://schemas.openxmlformats.org/officeDocument/2006/relationships/officeDocument" Target="/ppt/presentation.xml" Id="Rcb87c2d44e4a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c1aee10dc248ba"/>
  </p:sldMasterIdLst>
  <p:notesMasterIdLst>
    <p:notesMasterId xmlns:r="http://schemas.openxmlformats.org/officeDocument/2006/relationships" r:id="R04ef91a81eac45d8"/>
  </p:notesMasterIdLst>
  <p:sldIdLst>
    <p:sldId xmlns:r="http://schemas.openxmlformats.org/officeDocument/2006/relationships" id="256" r:id="R1a4867a8ba8e4aab"/>
    <p:sldId xmlns:r="http://schemas.openxmlformats.org/officeDocument/2006/relationships" id="257" r:id="R15165a317e3b496b"/>
    <p:sldId xmlns:r="http://schemas.openxmlformats.org/officeDocument/2006/relationships" id="258" r:id="Rc37af15f06f6465c"/>
    <p:sldId xmlns:r="http://schemas.openxmlformats.org/officeDocument/2006/relationships" id="259" r:id="R6d58963df8d94b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3cbc815b24b02" /><Relationship Type="http://schemas.openxmlformats.org/officeDocument/2006/relationships/slideMaster" Target="/ppt/slideMasters/slideMaster1.xml" Id="R6bc1aee10dc248ba" /><Relationship Type="http://schemas.openxmlformats.org/officeDocument/2006/relationships/notesMaster" Target="/ppt/notesMasters/notesMaster1.xml" Id="R04ef91a81eac45d8" /><Relationship Type="http://schemas.openxmlformats.org/officeDocument/2006/relationships/presProps" Target="/ppt/presProps.xml" Id="Re24c6bd442f0468e" /><Relationship Type="http://schemas.openxmlformats.org/officeDocument/2006/relationships/tableStyles" Target="/ppt/tableStyles.xml" Id="R0a594287cd7943e0" /><Relationship Type="http://schemas.openxmlformats.org/officeDocument/2006/relationships/slide" Target="/ppt/slides/slide1.xml" Id="R1a4867a8ba8e4aab" /><Relationship Type="http://schemas.openxmlformats.org/officeDocument/2006/relationships/slide" Target="/ppt/slides/slide2.xml" Id="R15165a317e3b496b" /><Relationship Type="http://schemas.openxmlformats.org/officeDocument/2006/relationships/slide" Target="/ppt/slides/slide3.xml" Id="Rc37af15f06f6465c" /><Relationship Type="http://schemas.openxmlformats.org/officeDocument/2006/relationships/slide" Target="/ppt/slides/slide4.xml" Id="R6d58963df8d94b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f66ebb40aa49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0fc7a74eb841be" /><Relationship Type="http://schemas.openxmlformats.org/officeDocument/2006/relationships/notesMaster" Target="/ppt/notesMasters/notesMaster1.xml" Id="Rafb4ae6f1818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36e2ce48214a6c" /><Relationship Type="http://schemas.openxmlformats.org/officeDocument/2006/relationships/notesMaster" Target="/ppt/notesMasters/notesMaster1.xml" Id="R89113499474546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27fdf96afb4227" /><Relationship Type="http://schemas.openxmlformats.org/officeDocument/2006/relationships/notesMaster" Target="/ppt/notesMasters/notesMaster1.xml" Id="Redff6e43c06049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5d3af51f804f13" /><Relationship Type="http://schemas.openxmlformats.org/officeDocument/2006/relationships/notesMaster" Target="/ppt/notesMasters/notesMaster1.xml" Id="R7b75be33e79f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02bca5801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faa2cbb43546dd" /><Relationship Type="http://schemas.openxmlformats.org/officeDocument/2006/relationships/slideLayout" Target="/ppt/slideLayouts/slideLayout1.xml" Id="R10208ae54d8048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08ae54d8048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f30509aee4902" /><Relationship Type="http://schemas.openxmlformats.org/officeDocument/2006/relationships/notesSlide" Target="/ppt/notesSlides/notesSlide1.xml" Id="Rcf75265e48504d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4eb80821a4c72" /><Relationship Type="http://schemas.openxmlformats.org/officeDocument/2006/relationships/chart" Target="/ppt/slides/charts/chart1.xml" Id="R8bf7d28ecb1546eb" /><Relationship Type="http://schemas.openxmlformats.org/officeDocument/2006/relationships/notesSlide" Target="/ppt/notesSlides/notesSlide2.xml" Id="R371ee665a497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51decce624fef" /><Relationship Type="http://schemas.openxmlformats.org/officeDocument/2006/relationships/notesSlide" Target="/ppt/notesSlides/notesSlide3.xml" Id="Rd05abdc4219347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73af886464008" /><Relationship Type="http://schemas.openxmlformats.org/officeDocument/2006/relationships/notesSlide" Target="/ppt/notesSlides/notesSlide4.xml" Id="R319e9b4f494c444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May</c:v>
              </c:pt>
              <c:pt idx="1">
                <c:v>Jun</c:v>
              </c:pt>
              <c:pt idx="2">
                <c:v>Jul</c:v>
              </c:pt>
              <c:pt idx="3">
                <c:v>Aug</c:v>
              </c:pt>
            </c:strLit>
          </c:cat>
          <c:val>
            <c:numLit>
              <c:formatCode>General</c:formatCode>
              <c:ptCount val="4"/>
              <c:pt idx="0">
                <c:v>58</c:v>
              </c:pt>
              <c:pt idx="1">
                <c:v>63</c:v>
              </c:pt>
              <c:pt idx="2">
                <c:v>69</c:v>
              </c:pt>
              <c:pt idx="3">
                <c:v>74</c:v>
              </c:pt>
            </c:numLit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3FDC5-7978-4067-8E9B-D7B9132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681DA-EC34-46C1-A626-2CADAA08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367C-132C-48BF-995B-67E800D2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Finance KPI cockpit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7E240-0DED-4335-9301-84B7BF3E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Three leading indicators explain most of the current finance performance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EA967-353A-4A64-8396-15123801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7C1BD-4402-412D-8064-09BF0B40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0CE2D-CD35-4DA1-A5B8-39D79BB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E9AE1-0F97-43ED-B5DA-186C6A22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CF29A-A390-46CE-836B-AF044410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525F5-934F-4762-8F8B-38647B4C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F0C8C-EEBD-4203-8F3E-8CD173B9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¥15.4M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D2932-497C-4CD8-A890-BC5343E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DAEC5-5F02-4670-8946-9BAF6F33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C2A3B-9B4D-4F4A-9066-287054D4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775853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3AC02-F2B5-4647-888E-544A9D43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9EF97-A925-4EF3-AD6B-0DC84778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FINANCE KPI COCKPIT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F8430-CA29-4F10-8A9A-11BA9B94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84194-029B-48B4-B8EF-63F58264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056DD-5EB8-41D5-A838-7C854D4F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diagnostic isolates the variance that needs management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B6D81-C79B-4504-A1AC-9909C083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Leading Finance KPI trajectory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f7d28ecb1546e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854C7-8FB9-4449-A1D3-87578804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253C8-0022-4378-8AF1-194B9D92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3D58F-2EA4-4155-8D2D-1C65A0F7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spread points to a targeted fact base and a short control agenda, rather than a broad redesign.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8C27A-BDBC-4E4C-8A54-05A85B5C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D710E-FDCE-41EB-8061-F6F2A4D9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Adopt the cockpit as the weekly management baseline</a:t>
            </a:r>
          </a:p>
        </p:txBody>
      </p:sp>
    </p:spTree>
    <p:extLst>
      <p:ext uri="{BB962C8B-B14F-4D97-AF65-F5344CB8AC3E}">
        <p14:creationId xmlns:p14="http://schemas.microsoft.com/office/powerpoint/2010/main" val="1588792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2E6AD-7CC5-42D1-B3E5-703B6434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B6187-F3D8-4DAE-9F92-19DC421A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FINANCE KPI COCKPIT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21726-2B57-47DC-AD29-F61F7011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0D886-2E0E-4128-8E49-108C4C1C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2AE80-E595-4D77-BC48-DD7DF2C3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KPI set gives Finance a fact-based way to manage the root cause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534F2-76A8-4F48-A54E-10E358F4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9A063-DA6E-4016-B86C-400B5BF7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74%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B3F7D-E46A-47F6-8004-906A306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invoice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BEAAA-52AB-469F-832A-E5A06925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DE632-D4FD-4403-8933-DBAB6816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2CBDD-5135-4C43-924D-F48634F0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39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B8A64-5D21-43A2-BCF5-10569E71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DSO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205E8-1AA2-4279-AF41-E8ED19A2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21257-E81D-4A5B-AAA1-A022FF6A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EEB68-CE43-4BB8-B6F0-B79598D8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6A8DC-03E6-4A0E-BDF9-63E5910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spend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E666E-886B-492A-BF14-A1BF4BD0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B28FF-46CB-40E5-A0CF-8BC68CF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9FF3C-41E4-414E-AC0A-75699675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AEAA2-B769-4508-BF84-CA0195F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variance measures to focus weekly escalation on the few levers that change the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1464022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5E39C-5DB8-4819-AD32-01BA20CA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9D846-8521-412A-9570-20EB4038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FINANCE KPI COCKPIT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6FC17-C506-42D0-AF47-4F74ABB4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25699-1095-48E9-8564-F8306A5C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BB8E3-0B65-430F-8824-A0303565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focused fact-to-action cycle converts the diagnostic into controlled execution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Refresh cockpit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Metric confidence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Biweekly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Escalate variance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Decision log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Monthly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Review benefits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Performance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619D9-0549-4F63-AAD0-5D20E17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DB918-0B99-4DF2-9793-8289818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52A99-B221-4050-90B5-4BD23800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Adopt the cockpit as the weekly management baseline</a:t>
            </a:r>
          </a:p>
        </p:txBody>
      </p:sp>
    </p:spTree>
    <p:extLst>
      <p:ext uri="{BB962C8B-B14F-4D97-AF65-F5344CB8AC3E}">
        <p14:creationId xmlns:p14="http://schemas.microsoft.com/office/powerpoint/2010/main" val="1710917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2026-08-23T15:19:06.5070000Z</dcterms:created>
  <dcterms:modified xsi:type="dcterms:W3CDTF">2026-08-23T15:19:06.5070000Z</dcterms:modified>
</coreProperties>
</file>