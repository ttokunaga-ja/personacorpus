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acd50634d4995" /><Relationship Type="http://schemas.openxmlformats.org/officeDocument/2006/relationships/extended-properties" Target="/docProps/app.xml" Id="R91e30d784d3a4fe8" /><Relationship Type="http://schemas.openxmlformats.org/officeDocument/2006/relationships/officeDocument" Target="/ppt/presentation.xml" Id="Rd850168b09e345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9e9ed3090342c2"/>
  </p:sldMasterIdLst>
  <p:notesMasterIdLst>
    <p:notesMasterId xmlns:r="http://schemas.openxmlformats.org/officeDocument/2006/relationships" r:id="Rf9e80b2d74134a37"/>
  </p:notesMasterIdLst>
  <p:sldIdLst>
    <p:sldId xmlns:r="http://schemas.openxmlformats.org/officeDocument/2006/relationships" id="256" r:id="R396f645daf1c4e18"/>
    <p:sldId xmlns:r="http://schemas.openxmlformats.org/officeDocument/2006/relationships" id="257" r:id="Re3d1ae7924634195"/>
    <p:sldId xmlns:r="http://schemas.openxmlformats.org/officeDocument/2006/relationships" id="258" r:id="R3464b68d6d914af7"/>
    <p:sldId xmlns:r="http://schemas.openxmlformats.org/officeDocument/2006/relationships" id="259" r:id="R8aa9c2cc981e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8bd9a76a854ff3" /><Relationship Type="http://schemas.openxmlformats.org/officeDocument/2006/relationships/slideMaster" Target="/ppt/slideMasters/slideMaster1.xml" Id="R0c9e9ed3090342c2" /><Relationship Type="http://schemas.openxmlformats.org/officeDocument/2006/relationships/notesMaster" Target="/ppt/notesMasters/notesMaster1.xml" Id="Rf9e80b2d74134a37" /><Relationship Type="http://schemas.openxmlformats.org/officeDocument/2006/relationships/presProps" Target="/ppt/presProps.xml" Id="R1792f0270a1e49bf" /><Relationship Type="http://schemas.openxmlformats.org/officeDocument/2006/relationships/tableStyles" Target="/ppt/tableStyles.xml" Id="Rb950cd7a82b54537" /><Relationship Type="http://schemas.openxmlformats.org/officeDocument/2006/relationships/slide" Target="/ppt/slides/slide1.xml" Id="R396f645daf1c4e18" /><Relationship Type="http://schemas.openxmlformats.org/officeDocument/2006/relationships/slide" Target="/ppt/slides/slide2.xml" Id="Re3d1ae7924634195" /><Relationship Type="http://schemas.openxmlformats.org/officeDocument/2006/relationships/slide" Target="/ppt/slides/slide3.xml" Id="R3464b68d6d914af7" /><Relationship Type="http://schemas.openxmlformats.org/officeDocument/2006/relationships/slide" Target="/ppt/slides/slide4.xml" Id="R8aa9c2cc981e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df1a1cc6594f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37cff0e8a0452b" /><Relationship Type="http://schemas.openxmlformats.org/officeDocument/2006/relationships/notesMaster" Target="/ppt/notesMasters/notesMaster1.xml" Id="Rddb62c3b304c4e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b70276818344c8" /><Relationship Type="http://schemas.openxmlformats.org/officeDocument/2006/relationships/notesMaster" Target="/ppt/notesMasters/notesMaster1.xml" Id="Rc5f1b446b06646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d15aea57a74c71" /><Relationship Type="http://schemas.openxmlformats.org/officeDocument/2006/relationships/notesMaster" Target="/ppt/notesMasters/notesMaster1.xml" Id="Rc7639872797b4e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2dddd781ed4575" /><Relationship Type="http://schemas.openxmlformats.org/officeDocument/2006/relationships/notesMaster" Target="/ppt/notesMasters/notesMaster1.xml" Id="R9985c00a853b4a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777b6666a48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fde2d34fc4174" /><Relationship Type="http://schemas.openxmlformats.org/officeDocument/2006/relationships/slideLayout" Target="/ppt/slideLayouts/slideLayout1.xml" Id="Ra2c6086db2f448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c6086db2f448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19764fece4372" /><Relationship Type="http://schemas.openxmlformats.org/officeDocument/2006/relationships/notesSlide" Target="/ppt/notesSlides/notesSlide1.xml" Id="R5e1c4f4d1a2b4e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d2c42139d4f00" /><Relationship Type="http://schemas.openxmlformats.org/officeDocument/2006/relationships/chart" Target="/ppt/slides/charts/chart1.xml" Id="R89782d3766564244" /><Relationship Type="http://schemas.openxmlformats.org/officeDocument/2006/relationships/notesSlide" Target="/ppt/notesSlides/notesSlide2.xml" Id="R19dced0db22145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e0c54045c437c" /><Relationship Type="http://schemas.openxmlformats.org/officeDocument/2006/relationships/notesSlide" Target="/ppt/notesSlides/notesSlide3.xml" Id="Raa53d34be0214b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51cfe225c489c" /><Relationship Type="http://schemas.openxmlformats.org/officeDocument/2006/relationships/notesSlide" Target="/ppt/notesSlides/notesSlide4.xml" Id="Rae96f43f326a497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Pricing</c:v>
              </c:pt>
              <c:pt idx="1">
                <c:v>Procurement</c:v>
              </c:pt>
              <c:pt idx="2">
                <c:v>Cash</c:v>
              </c:pt>
              <c:pt idx="3">
                <c:v>Service</c:v>
              </c:pt>
            </c:strLit>
          </c:cat>
          <c:val>
            <c:numLit>
              <c:formatCode>General</c:formatCode>
              <c:ptCount val="4"/>
              <c:pt idx="0">
                <c:v>6.5</c:v>
              </c:pt>
              <c:pt idx="1">
                <c:v>5</c:v>
              </c:pt>
              <c:pt idx="2">
                <c:v>3.9</c:v>
              </c:pt>
              <c:pt idx="3">
                <c:v>3.2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358F0-8C20-4088-BE63-A08E0B0D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E65AB-4E32-4343-8603-57AE0567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B6362-60AA-4AA7-9B65-A01525A2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executive 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8378D-60DB-4B26-A0A8-1DE321C4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Finance findings point to a practical path to margin and cash improvement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0C0BD-8C29-4D2B-BACB-DFF27FA0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3D902-F13E-41AD-AB50-E69A9568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DD6FB-7FA3-47D3-AFCB-D0929C66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0CAA7-C39A-4F54-8D64-7F4A7713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F7CA5-86BE-482E-8ADD-875C2DE9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90D6C-E089-4232-B504-C4CC20EE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F4FCF-F394-43FA-88C3-636DB868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7ACB3-FBC4-4A71-B4F3-048EB3F2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D1DD2-4045-4C00-B9BE-CB31E4CC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BEA97-2E89-475F-991E-A6FF67A1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462045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12DA4-4FEA-47CE-AD81-82C03DF4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78F9B-1897-440E-A8CE-9E5E9F2E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PHASE 1 EXECUTIVE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5F87-4B27-496F-A12C-9E2CE30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9044D-EAEC-4272-8F07-776438B2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E7C91-1F9C-4BCA-A5E7-19A09278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decision package focuses leadership attention on the choices that unlock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51D4D-AA9E-4831-87A1-F8E1B5CD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Executive value case by workstream (¥M)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782d37665642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70C17-3DE0-4D78-BA65-C8E8333A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76293-9037-4B32-BE7A-74B87268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ADFFC-D12B-4DD7-A43E-ACF5A50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Leadership can reduce delivery risk by deciding mandate, owner, and funding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37400-84B0-42A1-A305-3D940E88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BE7F5-45F4-4B3B-9D8B-FA34B81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Endorse the Phase 2 mobilization agenda</a:t>
            </a:r>
          </a:p>
        </p:txBody>
      </p:sp>
    </p:spTree>
    <p:extLst>
      <p:ext uri="{BB962C8B-B14F-4D97-AF65-F5344CB8AC3E}">
        <p14:creationId xmlns:p14="http://schemas.microsoft.com/office/powerpoint/2010/main" val="249419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4D85F-757D-4443-94DE-CC66088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4D081-565E-463B-B54A-0C58116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PHASE 1 EXECUTIVE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539CF-CA92-4897-8968-F4EE97A7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799D0-F808-4F01-83DC-9C511AE8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81F92-6B52-41BC-9D2A-5E988B73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decision metrics translate sponsorship into measurable commitments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53EEB-EA5A-4780-8F43-6E5185FD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B3209-2D97-4876-A169-B71E071B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ACF33-1737-4100-843A-8E24EDCB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run-rate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412FB-9040-4E38-8E12-B7B67A68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191C4-E429-4A8B-8297-9B2B6B4A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E6D7A-5713-4793-8BFF-9F084D74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10F77-E1FE-4BC6-9DB8-6BF35117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workstreams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123C8-25B9-43FC-B5D1-9F636AD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ABBCB-E74A-481F-8158-C0B230F0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E89C1-24A0-40AD-AD4F-951C06BA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12 wks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8927D-F8E2-4913-9935-D1DF1E0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to first benefit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BF9B3-7DA6-4EE6-8AF3-4864069A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833D8-F9E3-44DF-98B8-DDF6658E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67F3A-F425-4009-A3D5-8B1E3A9F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69E52-109C-49C1-87F2-8B89A33D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metrics as the SteerCo contract: every approval carries an owner, a value measure, and a decision date.</a:t>
            </a:r>
          </a:p>
        </p:txBody>
      </p:sp>
    </p:spTree>
    <p:extLst>
      <p:ext uri="{BB962C8B-B14F-4D97-AF65-F5344CB8AC3E}">
        <p14:creationId xmlns:p14="http://schemas.microsoft.com/office/powerpoint/2010/main" val="1921370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C5F4F-34A3-45F6-ACB7-EE6DBC8F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C74C5-5484-4575-8D39-6B786147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PHASE 1 EXECUTIVE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08C6B-FBAC-4C62-A160-4B2070C5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02FCE-BC01-4369-8F29-CD210D45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C1892-C495-424D-8437-63239ED0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 rights, ownership, and timing make the recommendation implementable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Approve mandate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Sponsor confirmed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Mobilize top levers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Owners active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Review benefits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Wave 2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8A39E-C780-498F-BD2F-5AEE93E6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D9F27-B549-4039-83F8-51A7E408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AE178-F8F6-49EE-9647-3E6B85C1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Endorse the Phase 2 mobilization agenda</a:t>
            </a:r>
          </a:p>
        </p:txBody>
      </p:sp>
    </p:spTree>
    <p:extLst>
      <p:ext uri="{BB962C8B-B14F-4D97-AF65-F5344CB8AC3E}">
        <p14:creationId xmlns:p14="http://schemas.microsoft.com/office/powerpoint/2010/main" val="1749197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2026-08-23T15:19:06.2530000Z</dcterms:created>
  <dcterms:modified xsi:type="dcterms:W3CDTF">2026-08-23T15:19:06.2530000Z</dcterms:modified>
</coreProperties>
</file>