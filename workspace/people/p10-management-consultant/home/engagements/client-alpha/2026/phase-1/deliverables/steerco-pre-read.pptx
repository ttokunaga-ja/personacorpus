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529e6f9c745e7" /><Relationship Type="http://schemas.openxmlformats.org/officeDocument/2006/relationships/extended-properties" Target="/docProps/app.xml" Id="R17e8274a547b48b8" /><Relationship Type="http://schemas.openxmlformats.org/officeDocument/2006/relationships/officeDocument" Target="/ppt/presentation.xml" Id="R91054f22b7cc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2872070c754ccd"/>
  </p:sldMasterIdLst>
  <p:notesMasterIdLst>
    <p:notesMasterId xmlns:r="http://schemas.openxmlformats.org/officeDocument/2006/relationships" r:id="Rec911bb2860c4302"/>
  </p:notesMasterIdLst>
  <p:sldIdLst>
    <p:sldId xmlns:r="http://schemas.openxmlformats.org/officeDocument/2006/relationships" id="256" r:id="R963b0e53f44e43c8"/>
    <p:sldId xmlns:r="http://schemas.openxmlformats.org/officeDocument/2006/relationships" id="257" r:id="R99d7509e4b38470f"/>
    <p:sldId xmlns:r="http://schemas.openxmlformats.org/officeDocument/2006/relationships" id="258" r:id="R7e709ccaec274e8b"/>
    <p:sldId xmlns:r="http://schemas.openxmlformats.org/officeDocument/2006/relationships" id="259" r:id="R3548bc3e243b41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7d9959a9ee41d6" /><Relationship Type="http://schemas.openxmlformats.org/officeDocument/2006/relationships/slideMaster" Target="/ppt/slideMasters/slideMaster1.xml" Id="R882872070c754ccd" /><Relationship Type="http://schemas.openxmlformats.org/officeDocument/2006/relationships/notesMaster" Target="/ppt/notesMasters/notesMaster1.xml" Id="Rec911bb2860c4302" /><Relationship Type="http://schemas.openxmlformats.org/officeDocument/2006/relationships/presProps" Target="/ppt/presProps.xml" Id="Rbc41996c00eb4263" /><Relationship Type="http://schemas.openxmlformats.org/officeDocument/2006/relationships/tableStyles" Target="/ppt/tableStyles.xml" Id="Ra657ae4ec9774477" /><Relationship Type="http://schemas.openxmlformats.org/officeDocument/2006/relationships/slide" Target="/ppt/slides/slide1.xml" Id="R963b0e53f44e43c8" /><Relationship Type="http://schemas.openxmlformats.org/officeDocument/2006/relationships/slide" Target="/ppt/slides/slide2.xml" Id="R99d7509e4b38470f" /><Relationship Type="http://schemas.openxmlformats.org/officeDocument/2006/relationships/slide" Target="/ppt/slides/slide3.xml" Id="R7e709ccaec274e8b" /><Relationship Type="http://schemas.openxmlformats.org/officeDocument/2006/relationships/slide" Target="/ppt/slides/slide4.xml" Id="R3548bc3e243b41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3bc75a95e34e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b931141c9470b" /><Relationship Type="http://schemas.openxmlformats.org/officeDocument/2006/relationships/notesMaster" Target="/ppt/notesMasters/notesMaster1.xml" Id="R0c52738a1bb94b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7b82883324492d" /><Relationship Type="http://schemas.openxmlformats.org/officeDocument/2006/relationships/notesMaster" Target="/ppt/notesMasters/notesMaster1.xml" Id="R3d09b5b1e16b4d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c4736043fc4dc5" /><Relationship Type="http://schemas.openxmlformats.org/officeDocument/2006/relationships/notesMaster" Target="/ppt/notesMasters/notesMaster1.xml" Id="R7fe2106bb3d04c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ee67a49e2c4087" /><Relationship Type="http://schemas.openxmlformats.org/officeDocument/2006/relationships/notesMaster" Target="/ppt/notesMasters/notesMaster1.xml" Id="R5d677b4df86f46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Synthetic internal analysis;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f90024c4ab45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43849606944b9e" /><Relationship Type="http://schemas.openxmlformats.org/officeDocument/2006/relationships/slideLayout" Target="/ppt/slideLayouts/slideLayout1.xml" Id="Rcb85fc83417b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85fc83417b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9a67ff3f34a5e" /><Relationship Type="http://schemas.openxmlformats.org/officeDocument/2006/relationships/notesSlide" Target="/ppt/notesSlides/notesSlide1.xml" Id="R6bfb3f9a02bd4d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39b97a56347a4" /><Relationship Type="http://schemas.openxmlformats.org/officeDocument/2006/relationships/chart" Target="/ppt/slides/charts/chart1.xml" Id="Rfbb9f0b6533e4e03" /><Relationship Type="http://schemas.openxmlformats.org/officeDocument/2006/relationships/notesSlide" Target="/ppt/notesSlides/notesSlide2.xml" Id="R1533609f415041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b057dbebb4868" /><Relationship Type="http://schemas.openxmlformats.org/officeDocument/2006/relationships/notesSlide" Target="/ppt/notesSlides/notesSlide3.xml" Id="Rc7cd01890f0442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d8946e3cf492f" /><Relationship Type="http://schemas.openxmlformats.org/officeDocument/2006/relationships/notesSlide" Target="/ppt/notesSlides/notesSlide4.xml" Id="R7779b0c32528425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Synthetic analysis</c:v>
          </c:tx>
          <c:spPr>
            <a:solidFill xmlns:a="http://schemas.openxmlformats.org/drawingml/2006/main">
              <a:srgbClr val="3D8DFF"/>
            </a:solidFill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cat>
            <c:strLit>
              <c:ptCount val="4"/>
              <c:pt idx="0">
                <c:v>Mandate</c:v>
              </c:pt>
              <c:pt idx="1">
                <c:v>Sponsor</c:v>
              </c:pt>
              <c:pt idx="2">
                <c:v>Funding</c:v>
              </c:pt>
              <c:pt idx="3">
                <c:v>Cadence</c:v>
              </c:pt>
            </c:strLit>
          </c:cat>
          <c:val>
            <c:numLit>
              <c:formatCode>General</c:formatCode>
              <c:ptCount val="4"/>
              <c:pt idx="0">
                <c:v>95</c:v>
              </c:pt>
              <c:pt idx="1">
                <c:v>82</c:v>
              </c:pt>
              <c:pt idx="2">
                <c:v>74</c:v>
              </c:pt>
              <c:pt idx="3">
                <c:v>88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567D4-34C3-42D3-A176-37014B9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7AA96-7D80-48F7-9122-E005AEB2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/  PHASE 1  /  FINANCE WORKSTREAM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264FB-86CC-40FF-BA35-E48EBF39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381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SteerCo pre-read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ABB96-80E0-4C7E-BE5B-203BD5B4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SteerCo decisions can protect value realization before Phase 2 begins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0CF9-ABA1-42FC-85EE-6EAE5176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discussion • 13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0A018-9386-42F2-B8D0-2AB0AFE8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Avery Calder • Nina Solberg • Theo Mercer • Keiko Ward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FBBA1-7BCB-4546-8C28-508ACC42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09600"/>
            <a:ext cx="457200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7DFBB-6E22-4E94-AFCC-E6DA6006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123950"/>
            <a:ext cx="3409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274D6-7C83-4595-A68E-D005B464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95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¥42.8M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BB930-6D99-4F26-9888-293D8A70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145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engagement budget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A8BB7-CFA2-4E7A-9B1A-1852E367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24125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¥18.6M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4C9EA-666E-459E-9898-CF6A82DD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48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annual run-rate opportunity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C8786-876E-4321-8BC4-DF266EC4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62375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5156D-31E3-4185-8A6F-E648400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481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Phase 1 findings</a:t>
            </a:r>
          </a:p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Decision-ready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72471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F1B3F-79A1-4B57-85E4-7033D10D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72304-44C0-4389-9F94-40ABB00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STEERCO PRE-READ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13A63-5400-4310-8C49-AD810F5B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D8E6B-E30E-4D7A-84BA-0C4ABBEC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B3B1D-E0EA-4F93-953F-44221A3F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package focuses leadership attention on the choices that unlock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9F8D2-403C-4732-BD02-F2EB5F12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SteerCo decision readiness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28650" y="2238375"/>
          <a:ext xmlns:a="http://schemas.openxmlformats.org/drawingml/2006/main" cx="6477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b9f0b6533e4e0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BE33E-7EA9-46B1-951E-829C3AC4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3333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C30D9-4881-495E-904F-2132CC82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What it means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89300-4FAB-47B7-A08D-E929E8F1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571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Leadership can reduce delivery risk by deciding mandate, owner, and funding together.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227E1-007B-46BD-ACD8-8DA9C509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33875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Recommended next 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1C716-0979-417E-987C-A1481013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Decide the mandate, sponsorship model, and governance cadence</a:t>
            </a:r>
          </a:p>
        </p:txBody>
      </p:sp>
    </p:spTree>
    <p:extLst>
      <p:ext uri="{BB962C8B-B14F-4D97-AF65-F5344CB8AC3E}">
        <p14:creationId xmlns:p14="http://schemas.microsoft.com/office/powerpoint/2010/main" val="2556957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8DB93-D214-4382-9974-91B91760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E020C-3158-4B3E-8639-255FC756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STEERCO PRE-READ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4CB3E-AA20-4982-A0BC-E79F7CBB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F2E4E-3DCA-4B7C-8FEF-468CE9EE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8A979-3F77-4FF5-931D-14171D60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decision metrics translate sponsorship into measurable commitments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88C37-6BB7-4EC2-A1B1-898F4E15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46404-6FAD-490A-B8E8-C48B1A6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CC3B4-0EF5-4982-8168-2D639159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82080C-DB7F-40C1-8E1F-1B2BED25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Primary 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5797B-2AD2-4859-8FA2-6CBD85F1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65CE8-BB27-4FD3-9129-A32C238E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4DD1F-173D-4E20-935F-57F2180D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SteerCo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65CF2-FFD2-4FA3-A1C9-91408705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Critical proof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B5F20-3E56-47A5-A351-E7C59595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479AB-DF47-4FC6-B02F-623A7E7D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66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12 wks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4903E-6B04-4061-B7AB-94FE3832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14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first wave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91751-4D8E-4E5E-B7AC-12695C34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4327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20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2033"/>
                </a:solidFill>
                <a:latin typeface="Arial"/>
                <a:ea typeface="Arial"/>
                <a:cs typeface="Arial"/>
              </a:rPr>
              <a:t>Management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B12641-80B0-4459-A3BB-C1EF1615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1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DE"/>
          </a:solidFill>
          <a:ln xmlns:a="http://schemas.openxmlformats.org/drawingml/2006/main" w="9525">
            <a:solidFill>
              <a:srgbClr val="C7D2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A35E0-DBBA-4CAF-988E-1D4D75BF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Management implication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99738-239E-41A6-B45E-EC967B72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Use the metrics as the SteerCo contract: every approval carries an owner, a value measure, and a decision date.</a:t>
            </a:r>
          </a:p>
        </p:txBody>
      </p:sp>
    </p:spTree>
    <p:extLst>
      <p:ext uri="{BB962C8B-B14F-4D97-AF65-F5344CB8AC3E}">
        <p14:creationId xmlns:p14="http://schemas.microsoft.com/office/powerpoint/2010/main" val="982502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96065-7169-49FF-A8F5-4001C1FE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CD29D-AED6-4107-98CA-E5CCF585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STEERCO PRE-READ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840B0-CC7D-4552-ADF8-9767C87A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427B-A3B3-475E-94FF-38DE0368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6779"/>
                </a:solidFill>
                <a:latin typeface="Arial"/>
                <a:ea typeface="Arial"/>
                <a:cs typeface="Arial"/>
              </a:rPr>
              <a:t>CLIENT ALPHA  |  PHASE 1  |  2026-07-13  |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1C04A-E5DC-4C29-B7E9-EEE20C8B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Decision rights, ownership, and timing make the recommendation implementable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0515600" cy="2381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8900"/>
                <a:gridCol w="2628900"/>
                <a:gridCol w="2628900"/>
                <a:gridCol w="2628900"/>
              </a:tblGrid>
              <a:tr h="59531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Decision gate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13 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Confirm mandate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Avery Calder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Decision 1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13 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Name sponsor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Nina Solberg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Decision 2</a:t>
                      </a:r>
                    </a:p>
                  </a:txBody>
                  <a:tcPr marL="91440" marR="91440" marT="45720" marB="45720"/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13 Jul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Release funding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Theo Mercer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22033"/>
                          </a:solidFill>
                        </a:rPr>
                        <a:t>Decision 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6C05D-9D8C-47D5-9165-D1723DDB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05156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EAF5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CA5D5-7541-493D-85D8-D07839D7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9677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96779"/>
                </a:solidFill>
                <a:latin typeface="Arial"/>
                <a:ea typeface="Arial"/>
                <a:cs typeface="Arial"/>
              </a:rPr>
              <a:t>Decision requested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C46D8-29E7-4DF3-AF9B-A9883E4B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Decide the mandate, sponsorship model, and governance cadence</a:t>
            </a:r>
          </a:p>
        </p:txBody>
      </p:sp>
    </p:spTree>
    <p:extLst>
      <p:ext uri="{BB962C8B-B14F-4D97-AF65-F5344CB8AC3E}">
        <p14:creationId xmlns:p14="http://schemas.microsoft.com/office/powerpoint/2010/main" val="19518380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2026-08-23T15:19:07.1400000Z</dcterms:created>
  <dcterms:modified xsi:type="dcterms:W3CDTF">2026-08-23T15:19:07.1400000Z</dcterms:modified>
</coreProperties>
</file>