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91a428c4974622" /><Relationship Type="http://schemas.openxmlformats.org/officeDocument/2006/relationships/extended-properties" Target="/docProps/app.xml" Id="Rf5cc04ab0a544bee" /><Relationship Type="http://schemas.openxmlformats.org/officeDocument/2006/relationships/officeDocument" Target="/ppt/presentation.xml" Id="R9899ff920f6b44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646af0a6714d4c"/>
  </p:sldMasterIdLst>
  <p:notesMasterIdLst>
    <p:notesMasterId xmlns:r="http://schemas.openxmlformats.org/officeDocument/2006/relationships" r:id="R5ea91392a2664f4c"/>
  </p:notesMasterIdLst>
  <p:sldIdLst>
    <p:sldId xmlns:r="http://schemas.openxmlformats.org/officeDocument/2006/relationships" id="256" r:id="R01da1f44215143eb"/>
    <p:sldId xmlns:r="http://schemas.openxmlformats.org/officeDocument/2006/relationships" id="257" r:id="R86a312e693334070"/>
    <p:sldId xmlns:r="http://schemas.openxmlformats.org/officeDocument/2006/relationships" id="258" r:id="Rf98a582abcdf43db"/>
    <p:sldId xmlns:r="http://schemas.openxmlformats.org/officeDocument/2006/relationships" id="259" r:id="Rbb051cf4d4f84c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d2e3b8d0ce48b4" /><Relationship Type="http://schemas.openxmlformats.org/officeDocument/2006/relationships/slideMaster" Target="/ppt/slideMasters/slideMaster1.xml" Id="R90646af0a6714d4c" /><Relationship Type="http://schemas.openxmlformats.org/officeDocument/2006/relationships/notesMaster" Target="/ppt/notesMasters/notesMaster1.xml" Id="R5ea91392a2664f4c" /><Relationship Type="http://schemas.openxmlformats.org/officeDocument/2006/relationships/presProps" Target="/ppt/presProps.xml" Id="R17ea63f9a99a4823" /><Relationship Type="http://schemas.openxmlformats.org/officeDocument/2006/relationships/tableStyles" Target="/ppt/tableStyles.xml" Id="Ra21282d8fb624649" /><Relationship Type="http://schemas.openxmlformats.org/officeDocument/2006/relationships/slide" Target="/ppt/slides/slide1.xml" Id="R01da1f44215143eb" /><Relationship Type="http://schemas.openxmlformats.org/officeDocument/2006/relationships/slide" Target="/ppt/slides/slide2.xml" Id="R86a312e693334070" /><Relationship Type="http://schemas.openxmlformats.org/officeDocument/2006/relationships/slide" Target="/ppt/slides/slide3.xml" Id="Rf98a582abcdf43db" /><Relationship Type="http://schemas.openxmlformats.org/officeDocument/2006/relationships/slide" Target="/ppt/slides/slide4.xml" Id="Rbb051cf4d4f84c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ca9d8c709b43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37d09c383545b1" /><Relationship Type="http://schemas.openxmlformats.org/officeDocument/2006/relationships/notesMaster" Target="/ppt/notesMasters/notesMaster1.xml" Id="Re27633074f3c45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8d1b2b4a5c4249" /><Relationship Type="http://schemas.openxmlformats.org/officeDocument/2006/relationships/notesMaster" Target="/ppt/notesMasters/notesMaster1.xml" Id="Rf2130cf3b3c745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638ce7b5eb4537" /><Relationship Type="http://schemas.openxmlformats.org/officeDocument/2006/relationships/notesMaster" Target="/ppt/notesMasters/notesMaster1.xml" Id="Ra81dac92d4dd42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50b5ebc7154845" /><Relationship Type="http://schemas.openxmlformats.org/officeDocument/2006/relationships/notesMaster" Target="/ppt/notesMasters/notesMaster1.xml" Id="R63f39153a775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0ce4f034449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01b0fe3791461d" /><Relationship Type="http://schemas.openxmlformats.org/officeDocument/2006/relationships/slideLayout" Target="/ppt/slideLayouts/slideLayout1.xml" Id="R04e3f4b97ab24d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e3f4b97ab24d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5a5b02fc54fb9" /><Relationship Type="http://schemas.openxmlformats.org/officeDocument/2006/relationships/notesSlide" Target="/ppt/notesSlides/notesSlide1.xml" Id="Ra5a2040534f640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e9ff65e064c1b" /><Relationship Type="http://schemas.openxmlformats.org/officeDocument/2006/relationships/chart" Target="/ppt/slides/charts/chart1.xml" Id="R3ab7ea04e2fd444c" /><Relationship Type="http://schemas.openxmlformats.org/officeDocument/2006/relationships/notesSlide" Target="/ppt/notesSlides/notesSlide2.xml" Id="R074fc74dcf954e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e4b69568649eb" /><Relationship Type="http://schemas.openxmlformats.org/officeDocument/2006/relationships/notesSlide" Target="/ppt/notesSlides/notesSlide3.xml" Id="Raf5460e8a9e143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7c65d6d774591" /><Relationship Type="http://schemas.openxmlformats.org/officeDocument/2006/relationships/notesSlide" Target="/ppt/notesSlides/notesSlide4.xml" Id="R54f60084d9fa414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cat>
            <c:strLit>
              <c:ptCount val="4"/>
              <c:pt idx="0">
                <c:v>Value case</c:v>
              </c:pt>
              <c:pt idx="1">
                <c:v>Controls</c:v>
              </c:pt>
              <c:pt idx="2">
                <c:v>Owners</c:v>
              </c:pt>
              <c:pt idx="3">
                <c:v>Plan</c:v>
              </c:pt>
            </c:strLit>
          </c:cat>
          <c:val>
            <c:numLit>
              <c:formatCode>General</c:formatCode>
              <c:ptCount val="4"/>
              <c:pt idx="0">
                <c:v>92</c:v>
              </c:pt>
              <c:pt idx="1">
                <c:v>78</c:v>
              </c:pt>
              <c:pt idx="2">
                <c:v>74</c:v>
              </c:pt>
              <c:pt idx="3">
                <c:v>86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8883E-A21A-424F-8C43-FC4A2369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D908A-09DB-465E-AD5C-C475B177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46061-B646-49E6-9536-0AC4CD66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deliverable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AE653-928F-4469-B787-674F72C2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 Finance workstream has converged on a decision-ready value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0E95A-2CD0-46DD-9FCD-47E237F2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85416-53D5-4792-ABA3-8B117CBE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F32C6-A6CA-41F3-8699-88D12A00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A3D4D-4C46-43D9-BB5B-F3FACA85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B10EC-0AD7-427A-919A-660C536B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2A80B-94D3-4668-864F-E7964259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789F7-1755-4BD7-B914-219EA84E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¥18.6M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BED8D-A6BA-44B9-8502-12832B2D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B1BE2-87C4-4ED6-B946-7013360A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D6DE8-E875-41EF-B174-D444600C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89851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5ADA9-8B7D-4425-B6E0-6E5B457A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FCEE5-F3C6-411D-9CF6-77745935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PHASE 1 DELIVERABLE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9087C-9D95-4D58-8784-6D874BA0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5C0DF-8D8C-4A65-94FF-37BDDD51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D2B2C-E0AC-4CC0-9A8A-CB3DFFCC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decision package focuses leadership attention on the choices that unlock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B7B69-4CD1-4D5A-9001-850494CE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Phase 1 output acceptance by decision area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b7ea04e2fd444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E89ED-0FB0-4475-AED0-0751A11A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A7152-1B5F-470D-9193-969C9EEA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64A82-491A-4F9F-BC9C-B4596B05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Leadership can reduce delivery risk by deciding mandate, owner, and funding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AF0CA-8A85-4350-B14D-49B0C683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4E3E8-ED1A-4153-B497-869344ED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Confirm the value case and release the implementation charter</a:t>
            </a:r>
          </a:p>
        </p:txBody>
      </p:sp>
    </p:spTree>
    <p:extLst>
      <p:ext uri="{BB962C8B-B14F-4D97-AF65-F5344CB8AC3E}">
        <p14:creationId xmlns:p14="http://schemas.microsoft.com/office/powerpoint/2010/main" val="5298775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9EC2E-B2D4-4146-A2B6-E6682C70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A03A4-207B-42D6-8654-DCE95E05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PHASE 1 DELIVERABLE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E20AB-B9B2-4D51-A4DA-D6915A29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2ECA6-A414-449D-9218-E675F46A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CCC85-56EF-4CB9-8C6F-55C422F4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decision metrics translate sponsorship into measurable commitments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BAB91-22FC-4D5E-BC95-ECA864E5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64027-CA10-4118-BD6B-EDFCA1DA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4/4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DD865-BA85-4B46-B9E5-595AEDF7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areas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4073D-867B-4008-9CD8-5C0EF19B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D92E9-D0C9-40BE-81EB-5CE791F0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A2124-60BC-4B67-9CA5-EEBE8B09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78%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844E4-500A-4352-ABF1-767DC9FC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evidence complete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43AAE-8865-4496-A015-13F7239F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4456B-1751-43EC-B225-7F41F299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66CB0-DC74-4EF5-B276-F6D44C1F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7E8A8-F64B-4568-BA54-02CB496E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approval 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54DAD-E0F8-4BB7-9933-3F2A0CAF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981A6-AE25-4E73-A228-245757E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4FD5E-6694-4278-B3E9-25B688E5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35C09-E45C-4017-B82D-C55CF888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metrics as the SteerCo contract: every approval carries an owner, a value measure, and a decision date.</a:t>
            </a:r>
          </a:p>
        </p:txBody>
      </p:sp>
    </p:spTree>
    <p:extLst>
      <p:ext uri="{BB962C8B-B14F-4D97-AF65-F5344CB8AC3E}">
        <p14:creationId xmlns:p14="http://schemas.microsoft.com/office/powerpoint/2010/main" val="2136952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5364D-CE02-4541-A3A8-8CB7C7BE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78DED-DEC0-4C1C-BD89-09CCEBDB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PHASE 1 DELIVERABLE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68D1C-ABB4-4CF5-98CE-82DE6E1F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74875-66D0-4A38-82AC-345274DA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A5C6A-F28A-457D-8264-D10A7913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 rights, ownership, and timing make the recommendation implementable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13 Jul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Accept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Readout signed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15 Jul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Confirm owners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Named mandate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22 Jul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Launch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Wave 1 live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F9057-DA10-4867-8B31-6280F2BE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0A19C-4BC4-4969-9243-3FDAAF87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01113-7CF6-4DEA-908B-0307F602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Confirm the value case and release the implementation charter</a:t>
            </a:r>
          </a:p>
        </p:txBody>
      </p:sp>
    </p:spTree>
    <p:extLst>
      <p:ext uri="{BB962C8B-B14F-4D97-AF65-F5344CB8AC3E}">
        <p14:creationId xmlns:p14="http://schemas.microsoft.com/office/powerpoint/2010/main" val="637859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2026-08-23T15:19:05.7320000Z</dcterms:created>
  <dcterms:modified xsi:type="dcterms:W3CDTF">2026-08-23T15:19:05.7320000Z</dcterms:modified>
</coreProperties>
</file>