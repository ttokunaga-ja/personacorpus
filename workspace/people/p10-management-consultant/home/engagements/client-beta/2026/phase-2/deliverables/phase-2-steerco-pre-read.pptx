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67d226d254ee7" /><Relationship Type="http://schemas.openxmlformats.org/officeDocument/2006/relationships/extended-properties" Target="/docProps/app.xml" Id="R5095d498fedc4ac9" /><Relationship Type="http://schemas.openxmlformats.org/officeDocument/2006/relationships/officeDocument" Target="/ppt/presentation.xml" Id="R29936105dfaf40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4eb59a35584743"/>
  </p:sldMasterIdLst>
  <p:notesMasterIdLst>
    <p:notesMasterId xmlns:r="http://schemas.openxmlformats.org/officeDocument/2006/relationships" r:id="R2a73453102734804"/>
  </p:notesMasterIdLst>
  <p:sldIdLst>
    <p:sldId xmlns:r="http://schemas.openxmlformats.org/officeDocument/2006/relationships" id="256" r:id="R4956ee1af15e40d4"/>
    <p:sldId xmlns:r="http://schemas.openxmlformats.org/officeDocument/2006/relationships" id="257" r:id="R4c9cfef079be4a7f"/>
    <p:sldId xmlns:r="http://schemas.openxmlformats.org/officeDocument/2006/relationships" id="258" r:id="Re76a3351d4a54744"/>
    <p:sldId xmlns:r="http://schemas.openxmlformats.org/officeDocument/2006/relationships" id="259" r:id="Rb1887b7b930342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079f7424e4e2d" /><Relationship Type="http://schemas.openxmlformats.org/officeDocument/2006/relationships/slideMaster" Target="/ppt/slideMasters/slideMaster1.xml" Id="R834eb59a35584743" /><Relationship Type="http://schemas.openxmlformats.org/officeDocument/2006/relationships/notesMaster" Target="/ppt/notesMasters/notesMaster1.xml" Id="R2a73453102734804" /><Relationship Type="http://schemas.openxmlformats.org/officeDocument/2006/relationships/presProps" Target="/ppt/presProps.xml" Id="R8c2fe05b745f45cc" /><Relationship Type="http://schemas.openxmlformats.org/officeDocument/2006/relationships/tableStyles" Target="/ppt/tableStyles.xml" Id="R7eae30b41303437a" /><Relationship Type="http://schemas.openxmlformats.org/officeDocument/2006/relationships/slide" Target="/ppt/slides/slide1.xml" Id="R4956ee1af15e40d4" /><Relationship Type="http://schemas.openxmlformats.org/officeDocument/2006/relationships/slide" Target="/ppt/slides/slide2.xml" Id="R4c9cfef079be4a7f" /><Relationship Type="http://schemas.openxmlformats.org/officeDocument/2006/relationships/slide" Target="/ppt/slides/slide3.xml" Id="Re76a3351d4a54744" /><Relationship Type="http://schemas.openxmlformats.org/officeDocument/2006/relationships/slide" Target="/ppt/slides/slide4.xml" Id="Rb1887b7b930342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dee44240a4c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d48a77eca44ffe" /><Relationship Type="http://schemas.openxmlformats.org/officeDocument/2006/relationships/notesMaster" Target="/ppt/notesMasters/notesMaster1.xml" Id="R03e4e9524fce46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a5891dc9b4cb5" /><Relationship Type="http://schemas.openxmlformats.org/officeDocument/2006/relationships/notesMaster" Target="/ppt/notesMasters/notesMaster1.xml" Id="Rcb993ea2f73145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4b6ace4c24c80" /><Relationship Type="http://schemas.openxmlformats.org/officeDocument/2006/relationships/notesMaster" Target="/ppt/notesMasters/notesMaster1.xml" Id="Ra16922b7b6f8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ad0eb7b59443d1" /><Relationship Type="http://schemas.openxmlformats.org/officeDocument/2006/relationships/notesMaster" Target="/ppt/notesMasters/notesMaster1.xml" Id="Ra43981313ac9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d481803c9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504a7dd502476d" /><Relationship Type="http://schemas.openxmlformats.org/officeDocument/2006/relationships/slideLayout" Target="/ppt/slideLayouts/slideLayout1.xml" Id="Rddb44d6a7e8849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44d6a7e8849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7d18ea4b84262" /><Relationship Type="http://schemas.openxmlformats.org/officeDocument/2006/relationships/notesSlide" Target="/ppt/notesSlides/notesSlide1.xml" Id="Rab76f645bb3a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f7990c3824029" /><Relationship Type="http://schemas.openxmlformats.org/officeDocument/2006/relationships/notesSlide" Target="/ppt/notesSlides/notesSlide2.xml" Id="R65ae74b317614b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db11bba4245c4" /><Relationship Type="http://schemas.openxmlformats.org/officeDocument/2006/relationships/chart" Target="/ppt/slides/charts/chart1.xml" Id="Rf4f37de40353466e" /><Relationship Type="http://schemas.openxmlformats.org/officeDocument/2006/relationships/notesSlide" Target="/ppt/notesSlides/notesSlide3.xml" Id="Rd217ff4b0eeb44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05dbb72754f04" /><Relationship Type="http://schemas.openxmlformats.org/officeDocument/2006/relationships/notesSlide" Target="/ppt/notesSlides/notesSlide4.xml" Id="R32d0b631c4ab4886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Risk exposure by decision area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Capacity</c:v>
              </c:pt>
              <c:pt idx="1">
                <c:v>Supplier</c:v>
              </c:pt>
              <c:pt idx="2">
                <c:v>Governance</c:v>
              </c:pt>
            </c:strLit>
          </c:cat>
          <c:val>
            <c:numLit>
              <c:formatCode>General</c:formatCode>
              <c:ptCount val="3"/>
              <c:pt idx="0">
                <c:v>45</c:v>
              </c:pt>
              <c:pt idx="1">
                <c:v>35</c:v>
              </c:pt>
              <c:pt idx="2">
                <c:v>20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holeSize val="58"/>
      </c:doughnutChart>
      <c:spPr>
        <a:solidFill xmlns:a="http://schemas.openxmlformats.org/drawingml/2006/main">
          <a:srgbClr val="FFFFFF"/>
        </a:solidFill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388BC-332B-44A0-9012-5E8D6C16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74509-8A8F-4C4A-8196-47F4AF99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D9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BD9F4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B44DE-6D97-422F-99A3-1FCE069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SteerCo pre-read: decisions needed to protect the value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5482F-6E94-424C-ADA7-4DB5916B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Client Beta  |  Phase 2  |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1557D-1396-4A8F-BC3C-3D30D54E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Engagement team: Avery Calder · Nina Solberg · Theo Mercer · Keiko 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8B1BA-0748-4597-A2B8-C7F2BEE7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09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FB3C8"/>
                </a:solidFill>
                <a:latin typeface="Arial"/>
                <a:ea typeface="Arial"/>
                <a:cs typeface="Arial"/>
              </a:rPr>
              <a:t>Portfolio linkage: Client Alpha Phase 1 Finance budget ¥42.8M</a:t>
            </a:r>
          </a:p>
        </p:txBody>
      </p:sp>
    </p:spTree>
    <p:extLst>
      <p:ext uri="{BB962C8B-B14F-4D97-AF65-F5344CB8AC3E}">
        <p14:creationId xmlns:p14="http://schemas.microsoft.com/office/powerpoint/2010/main" val="1169698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9CE08-B815-4E87-BC0A-EE7F5CCE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B0F31-653B-4B4B-93D7-AB33DE52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E1E25-BB7C-4783-B7CF-66794FA3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SteerCo pre-read: decisions needed to protect the value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D3EAC-BF4A-46A3-86AB-4FDEFF4E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35D29-45F1-4DA2-8A6A-7528513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309B4-2230-4D25-B01E-6DB95F1A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42E37-A1F9-47BB-BD49-66614D99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3FB5E-C53A-4A23-9BA9-874A4CFA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 approvals needed at this meeting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C85C4-6A6E-4A10-9816-795769B2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83F66-547D-43FC-8F4A-9191FD2D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¥31M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F27A5-8198-47A6-9C98-A1649F9D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value protected by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3FD7B-0DBB-479A-9DCB-001C3E3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147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E0E223-3614-4058-A080-EE346794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 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682E9-A6B7-4D52-B710-0FB4AAF6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requiring executive unblock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742FDA-1AB4-45A4-BD55-D18BAEF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A2C9A-B8CB-48DE-87AB-6F59A74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 the flex path, an executive value owner, and supplier escalation authority today.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54C68-316A-482D-B7A3-1F8BA648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Decision and owner alignment required at the next operating review.</a:t>
            </a:r>
          </a:p>
        </p:txBody>
      </p:sp>
    </p:spTree>
    <p:extLst>
      <p:ext uri="{BB962C8B-B14F-4D97-AF65-F5344CB8AC3E}">
        <p14:creationId xmlns:p14="http://schemas.microsoft.com/office/powerpoint/2010/main" val="259961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0DF1A-1236-46ED-94BF-3E2F426D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5C022-050A-42AD-85D6-32FF115A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3272D-4619-4796-8AB7-15AA3317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Risk exposure by decision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595B1-A07E-4033-946C-B07BDFB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9FFFF-267E-40D3-837E-5BA71DA0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695450"/>
          <a:ext xmlns:a="http://schemas.openxmlformats.org/drawingml/2006/main" cx="6286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f37de40353466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FBC50-A1CE-4C3B-9DF2-C311EAE7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000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692FD-4AEE-43FB-A951-C3D433F8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240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40860-2B0F-49EE-8019-E7643B19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24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D542F-D93A-4B4C-BBD1-D307ACE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4317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 approvals needed at this meeting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FA72D-640F-4C58-A1FF-EDE68506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9D6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237B1-3395-496B-9710-D326667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290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AB22B-66B1-4820-AA74-D978D9AC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31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Capacity and supplier decisions are interdependent; delaying either weakens the service commitment.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14D69-8BBF-4D4F-BB1D-0D84426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24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Synthetic internal analysis; no external sources. Metrics are illustrative management estimates.</a:t>
            </a:r>
          </a:p>
        </p:txBody>
      </p:sp>
    </p:spTree>
    <p:extLst>
      <p:ext uri="{BB962C8B-B14F-4D97-AF65-F5344CB8AC3E}">
        <p14:creationId xmlns:p14="http://schemas.microsoft.com/office/powerpoint/2010/main" val="2030078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0D829-9BA4-48EB-8A58-760C331A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812B2-B72A-4D3D-AA37-EE5F625C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SUMMIT VALE ADVISORY  /  CLIENT BETA PHASE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5CBF0-B889-4802-A7DB-CE9E6506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operating plan assigns a clear owner to each control point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C3B82-7907-416E-B4C8-62697C7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 JUL 2026   •   Avery Calder · Nina Solberg · Theo Mercer · Keiko Ward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F23BE-F929-4393-9EC5-825B9AA3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76325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476750"/>
                <a:gridCol w="2000250"/>
                <a:gridCol w="1809750"/>
              </a:tblGrid>
              <a:tr h="762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First deliverable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Approve flex path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Release second-shift pilot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Keiko Ward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Today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Name value 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Chair weekly benefit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Today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A43"/>
                          </a:solidFill>
                        </a:rPr>
                        <a:t>Escalate supplier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Executive recovery call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A43"/>
                          </a:solidFill>
                        </a:rPr>
                        <a:t>This week</a:t>
                      </a:r>
                    </a:p>
                  </a:txBody>
                  <a:tcPr marL="91440" marR="91440" marT="45720" marB="45720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667C6-0275-4275-BFC8-161102C7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Governance: Keiko Ward chairs a 30-minute weekly operating review; escalate only decisions that alter customer service, capital, or supplier commitments.</a:t>
            </a:r>
          </a:p>
        </p:txBody>
      </p:sp>
    </p:spTree>
    <p:extLst>
      <p:ext uri="{BB962C8B-B14F-4D97-AF65-F5344CB8AC3E}">
        <p14:creationId xmlns:p14="http://schemas.microsoft.com/office/powerpoint/2010/main" val="2118689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2026-08-23T15:34:23.2630000Z</dcterms:created>
  <dcterms:modified xsi:type="dcterms:W3CDTF">2026-08-23T15:34:23.2630000Z</dcterms:modified>
</coreProperties>
</file>