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4b32fd998d422a" /><Relationship Type="http://schemas.openxmlformats.org/officeDocument/2006/relationships/extended-properties" Target="/docProps/app.xml" Id="Ra3ca0109939a4854" /><Relationship Type="http://schemas.openxmlformats.org/officeDocument/2006/relationships/officeDocument" Target="/ppt/presentation.xml" Id="Reb0ecb055bf748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6c39b2e68d4d13"/>
  </p:sldMasterIdLst>
  <p:notesMasterIdLst>
    <p:notesMasterId xmlns:r="http://schemas.openxmlformats.org/officeDocument/2006/relationships" r:id="R4dda562dc3344717"/>
  </p:notesMasterIdLst>
  <p:sldIdLst>
    <p:sldId xmlns:r="http://schemas.openxmlformats.org/officeDocument/2006/relationships" id="256" r:id="R7ed3f4aefe5c4043"/>
    <p:sldId xmlns:r="http://schemas.openxmlformats.org/officeDocument/2006/relationships" id="257" r:id="R0d4a94f9eeca40f2"/>
    <p:sldId xmlns:r="http://schemas.openxmlformats.org/officeDocument/2006/relationships" id="258" r:id="R06db4678841141a2"/>
    <p:sldId xmlns:r="http://schemas.openxmlformats.org/officeDocument/2006/relationships" id="259" r:id="R7aa6895dac9641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b34c43706f4359" /><Relationship Type="http://schemas.openxmlformats.org/officeDocument/2006/relationships/slideMaster" Target="/ppt/slideMasters/slideMaster1.xml" Id="R256c39b2e68d4d13" /><Relationship Type="http://schemas.openxmlformats.org/officeDocument/2006/relationships/notesMaster" Target="/ppt/notesMasters/notesMaster1.xml" Id="R4dda562dc3344717" /><Relationship Type="http://schemas.openxmlformats.org/officeDocument/2006/relationships/presProps" Target="/ppt/presProps.xml" Id="R743a8fc8792145d9" /><Relationship Type="http://schemas.openxmlformats.org/officeDocument/2006/relationships/tableStyles" Target="/ppt/tableStyles.xml" Id="Rd383025d484740c0" /><Relationship Type="http://schemas.openxmlformats.org/officeDocument/2006/relationships/slide" Target="/ppt/slides/slide1.xml" Id="R7ed3f4aefe5c4043" /><Relationship Type="http://schemas.openxmlformats.org/officeDocument/2006/relationships/slide" Target="/ppt/slides/slide2.xml" Id="R0d4a94f9eeca40f2" /><Relationship Type="http://schemas.openxmlformats.org/officeDocument/2006/relationships/slide" Target="/ppt/slides/slide3.xml" Id="R06db4678841141a2" /><Relationship Type="http://schemas.openxmlformats.org/officeDocument/2006/relationships/slide" Target="/ppt/slides/slide4.xml" Id="R7aa6895dac9641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4b559fa4d948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17f205b0d64f73" /><Relationship Type="http://schemas.openxmlformats.org/officeDocument/2006/relationships/notesMaster" Target="/ppt/notesMasters/notesMaster1.xml" Id="R8f2d1d7ceb1c48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f8dc0d9cbb41a2" /><Relationship Type="http://schemas.openxmlformats.org/officeDocument/2006/relationships/notesMaster" Target="/ppt/notesMasters/notesMaster1.xml" Id="Rc4e6fc7107db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c17cbac83449de" /><Relationship Type="http://schemas.openxmlformats.org/officeDocument/2006/relationships/notesMaster" Target="/ppt/notesMasters/notesMaster1.xml" Id="R550d8438316c41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87338bd144430b" /><Relationship Type="http://schemas.openxmlformats.org/officeDocument/2006/relationships/notesMaster" Target="/ppt/notesMasters/notesMaster1.xml" Id="Rfc4be1578ed942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84f48534d41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7db9a297cb4bdf" /><Relationship Type="http://schemas.openxmlformats.org/officeDocument/2006/relationships/slideLayout" Target="/ppt/slideLayouts/slideLayout1.xml" Id="R5c3b6a6209bc47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3b6a6209bc47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08dbb24d945f8" /><Relationship Type="http://schemas.openxmlformats.org/officeDocument/2006/relationships/notesSlide" Target="/ppt/notesSlides/notesSlide1.xml" Id="R9092627b5abc47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979eb66b64a83" /><Relationship Type="http://schemas.openxmlformats.org/officeDocument/2006/relationships/notesSlide" Target="/ppt/notesSlides/notesSlide2.xml" Id="R9dd42abf430747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0f8d6a6284b1f" /><Relationship Type="http://schemas.openxmlformats.org/officeDocument/2006/relationships/chart" Target="/ppt/slides/charts/chart1.xml" Id="R50225282623c4405" /><Relationship Type="http://schemas.openxmlformats.org/officeDocument/2006/relationships/notesSlide" Target="/ppt/notesSlides/notesSlide3.xml" Id="R35c857b37a494d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7e5722e3649fa" /><Relationship Type="http://schemas.openxmlformats.org/officeDocument/2006/relationships/notesSlide" Target="/ppt/notesSlides/notesSlide4.xml" Id="R15d2af58adde455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Bottleneck OEE trend with pilot target (%)</c:v>
          </c:tx>
          <c:spPr>
            <a:solidFill xmlns:a="http://schemas.openxmlformats.org/drawingml/2006/main">
              <a:srgbClr val="3D8DFF"/>
            </a:solidFill>
          </c:spPr>
          <c:marker>
            <c:symbol val="none"/>
          </c:marker>
          <c:cat>
            <c:strLit>
              <c:ptCount val="5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 target</c:v>
              </c:pt>
            </c:strLit>
          </c:cat>
          <c:val>
            <c:numLit>
              <c:formatCode>General</c:formatCode>
              <c:ptCount val="5"/>
              <c:pt idx="0">
                <c:v>64</c:v>
              </c:pt>
              <c:pt idx="1">
                <c:v>66</c:v>
              </c:pt>
              <c:pt idx="2">
                <c:v>65</c:v>
              </c:pt>
              <c:pt idx="3">
                <c:v>67</c:v>
              </c:pt>
              <c:pt idx="4">
                <c:v>76</c:v>
              </c:pt>
            </c:numLit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0905E-09A5-4832-9EE5-3F9E8FF4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BCE5C-40C8-4767-A470-45D71FC4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9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D9F4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284B-7929-4FA3-96F9-266DAF0A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Plant performance deep dive: recover 9 points of OEE at the bottleneck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F2CB7-F27D-40A7-B4E5-863A3FBB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Client Beta  |  Phase 2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D60B1-447F-4895-87EC-F353D7BC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Engagement team: Avery Calder · Nina Solberg · Theo Mercer · Keiko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F3E8B-5596-4AF8-8548-DB684296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Portfolio linkage: Client Alpha Phase 1 Finance budget ¥42.8M</a:t>
            </a:r>
          </a:p>
        </p:txBody>
      </p:sp>
    </p:spTree>
    <p:extLst>
      <p:ext uri="{BB962C8B-B14F-4D97-AF65-F5344CB8AC3E}">
        <p14:creationId xmlns:p14="http://schemas.microsoft.com/office/powerpoint/2010/main" val="778318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F3CEA6-8D6E-4452-9D12-47C3EB9F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9E193-5C89-407F-B0CC-8DC94384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F3774-7DD5-4BA3-9C64-0936BF4D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Plant performance deep dive: recover 9 points of OEE at the bottleneck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C2DC6-E42C-46A8-9F70-484173D2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111DB-FE34-4013-BEBB-A7D0C4D3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2D2C6-C963-4C6E-9E23-CB2B2C16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D84F9-F930-49D7-84F2-ADCA27F2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504B9-57EF-42A2-ACA8-7A6689A4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current bottleneck OEE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1777B-43EF-47F3-A146-21111507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C4C09-D749-4ADE-890E-044825E3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76%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E6B3D-D2A7-42DF-8903-9A68404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attainable pilot OEE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C86D9-8515-49CD-A490-4002F9EC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1BAFC-ADFB-42EE-B840-5EEECDC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9 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D907B-7B37-46A9-97DA-B5320150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performance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A4B49-6656-40C1-8EC2-79BA641A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856D4-B32B-4DB3-8706-8A827B3E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Recover availability through changeover discipline and yield through first-pass quality at Cell 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D7E29-B50C-48BA-AAF4-230E05A3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and owner alignment required at the next operating review.</a:t>
            </a:r>
          </a:p>
        </p:txBody>
      </p:sp>
    </p:spTree>
    <p:extLst>
      <p:ext uri="{BB962C8B-B14F-4D97-AF65-F5344CB8AC3E}">
        <p14:creationId xmlns:p14="http://schemas.microsoft.com/office/powerpoint/2010/main" val="2138939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D1049-1C3B-451D-BCA8-F458FFC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F1899-7426-4691-9DE2-02007F2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0DAA7-B1F6-4F75-BF4C-08D165FE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Bottleneck OEE trend with pilot target (%)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D36ED-3CB7-4696-AF26-825091CD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BF41A-4162-41A1-BEC8-35B686D3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225282623c440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30732-1C46-46AE-8109-98E4EB61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74E55-3711-4FD6-8245-24F17A1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47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F3AE3-53EA-4835-B42B-4BD48F9F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current bottleneck OEE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77C19-2D8A-4997-9E18-68CDC16F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0883A-853D-49E4-BA57-9543182C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FA6BE-7479-48A6-8DDF-D9A91476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target is grounded in repeatable losses, not a theoretical equipment rating.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D94CA-23B5-4591-A569-AA53129C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Synthetic internal analysis; no external sources. Metrics are illustrative management estimates.</a:t>
            </a:r>
          </a:p>
        </p:txBody>
      </p:sp>
    </p:spTree>
    <p:extLst>
      <p:ext uri="{BB962C8B-B14F-4D97-AF65-F5344CB8AC3E}">
        <p14:creationId xmlns:p14="http://schemas.microsoft.com/office/powerpoint/2010/main" val="149814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26341-29FB-44FA-BD1D-1A91FAA5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B112D-0500-482F-85EB-EC9AF4A8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E3F91-8F03-4BFB-A21F-695B90A7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operating plan assigns a clear owner to each control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AB64D-79D9-4B54-B5E4-759AED3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A57BA-7101-4B0F-8029-61F2F85D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2000250"/>
                <a:gridCol w="180975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First deliverable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Reduce changeover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Pre-stage tooling and kits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Weeks 1–2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Protect availability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Maintenance window 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Weeks 2–4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Hold OEE gain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Daily performance board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Weeks 3–12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A3169-60CF-42AE-B806-AF012F5D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Governance: Keiko Ward chairs a 30-minute weekly operating review; escalate only decisions that alter customer service, capital, or supplier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1743906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2026-08-23T15:23:33.9460000Z</dcterms:created>
  <dcterms:modified xsi:type="dcterms:W3CDTF">2026-08-23T15:23:33.9460000Z</dcterms:modified>
</coreProperties>
</file>