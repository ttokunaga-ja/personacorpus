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2ef448d64e4b6d" /><Relationship Type="http://schemas.openxmlformats.org/officeDocument/2006/relationships/extended-properties" Target="/docProps/app.xml" Id="R0e74bc960ad74271" /><Relationship Type="http://schemas.openxmlformats.org/officeDocument/2006/relationships/officeDocument" Target="/ppt/presentation.xml" Id="Ra59ba23d642242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3e0bdc1f946f4"/>
  </p:sldMasterIdLst>
  <p:notesMasterIdLst>
    <p:notesMasterId xmlns:r="http://schemas.openxmlformats.org/officeDocument/2006/relationships" r:id="R70ce8f5da2bf4b08"/>
  </p:notesMasterIdLst>
  <p:sldIdLst>
    <p:sldId xmlns:r="http://schemas.openxmlformats.org/officeDocument/2006/relationships" id="256" r:id="Rbaaa92abcc6f44df"/>
    <p:sldId xmlns:r="http://schemas.openxmlformats.org/officeDocument/2006/relationships" id="257" r:id="R5ade358d1bdf43c3"/>
    <p:sldId xmlns:r="http://schemas.openxmlformats.org/officeDocument/2006/relationships" id="258" r:id="R73faf34960d04b79"/>
    <p:sldId xmlns:r="http://schemas.openxmlformats.org/officeDocument/2006/relationships" id="259" r:id="R53e8a93ed96d43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512369dccc420a" /><Relationship Type="http://schemas.openxmlformats.org/officeDocument/2006/relationships/slideMaster" Target="/ppt/slideMasters/slideMaster1.xml" Id="R1623e0bdc1f946f4" /><Relationship Type="http://schemas.openxmlformats.org/officeDocument/2006/relationships/notesMaster" Target="/ppt/notesMasters/notesMaster1.xml" Id="R70ce8f5da2bf4b08" /><Relationship Type="http://schemas.openxmlformats.org/officeDocument/2006/relationships/presProps" Target="/ppt/presProps.xml" Id="R89fb281068e04e91" /><Relationship Type="http://schemas.openxmlformats.org/officeDocument/2006/relationships/tableStyles" Target="/ppt/tableStyles.xml" Id="R894ca4cf14144ed8" /><Relationship Type="http://schemas.openxmlformats.org/officeDocument/2006/relationships/slide" Target="/ppt/slides/slide1.xml" Id="Rbaaa92abcc6f44df" /><Relationship Type="http://schemas.openxmlformats.org/officeDocument/2006/relationships/slide" Target="/ppt/slides/slide2.xml" Id="R5ade358d1bdf43c3" /><Relationship Type="http://schemas.openxmlformats.org/officeDocument/2006/relationships/slide" Target="/ppt/slides/slide3.xml" Id="R73faf34960d04b79" /><Relationship Type="http://schemas.openxmlformats.org/officeDocument/2006/relationships/slide" Target="/ppt/slides/slide4.xml" Id="R53e8a93ed96d43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7f5ec59b7549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fb21eff4334d49" /><Relationship Type="http://schemas.openxmlformats.org/officeDocument/2006/relationships/notesMaster" Target="/ppt/notesMasters/notesMaster1.xml" Id="Rc01a36b564f84f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9e4339136c49ea" /><Relationship Type="http://schemas.openxmlformats.org/officeDocument/2006/relationships/notesMaster" Target="/ppt/notesMasters/notesMaster1.xml" Id="Rcec4728532084e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4420a6c0a34de8" /><Relationship Type="http://schemas.openxmlformats.org/officeDocument/2006/relationships/notesMaster" Target="/ppt/notesMasters/notesMaster1.xml" Id="R91b4a422179541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592eecad454a66" /><Relationship Type="http://schemas.openxmlformats.org/officeDocument/2006/relationships/notesMaster" Target="/ppt/notesMasters/notesMaster1.xml" Id="R17930c2d8eb64b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24abdb8914b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61217e6029488b" /><Relationship Type="http://schemas.openxmlformats.org/officeDocument/2006/relationships/slideLayout" Target="/ppt/slideLayouts/slideLayout1.xml" Id="R63038fd1a106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038fd1a106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505ceae8a4220" /><Relationship Type="http://schemas.openxmlformats.org/officeDocument/2006/relationships/notesSlide" Target="/ppt/notesSlides/notesSlide1.xml" Id="Rd79a0c7ec8b349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4fd1f00e44f56" /><Relationship Type="http://schemas.openxmlformats.org/officeDocument/2006/relationships/notesSlide" Target="/ppt/notesSlides/notesSlide2.xml" Id="R69770303f62b40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c6ce55ccd4b11" /><Relationship Type="http://schemas.openxmlformats.org/officeDocument/2006/relationships/notesSlide" Target="/ppt/notesSlides/notesSlide3.xml" Id="R82f5ea154a4147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4a8322d644a98" /><Relationship Type="http://schemas.openxmlformats.org/officeDocument/2006/relationships/notesSlide" Target="/ppt/notesSlides/notesSlide4.xml" Id="R8d3f80decaa041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A349F-5F69-453A-910E-8212F552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F5F"/>
                </a:solidFill>
              </a:defRPr>
            </a:pPr>
            <a:r>
              <a:rPr sz="4050" b="1">
                <a:solidFill>
                  <a:srgbClr val="173F5F"/>
                </a:solidFill>
              </a:rPr>
              <a:t>Designing for visible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2E6CD-A5D3-4E0A-A17A-91D8F7C8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6B8A"/>
                </a:solidFill>
              </a:defRPr>
            </a:pPr>
            <a:r>
              <a:rPr sz="1950" b="1">
                <a:solidFill>
                  <a:srgbClr val="2B6B8A"/>
                </a:solidFill>
              </a:rPr>
              <a:t>Faculty learning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BADD5-E699-4E4B-AF27-63455129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Maple Learning</a:t>
            </a:r>
          </a:p>
          <a:p xmlns:a="http://schemas.openxmlformats.org/drawingml/2006/main">
            <a:pPr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DBA7D-A23F-4532-A613-EB5E58C7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23825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B9C8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4A67A-055F-46DA-9248-0F928605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57375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F5F"/>
                </a:solidFill>
              </a:defRPr>
            </a:pPr>
            <a:r>
              <a:rPr sz="4500" b="1">
                <a:solidFill>
                  <a:srgbClr val="173F5F"/>
                </a:solidFill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27D0F-1E60-46CA-B99F-6436ABC6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B6B8A"/>
                </a:solidFill>
              </a:defRPr>
            </a:pPr>
            <a:r>
              <a:rPr sz="1350" b="0">
                <a:solidFill>
                  <a:srgbClr val="2B6B8A"/>
                </a:solidFill>
              </a:rPr>
              <a:t>ML26-S001 to ML26-S036</a:t>
            </a:r>
          </a:p>
          <a:p xmlns:a="http://schemas.openxmlformats.org/drawingml/2006/main">
            <a:pPr>
              <a:defRPr sz="1350" b="0">
                <a:solidFill>
                  <a:srgbClr val="2B6B8A"/>
                </a:solidFill>
              </a:defRPr>
            </a:pPr>
            <a:r>
              <a:rPr sz="1350" b="0">
                <a:solidFill>
                  <a:srgbClr val="2B6B8A"/>
                </a:solidFill>
              </a:rPr>
              <a:t>shared across Alpha and Beta</a:t>
            </a:r>
          </a:p>
        </p:txBody>
      </p:sp>
    </p:spTree>
    <p:extLst>
      <p:ext uri="{BB962C8B-B14F-4D97-AF65-F5344CB8AC3E}">
        <p14:creationId xmlns:p14="http://schemas.microsoft.com/office/powerpoint/2010/main" val="238558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EA75C-1423-4173-8B4A-681BF02E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F5F"/>
                </a:solidFill>
              </a:defRPr>
            </a:pPr>
            <a:r>
              <a:rPr sz="2850" b="1">
                <a:solidFill>
                  <a:srgbClr val="173F5F"/>
                </a:solidFill>
              </a:rPr>
              <a:t>A common learning arc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5F245-F681-4D14-92C4-B656B97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Course Alpha 2026 Term 1 -&gt; Course Beta 2026 Term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F994E-EDE1-41A2-A079-4AB3EAE7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190750" cy="23336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B9C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48042-FB88-4162-A575-55E22475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95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F5F"/>
                </a:solidFill>
              </a:defRPr>
            </a:pPr>
            <a:r>
              <a:rPr sz="2025" b="1">
                <a:solidFill>
                  <a:srgbClr val="173F5F"/>
                </a:solidFill>
              </a:rPr>
              <a:t>Gather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A88F3-D522-4420-9B74-26ADC033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1813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A-101</a:t>
            </a:r>
          </a:p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Evidence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481FF-371E-40CC-B4F7-A78B7627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190750" cy="23336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B9C8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30697-7704-43D4-8588-6860ED9F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95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F5F"/>
                </a:solidFill>
              </a:defRPr>
            </a:pPr>
            <a:r>
              <a:rPr sz="2025" b="1">
                <a:solidFill>
                  <a:srgbClr val="173F5F"/>
                </a:solidFill>
              </a:rPr>
              <a:t>Compare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5EFA2-7FCA-4DA0-8697-17535555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1813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A-102</a:t>
            </a:r>
          </a:p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Source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5826E-0238-441A-B2E2-39387A0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2190750" cy="23336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0F6FA"/>
          </a:solidFill>
          <a:ln xmlns:a="http://schemas.openxmlformats.org/drawingml/2006/main" w="9525">
            <a:solidFill>
              <a:srgbClr val="B9C8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F341A-DADB-405B-A816-1DEEA33D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95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F5F"/>
                </a:solidFill>
              </a:defRPr>
            </a:pPr>
            <a:r>
              <a:rPr sz="2025" b="1">
                <a:solidFill>
                  <a:srgbClr val="173F5F"/>
                </a:solidFill>
              </a:rPr>
              <a:t>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D8E0B-5B7B-4F7F-BEA1-D46103F5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813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A-103</a:t>
            </a:r>
          </a:p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Claim-Evidence-Reasoning Brief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3B167-F25E-4F51-851D-CB55F6AB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2190750" cy="23336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9C8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969D4-43BF-4933-BC75-8CB1BE15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95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F5F"/>
                </a:solidFill>
              </a:defRPr>
            </a:pPr>
            <a:r>
              <a:rPr sz="2025" b="1">
                <a:solidFill>
                  <a:srgbClr val="173F5F"/>
                </a:solidFill>
              </a:rPr>
              <a:t>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3584B-4861-4374-871C-05E279EB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813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B-201 Scenario Map</a:t>
            </a:r>
          </a:p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B-202 Model Test</a:t>
            </a:r>
          </a:p>
          <a:p xmlns:a="http://schemas.openxmlformats.org/drawingml/2006/main">
            <a:pPr>
              <a:defRPr sz="1200" b="0">
                <a:solidFill>
                  <a:srgbClr val="334E68"/>
                </a:solidFill>
              </a:defRPr>
            </a:pPr>
            <a:r>
              <a:rPr sz="1200" b="0">
                <a:solidFill>
                  <a:srgbClr val="334E68"/>
                </a:solidFill>
              </a:rPr>
              <a:t>B-203 Design Critique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71688-6429-447C-B874-968D145A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B6B8A"/>
                </a:solidFill>
              </a:defRPr>
            </a:pPr>
            <a:r>
              <a:rPr sz="1650" b="1">
                <a:solidFill>
                  <a:srgbClr val="2B6B8A"/>
                </a:solidFill>
              </a:rPr>
              <a:t>Use the sequence to make success criteria easier to locate and use.</a:t>
            </a:r>
          </a:p>
        </p:txBody>
      </p:sp>
    </p:spTree>
    <p:extLst>
      <p:ext uri="{BB962C8B-B14F-4D97-AF65-F5344CB8AC3E}">
        <p14:creationId xmlns:p14="http://schemas.microsoft.com/office/powerpoint/2010/main" val="12504475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6CDC0-97D8-4C5E-B324-FD82F219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F5F"/>
                </a:solidFill>
              </a:defRPr>
            </a:pPr>
            <a:r>
              <a:rPr sz="2850" b="1">
                <a:solidFill>
                  <a:srgbClr val="173F5F"/>
                </a:solidFill>
              </a:rPr>
              <a:t>Keep one rubric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22FF4-CE88-4533-ACEC-DFEB77FB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23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20 points across six shared assignments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AE652-E76D-4743-85AE-9D20B4C1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90D94-71E1-4F99-BD95-32452B4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F5F"/>
                </a:solidFill>
              </a:defRPr>
            </a:pPr>
            <a:r>
              <a:rPr sz="1725" b="1">
                <a:solidFill>
                  <a:srgbClr val="173F5F"/>
                </a:solidFill>
              </a:rP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E58C2-53DC-4837-B34F-7392C649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4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B6B8A"/>
                </a:solidFill>
              </a:defRPr>
            </a:pPr>
            <a:r>
              <a:rPr sz="3900" b="1">
                <a:solidFill>
                  <a:srgbClr val="2B6B8A"/>
                </a:solidFill>
              </a:rPr>
              <a:t>E6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088F0-01D4-4C85-A95D-0D01CD1F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What supports the claim?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3065E-54CA-4EEB-A22A-A93EAC29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039A5-BC85-4B41-8754-3ECE5581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19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F5F"/>
                </a:solidFill>
              </a:defRPr>
            </a:pPr>
            <a:r>
              <a:rPr sz="1725" b="1">
                <a:solidFill>
                  <a:srgbClr val="173F5F"/>
                </a:solidFill>
              </a:rPr>
              <a:t>Reasoning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1E3DF-6934-48A0-94F0-EE69DF9B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09900"/>
            <a:ext cx="104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B6B8A"/>
                </a:solidFill>
              </a:defRPr>
            </a:pPr>
            <a:r>
              <a:rPr sz="3900" b="1">
                <a:solidFill>
                  <a:srgbClr val="2B6B8A"/>
                </a:solidFill>
              </a:rPr>
              <a:t>R6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4951B-6FD0-4F92-8EBA-85C44D96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10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How does the explanation connect?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15FA7-461C-421B-A7C5-0B2524B6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3BF13-8DEE-4408-B8D6-E56FEDAA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F5F"/>
                </a:solidFill>
              </a:defRPr>
            </a:pPr>
            <a:r>
              <a:rPr sz="1725" b="1">
                <a:solidFill>
                  <a:srgbClr val="173F5F"/>
                </a:solidFill>
              </a:rPr>
              <a:t>Organization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F7F9E-A539-4824-986E-73D8A45E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9900"/>
            <a:ext cx="104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B6B8A"/>
                </a:solidFill>
              </a:defRPr>
            </a:pPr>
            <a:r>
              <a:rPr sz="3900" b="1">
                <a:solidFill>
                  <a:srgbClr val="2B6B8A"/>
                </a:solidFill>
              </a:rPr>
              <a:t>O4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3D661-9DD7-46DD-B672-CBBE84E6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Can the reader follow the work?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86745-6303-4E85-A3F7-A557AF20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9A1E2-A1CA-40B0-B410-2D93BD28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19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F5F"/>
                </a:solidFill>
              </a:defRPr>
            </a:pPr>
            <a:r>
              <a:rPr sz="1725" b="1">
                <a:solidFill>
                  <a:srgbClr val="173F5F"/>
                </a:solidFill>
              </a:rPr>
              <a:t>Format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5AB33-0E19-4D5E-A716-CA8C5BAD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9900"/>
            <a:ext cx="104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B6B8A"/>
                </a:solidFill>
              </a:defRPr>
            </a:pPr>
            <a:r>
              <a:rPr sz="3900" b="1">
                <a:solidFill>
                  <a:srgbClr val="2B6B8A"/>
                </a:solidFill>
              </a:rPr>
              <a:t>F4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6CD30E-2A15-487B-897A-8AE3749D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10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Is the response usable and complete?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9DE5C-5322-4772-B61F-A5D815D6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F5F"/>
                </a:solidFill>
              </a:defRPr>
            </a:pPr>
            <a:r>
              <a:rPr sz="1800" b="1">
                <a:solidFill>
                  <a:srgbClr val="173F5F"/>
                </a:solidFill>
              </a:rPr>
              <a:t>Evidence E6 / Reasoning R6 / Organization O4 / Format F4</a:t>
            </a:r>
          </a:p>
        </p:txBody>
      </p:sp>
    </p:spTree>
    <p:extLst>
      <p:ext uri="{BB962C8B-B14F-4D97-AF65-F5344CB8AC3E}">
        <p14:creationId xmlns:p14="http://schemas.microsoft.com/office/powerpoint/2010/main" val="833352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EE139-95D1-4221-A13D-B65A4C6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F5F"/>
                </a:solidFill>
              </a:defRPr>
            </a:pPr>
            <a:r>
              <a:rPr sz="2850" b="1">
                <a:solidFill>
                  <a:srgbClr val="173F5F"/>
                </a:solidFill>
              </a:rPr>
              <a:t>A practical observation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33E2E-D22A-43DE-A1E3-58E80EB3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001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B9C8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84C84-E4FD-43BE-A071-220BFCA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28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F5F"/>
                </a:solidFill>
              </a:defRPr>
            </a:pPr>
            <a:r>
              <a:rPr sz="1800" b="1">
                <a:solidFill>
                  <a:srgbClr val="173F5F"/>
                </a:solidFill>
              </a:rPr>
              <a:t>1. Prepare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969A7-8524-494C-B14F-2889D5A4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288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E68"/>
                </a:solidFill>
              </a:defRPr>
            </a:pPr>
            <a:r>
              <a:rPr sz="1500" b="0">
                <a:solidFill>
                  <a:srgbClr val="334E68"/>
                </a:solidFill>
              </a:rPr>
              <a:t>Choose one assignment and identify the learning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0C655-4124-47C0-8C2E-F18E9F33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001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B9C8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2B2A7-85BD-465C-B5BD-59E3CBF9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14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F5F"/>
                </a:solidFill>
              </a:defRPr>
            </a:pPr>
            <a:r>
              <a:rPr sz="1800" b="1">
                <a:solidFill>
                  <a:srgbClr val="173F5F"/>
                </a:solidFill>
              </a:rPr>
              <a:t>2. Notice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FB35A-242D-42B7-986F-FAB4B961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146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E68"/>
                </a:solidFill>
              </a:defRPr>
            </a:pPr>
            <a:r>
              <a:rPr sz="1500" b="0">
                <a:solidFill>
                  <a:srgbClr val="334E68"/>
                </a:solidFill>
              </a:rPr>
              <a:t>Capture neutral evidence of access, clarity, and feedback.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3A1F5-B757-4553-990A-35F6B05D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001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B9C8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4EFA5-F697-45E2-99EE-A7719495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00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F5F"/>
                </a:solidFill>
              </a:defRPr>
            </a:pPr>
            <a:r>
              <a:rPr sz="1800" b="1">
                <a:solidFill>
                  <a:srgbClr val="173F5F"/>
                </a:solidFill>
              </a:rPr>
              <a:t>3. Debrief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C2E5D-C484-4493-9056-28D464E2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005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E68"/>
                </a:solidFill>
              </a:defRPr>
            </a:pPr>
            <a:r>
              <a:rPr sz="1500" b="0">
                <a:solidFill>
                  <a:srgbClr val="334E68"/>
                </a:solidFill>
              </a:rPr>
              <a:t>Name one strength and one next design move.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A0010-BBB3-4815-AD63-D0163ED5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6B8A"/>
                </a:solidFill>
              </a:defRPr>
            </a:pPr>
            <a:r>
              <a:rPr sz="1500" b="1">
                <a:solidFill>
                  <a:srgbClr val="2B6B8A"/>
                </a:solidFill>
              </a:rPr>
              <a:t>Prompt: Which rubric dimension has the clearest evidence, and what one revision would make the next dimension easier to see?</a:t>
            </a:r>
          </a:p>
        </p:txBody>
      </p:sp>
    </p:spTree>
    <p:extLst>
      <p:ext uri="{BB962C8B-B14F-4D97-AF65-F5344CB8AC3E}">
        <p14:creationId xmlns:p14="http://schemas.microsoft.com/office/powerpoint/2010/main" val="1937132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2026-08-23T20:45:42.5930000Z</dcterms:created>
  <dcterms:modified xsi:type="dcterms:W3CDTF">2026-08-23T20:45:42.5930000Z</dcterms:modified>
</coreProperties>
</file>