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9a360b242c4aed" /><Relationship Type="http://schemas.openxmlformats.org/officeDocument/2006/relationships/extended-properties" Target="/docProps/app.xml" Id="R3a3a8e6e717b4866" /><Relationship Type="http://schemas.openxmlformats.org/officeDocument/2006/relationships/officeDocument" Target="/ppt/presentation.xml" Id="Rd31086a181ca44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580f9ead7f45da"/>
  </p:sldMasterIdLst>
  <p:notesMasterIdLst>
    <p:notesMasterId xmlns:r="http://schemas.openxmlformats.org/officeDocument/2006/relationships" r:id="Ree4cdd3e585d4ed2"/>
  </p:notesMasterIdLst>
  <p:sldIdLst>
    <p:sldId xmlns:r="http://schemas.openxmlformats.org/officeDocument/2006/relationships" id="256" r:id="Rc05b8a38cec64f42"/>
    <p:sldId xmlns:r="http://schemas.openxmlformats.org/officeDocument/2006/relationships" id="257" r:id="R05e10fa390134f21"/>
    <p:sldId xmlns:r="http://schemas.openxmlformats.org/officeDocument/2006/relationships" id="258" r:id="Ra88fcaa9434449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0d344bec394123" /><Relationship Type="http://schemas.openxmlformats.org/officeDocument/2006/relationships/slideMaster" Target="/ppt/slideMasters/slideMaster1.xml" Id="Rcb580f9ead7f45da" /><Relationship Type="http://schemas.openxmlformats.org/officeDocument/2006/relationships/notesMaster" Target="/ppt/notesMasters/notesMaster1.xml" Id="Ree4cdd3e585d4ed2" /><Relationship Type="http://schemas.openxmlformats.org/officeDocument/2006/relationships/presProps" Target="/ppt/presProps.xml" Id="R8c20fbd8e6d74f57" /><Relationship Type="http://schemas.openxmlformats.org/officeDocument/2006/relationships/tableStyles" Target="/ppt/tableStyles.xml" Id="R886e997018ab4b4b" /><Relationship Type="http://schemas.openxmlformats.org/officeDocument/2006/relationships/slide" Target="/ppt/slides/slide1.xml" Id="Rc05b8a38cec64f42" /><Relationship Type="http://schemas.openxmlformats.org/officeDocument/2006/relationships/slide" Target="/ppt/slides/slide2.xml" Id="R05e10fa390134f21" /><Relationship Type="http://schemas.openxmlformats.org/officeDocument/2006/relationships/slide" Target="/ppt/slides/slide3.xml" Id="Ra88fcaa9434449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44038908c43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de7bb6af3a4e38" /><Relationship Type="http://schemas.openxmlformats.org/officeDocument/2006/relationships/notesMaster" Target="/ppt/notesMasters/notesMaster1.xml" Id="R5acf3685538247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78ccd6eac04bc0" /><Relationship Type="http://schemas.openxmlformats.org/officeDocument/2006/relationships/notesMaster" Target="/ppt/notesMasters/notesMaster1.xml" Id="R20c853a090bd43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b81a7cf7404ba1" /><Relationship Type="http://schemas.openxmlformats.org/officeDocument/2006/relationships/notesMaster" Target="/ppt/notesMasters/notesMaster1.xml" Id="R2875af28a9de41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3f8df2e484f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9a54f669534dd9" /><Relationship Type="http://schemas.openxmlformats.org/officeDocument/2006/relationships/slideLayout" Target="/ppt/slideLayouts/slideLayout1.xml" Id="R9a273fce6c1541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273fce6c1541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87e43b54ce4740" /><Relationship Type="http://schemas.openxmlformats.org/officeDocument/2006/relationships/notesSlide" Target="/ppt/notesSlides/notesSlide1.xml" Id="R2c6e59ffd15941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0615fabfa4051" /><Relationship Type="http://schemas.openxmlformats.org/officeDocument/2006/relationships/notesSlide" Target="/ppt/notesSlides/notesSlide2.xml" Id="R14b0c2c2f16b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c0487d4e74aa0" /><Relationship Type="http://schemas.openxmlformats.org/officeDocument/2006/relationships/notesSlide" Target="/ppt/notesSlides/notesSlide3.xml" Id="Rb7f534e091364b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C208F-FF18-43A9-A794-693770D9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EF2361-45FC-4E0E-B9B5-BBC1DE85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62000"/>
            <a:ext cx="104775" cy="466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547"/>
          </a:solidFill>
          <a:ln xmlns:a="http://schemas.openxmlformats.org/drawingml/2006/main" w="0">
            <a:solidFill>
              <a:srgbClr val="F5D547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67E73-53F4-45F5-A199-2CA53CCB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5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D547"/>
                </a:solidFill>
              </a:defRPr>
            </a:pPr>
            <a:r>
              <a:rPr sz="1350" b="1">
                <a:solidFill>
                  <a:srgbClr val="F5D547"/>
                </a:solidFill>
              </a:rPr>
              <a:t>MAPLE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8B009-AA83-4606-84A5-43A4F1F7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47800"/>
            <a:ext cx="790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A reflection cycle</a:t>
            </a:r>
          </a:p>
          <a:p xmlns:a="http://schemas.openxmlformats.org/drawingml/2006/main"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that makes learning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D01FD-B5BE-4074-A46C-8E964231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956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DCE8EF"/>
                </a:solidFill>
              </a:defRPr>
            </a:pPr>
            <a:r>
              <a:rPr sz="1875" b="0">
                <a:solidFill>
                  <a:srgbClr val="DCE8EF"/>
                </a:solidFill>
              </a:rPr>
              <a:t>Fictional instructional-design snapshot | 2026-09-14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6B3AD5-B4FB-42E4-BBAF-55745C24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Course Alpha 2026 Term 1  •  Course Beta 2026 Term 2</a:t>
            </a:r>
          </a:p>
          <a:p xmlns:a="http://schemas.openxmlformats.org/drawingml/2006/main">
            <a:pPr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Shared synthetic cohort: ML26-S001 through ML26-S036  •  Rubric: E6/R6/O4/F4 = 20</a:t>
            </a:r>
          </a:p>
        </p:txBody>
      </p:sp>
    </p:spTree>
    <p:extLst>
      <p:ext uri="{BB962C8B-B14F-4D97-AF65-F5344CB8AC3E}">
        <p14:creationId xmlns:p14="http://schemas.microsoft.com/office/powerpoint/2010/main" val="15084407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9B6F9-AF33-4243-BF7F-764D4F53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Reflection begins with a small, usable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BD1626-1207-467F-880A-095EDE42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67301-90CC-47DC-8C35-457B7586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E8AFC-AF29-4EA2-BE7D-6FA1BD51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72312-B024-4587-9AC8-178DC580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90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Observe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360444-BB33-4E54-ADEB-C91C015C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64B"/>
                </a:solidFill>
              </a:defRPr>
            </a:pPr>
            <a:r>
              <a:rPr sz="1425" b="0">
                <a:solidFill>
                  <a:srgbClr val="24364B"/>
                </a:solidFill>
              </a:rPr>
              <a:t>Notice one learning signal from a low-stakes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45F08-92FA-4F82-B39A-59DF342E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B8E18-7B19-4629-98F0-60336A00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050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B4157-202D-4B03-9449-BC8DC28B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90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Interpret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3FE1C-A3DC-43D9-9883-8827B09C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581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64B"/>
                </a:solidFill>
              </a:defRPr>
            </a:pPr>
            <a:r>
              <a:rPr sz="1425" b="0">
                <a:solidFill>
                  <a:srgbClr val="24364B"/>
                </a:solidFill>
              </a:rPr>
              <a:t>Connect the signal to E6/R6/O4/F4 = 20.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34753-C847-46E3-A8CA-28619E6F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86D6D-8198-4FAD-8CA6-7B16B8D1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D8DFF"/>
                </a:solidFill>
              </a:defRPr>
            </a:pPr>
            <a:r>
              <a:rPr sz="25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04C92B-2329-49F6-92A6-B4FD4A74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908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24D"/>
                </a:solidFill>
              </a:defRPr>
            </a:pPr>
            <a:r>
              <a:rPr sz="2100" b="1">
                <a:solidFill>
                  <a:srgbClr val="17324D"/>
                </a:solidFill>
              </a:rPr>
              <a:t>Revise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8115A-8D15-4838-88B7-03E45C94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81400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24364B"/>
                </a:solidFill>
              </a:defRPr>
            </a:pPr>
            <a:r>
              <a:rPr sz="1425" b="0">
                <a:solidFill>
                  <a:srgbClr val="24364B"/>
                </a:solidFill>
              </a:rPr>
              <a:t>Change one instruction, example, or feedback prompt.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297139-81BD-4A73-869D-93BE66BD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4364B"/>
                </a:solidFill>
              </a:defRPr>
            </a:pPr>
            <a:r>
              <a:rPr sz="1575" b="0">
                <a:solidFill>
                  <a:srgbClr val="24364B"/>
                </a:solidFill>
              </a:rPr>
              <a:t>Across both courses, ML26-S001 through ML26-S036 support comparable, privacy-safe design review.</a:t>
            </a:r>
          </a:p>
        </p:txBody>
      </p:sp>
    </p:spTree>
    <p:extLst>
      <p:ext uri="{BB962C8B-B14F-4D97-AF65-F5344CB8AC3E}">
        <p14:creationId xmlns:p14="http://schemas.microsoft.com/office/powerpoint/2010/main" val="6898060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950D1-4E33-4867-BF62-0C895117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</a:defRPr>
            </a:pPr>
            <a:r>
              <a:rPr sz="3000" b="1">
                <a:solidFill>
                  <a:srgbClr val="17324D"/>
                </a:solidFill>
              </a:rPr>
              <a:t>The next design move is specific and testable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AAA9B-91BC-4118-8EC8-393ABC1F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887E3-692A-4490-9681-BBE46AEC9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7239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3"/>
          </a:solidFill>
          <a:ln xmlns:a="http://schemas.openxmlformats.org/drawingml/2006/main" w="0">
            <a:solidFill>
              <a:srgbClr val="E9F3F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380185-C278-4BCC-9003-65D16577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24D"/>
                </a:solidFill>
              </a:defRPr>
            </a:pPr>
            <a:r>
              <a:rPr sz="1800" b="1">
                <a:solidFill>
                  <a:srgbClr val="17324D"/>
                </a:solidFill>
              </a:rPr>
              <a:t>Next cycle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9C1032-B0F4-4B21-9B46-40B1D033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24D"/>
                </a:solidFill>
              </a:defRPr>
            </a:pPr>
            <a:r>
              <a:rPr sz="2325" b="1">
                <a:solidFill>
                  <a:srgbClr val="17324D"/>
                </a:solidFill>
              </a:rPr>
              <a:t>Keep the task stable.</a:t>
            </a:r>
          </a:p>
          <a:p xmlns:a="http://schemas.openxmlformats.org/drawingml/2006/main">
            <a:pPr>
              <a:defRPr sz="2325" b="1">
                <a:solidFill>
                  <a:srgbClr val="17324D"/>
                </a:solidFill>
              </a:defRPr>
            </a:pPr>
            <a:r>
              <a:rPr sz="2325" b="1">
                <a:solidFill>
                  <a:srgbClr val="17324D"/>
                </a:solidFill>
              </a:rPr>
              <a:t>Clarify one success criterion.</a:t>
            </a:r>
          </a:p>
          <a:p xmlns:a="http://schemas.openxmlformats.org/drawingml/2006/main">
            <a:pPr>
              <a:defRPr sz="2325" b="1">
                <a:solidFill>
                  <a:srgbClr val="17324D"/>
                </a:solidFill>
              </a:defRPr>
            </a:pPr>
            <a:r>
              <a:rPr sz="2325" b="1">
                <a:solidFill>
                  <a:srgbClr val="17324D"/>
                </a:solidFill>
              </a:rPr>
              <a:t>Ask for one short reflection.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278DB-BC19-42BF-B8D6-51EBAE8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81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Alpha → Beta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83234D-AF69-4B56-8D4D-F0196ADB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314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A-101 Evidence Map</a:t>
            </a:r>
          </a:p>
          <a:p xmlns:a="http://schemas.openxmlformats.org/drawingml/2006/main">
            <a:pPr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A-102 Source Comparison</a:t>
            </a:r>
          </a:p>
          <a:p xmlns:a="http://schemas.openxmlformats.org/drawingml/2006/main">
            <a:pPr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A-103 Claim-Evidence-Reasoning Brief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B-201 Scenario Map</a:t>
            </a:r>
          </a:p>
          <a:p xmlns:a="http://schemas.openxmlformats.org/drawingml/2006/main">
            <a:pPr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B-202 Model Test</a:t>
            </a:r>
          </a:p>
          <a:p xmlns:a="http://schemas.openxmlformats.org/drawingml/2006/main">
            <a:pPr>
              <a:defRPr sz="1275" b="0">
                <a:solidFill>
                  <a:srgbClr val="24364B"/>
                </a:solidFill>
              </a:defRPr>
            </a:pPr>
            <a:r>
              <a:rPr sz="1275" b="0">
                <a:solidFill>
                  <a:srgbClr val="24364B"/>
                </a:solidFill>
              </a:rPr>
              <a:t>B-203 Design Critique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592374-65F8-4707-8089-897C0613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B7785"/>
                </a:solidFill>
              </a:defRPr>
            </a:pPr>
            <a:r>
              <a:rPr sz="1125" b="0">
                <a:solidFill>
                  <a:srgbClr val="6B7785"/>
                </a:solidFill>
              </a:rPr>
              <a:t>Fictional Maple Learning artifact | E6/R6/O4/F4 = 20 | no personal records</a:t>
            </a:r>
          </a:p>
        </p:txBody>
      </p:sp>
    </p:spTree>
    <p:extLst>
      <p:ext uri="{BB962C8B-B14F-4D97-AF65-F5344CB8AC3E}">
        <p14:creationId xmlns:p14="http://schemas.microsoft.com/office/powerpoint/2010/main" val="4674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2026-08-23T20:44:16.1680000Z</dcterms:created>
  <dcterms:modified xsi:type="dcterms:W3CDTF">2026-08-23T20:44:16.1680000Z</dcterms:modified>
</coreProperties>
</file>