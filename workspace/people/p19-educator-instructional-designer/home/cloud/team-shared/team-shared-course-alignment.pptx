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d29a108cac4f04" /><Relationship Type="http://schemas.openxmlformats.org/officeDocument/2006/relationships/extended-properties" Target="/docProps/app.xml" Id="Ra25994e0777f456f" /><Relationship Type="http://schemas.openxmlformats.org/officeDocument/2006/relationships/officeDocument" Target="/ppt/presentation.xml" Id="R8e0d6197cdac43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f602c75387420c"/>
  </p:sldMasterIdLst>
  <p:notesMasterIdLst>
    <p:notesMasterId xmlns:r="http://schemas.openxmlformats.org/officeDocument/2006/relationships" r:id="R1cc177bc2b10416c"/>
  </p:notesMasterIdLst>
  <p:sldIdLst>
    <p:sldId xmlns:r="http://schemas.openxmlformats.org/officeDocument/2006/relationships" id="256" r:id="R72e7aaed5a0246e5"/>
    <p:sldId xmlns:r="http://schemas.openxmlformats.org/officeDocument/2006/relationships" id="257" r:id="Re4d3ec4e8e5e4d38"/>
    <p:sldId xmlns:r="http://schemas.openxmlformats.org/officeDocument/2006/relationships" id="258" r:id="Rc3c4c642faa54a25"/>
    <p:sldId xmlns:r="http://schemas.openxmlformats.org/officeDocument/2006/relationships" id="259" r:id="R7e5f060241184c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fbbe3258664f87" /><Relationship Type="http://schemas.openxmlformats.org/officeDocument/2006/relationships/slideMaster" Target="/ppt/slideMasters/slideMaster1.xml" Id="Re1f602c75387420c" /><Relationship Type="http://schemas.openxmlformats.org/officeDocument/2006/relationships/notesMaster" Target="/ppt/notesMasters/notesMaster1.xml" Id="R1cc177bc2b10416c" /><Relationship Type="http://schemas.openxmlformats.org/officeDocument/2006/relationships/presProps" Target="/ppt/presProps.xml" Id="R24839fc6330d45c7" /><Relationship Type="http://schemas.openxmlformats.org/officeDocument/2006/relationships/tableStyles" Target="/ppt/tableStyles.xml" Id="Rcbf4721a3a354bfe" /><Relationship Type="http://schemas.openxmlformats.org/officeDocument/2006/relationships/slide" Target="/ppt/slides/slide1.xml" Id="R72e7aaed5a0246e5" /><Relationship Type="http://schemas.openxmlformats.org/officeDocument/2006/relationships/slide" Target="/ppt/slides/slide2.xml" Id="Re4d3ec4e8e5e4d38" /><Relationship Type="http://schemas.openxmlformats.org/officeDocument/2006/relationships/slide" Target="/ppt/slides/slide3.xml" Id="Rc3c4c642faa54a25" /><Relationship Type="http://schemas.openxmlformats.org/officeDocument/2006/relationships/slide" Target="/ppt/slides/slide4.xml" Id="R7e5f060241184c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4f23dbdc3148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56ac13b8db4701" /><Relationship Type="http://schemas.openxmlformats.org/officeDocument/2006/relationships/notesMaster" Target="/ppt/notesMasters/notesMaster1.xml" Id="R06c862c3a7c541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58249f77db4ede" /><Relationship Type="http://schemas.openxmlformats.org/officeDocument/2006/relationships/notesMaster" Target="/ppt/notesMasters/notesMaster1.xml" Id="Rf52d07003c2447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aca63ccaeb4123" /><Relationship Type="http://schemas.openxmlformats.org/officeDocument/2006/relationships/notesMaster" Target="/ppt/notesMasters/notesMaster1.xml" Id="Rabcb30065c244e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f3a99376ce41ff" /><Relationship Type="http://schemas.openxmlformats.org/officeDocument/2006/relationships/notesMaster" Target="/ppt/notesMasters/notesMaster1.xml" Id="R96327e14a58847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c1b11556d542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afe1355d1049d0" /><Relationship Type="http://schemas.openxmlformats.org/officeDocument/2006/relationships/slideLayout" Target="/ppt/slideLayouts/slideLayout1.xml" Id="R2c4ca17905c140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4ca17905c140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434b3f9914e29" /><Relationship Type="http://schemas.openxmlformats.org/officeDocument/2006/relationships/notesSlide" Target="/ppt/notesSlides/notesSlide1.xml" Id="Ra74165308a1d41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83eab797449e8" /><Relationship Type="http://schemas.openxmlformats.org/officeDocument/2006/relationships/notesSlide" Target="/ppt/notesSlides/notesSlide2.xml" Id="Rc703880c57be42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7082a34494979" /><Relationship Type="http://schemas.openxmlformats.org/officeDocument/2006/relationships/chart" Target="/ppt/slides/charts/chart1.xml" Id="R59ed6e17b9ba4127" /><Relationship Type="http://schemas.openxmlformats.org/officeDocument/2006/relationships/notesSlide" Target="/ppt/notesSlides/notesSlide3.xml" Id="Rc564d23fa0f949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903a562f24638" /><Relationship Type="http://schemas.openxmlformats.org/officeDocument/2006/relationships/notesSlide" Target="/ppt/notesSlides/notesSlide4.xml" Id="Red9d7d9727c64ba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Points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Evidence</c:v>
              </c:pt>
              <c:pt idx="1">
                <c:v>Reasoning</c:v>
              </c:pt>
              <c:pt idx="2">
                <c:v>Organization</c:v>
              </c:pt>
              <c:pt idx="3">
                <c:v>Reflection</c:v>
              </c:pt>
            </c:strLit>
          </c:cat>
          <c:val>
            <c:numLit>
              <c:formatCode>General</c:formatCode>
              <c:ptCount val="4"/>
              <c:pt idx="0">
                <c:v>6</c:v>
              </c:pt>
              <c:pt idx="1">
                <c:v>6</c:v>
              </c:pt>
              <c:pt idx="2">
                <c:v>4</c:v>
              </c:pt>
              <c:pt idx="3">
                <c:v>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8ACD9-582D-43AA-9F25-8523AB10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62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Course alignment, one synthetic learning world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C6E9A-45A9-47DF-9483-443F75A3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34155"/>
                </a:solidFill>
              </a:defRPr>
            </a:pPr>
            <a:r>
              <a:rPr sz="2025" b="0">
                <a:solidFill>
                  <a:srgbClr val="334155"/>
                </a:solidFill>
              </a:rPr>
              <a:t>Course Alpha 2026 Term 1 and Course Beta 2026 Term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01893-346E-4FCD-A958-89F2FA6C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85800"/>
            <a:ext cx="3238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7D101-DFDF-4E9B-8B87-DBB09FFD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287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3D8DFF"/>
                </a:solidFill>
              </a:defRPr>
            </a:pPr>
            <a:r>
              <a:rPr sz="5700" b="1">
                <a:solidFill>
                  <a:srgbClr val="3D8DFF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50747-89CD-465F-B5CC-79E82081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146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synthetic learner IDs used consistently across both courses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4183C-3593-403D-87A6-810B5406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243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20 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21720-FB73-4FA0-B66C-A96CB643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00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common rubric total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AEFBC-30A3-4C53-B579-8D89C76C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MAPLE LEARNING  |  2026-09-14  |  01</a:t>
            </a:r>
          </a:p>
        </p:txBody>
      </p:sp>
    </p:spTree>
    <p:extLst>
      <p:ext uri="{BB962C8B-B14F-4D97-AF65-F5344CB8AC3E}">
        <p14:creationId xmlns:p14="http://schemas.microsoft.com/office/powerpoint/2010/main" val="1033414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03658-6E73-477A-BAC4-A56515DD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</a:defRPr>
            </a:pPr>
            <a:r>
              <a:rPr sz="2775" b="1">
                <a:solidFill>
                  <a:srgbClr val="000000"/>
                </a:solidFill>
              </a:rPr>
              <a:t>Shared design decisions make the handoff legible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208B3-8C38-4C76-8DA6-65AEBFF4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E7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5674E-BC35-4AD0-8FD6-4B562E93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Anchor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BB8F9-A707-4937-8462-6F7CA22D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002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Course Alpha 2026 Term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BFD76-EEBF-4BF9-B305-4C393CC1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002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Course Beta 2026 Term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9F15A-E917-418B-BDB1-C3DDC9C1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6A4A2-38EC-49D3-AF69-6B3632E4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Cohort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3E14E-4CF0-49C2-9987-769A5E1B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050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ML26-S001 through ML26-S036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B199A-AA01-4963-AF17-2B4B716D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050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ML26-S001 through ML26-S036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82D78-E535-4C2E-94C6-63DE5047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972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F53EA-621A-49D1-8E67-648501FC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52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Assignments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CBA8A-D66E-4E59-B0FB-9B8CD784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099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A-101 Evidence Map; A-102 Source Comparison; A-103 Claim-Evidence-Reasoning Brief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31FC1-6003-4E97-9D1C-54598306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</a:defRPr>
            </a:pPr>
            <a:r>
              <a:rPr sz="1200" b="0">
                <a:solidFill>
                  <a:srgbClr val="000000"/>
                </a:solidFill>
              </a:rPr>
              <a:t>B-201 Scenario Map; B-202 Model Test; B-203 Design Critique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8C6C7-B9AE-44C9-9B6A-35DB4B8D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70B30-45C7-4B0F-B995-DDD39E1E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Rubric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DDC56-E331-41DF-8D49-C982FEB1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910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E6 | R6 | O4 | F4 = 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108E1-DF3E-4716-97A5-23D602BB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910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E6 | R6 | O4 | F4 = 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892000-13B2-42D9-A19D-096CEF85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Each prompt asks learners to select evidence, reason through a choice, organize the response, and reflect on a revision.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1F8CC5-F30F-4A6A-AAA5-A23C5533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MAPLE LEARNING  |  2026-09-14  |  02</a:t>
            </a:r>
          </a:p>
        </p:txBody>
      </p:sp>
    </p:spTree>
    <p:extLst>
      <p:ext uri="{BB962C8B-B14F-4D97-AF65-F5344CB8AC3E}">
        <p14:creationId xmlns:p14="http://schemas.microsoft.com/office/powerpoint/2010/main" val="10766059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83B0B-42A7-4CB9-9ABC-33E849A5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</a:defRPr>
            </a:pPr>
            <a:r>
              <a:rPr sz="2775" b="1">
                <a:solidFill>
                  <a:srgbClr val="000000"/>
                </a:solidFill>
              </a:rPr>
              <a:t>The shared rubric protects a common learning signal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23900" y="1524000"/>
          <a:ext xmlns:a="http://schemas.openxmlformats.org/drawingml/2006/main" cx="5429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ed6e17b9ba4127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BF131-0FBC-4434-8426-9401257B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2875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B13D5-F385-4FB3-B976-195349BB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00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51ED1-7E55-4353-9DE9-6D0F3C9D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906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E6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7DAC5-C9B1-4923-8582-135F0DEB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621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Select and connect course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0F5DC-2E2C-4BE6-BCE5-D4285D42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3845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6AA62-891E-4D81-9607-3A5C1C42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09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Reasoning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E50AE-254C-4BDE-94C4-CAE71853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00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R6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59C3B-2B72-477E-9045-0784F05E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Explain why the connection matters.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14C01-899C-40D8-8D32-D15841B2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26BFB-1639-4DC9-A0DF-83183AEC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19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Organization + reflection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22920-6019-4812-B45B-DBF8A403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100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O4 + F4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F8D1F-2035-4C78-9207-C3014D4F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815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Structure the response and name a revision.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3EC90E-85F0-42EC-A45D-14EAD504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MAPLE LEARNING  |  2026-09-14  |  03</a:t>
            </a:r>
          </a:p>
        </p:txBody>
      </p:sp>
    </p:spTree>
    <p:extLst>
      <p:ext uri="{BB962C8B-B14F-4D97-AF65-F5344CB8AC3E}">
        <p14:creationId xmlns:p14="http://schemas.microsoft.com/office/powerpoint/2010/main" val="1030654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125CC-0A38-483D-BD2D-929ACC4B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0000"/>
                </a:solidFill>
              </a:defRPr>
            </a:pPr>
            <a:r>
              <a:rPr sz="2775" b="1">
                <a:solidFill>
                  <a:srgbClr val="000000"/>
                </a:solidFill>
              </a:rPr>
              <a:t>A compact team-share packet keeps the next review focused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5B841-8117-4550-88CD-60FF4397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8BD2D-3CC0-4774-BC4D-2A1E17E6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B12C9-93B9-491B-81B0-53FB4DCA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Review cue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D99F9-8ECF-446B-B2F7-6A85CB00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2590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Use the shared WAV opening cue before the design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F64F5-9C94-4CD5-A9E4-80AAC374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76400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E23B9-BBBD-4223-8749-821138A7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431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0CB76-4E69-4E74-AF87-773BDCAC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Compare tasks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1B3E6-E54F-4CC8-BA07-21151D4A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2590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Check A-101 Evidence Map and B-201 Scenario Map against the full aligned task set.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03A3C-3A55-4139-9398-00D117BF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76400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54249-B6A9-4B47-8C8E-FB5B45DF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431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D83B6-FB79-414E-AD14-35FF9A2A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81300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Check rubric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DA006-80B6-4A38-880A-8D5E8C7E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14700"/>
            <a:ext cx="2590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Confirm E6 + R6 + O4 + F4 = 20 remains intact.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42455-98B3-4FF7-89CF-23A29799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Canonical cohort: ML26-S001 through ML26-S036. No learner names, grades, contacts, credentials, or external course materials are included.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6DD5A-BDB2-4AA9-ACF6-9BBFFA33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</a:defRPr>
            </a:pPr>
            <a:r>
              <a:rPr sz="900" b="0">
                <a:solidFill>
                  <a:srgbClr val="52606D"/>
                </a:solidFill>
              </a:rPr>
              <a:t>MAPLE LEARNING  |  2026-09-14  |  04</a:t>
            </a:r>
          </a:p>
        </p:txBody>
      </p:sp>
    </p:spTree>
    <p:extLst>
      <p:ext uri="{BB962C8B-B14F-4D97-AF65-F5344CB8AC3E}">
        <p14:creationId xmlns:p14="http://schemas.microsoft.com/office/powerpoint/2010/main" val="702761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2026-08-23T20:46:03.7850000Z</dcterms:created>
  <dcterms:modified xsi:type="dcterms:W3CDTF">2026-08-23T20:46:03.7850000Z</dcterms:modified>
</coreProperties>
</file>