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ab6502b24d4d49" /><Relationship Type="http://schemas.openxmlformats.org/officeDocument/2006/relationships/extended-properties" Target="/docProps/app.xml" Id="R735003b7dd884742" /><Relationship Type="http://schemas.openxmlformats.org/officeDocument/2006/relationships/officeDocument" Target="/ppt/presentation.xml" Id="Rab1d375cf1654f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337f5f5e2a4eec"/>
  </p:sldMasterIdLst>
  <p:notesMasterIdLst>
    <p:notesMasterId xmlns:r="http://schemas.openxmlformats.org/officeDocument/2006/relationships" r:id="Rc19560f23b294f8a"/>
  </p:notesMasterIdLst>
  <p:sldIdLst>
    <p:sldId xmlns:r="http://schemas.openxmlformats.org/officeDocument/2006/relationships" id="256" r:id="Rde5dcad15d4e4ac3"/>
    <p:sldId xmlns:r="http://schemas.openxmlformats.org/officeDocument/2006/relationships" id="257" r:id="R73092db3f5ca4bb1"/>
    <p:sldId xmlns:r="http://schemas.openxmlformats.org/officeDocument/2006/relationships" id="258" r:id="R9db9f6a71eac4688"/>
    <p:sldId xmlns:r="http://schemas.openxmlformats.org/officeDocument/2006/relationships" id="259" r:id="R74cd82d61ea749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35d9476a7f41ae" /><Relationship Type="http://schemas.openxmlformats.org/officeDocument/2006/relationships/slideMaster" Target="/ppt/slideMasters/slideMaster1.xml" Id="Ra9337f5f5e2a4eec" /><Relationship Type="http://schemas.openxmlformats.org/officeDocument/2006/relationships/notesMaster" Target="/ppt/notesMasters/notesMaster1.xml" Id="Rc19560f23b294f8a" /><Relationship Type="http://schemas.openxmlformats.org/officeDocument/2006/relationships/presProps" Target="/ppt/presProps.xml" Id="R69198ea0ffb448c2" /><Relationship Type="http://schemas.openxmlformats.org/officeDocument/2006/relationships/tableStyles" Target="/ppt/tableStyles.xml" Id="R7e39cc6cca4f44d7" /><Relationship Type="http://schemas.openxmlformats.org/officeDocument/2006/relationships/slide" Target="/ppt/slides/slide1.xml" Id="Rde5dcad15d4e4ac3" /><Relationship Type="http://schemas.openxmlformats.org/officeDocument/2006/relationships/slide" Target="/ppt/slides/slide2.xml" Id="R73092db3f5ca4bb1" /><Relationship Type="http://schemas.openxmlformats.org/officeDocument/2006/relationships/slide" Target="/ppt/slides/slide3.xml" Id="R9db9f6a71eac4688" /><Relationship Type="http://schemas.openxmlformats.org/officeDocument/2006/relationships/slide" Target="/ppt/slides/slide4.xml" Id="R74cd82d61ea749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7ddb2d6fa4e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e0e5b0e8e048b1" /><Relationship Type="http://schemas.openxmlformats.org/officeDocument/2006/relationships/notesMaster" Target="/ppt/notesMasters/notesMaster1.xml" Id="Rdf6fb78b01f3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09c342ecfb4193" /><Relationship Type="http://schemas.openxmlformats.org/officeDocument/2006/relationships/notesMaster" Target="/ppt/notesMasters/notesMaster1.xml" Id="R3bc280e04c04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a8cab52b5a4927" /><Relationship Type="http://schemas.openxmlformats.org/officeDocument/2006/relationships/notesMaster" Target="/ppt/notesMasters/notesMaster1.xml" Id="Rb7094b3caedc42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63f1dd38344e3f" /><Relationship Type="http://schemas.openxmlformats.org/officeDocument/2006/relationships/notesMaster" Target="/ppt/notesMasters/notesMaster1.xml" Id="Ra468364982b6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e9ce4c8b14a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296121135046df" /><Relationship Type="http://schemas.openxmlformats.org/officeDocument/2006/relationships/slideLayout" Target="/ppt/slideLayouts/slideLayout1.xml" Id="Raa8478c6de7241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8478c6de7241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7b407358a463c" /><Relationship Type="http://schemas.openxmlformats.org/officeDocument/2006/relationships/notesSlide" Target="/ppt/notesSlides/notesSlide1.xml" Id="Rf8ad48944f85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408026c1f41f9" /><Relationship Type="http://schemas.openxmlformats.org/officeDocument/2006/relationships/image" Target="/ppt/media/image.png" Id="Rcbb3d0c379174ed1" /><Relationship Type="http://schemas.openxmlformats.org/officeDocument/2006/relationships/notesSlide" Target="/ppt/notesSlides/notesSlide2.xml" Id="R4f11cf1f477143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723f30e104a56" /><Relationship Type="http://schemas.openxmlformats.org/officeDocument/2006/relationships/notesSlide" Target="/ppt/notesSlides/notesSlide3.xml" Id="R4a3bcf4eb74d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d5fb590de479f" /><Relationship Type="http://schemas.openxmlformats.org/officeDocument/2006/relationships/notesSlide" Target="/ppt/notesSlides/notesSlide4.xml" Id="R326e42bb9507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82869-8A4E-475D-97EC-063AC3FA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25D7A-9CAF-4D90-AC3B-5B8FB1C2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MAPLE LEARNING • 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F690D-A941-458D-B9D9-0B5F6FF3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9612E-F7FE-4CD1-9A64-2A21741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1828"/>
                </a:solidFill>
              </a:defRPr>
            </a:pPr>
            <a:r>
              <a:rPr sz="4050" b="1">
                <a:solidFill>
                  <a:srgbClr val="101828"/>
                </a:solidFill>
              </a:rPr>
              <a:t>Turn a scenario into a testable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2582D-6011-475F-A682-B71CF53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467"/>
                </a:solidFill>
              </a:defRPr>
            </a:pPr>
            <a:r>
              <a:rPr sz="1800" b="0">
                <a:solidFill>
                  <a:srgbClr val="475467"/>
                </a:solidFill>
              </a:rPr>
              <a:t>Opening lecture • synthetic learning world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203E8-D540-40A4-9ADA-B727AF0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953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4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E22CF-49DF-4322-B82F-0344B06C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Today’s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2AC14-EC71-43C5-A780-1365F6BD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66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1828"/>
                </a:solidFill>
              </a:defRPr>
            </a:pPr>
            <a:r>
              <a:rPr sz="2100" b="0">
                <a:solidFill>
                  <a:srgbClr val="101828"/>
                </a:solidFill>
              </a:rPr>
              <a:t>Use a scenario map to make assumptions visible before testing a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4A585-04CE-43B3-8B5E-27FFCB14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524000"/>
            <a:ext cx="1714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9FB34-A931-4D06-86B2-99A7852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7D92"/>
                </a:solidFill>
              </a:defRPr>
            </a:pPr>
            <a:r>
              <a:rPr sz="4350" b="1">
                <a:solidFill>
                  <a:srgbClr val="147D92"/>
                </a:solidFill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BE395-C870-423A-AE37-62E9A3F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123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synthetic</a:t>
            </a:r>
          </a:p>
          <a:p xmlns:a="http://schemas.openxmlformats.org/drawingml/2006/main">
            <a:pPr>
              <a:defRPr sz="1650" b="1">
                <a:solidFill>
                  <a:srgbClr val="475467"/>
                </a:solidFill>
              </a:defRPr>
            </a:pPr>
            <a:r>
              <a:rPr sz="1650" b="1">
                <a:solidFill>
                  <a:srgbClr val="475467"/>
                </a:solidFill>
              </a:rPr>
              <a:t>learners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FAC6A-BCE9-4ED6-B382-7707981A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05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EB9D6-5E8F-4F39-B82F-382708F8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764824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3d0c379174e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16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5428D-605A-48BC-A606-576D4F2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91603-FB76-4A8A-ABEB-25BE901E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MAPLE LEARNING • 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6A9DE-C334-4FB9-BBBB-1AED7F47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8DDB6-F5B3-47F4-A41A-73A6F90A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1828"/>
                </a:solidFill>
              </a:defRPr>
            </a:pPr>
            <a:r>
              <a:rPr sz="3000" b="1">
                <a:solidFill>
                  <a:srgbClr val="101828"/>
                </a:solidFill>
              </a:rPr>
              <a:t>Practice: make the criterion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34CD4-B592-4BF5-A24C-764D3B5F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5722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C56A8-6BB2-4F25-B215-F5DDB887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7D92"/>
                </a:solidFill>
              </a:defRPr>
            </a:pPr>
            <a:r>
              <a:rPr sz="1800" b="1">
                <a:solidFill>
                  <a:srgbClr val="147D92"/>
                </a:solidFill>
              </a:rPr>
              <a:t>Assignment connection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D4152-8955-498A-B3EF-4EC5A1E7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</a:defRPr>
            </a:pPr>
            <a:r>
              <a:rPr sz="2550" b="1">
                <a:solidFill>
                  <a:srgbClr val="101828"/>
                </a:solidFill>
              </a:rPr>
              <a:t>B-201 Scenario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4DB04-1BF0-47B2-B495-E5A3FBB1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5429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5467"/>
                </a:solidFill>
              </a:defRPr>
            </a:pPr>
            <a:r>
              <a:rPr sz="1725" b="0">
                <a:solidFill>
                  <a:srgbClr val="475467"/>
                </a:solidFill>
              </a:rPr>
              <a:t>Use the rubric to check Evidence (6), Reasoning (6), Organization (4), and Format (4).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5027C-8343-48F4-BCF3-04D8A72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36004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F60E3-C2DE-4CD5-A326-552774B2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07EA1-4091-4365-9144-73BB067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points in the shared</a:t>
            </a:r>
          </a:p>
          <a:p xmlns:a="http://schemas.openxmlformats.org/drawingml/2006/main">
            <a:pPr>
              <a:defRPr sz="1875" b="1">
                <a:solidFill>
                  <a:srgbClr val="D0D5DD"/>
                </a:solidFill>
              </a:defRPr>
            </a:pPr>
            <a:r>
              <a:rPr sz="1875" b="1">
                <a:solidFill>
                  <a:srgbClr val="D0D5DD"/>
                </a:solidFill>
              </a:rPr>
              <a:t>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17A45-939F-4F93-A2AA-96A6DFF9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05  •  Maple Learning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754BA-DB65-4DD4-BF46-0993251C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299775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E5A40-20D0-41C3-ACFA-23A0B06C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80017-4CFD-409A-A5CF-3C160CD4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MAPLE LEARNING • COURSE BETA 2026 TERM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70498-76DD-466A-A7A8-BB816F7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8150"/>
            <a:ext cx="3362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085"/>
                </a:solidFill>
              </a:defRPr>
            </a:pPr>
            <a:r>
              <a:rPr sz="900" b="1">
                <a:solidFill>
                  <a:srgbClr val="667085"/>
                </a:solidFill>
              </a:rPr>
              <a:t>MAPLE LEARNING  |  2026-09-14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2427E-3C33-41E3-B48B-6F071FCE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62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A useful model begins by showing what the scenario asks us to assume.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17701-6F3F-4B05-B2EC-612A2745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D32B6-220E-42A3-A421-DA178DE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7D92"/>
                </a:solidFill>
              </a:defRPr>
            </a:pPr>
            <a:r>
              <a:rPr sz="1875" b="1">
                <a:solidFill>
                  <a:srgbClr val="147D92"/>
                </a:solidFill>
              </a:rPr>
              <a:t>Carry this question into your next draft: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1817C-B40F-4753-B52F-55BFE118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01828"/>
                </a:solidFill>
              </a:defRPr>
            </a:pPr>
            <a:r>
              <a:rPr sz="2625" b="0">
                <a:solidFill>
                  <a:srgbClr val="101828"/>
                </a:solidFill>
              </a:rPr>
              <a:t>What would a reader need to see in order to follow my judgment?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BB8AE-F848-4FA8-831B-D04C012A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Lecture 05  •  Maple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1AA8D-F5DD-42C7-A3A4-4C89109D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4579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Synthetic course material</a:t>
            </a:r>
          </a:p>
        </p:txBody>
      </p:sp>
    </p:spTree>
    <p:extLst>
      <p:ext uri="{BB962C8B-B14F-4D97-AF65-F5344CB8AC3E}">
        <p14:creationId xmlns:p14="http://schemas.microsoft.com/office/powerpoint/2010/main" val="1961148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2026-08-23T21:06:38.0740000Z</dcterms:created>
  <dcterms:modified xsi:type="dcterms:W3CDTF">2026-08-23T21:06:38.0740000Z</dcterms:modified>
</coreProperties>
</file>