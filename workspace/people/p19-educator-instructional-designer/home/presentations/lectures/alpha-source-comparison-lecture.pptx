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337bee9b3240b3" /><Relationship Type="http://schemas.openxmlformats.org/officeDocument/2006/relationships/extended-properties" Target="/docProps/app.xml" Id="Rbaceb6c67c9947c4" /><Relationship Type="http://schemas.openxmlformats.org/officeDocument/2006/relationships/officeDocument" Target="/ppt/presentation.xml" Id="Rd23e898c20604f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2c740d44c24c09"/>
  </p:sldMasterIdLst>
  <p:notesMasterIdLst>
    <p:notesMasterId xmlns:r="http://schemas.openxmlformats.org/officeDocument/2006/relationships" r:id="R2a4b27a0f2f84c0c"/>
  </p:notesMasterIdLst>
  <p:sldIdLst>
    <p:sldId xmlns:r="http://schemas.openxmlformats.org/officeDocument/2006/relationships" id="256" r:id="R214c3a5fe4594075"/>
    <p:sldId xmlns:r="http://schemas.openxmlformats.org/officeDocument/2006/relationships" id="257" r:id="Raa4f5a7f5db34c74"/>
    <p:sldId xmlns:r="http://schemas.openxmlformats.org/officeDocument/2006/relationships" id="258" r:id="R4ce44e716457478f"/>
    <p:sldId xmlns:r="http://schemas.openxmlformats.org/officeDocument/2006/relationships" id="259" r:id="R1e534d86e0894ef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d3ef082d784a40" /><Relationship Type="http://schemas.openxmlformats.org/officeDocument/2006/relationships/slideMaster" Target="/ppt/slideMasters/slideMaster1.xml" Id="R4d2c740d44c24c09" /><Relationship Type="http://schemas.openxmlformats.org/officeDocument/2006/relationships/notesMaster" Target="/ppt/notesMasters/notesMaster1.xml" Id="R2a4b27a0f2f84c0c" /><Relationship Type="http://schemas.openxmlformats.org/officeDocument/2006/relationships/presProps" Target="/ppt/presProps.xml" Id="Rfa8b2f77bb724916" /><Relationship Type="http://schemas.openxmlformats.org/officeDocument/2006/relationships/tableStyles" Target="/ppt/tableStyles.xml" Id="Rea5fa0317ea84d62" /><Relationship Type="http://schemas.openxmlformats.org/officeDocument/2006/relationships/slide" Target="/ppt/slides/slide1.xml" Id="R214c3a5fe4594075" /><Relationship Type="http://schemas.openxmlformats.org/officeDocument/2006/relationships/slide" Target="/ppt/slides/slide2.xml" Id="Raa4f5a7f5db34c74" /><Relationship Type="http://schemas.openxmlformats.org/officeDocument/2006/relationships/slide" Target="/ppt/slides/slide3.xml" Id="R4ce44e716457478f" /><Relationship Type="http://schemas.openxmlformats.org/officeDocument/2006/relationships/slide" Target="/ppt/slides/slide4.xml" Id="R1e534d86e0894e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2e99314eff4f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bf35561a744a2f" /><Relationship Type="http://schemas.openxmlformats.org/officeDocument/2006/relationships/notesMaster" Target="/ppt/notesMasters/notesMaster1.xml" Id="Rb6a63f73215747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2dc7ec8a714bb7" /><Relationship Type="http://schemas.openxmlformats.org/officeDocument/2006/relationships/notesMaster" Target="/ppt/notesMasters/notesMaster1.xml" Id="R047996621a0447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d5b5bbe5cc4205" /><Relationship Type="http://schemas.openxmlformats.org/officeDocument/2006/relationships/notesMaster" Target="/ppt/notesMasters/notesMaster1.xml" Id="R995eb1c71d8e4c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e4c8ed073e4bcb" /><Relationship Type="http://schemas.openxmlformats.org/officeDocument/2006/relationships/notesMaster" Target="/ppt/notesMasters/notesMaster1.xml" Id="R25894402d02840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34ca7acac040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fe9e80ac4642a8" /><Relationship Type="http://schemas.openxmlformats.org/officeDocument/2006/relationships/slideLayout" Target="/ppt/slideLayouts/slideLayout1.xml" Id="Rbe662cd15f384d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662cd15f384d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c8218892b45c0" /><Relationship Type="http://schemas.openxmlformats.org/officeDocument/2006/relationships/notesSlide" Target="/ppt/notesSlides/notesSlide1.xml" Id="R028baab8c8de46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306e033bb4e92" /><Relationship Type="http://schemas.openxmlformats.org/officeDocument/2006/relationships/image" Target="/ppt/media/image.png" Id="R5d87f2e617b0476c" /><Relationship Type="http://schemas.openxmlformats.org/officeDocument/2006/relationships/notesSlide" Target="/ppt/notesSlides/notesSlide2.xml" Id="R78626fe6a71a4b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3f9b8c7b674296" /><Relationship Type="http://schemas.openxmlformats.org/officeDocument/2006/relationships/notesSlide" Target="/ppt/notesSlides/notesSlide3.xml" Id="R91609038fcf547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9e45dbd5a47fb" /><Relationship Type="http://schemas.openxmlformats.org/officeDocument/2006/relationships/notesSlide" Target="/ppt/notesSlides/notesSlide4.xml" Id="Rcbbaaf49222246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7CED45-DF39-47A9-B974-0C845DD9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C7C350-8FD8-4DE2-A815-05B9951F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7D92"/>
                </a:solidFill>
              </a:defRPr>
            </a:pPr>
            <a:r>
              <a:rPr sz="1125" b="1">
                <a:solidFill>
                  <a:srgbClr val="147D92"/>
                </a:solidFill>
              </a:rPr>
              <a:t>COURSE ALPHA 2026 TERM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1ABACF-348A-4AEB-8E54-DCCE7940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8150"/>
            <a:ext cx="3362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MAPLE LEARNING  |  2026-09-14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92E8D1-29F7-4E17-948A-ED39D717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828"/>
                </a:solidFill>
              </a:defRPr>
            </a:pPr>
            <a:r>
              <a:rPr sz="4050" b="1">
                <a:solidFill>
                  <a:srgbClr val="101828"/>
                </a:solidFill>
              </a:rPr>
              <a:t>Compare sources by the work they can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8ACB8-0592-41EE-8F88-16215A87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75467"/>
                </a:solidFill>
              </a:defRPr>
            </a:pPr>
            <a:r>
              <a:rPr sz="1800" b="0">
                <a:solidFill>
                  <a:srgbClr val="475467"/>
                </a:solidFill>
              </a:rPr>
              <a:t>Source comparison lecture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E883E-06DA-4A52-87AC-A2EC816F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7953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4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E0B36-7CCB-48EC-888E-F9685B53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7D92"/>
                </a:solidFill>
              </a:defRPr>
            </a:pPr>
            <a:r>
              <a:rPr sz="1800" b="1">
                <a:solidFill>
                  <a:srgbClr val="147D92"/>
                </a:solidFill>
              </a:rPr>
              <a:t>Today’s focus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ABEE27-7354-4BF9-BB69-0AD27188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866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1828"/>
                </a:solidFill>
              </a:defRPr>
            </a:pPr>
            <a:r>
              <a:rPr sz="2100" b="0">
                <a:solidFill>
                  <a:srgbClr val="101828"/>
                </a:solidFill>
              </a:rPr>
              <a:t>Comparison becomes rigorous when the same questions guide every source.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460F64-9FE8-44EA-B0FB-D11036A7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524000"/>
            <a:ext cx="1714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2134CD-256A-47A1-B2C8-E5B90750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24050"/>
            <a:ext cx="123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47D92"/>
                </a:solidFill>
              </a:defRPr>
            </a:pPr>
            <a:r>
              <a:rPr sz="4350" b="1">
                <a:solidFill>
                  <a:srgbClr val="147D92"/>
                </a:solidFill>
              </a:rPr>
              <a:t>36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49E3CA-0B01-462D-B802-EBBC3C4F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43200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75467"/>
                </a:solidFill>
              </a:defRPr>
            </a:pPr>
            <a:r>
              <a:rPr sz="1650" b="1">
                <a:solidFill>
                  <a:srgbClr val="475467"/>
                </a:solidFill>
              </a:rPr>
              <a:t>synthetic</a:t>
            </a:r>
          </a:p>
          <a:p xmlns:a="http://schemas.openxmlformats.org/drawingml/2006/main">
            <a:pPr>
              <a:defRPr sz="1650" b="1">
                <a:solidFill>
                  <a:srgbClr val="475467"/>
                </a:solidFill>
              </a:defRPr>
            </a:pPr>
            <a:r>
              <a:rPr sz="1650" b="1">
                <a:solidFill>
                  <a:srgbClr val="475467"/>
                </a:solidFill>
              </a:rPr>
              <a:t>learners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F70B22-329E-44D3-8F5F-1E1AC192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Lecture 03  •  Maple Learning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F549F0-4352-4701-9813-CF6DFF39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579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Synthetic course material</a:t>
            </a:r>
          </a:p>
        </p:txBody>
      </p:sp>
    </p:spTree>
    <p:extLst>
      <p:ext uri="{BB962C8B-B14F-4D97-AF65-F5344CB8AC3E}">
        <p14:creationId xmlns:p14="http://schemas.microsoft.com/office/powerpoint/2010/main" val="6590456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87f2e617b0476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7583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61268F-267F-4749-83B6-503F9604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5D21F-D929-46E3-BB39-A19C4E7E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7D92"/>
                </a:solidFill>
              </a:defRPr>
            </a:pPr>
            <a:r>
              <a:rPr sz="1125" b="1">
                <a:solidFill>
                  <a:srgbClr val="147D92"/>
                </a:solidFill>
              </a:rPr>
              <a:t>COURSE ALPHA 2026 TERM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F5190-7618-49D2-B117-2B4C98F2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8150"/>
            <a:ext cx="3362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MAPLE LEARNING  |  2026-09-14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2F1E6D-C77F-4332-A407-7B9943BF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1828"/>
                </a:solidFill>
              </a:defRPr>
            </a:pPr>
            <a:r>
              <a:rPr sz="3000" b="1">
                <a:solidFill>
                  <a:srgbClr val="101828"/>
                </a:solidFill>
              </a:rPr>
              <a:t>Practice: make the criterion visible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A58A27-5B76-4012-92D5-98170AB8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65722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92F81-DBC4-40B6-8B9A-2B5735BE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7D92"/>
                </a:solidFill>
              </a:defRPr>
            </a:pPr>
            <a:r>
              <a:rPr sz="1800" b="1">
                <a:solidFill>
                  <a:srgbClr val="147D92"/>
                </a:solidFill>
              </a:rPr>
              <a:t>Assignment connection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FD9033-0343-484D-9963-DE89ADAC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0375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A-102 Source Comparison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B6AFE-F4F0-4A3A-8F1C-A72187D3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81425"/>
            <a:ext cx="5429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467"/>
                </a:solidFill>
              </a:defRPr>
            </a:pPr>
            <a:r>
              <a:rPr sz="1725" b="0">
                <a:solidFill>
                  <a:srgbClr val="475467"/>
                </a:solidFill>
              </a:rPr>
              <a:t>Use the rubric to check Evidence (6), Reasoning (6), Organization (4), and Format (4).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EE9766-B7B2-4085-A911-E4BD8270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47875"/>
            <a:ext cx="36004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E7FB3-C844-44A6-9C6A-E03DECA5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193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7A4E10-E569-4B91-BA1B-026917DD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861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0D5DD"/>
                </a:solidFill>
              </a:defRPr>
            </a:pPr>
            <a:r>
              <a:rPr sz="1875" b="1">
                <a:solidFill>
                  <a:srgbClr val="D0D5DD"/>
                </a:solidFill>
              </a:rPr>
              <a:t>points in the shared</a:t>
            </a:r>
          </a:p>
          <a:p xmlns:a="http://schemas.openxmlformats.org/drawingml/2006/main">
            <a:pPr>
              <a:defRPr sz="1875" b="1">
                <a:solidFill>
                  <a:srgbClr val="D0D5DD"/>
                </a:solidFill>
              </a:defRPr>
            </a:pPr>
            <a:r>
              <a:rPr sz="1875" b="1">
                <a:solidFill>
                  <a:srgbClr val="D0D5DD"/>
                </a:solidFill>
              </a:rPr>
              <a:t>rubric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5EDBDA-8362-4107-A08B-5F9D1942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Lecture 03  •  Maple Learning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B569E3-D28B-4D45-AE4D-C29A363A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579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Synthetic course material</a:t>
            </a:r>
          </a:p>
        </p:txBody>
      </p:sp>
    </p:spTree>
    <p:extLst>
      <p:ext uri="{BB962C8B-B14F-4D97-AF65-F5344CB8AC3E}">
        <p14:creationId xmlns:p14="http://schemas.microsoft.com/office/powerpoint/2010/main" val="1545321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27FDE2-9D5F-4556-9E79-5417EF7A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17076-28EE-4F45-8006-8079BB15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7D92"/>
                </a:solidFill>
              </a:defRPr>
            </a:pPr>
            <a:r>
              <a:rPr sz="1125" b="1">
                <a:solidFill>
                  <a:srgbClr val="147D92"/>
                </a:solidFill>
              </a:rPr>
              <a:t>COURSE ALPHA 2026 TERM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8CCFCF-5C27-4667-B862-97130403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8150"/>
            <a:ext cx="3362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MAPLE LEARNING  |  2026-09-14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CC035A-CDDA-4742-9647-8C6EEF3A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620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Use contrast to improve judgment: the best source is the one that fits the claim.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BEBBF1-1225-445F-AB90-C3D751A0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57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32992-F941-4ADC-89E0-96ACE4B2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7D92"/>
                </a:solidFill>
              </a:defRPr>
            </a:pPr>
            <a:r>
              <a:rPr sz="1875" b="1">
                <a:solidFill>
                  <a:srgbClr val="147D92"/>
                </a:solidFill>
              </a:rPr>
              <a:t>Carry this question into your next draft: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C4CE1-EC17-48D9-A71D-E7FEF9BB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971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01828"/>
                </a:solidFill>
              </a:defRPr>
            </a:pPr>
            <a:r>
              <a:rPr sz="2625" b="0">
                <a:solidFill>
                  <a:srgbClr val="101828"/>
                </a:solidFill>
              </a:rPr>
              <a:t>What would a reader need to see in order to follow my judgment?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3570B9-D2F8-446C-9D92-3CC1F88E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Lecture 03  •  Maple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6500D0-253C-4585-BE6A-EABC0A7D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579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Synthetic course material</a:t>
            </a:r>
          </a:p>
        </p:txBody>
      </p:sp>
    </p:spTree>
    <p:extLst>
      <p:ext uri="{BB962C8B-B14F-4D97-AF65-F5344CB8AC3E}">
        <p14:creationId xmlns:p14="http://schemas.microsoft.com/office/powerpoint/2010/main" val="1108808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2026-08-23T21:06:38.1210000Z</dcterms:created>
  <dcterms:modified xsi:type="dcterms:W3CDTF">2026-08-23T21:06:38.1210000Z</dcterms:modified>
</coreProperties>
</file>