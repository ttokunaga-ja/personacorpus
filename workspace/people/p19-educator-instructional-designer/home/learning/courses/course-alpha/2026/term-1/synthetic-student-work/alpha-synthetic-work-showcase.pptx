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0ea6603ada94e54" /><Relationship Type="http://schemas.openxmlformats.org/officeDocument/2006/relationships/extended-properties" Target="/docProps/app.xml" Id="R793c2d8c76334a95" /><Relationship Type="http://schemas.openxmlformats.org/officeDocument/2006/relationships/officeDocument" Target="/ppt/presentation.xml" Id="R3ebf03d8011b413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e1bbb100641462c"/>
  </p:sldMasterIdLst>
  <p:notesMasterIdLst>
    <p:notesMasterId xmlns:r="http://schemas.openxmlformats.org/officeDocument/2006/relationships" r:id="R29c5d033d36a4e61"/>
  </p:notesMasterIdLst>
  <p:sldIdLst>
    <p:sldId xmlns:r="http://schemas.openxmlformats.org/officeDocument/2006/relationships" id="256" r:id="R988ee2ad60934822"/>
    <p:sldId xmlns:r="http://schemas.openxmlformats.org/officeDocument/2006/relationships" id="257" r:id="R61f5f0aa58b44a02"/>
    <p:sldId xmlns:r="http://schemas.openxmlformats.org/officeDocument/2006/relationships" id="258" r:id="R90dc550f73ea4db1"/>
    <p:sldId xmlns:r="http://schemas.openxmlformats.org/officeDocument/2006/relationships" id="259" r:id="R92f1290972e54dc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6f4bd27c9494dd3" /><Relationship Type="http://schemas.openxmlformats.org/officeDocument/2006/relationships/slideMaster" Target="/ppt/slideMasters/slideMaster1.xml" Id="R7e1bbb100641462c" /><Relationship Type="http://schemas.openxmlformats.org/officeDocument/2006/relationships/notesMaster" Target="/ppt/notesMasters/notesMaster1.xml" Id="R29c5d033d36a4e61" /><Relationship Type="http://schemas.openxmlformats.org/officeDocument/2006/relationships/presProps" Target="/ppt/presProps.xml" Id="R2146662e233c4e42" /><Relationship Type="http://schemas.openxmlformats.org/officeDocument/2006/relationships/tableStyles" Target="/ppt/tableStyles.xml" Id="Rc1db757f4b304358" /><Relationship Type="http://schemas.openxmlformats.org/officeDocument/2006/relationships/slide" Target="/ppt/slides/slide1.xml" Id="R988ee2ad60934822" /><Relationship Type="http://schemas.openxmlformats.org/officeDocument/2006/relationships/slide" Target="/ppt/slides/slide2.xml" Id="R61f5f0aa58b44a02" /><Relationship Type="http://schemas.openxmlformats.org/officeDocument/2006/relationships/slide" Target="/ppt/slides/slide3.xml" Id="R90dc550f73ea4db1" /><Relationship Type="http://schemas.openxmlformats.org/officeDocument/2006/relationships/slide" Target="/ppt/slides/slide4.xml" Id="R92f1290972e54dc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52e84aedfdd4d6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8c0c789aa1f4c0d" /><Relationship Type="http://schemas.openxmlformats.org/officeDocument/2006/relationships/notesMaster" Target="/ppt/notesMasters/notesMaster1.xml" Id="R904e43d4822b423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4ca22c2f31f4ee3" /><Relationship Type="http://schemas.openxmlformats.org/officeDocument/2006/relationships/notesMaster" Target="/ppt/notesMasters/notesMaster1.xml" Id="Rdd3aa7820bb4486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9629c08df8342af" /><Relationship Type="http://schemas.openxmlformats.org/officeDocument/2006/relationships/notesMaster" Target="/ppt/notesMasters/notesMaster1.xml" Id="R79ad1119a19749a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75e919dba2f4b08" /><Relationship Type="http://schemas.openxmlformats.org/officeDocument/2006/relationships/notesMaster" Target="/ppt/notesMasters/notesMaster1.xml" Id="R99cfe67856f742a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575e752dd0409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4eabb5e6a664767" /><Relationship Type="http://schemas.openxmlformats.org/officeDocument/2006/relationships/slideLayout" Target="/ppt/slideLayouts/slideLayout1.xml" Id="R6300eb357129449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300eb357129449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3565564fde4aad" /><Relationship Type="http://schemas.openxmlformats.org/officeDocument/2006/relationships/notesSlide" Target="/ppt/notesSlides/notesSlide1.xml" Id="R2849d533cdb8480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c2b37b78cc4224" /><Relationship Type="http://schemas.openxmlformats.org/officeDocument/2006/relationships/notesSlide" Target="/ppt/notesSlides/notesSlide2.xml" Id="Rd2e1ec383e074df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ba2eacb99d4841" /><Relationship Type="http://schemas.openxmlformats.org/officeDocument/2006/relationships/notesSlide" Target="/ppt/notesSlides/notesSlide3.xml" Id="R4978ed57076047e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1fa607f9364888" /><Relationship Type="http://schemas.openxmlformats.org/officeDocument/2006/relationships/notesSlide" Target="/ppt/notesSlides/notesSlide4.xml" Id="R2a73a8d9956f41a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FB9558-5298-43DB-96DF-2E1932B13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2757D"/>
                </a:solidFill>
              </a:defRPr>
            </a:pPr>
            <a:r>
              <a:rPr sz="1350" b="1">
                <a:solidFill>
                  <a:srgbClr val="12757D"/>
                </a:solidFill>
              </a:rPr>
              <a:t>MAPLE LEARNING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16A705-0C2C-4428-819B-A8628A47B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76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E3A5F"/>
                </a:solidFill>
              </a:defRPr>
            </a:pPr>
            <a:r>
              <a:rPr sz="3000" b="1">
                <a:solidFill>
                  <a:srgbClr val="1E3A5F"/>
                </a:solidFill>
              </a:rPr>
              <a:t>Synthetic work shows a visible revision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970AB9-FD61-4C38-8047-2366A8A6F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9906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7F3F2"/>
          </a:solidFill>
          <a:ln xmlns:a="http://schemas.openxmlformats.org/drawingml/2006/main" w="9525">
            <a:solidFill>
              <a:srgbClr val="8CC5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3E2190-F6D9-4A24-AD91-42809EDEE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86125"/>
            <a:ext cx="9144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9324A"/>
                </a:solidFill>
              </a:defRPr>
            </a:pPr>
            <a:r>
              <a:rPr sz="2025" b="1">
                <a:solidFill>
                  <a:srgbClr val="19324A"/>
                </a:solidFill>
              </a:rPr>
              <a:t>Maple Learning | Course Alpha 2026 Term 1 | 2026-09-14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1CB839-DF82-4306-9A11-703699B90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29250"/>
            <a:ext cx="990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36 synthetic learner IDs support instructional review.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1C57EB-5105-4792-8676-8283D9289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B7280"/>
                </a:solidFill>
              </a:defRPr>
            </a:pPr>
            <a:r>
              <a:rPr sz="1050" b="0">
                <a:solidFill>
                  <a:srgbClr val="6B7280"/>
                </a:solidFill>
              </a:rPr>
              <a:t>Synthetic fixture | slide 1/4</a:t>
            </a:r>
          </a:p>
        </p:txBody>
      </p:sp>
    </p:spTree>
    <p:extLst>
      <p:ext uri="{BB962C8B-B14F-4D97-AF65-F5344CB8AC3E}">
        <p14:creationId xmlns:p14="http://schemas.microsoft.com/office/powerpoint/2010/main" val="21307737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FF7294-56C7-4898-9675-DED9603F7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2757D"/>
                </a:solidFill>
              </a:defRPr>
            </a:pPr>
            <a:r>
              <a:rPr sz="1350" b="1">
                <a:solidFill>
                  <a:srgbClr val="12757D"/>
                </a:solidFill>
              </a:rPr>
              <a:t>MAPLE LEARNING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0E76C8-BAD0-4260-A82A-5AD63D13C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76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E3A5F"/>
                </a:solidFill>
              </a:defRPr>
            </a:pPr>
            <a:r>
              <a:rPr sz="3000" b="1">
                <a:solidFill>
                  <a:srgbClr val="1E3A5F"/>
                </a:solidFill>
              </a:rPr>
              <a:t>A-101 turns observations into an evidence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6C76D0-55FE-402F-B99C-D414F0BAF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9906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7F3F2"/>
          </a:solidFill>
          <a:ln xmlns:a="http://schemas.openxmlformats.org/drawingml/2006/main" w="9525">
            <a:solidFill>
              <a:srgbClr val="8CC5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92857B-1382-4799-8CCF-D7986A6AA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86125"/>
            <a:ext cx="9144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9324A"/>
                </a:solidFill>
              </a:defRPr>
            </a:pPr>
            <a:r>
              <a:rPr sz="2025" b="1">
                <a:solidFill>
                  <a:srgbClr val="19324A"/>
                </a:solidFill>
              </a:rPr>
              <a:t>Claim -&gt; invented observation -&gt; stated reasoning -&gt; revision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751E62-7AEC-4E3E-95F9-29036C21F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29250"/>
            <a:ext cx="990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Rubric: Evidence 6 + Reasoning 6 + Organization 4 + Format 4 = 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7ABB9B-DA60-4882-B0E6-00F502C54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B7280"/>
                </a:solidFill>
              </a:defRPr>
            </a:pPr>
            <a:r>
              <a:rPr sz="1050" b="0">
                <a:solidFill>
                  <a:srgbClr val="6B7280"/>
                </a:solidFill>
              </a:rPr>
              <a:t>Synthetic fixture | slide 2/4</a:t>
            </a:r>
          </a:p>
        </p:txBody>
      </p:sp>
    </p:spTree>
    <p:extLst>
      <p:ext uri="{BB962C8B-B14F-4D97-AF65-F5344CB8AC3E}">
        <p14:creationId xmlns:p14="http://schemas.microsoft.com/office/powerpoint/2010/main" val="17768464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12568F-3081-4147-8CF0-BE2A489DF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2757D"/>
                </a:solidFill>
              </a:defRPr>
            </a:pPr>
            <a:r>
              <a:rPr sz="1350" b="1">
                <a:solidFill>
                  <a:srgbClr val="12757D"/>
                </a:solidFill>
              </a:rPr>
              <a:t>MAPLE LEARNING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9E2199-B7C8-46E1-AE7B-66BAB2FDD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76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E3A5F"/>
                </a:solidFill>
              </a:defRPr>
            </a:pPr>
            <a:r>
              <a:rPr sz="3000" b="1">
                <a:solidFill>
                  <a:srgbClr val="1E3A5F"/>
                </a:solidFill>
              </a:rPr>
              <a:t>A-102 asks learners to compare what each source can support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6E55FD-9EE4-4C38-A55E-F530B34B2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9906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7F3F2"/>
          </a:solidFill>
          <a:ln xmlns:a="http://schemas.openxmlformats.org/drawingml/2006/main" w="9525">
            <a:solidFill>
              <a:srgbClr val="8CC5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BACE5F-527F-41FA-AAC9-DFB867C62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86125"/>
            <a:ext cx="9144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9324A"/>
                </a:solidFill>
              </a:defRPr>
            </a:pPr>
            <a:r>
              <a:rPr sz="2025" b="1">
                <a:solidFill>
                  <a:srgbClr val="19324A"/>
                </a:solidFill>
              </a:rPr>
              <a:t>Source A: prototype path | Source B: user response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37554F-C2A3-430D-9888-E1673FEBE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29250"/>
            <a:ext cx="990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Connection: each invented source changes a different part of the claim.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F0569E-34FA-4B09-8F73-C46EAF2A0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B7280"/>
                </a:solidFill>
              </a:defRPr>
            </a:pPr>
            <a:r>
              <a:rPr sz="1050" b="0">
                <a:solidFill>
                  <a:srgbClr val="6B7280"/>
                </a:solidFill>
              </a:rPr>
              <a:t>Synthetic fixture | slide 3/4</a:t>
            </a:r>
          </a:p>
        </p:txBody>
      </p:sp>
    </p:spTree>
    <p:extLst>
      <p:ext uri="{BB962C8B-B14F-4D97-AF65-F5344CB8AC3E}">
        <p14:creationId xmlns:p14="http://schemas.microsoft.com/office/powerpoint/2010/main" val="17994723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4EE82C-B41E-4466-ACF6-49EAFFC38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2757D"/>
                </a:solidFill>
              </a:defRPr>
            </a:pPr>
            <a:r>
              <a:rPr sz="1350" b="1">
                <a:solidFill>
                  <a:srgbClr val="12757D"/>
                </a:solidFill>
              </a:rPr>
              <a:t>MAPLE LEARNING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9D994C-680C-491E-857C-656564A5F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76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E3A5F"/>
                </a:solidFill>
              </a:defRPr>
            </a:pPr>
            <a:r>
              <a:rPr sz="3000" b="1">
                <a:solidFill>
                  <a:srgbClr val="1E3A5F"/>
                </a:solidFill>
              </a:rPr>
              <a:t>A-103 closes with a concise claim-evidence-reasoning brief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EAE00A-242D-4100-9CE5-6B2159E05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9906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7F3F2"/>
          </a:solidFill>
          <a:ln xmlns:a="http://schemas.openxmlformats.org/drawingml/2006/main" w="9525">
            <a:solidFill>
              <a:srgbClr val="8CC5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EC60EB-DB2E-4485-BABF-1258D5CEC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86125"/>
            <a:ext cx="9144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9324A"/>
                </a:solidFill>
              </a:defRPr>
            </a:pPr>
            <a:r>
              <a:rPr sz="2025" b="1">
                <a:solidFill>
                  <a:srgbClr val="19324A"/>
                </a:solidFill>
              </a:rPr>
              <a:t>State the claim. Select evidence. Explain the connection. Name a limitation.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401E49-6362-4AB0-8A6F-586F07F4F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29250"/>
            <a:ext cx="990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Course Beta continues the same fictional world: B-201, B-202, B-203.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40C890-498A-487B-B3FF-72A98F9F9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B7280"/>
                </a:solidFill>
              </a:defRPr>
            </a:pPr>
            <a:r>
              <a:rPr sz="1050" b="0">
                <a:solidFill>
                  <a:srgbClr val="6B7280"/>
                </a:solidFill>
              </a:rPr>
              <a:t>Synthetic fixture | slide 4/4</a:t>
            </a:r>
          </a:p>
        </p:txBody>
      </p:sp>
    </p:spTree>
    <p:extLst>
      <p:ext uri="{BB962C8B-B14F-4D97-AF65-F5344CB8AC3E}">
        <p14:creationId xmlns:p14="http://schemas.microsoft.com/office/powerpoint/2010/main" val="7394481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2026-08-23T21:19:21.5180000Z</dcterms:created>
  <dcterms:modified xsi:type="dcterms:W3CDTF">2026-08-23T21:19:21.5180000Z</dcterms:modified>
</coreProperties>
</file>