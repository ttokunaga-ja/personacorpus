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a91319e3dc4deb" /><Relationship Type="http://schemas.openxmlformats.org/officeDocument/2006/relationships/extended-properties" Target="/docProps/app.xml" Id="Rbd38b020aaec43e7" /><Relationship Type="http://schemas.openxmlformats.org/officeDocument/2006/relationships/officeDocument" Target="/ppt/presentation.xml" Id="R83c942ea44c84d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a19fe1299c47af"/>
  </p:sldMasterIdLst>
  <p:notesMasterIdLst>
    <p:notesMasterId xmlns:r="http://schemas.openxmlformats.org/officeDocument/2006/relationships" r:id="R93dc61c7ac9543e1"/>
  </p:notesMasterIdLst>
  <p:sldIdLst>
    <p:sldId xmlns:r="http://schemas.openxmlformats.org/officeDocument/2006/relationships" id="256" r:id="R68bfa66e89264d9c"/>
    <p:sldId xmlns:r="http://schemas.openxmlformats.org/officeDocument/2006/relationships" id="257" r:id="R89f151b7f78347be"/>
    <p:sldId xmlns:r="http://schemas.openxmlformats.org/officeDocument/2006/relationships" id="258" r:id="Rf384559cac624ecf"/>
    <p:sldId xmlns:r="http://schemas.openxmlformats.org/officeDocument/2006/relationships" id="259" r:id="R5e934000cbac45e2"/>
    <p:sldId xmlns:r="http://schemas.openxmlformats.org/officeDocument/2006/relationships" id="260" r:id="R9e11ad3af9ed47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169b5a9e134bd7" /><Relationship Type="http://schemas.openxmlformats.org/officeDocument/2006/relationships/slideMaster" Target="/ppt/slideMasters/slideMaster1.xml" Id="R7aa19fe1299c47af" /><Relationship Type="http://schemas.openxmlformats.org/officeDocument/2006/relationships/notesMaster" Target="/ppt/notesMasters/notesMaster1.xml" Id="R93dc61c7ac9543e1" /><Relationship Type="http://schemas.openxmlformats.org/officeDocument/2006/relationships/presProps" Target="/ppt/presProps.xml" Id="Rb234089ec85a4c8e" /><Relationship Type="http://schemas.openxmlformats.org/officeDocument/2006/relationships/tableStyles" Target="/ppt/tableStyles.xml" Id="Re09003b37f674bd1" /><Relationship Type="http://schemas.openxmlformats.org/officeDocument/2006/relationships/slide" Target="/ppt/slides/slide1.xml" Id="R68bfa66e89264d9c" /><Relationship Type="http://schemas.openxmlformats.org/officeDocument/2006/relationships/slide" Target="/ppt/slides/slide2.xml" Id="R89f151b7f78347be" /><Relationship Type="http://schemas.openxmlformats.org/officeDocument/2006/relationships/slide" Target="/ppt/slides/slide3.xml" Id="Rf384559cac624ecf" /><Relationship Type="http://schemas.openxmlformats.org/officeDocument/2006/relationships/slide" Target="/ppt/slides/slide4.xml" Id="R5e934000cbac45e2" /><Relationship Type="http://schemas.openxmlformats.org/officeDocument/2006/relationships/slide" Target="/ppt/slides/slide5.xml" Id="R9e11ad3af9ed47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62d395c752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e64809159443a" /><Relationship Type="http://schemas.openxmlformats.org/officeDocument/2006/relationships/notesMaster" Target="/ppt/notesMasters/notesMaster1.xml" Id="R6ac3121bf81b43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b5cf0d77634ca7" /><Relationship Type="http://schemas.openxmlformats.org/officeDocument/2006/relationships/notesMaster" Target="/ppt/notesMasters/notesMaster1.xml" Id="Rc991ab3dec504f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1785535d53478a" /><Relationship Type="http://schemas.openxmlformats.org/officeDocument/2006/relationships/notesMaster" Target="/ppt/notesMasters/notesMaster1.xml" Id="Rbc0a0eb8b0c148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fb4ea4eb034af6" /><Relationship Type="http://schemas.openxmlformats.org/officeDocument/2006/relationships/notesMaster" Target="/ppt/notesMasters/notesMaster1.xml" Id="Raacf8f1f1fc641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c0b0b7ffbe4364" /><Relationship Type="http://schemas.openxmlformats.org/officeDocument/2006/relationships/notesMaster" Target="/ppt/notesMasters/notesMaster1.xml" Id="R1198694f7143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cf3e0d18143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546974ae28496c" /><Relationship Type="http://schemas.openxmlformats.org/officeDocument/2006/relationships/slideLayout" Target="/ppt/slideLayouts/slideLayout1.xml" Id="R818cc53b64b644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8cc53b64b644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ecd52fa0b4a53" /><Relationship Type="http://schemas.openxmlformats.org/officeDocument/2006/relationships/notesSlide" Target="/ppt/notesSlides/notesSlide1.xml" Id="Rfe39e60cdd474b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8fb8af3194760" /><Relationship Type="http://schemas.openxmlformats.org/officeDocument/2006/relationships/notesSlide" Target="/ppt/notesSlides/notesSlide2.xml" Id="R406df60f003a40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23099a39248cf" /><Relationship Type="http://schemas.openxmlformats.org/officeDocument/2006/relationships/notesSlide" Target="/ppt/notesSlides/notesSlide3.xml" Id="Rf2337b66c803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2ec6487b7486c" /><Relationship Type="http://schemas.openxmlformats.org/officeDocument/2006/relationships/notesSlide" Target="/ppt/notesSlides/notesSlide4.xml" Id="R5ddb22cf6ffc46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c253e98db4907" /><Relationship Type="http://schemas.openxmlformats.org/officeDocument/2006/relationships/notesSlide" Target="/ppt/notesSlides/notesSlide5.xml" Id="Rdd093a7558d24c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863EF-F015-4844-A3F0-1ACD6137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143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03E52-4F3C-47BA-B2D7-3DAF2BFE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DFFF"/>
                </a:solidFill>
              </a:defRPr>
            </a:pPr>
            <a:r>
              <a:rPr sz="1050" b="1">
                <a:solidFill>
                  <a:srgbClr val="BFDFFF"/>
                </a:solidFill>
              </a:rPr>
              <a:t>RISK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3065E-B3C2-4627-9FC2-42D0F681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23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Legal risk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E084C-BF01-453C-AB68-A0597001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2F0"/>
                </a:solidFill>
              </a:defRPr>
            </a:pPr>
            <a:r>
              <a:rPr sz="1875" b="0">
                <a:solidFill>
                  <a:srgbClr val="D9E2F0"/>
                </a:solidFill>
              </a:rPr>
              <a:t>Decision-useful detail behind the Matter Alpha preservation closure recommendation.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935B4-BF64-453B-A757-203FBB72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55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DFFF"/>
                </a:solidFill>
              </a:defRPr>
            </a:pPr>
            <a:r>
              <a:rPr sz="1050" b="0">
                <a:solidFill>
                  <a:srgbClr val="BFDFFF"/>
                </a:solidFill>
              </a:rPr>
              <a:t>Aster Legal  /  Matter Alpha AL-PA-2606  /  30 Jun 2026</a:t>
            </a:r>
          </a:p>
        </p:txBody>
      </p:sp>
    </p:spTree>
    <p:extLst>
      <p:ext uri="{BB962C8B-B14F-4D97-AF65-F5344CB8AC3E}">
        <p14:creationId xmlns:p14="http://schemas.microsoft.com/office/powerpoint/2010/main" val="926541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97AEA-9407-4F06-A58D-AC21CF6E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RISK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D2A3D-4C39-4C0A-AB0B-64A23C5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379E4-F06B-4A8B-B2E4-69F9C3FB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E5323-7E25-4447-9EDA-DAFA06EF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Residual risk is moderate until all four exceptions have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C2FB2-B93A-43D3-A2D6-6201822A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C56B-9BB7-4F95-A7E1-7EACB7AC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88AD5-6E73-4933-8902-F648D4E1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82C76-7CEC-4F4B-ADE9-74AA372A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Legal hold integrity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6406B-029C-4AFC-A573-A536EC63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5737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Incomplete proof may weaken preservation defensibility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39F72-D249-4461-A959-2E44C44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9CC59-1966-40EF-9768-3AF73545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71598-B46D-40F5-B138-B64D303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Data handling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CBAAE-8DF2-4E98-8782-0D08E60B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7177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Access validation must match restricted handling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A94B8-4C04-4A04-9360-58A698F8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01037-2DEF-4B17-8C27-D45D21B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57059-FD75-4193-9796-4BBBE39F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Vendor reliance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BC033-D57A-413E-B0E8-5F3CC319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8617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Archive attestation requires counsel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389F7-F998-4CBE-A623-746A0A1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42D79-4CC0-4072-B9F5-06D7102A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5E460-5A1A-40E9-B3C7-904B9869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C9322-EE32-4882-A4D3-548DFFC0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0057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Escalation path prevents silent deadline miss</a:t>
            </a:r>
          </a:p>
        </p:txBody>
      </p:sp>
    </p:spTree>
    <p:extLst>
      <p:ext uri="{BB962C8B-B14F-4D97-AF65-F5344CB8AC3E}">
        <p14:creationId xmlns:p14="http://schemas.microsoft.com/office/powerpoint/2010/main" val="389103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C2D74-40A0-46D0-B621-5EED5BFA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CONTROL-TO-RISK MAPPING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80C6B-D2D8-428B-9533-4CFAFD85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37F8F-9EA4-4BB0-A903-56D93C24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D0C1B-855C-4340-ACD7-EA860F2F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Four controls directly address the currently open exposure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5DDD2-41C2-4711-8572-4CF48DE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01A9A-1FA4-4E69-9B3A-4B2B3025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101B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B3225-2137-412B-9D58-68770072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52484-BC42-4CBA-A1F8-392ED496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1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Risk addressed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8855F-3EE2-412D-A33B-3A5D2660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811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72B74-2F31-4AE5-882D-36F9AF51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77E6D-CB1D-44C3-BCE4-9349C9C8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Custodian confirmation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32132-92F2-41B9-99AB-FBEDECC8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479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Hold integrity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4B3FD-149E-412C-A2C1-E4574B87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479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Dated acknowledgement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71A81-5F65-4EC2-BB6F-406DAF47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AC193-71E5-4313-9A14-2912CC4A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Access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F7C38-C788-42E5-958B-D1BFA0C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Data handling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3168A-93C6-4464-9D5B-E3B4FF3D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14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Permission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68BD0-BBCA-43C7-914D-DE7564E6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61326-65A5-4037-A872-1D400E40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81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Retention 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8A15C-2D68-428F-86C4-9FEE8232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814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Hold integrity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5B282-E466-4CF0-A38B-B832085C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814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Immutable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ABD05-5769-4623-B5D8-AFCDC99B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08F64-A7E4-4EF0-92E3-B0324209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Archive attestation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657721-3B8A-460F-95D5-D21BE1EF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48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Vendor reliance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13A620-A516-4FDA-A11D-2D63AE61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481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Signed record</a:t>
            </a:r>
          </a:p>
        </p:txBody>
      </p:sp>
    </p:spTree>
    <p:extLst>
      <p:ext uri="{BB962C8B-B14F-4D97-AF65-F5344CB8AC3E}">
        <p14:creationId xmlns:p14="http://schemas.microsoft.com/office/powerpoint/2010/main" val="1818185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1C791-46E5-4594-83C0-564EE7D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TRIGGER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5DD14-852C-483B-8C21-3390036B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1B41B-A1FD-4553-8A3C-AC904655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33122-3F72-48D6-9EF0-7432CBE3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Escalate before the deadline when proof is incomplete or contradicted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BE496-C9DA-40C6-98BE-292D27C5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C54E0-1E88-452B-83D5-AEF9F153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79667-4269-4196-90D6-2E5B1774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E2396-BD53-4132-85A3-1E92EE7D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428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7"/>
                </a:solidFill>
              </a:defRPr>
            </a:pPr>
            <a:r>
              <a:rPr sz="1500" b="0">
                <a:solidFill>
                  <a:srgbClr val="101827"/>
                </a:solidFill>
              </a:rPr>
              <a:t>Missing evidence, conflicting repository data, or absent owner sign-off.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64192-8135-472F-BCCB-F17EA4EE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8DB59-4652-4CA2-A7D1-4E28DE7B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FED67-E7A8-43AB-BD39-CD297C52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428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7"/>
                </a:solidFill>
              </a:defRPr>
            </a:pPr>
            <a:r>
              <a:rPr sz="1500" b="0">
                <a:solidFill>
                  <a:srgbClr val="101827"/>
                </a:solidFill>
              </a:rPr>
              <a:t>Notify Privacy Counsel; preserve current state; obtain remediation plan.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202C0-A1E0-4ACE-B743-A5FA063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9D15F-C2B5-44AE-95C4-983ABD1E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76A82-867D-488B-B3DA-F2ABACFA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428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7"/>
                </a:solidFill>
              </a:defRPr>
            </a:pPr>
            <a:r>
              <a:rPr sz="1500" b="0">
                <a:solidFill>
                  <a:srgbClr val="101827"/>
                </a:solidFill>
              </a:rPr>
              <a:t>Escalate at 08 Jul; seek Board direction if unresolved by 12 Jul.</a:t>
            </a:r>
          </a:p>
        </p:txBody>
      </p:sp>
    </p:spTree>
    <p:extLst>
      <p:ext uri="{BB962C8B-B14F-4D97-AF65-F5344CB8AC3E}">
        <p14:creationId xmlns:p14="http://schemas.microsoft.com/office/powerpoint/2010/main" val="852334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97870-4E50-4B71-98F3-BB6B4066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ASSUMPTIONS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5D084-FF30-4C49-88AD-6743590A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C976B-6E68-42AF-AD61-4347BE1B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7BAC8-84D6-4AA3-A051-741D16E8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This appendix supports governance; it is not a factual finding of breach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D8BDD-44D5-4295-B16B-A5506D51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BDABC-A1DD-4463-B848-DC0CBC56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2DA57-B0E7-44C6-9B6F-E1B075D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827"/>
                </a:solidFill>
              </a:defRPr>
            </a:pPr>
            <a:r>
              <a:rPr sz="1575" b="0">
                <a:solidFill>
                  <a:srgbClr val="101827"/>
                </a:solidFill>
              </a:rPr>
              <a:t>The preservation universe remains 42 based on the current Matter Alpha inventory.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E0ECB-ABBD-42C2-8D8F-2B37B0EF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D0D3A-7AE4-483B-BF9F-8C16FD5B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827"/>
                </a:solidFill>
              </a:defRPr>
            </a:pPr>
            <a:r>
              <a:rPr sz="1575" b="0">
                <a:solidFill>
                  <a:srgbClr val="101827"/>
                </a:solidFill>
              </a:rPr>
              <a:t>No conclusion is drawn about individual data subjects or external parties.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49627-BF5C-4E6C-AB7A-641AA87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1F5F3-2D2D-4B84-B8E8-CC7D2511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827"/>
                </a:solidFill>
              </a:defRPr>
            </a:pPr>
            <a:r>
              <a:rPr sz="1575" b="0">
                <a:solidFill>
                  <a:srgbClr val="101827"/>
                </a:solidFill>
              </a:rPr>
              <a:t>The recommended path remains contingent on documented evidence and legal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41E4D-9F2D-4448-8FE0-9A5A8B3E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Accountable owner: Corporate Privacy Counsel</a:t>
            </a:r>
          </a:p>
        </p:txBody>
      </p:sp>
    </p:spTree>
    <p:extLst>
      <p:ext uri="{BB962C8B-B14F-4D97-AF65-F5344CB8AC3E}">
        <p14:creationId xmlns:p14="http://schemas.microsoft.com/office/powerpoint/2010/main" val="1404340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2026-08-23T16:58:19.5520000Z</dcterms:created>
  <dcterms:modified xsi:type="dcterms:W3CDTF">2026-08-23T16:58:19.5520000Z</dcterms:modified>
</coreProperties>
</file>