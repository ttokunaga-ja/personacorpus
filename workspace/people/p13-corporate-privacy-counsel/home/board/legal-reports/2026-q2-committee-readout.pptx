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ad2ea70b14eb8" /><Relationship Type="http://schemas.openxmlformats.org/officeDocument/2006/relationships/extended-properties" Target="/docProps/app.xml" Id="Rc1aeb2c0310a4c27" /><Relationship Type="http://schemas.openxmlformats.org/officeDocument/2006/relationships/officeDocument" Target="/ppt/presentation.xml" Id="Rc1045d1361ac47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a549dde0b4383"/>
  </p:sldMasterIdLst>
  <p:notesMasterIdLst>
    <p:notesMasterId xmlns:r="http://schemas.openxmlformats.org/officeDocument/2006/relationships" r:id="R5293ff06c9064218"/>
  </p:notesMasterIdLst>
  <p:sldIdLst>
    <p:sldId xmlns:r="http://schemas.openxmlformats.org/officeDocument/2006/relationships" id="256" r:id="Rbb34d4077e614acc"/>
    <p:sldId xmlns:r="http://schemas.openxmlformats.org/officeDocument/2006/relationships" id="257" r:id="R3a6176c72fde4d4e"/>
    <p:sldId xmlns:r="http://schemas.openxmlformats.org/officeDocument/2006/relationships" id="258" r:id="R338d15923b9d42d4"/>
    <p:sldId xmlns:r="http://schemas.openxmlformats.org/officeDocument/2006/relationships" id="259" r:id="R1d5710b3f1cf4126"/>
    <p:sldId xmlns:r="http://schemas.openxmlformats.org/officeDocument/2006/relationships" id="260" r:id="R677aac4f5821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34a808742645f4" /><Relationship Type="http://schemas.openxmlformats.org/officeDocument/2006/relationships/slideMaster" Target="/ppt/slideMasters/slideMaster1.xml" Id="R4e6a549dde0b4383" /><Relationship Type="http://schemas.openxmlformats.org/officeDocument/2006/relationships/notesMaster" Target="/ppt/notesMasters/notesMaster1.xml" Id="R5293ff06c9064218" /><Relationship Type="http://schemas.openxmlformats.org/officeDocument/2006/relationships/presProps" Target="/ppt/presProps.xml" Id="Re8eb2ab39b2e4a32" /><Relationship Type="http://schemas.openxmlformats.org/officeDocument/2006/relationships/tableStyles" Target="/ppt/tableStyles.xml" Id="R3a02ad5814724058" /><Relationship Type="http://schemas.openxmlformats.org/officeDocument/2006/relationships/slide" Target="/ppt/slides/slide1.xml" Id="Rbb34d4077e614acc" /><Relationship Type="http://schemas.openxmlformats.org/officeDocument/2006/relationships/slide" Target="/ppt/slides/slide2.xml" Id="R3a6176c72fde4d4e" /><Relationship Type="http://schemas.openxmlformats.org/officeDocument/2006/relationships/slide" Target="/ppt/slides/slide3.xml" Id="R338d15923b9d42d4" /><Relationship Type="http://schemas.openxmlformats.org/officeDocument/2006/relationships/slide" Target="/ppt/slides/slide4.xml" Id="R1d5710b3f1cf4126" /><Relationship Type="http://schemas.openxmlformats.org/officeDocument/2006/relationships/slide" Target="/ppt/slides/slide5.xml" Id="R677aac4f5821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56984fb2e0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95224fda545b4" /><Relationship Type="http://schemas.openxmlformats.org/officeDocument/2006/relationships/notesMaster" Target="/ppt/notesMasters/notesMaster1.xml" Id="Ra09ded59f38848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93aa5319548b9" /><Relationship Type="http://schemas.openxmlformats.org/officeDocument/2006/relationships/notesMaster" Target="/ppt/notesMasters/notesMaster1.xml" Id="Rfe951b70aa4b4a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2ee5f3b5c04e61" /><Relationship Type="http://schemas.openxmlformats.org/officeDocument/2006/relationships/notesMaster" Target="/ppt/notesMasters/notesMaster1.xml" Id="R9d3528391d0c46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9472e530e42da" /><Relationship Type="http://schemas.openxmlformats.org/officeDocument/2006/relationships/notesMaster" Target="/ppt/notesMasters/notesMaster1.xml" Id="R01d7d11f772b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8c3fac68794f21" /><Relationship Type="http://schemas.openxmlformats.org/officeDocument/2006/relationships/notesMaster" Target="/ppt/notesMasters/notesMaster1.xml" Id="R63b548f726a7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c56e1331f48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c4da754f04a9f" /><Relationship Type="http://schemas.openxmlformats.org/officeDocument/2006/relationships/slideLayout" Target="/ppt/slideLayouts/slideLayout1.xml" Id="Ra8ed411f624648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d411f624648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74a8fac8f4de9" /><Relationship Type="http://schemas.openxmlformats.org/officeDocument/2006/relationships/notesSlide" Target="/ppt/notesSlides/notesSlide1.xml" Id="Rde2bff236a364d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702382994745" /><Relationship Type="http://schemas.openxmlformats.org/officeDocument/2006/relationships/notesSlide" Target="/ppt/notesSlides/notesSlide2.xml" Id="Rb88a3a3d637945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efa8e480a400d" /><Relationship Type="http://schemas.openxmlformats.org/officeDocument/2006/relationships/notesSlide" Target="/ppt/notesSlides/notesSlide3.xml" Id="Ra5f291f25d38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8b7bb2f4e4edd" /><Relationship Type="http://schemas.openxmlformats.org/officeDocument/2006/relationships/notesSlide" Target="/ppt/notesSlides/notesSlide4.xml" Id="Raa17e3587e0b49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468e776e41b7" /><Relationship Type="http://schemas.openxmlformats.org/officeDocument/2006/relationships/notesSlide" Target="/ppt/notesSlides/notesSlide5.xml" Id="Rb433ed570a1d45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7EB99-C105-49EA-AE0B-F6164943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43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6B601-10D8-4CC8-A4C4-F37CDF3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DFFF"/>
                </a:solidFill>
              </a:defRPr>
            </a:pPr>
            <a:r>
              <a:rPr sz="1050" b="1">
                <a:solidFill>
                  <a:srgbClr val="BFDFFF"/>
                </a:solidFill>
              </a:rPr>
              <a:t>COMMITTEE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BE459-C6BE-4B5E-9373-A52C8E6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923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Privacy Committee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1082-F7F0-4A7C-B7D6-919FECBC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9E2F0"/>
                </a:solidFill>
              </a:defRPr>
            </a:pPr>
            <a:r>
              <a:rPr sz="1875" b="0">
                <a:solidFill>
                  <a:srgbClr val="D9E2F0"/>
                </a:solidFill>
              </a:rPr>
              <a:t>Decision record, actions, and evidence status for the June control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1A1D9-2402-40AC-A2C5-75F8108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055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FDFFF"/>
                </a:solidFill>
              </a:defRPr>
            </a:pPr>
            <a:r>
              <a:rPr sz="1050" b="0">
                <a:solidFill>
                  <a:srgbClr val="BFDFFF"/>
                </a:solidFill>
              </a:rPr>
              <a:t>Aster Legal  /  Matter Alpha AL-PA-2606  /  30 Jun 2026</a:t>
            </a:r>
          </a:p>
        </p:txBody>
      </p:sp>
    </p:spTree>
    <p:extLst>
      <p:ext uri="{BB962C8B-B14F-4D97-AF65-F5344CB8AC3E}">
        <p14:creationId xmlns:p14="http://schemas.microsoft.com/office/powerpoint/2010/main" val="345943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F33BD-7BF4-4B4E-A8FA-DB20F723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MEETING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1E2A9-09BA-42BF-A99A-A8B78C30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662A-3FBC-48EF-B262-DE1CC34C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59C5-8318-42A9-B137-1E1C4E32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The committee accepted the preservation status and set a closure cadence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367A5-DCCE-474D-8D57-9FE98C2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4CE9C-67DC-4264-ADAF-BE05866E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Record of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8CB9A-8368-4FA7-B272-BAC36F8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B70A9-68EA-412E-B833-5092F5D7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39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Matter Alpha status: 42 in scope; 38 complete; four controlled exceptions.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C06BD-5687-4AD6-B1D8-87954E9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2468-12E1-4026-8FDC-C450CAB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9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No expansion of scope requested at the June meeting.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B7752-1F5C-48A1-A2B0-1326DE4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80880-D409-4947-B617-183C438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39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Committee requested written evidence checkpoints before deadline.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53378-50CB-4DBA-BA0B-81D1744B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7E5A9-1587-4E41-BCD5-95F6E09D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336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Decision recorded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576A1-5354-42BC-85F8-92C65CEC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7"/>
                </a:solidFill>
              </a:defRPr>
            </a:pPr>
            <a:r>
              <a:rPr sz="1500" b="0">
                <a:solidFill>
                  <a:srgbClr val="101827"/>
                </a:solidFill>
              </a:rPr>
              <a:t>Maintain legal hold; close exceptions through evidence review; escalate at 08 July if any owner evidence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1316502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6837B-65CF-47A1-BA84-6314BB98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ACTION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685DA-6D58-49DF-8241-7E7E0DB0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98DB4-B17C-496B-8AFD-12B020F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19DA3-7A22-49DC-A343-43B722A3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Each action has one accountable owner and an objective closure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4A76-7A6A-4701-8EA2-EDD8D27F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7E962-1BAE-4F54-9D84-2FA24B8A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EC94-44ED-4755-9922-CE9EFC03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Records 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38D19-C1D8-4CA9-8CDF-61B28A3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Custodian confirmations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47E4B-657B-4A2D-8222-FAAC5AF5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05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 Jul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C2CA2-3F7E-4CB3-8C28-23D2DF0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6584-EAD4-407E-88E6-2DCD562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IT Legal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435DF-E1A9-47C3-A904-A53B2995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Access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71D3B-A4B1-4321-AE37-5F5EE03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05 Jul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37907-52A9-43A2-81BB-31F69328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79F2C-B668-4DDE-92DD-1C767A40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Security 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8B57C-C494-4E57-8D62-633E979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95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Retention 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03586-D00E-4D88-AC5E-21A427CE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06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F4625-881E-48CD-826D-85C3C06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76BA7-03AA-4C7D-A560-6DE108C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Privacy Counsel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80AA2-1F8E-4276-826C-57F3137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91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Vendor archive attestation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55CA5-D0CF-48A3-A6F8-8854B90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91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08 Jul</a:t>
            </a:r>
          </a:p>
        </p:txBody>
      </p:sp>
    </p:spTree>
    <p:extLst>
      <p:ext uri="{BB962C8B-B14F-4D97-AF65-F5344CB8AC3E}">
        <p14:creationId xmlns:p14="http://schemas.microsoft.com/office/powerpoint/2010/main" val="319545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22383-6DEA-46BE-8E9F-57940C3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EVIDENCE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0B11E-B857-432A-83BD-6484B4B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03B3E-6BF9-43DD-893F-228B4277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4A67-C607-4C17-A155-759FFEF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The committee will review proof of closure, not status assertions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026CE-D373-43EA-BBE8-8DCC935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CF253-3845-4E42-9C5C-C3EB75A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2183D-3F36-4E6B-A0C1-8D0C9B6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Preservation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738D-9F00-476C-9556-2E406647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5DB00-3455-48DB-8BAF-47E1BEE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DCF77-46E6-4450-9506-139803A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Owner sign-off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D1231-DA5C-4F75-8F06-91E38C9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47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C550E-FFB9-49B2-90A9-E40F487B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37324-F246-4ED7-AFE5-8C7B2D7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7"/>
                </a:solidFill>
              </a:defRPr>
            </a:pPr>
            <a:r>
              <a:rPr sz="1350" b="1">
                <a:solidFill>
                  <a:srgbClr val="101827"/>
                </a:solidFill>
              </a:rPr>
              <a:t>Legal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90588-F30B-4B9E-8742-EF2DFEC1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47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6472"/>
                </a:solidFill>
              </a:defRPr>
            </a:pPr>
            <a:r>
              <a:rPr sz="22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C2CB1-7451-4B7F-B54C-6C76A42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809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BF83F-FBFC-4907-AE7E-8777E99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146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2627D-B48B-490A-B786-17F39ADE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1827"/>
                </a:solidFill>
              </a:defRPr>
            </a:pPr>
            <a:r>
              <a:rPr sz="1575" b="0">
                <a:solidFill>
                  <a:srgbClr val="101827"/>
                </a:solidFill>
              </a:rPr>
              <a:t>Required standard: dated, attributable evidence that supports continued preservation and defensible exception closure.</a:t>
            </a:r>
          </a:p>
        </p:txBody>
      </p:sp>
    </p:spTree>
    <p:extLst>
      <p:ext uri="{BB962C8B-B14F-4D97-AF65-F5344CB8AC3E}">
        <p14:creationId xmlns:p14="http://schemas.microsoft.com/office/powerpoint/2010/main" val="482012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D5EBC-656B-4805-A35F-2820E578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CLOSE-OUT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5ABB0-1211-4B97-9DE8-15CF7E2C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2D413-53AE-4FC8-BE38-8A7E6727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2A273-4426-4944-8C6A-0FC5F2B1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1827"/>
                </a:solidFill>
              </a:defRPr>
            </a:pPr>
            <a:r>
              <a:rPr sz="2625" b="1">
                <a:solidFill>
                  <a:srgbClr val="101827"/>
                </a:solidFill>
              </a:rPr>
              <a:t>Committee follow-up is limited, visible, and time-bound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5CABD-26C3-42ED-A085-919953D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Aster Legal  |  Matter Alpha AL-PA-2606  |  30 Jun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C9C72-6BBE-4337-BB3F-523B3284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9F13F-6F1F-4F69-AA80-D148006D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EABF4-E281-4F53-947A-2583B66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DEADLINE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82085-4F4A-4BA9-8A60-C772F73E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90775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12 Jul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82E0A-CDC5-435F-BF32-12F9970C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exception 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7CD14-E885-4293-B57C-8C3F2522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4384C-FEB7-4BB1-887B-93051AEA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558E8-B744-40A4-ABC1-E1E5CF4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ESCALATION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5906F-D4B3-45F3-9F7B-9AEC7897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90775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08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36DF9-3FF5-41A4-A28A-472527BF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if evidence incomplete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E3D4B-C56F-4E0E-8B7C-4D76DED9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3048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EE928-0DD3-4E76-B92E-04A4558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50D04-54C2-4569-95E6-7E993C5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ACCOUNTABLE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49D32-F53D-47FF-A571-FF62B59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2647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827"/>
                </a:solidFill>
              </a:defRPr>
            </a:pPr>
            <a:r>
              <a:rPr sz="3150" b="1">
                <a:solidFill>
                  <a:srgbClr val="101827"/>
                </a:solidFill>
              </a:rPr>
              <a:t>Counsel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74251-5409-4ADA-85B8-27F50F9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647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final legal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C7B41-7B4B-4751-AE4B-B593DAEB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7"/>
                </a:solidFill>
              </a:defRPr>
            </a:pPr>
            <a:r>
              <a:rPr sz="1725" b="0">
                <a:solidFill>
                  <a:srgbClr val="101827"/>
                </a:solidFill>
              </a:rPr>
              <a:t>Next step: Privacy Counsel circulates the closure log and exception evidence package for committee review.</a:t>
            </a:r>
          </a:p>
        </p:txBody>
      </p:sp>
    </p:spTree>
    <p:extLst>
      <p:ext uri="{BB962C8B-B14F-4D97-AF65-F5344CB8AC3E}">
        <p14:creationId xmlns:p14="http://schemas.microsoft.com/office/powerpoint/2010/main" val="1125197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2026-08-23T16:58:19.2690000Z</dcterms:created>
  <dcterms:modified xsi:type="dcterms:W3CDTF">2026-08-23T16:58:19.2690000Z</dcterms:modified>
</coreProperties>
</file>