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3f60eb4514bac" /><Relationship Type="http://schemas.openxmlformats.org/officeDocument/2006/relationships/extended-properties" Target="/docProps/app.xml" Id="R49f746cd5c9249d4" /><Relationship Type="http://schemas.openxmlformats.org/officeDocument/2006/relationships/officeDocument" Target="/ppt/presentation.xml" Id="R0352010e2edf40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d9038c923243be"/>
  </p:sldMasterIdLst>
  <p:notesMasterIdLst>
    <p:notesMasterId xmlns:r="http://schemas.openxmlformats.org/officeDocument/2006/relationships" r:id="R690c11367ae842d4"/>
  </p:notesMasterIdLst>
  <p:sldIdLst>
    <p:sldId xmlns:r="http://schemas.openxmlformats.org/officeDocument/2006/relationships" id="256" r:id="R72863c66c97e484b"/>
    <p:sldId xmlns:r="http://schemas.openxmlformats.org/officeDocument/2006/relationships" id="257" r:id="Rf06c9f5530df40b4"/>
    <p:sldId xmlns:r="http://schemas.openxmlformats.org/officeDocument/2006/relationships" id="258" r:id="R8148aaee68b5472c"/>
    <p:sldId xmlns:r="http://schemas.openxmlformats.org/officeDocument/2006/relationships" id="259" r:id="R10ccccb498824cee"/>
    <p:sldId xmlns:r="http://schemas.openxmlformats.org/officeDocument/2006/relationships" id="260" r:id="Rd2ec3dcf099d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0131d3e57a44ba" /><Relationship Type="http://schemas.openxmlformats.org/officeDocument/2006/relationships/slideMaster" Target="/ppt/slideMasters/slideMaster1.xml" Id="Rbbd9038c923243be" /><Relationship Type="http://schemas.openxmlformats.org/officeDocument/2006/relationships/notesMaster" Target="/ppt/notesMasters/notesMaster1.xml" Id="R690c11367ae842d4" /><Relationship Type="http://schemas.openxmlformats.org/officeDocument/2006/relationships/presProps" Target="/ppt/presProps.xml" Id="Ra6379466257246a6" /><Relationship Type="http://schemas.openxmlformats.org/officeDocument/2006/relationships/tableStyles" Target="/ppt/tableStyles.xml" Id="R6fa7b52290ab43fd" /><Relationship Type="http://schemas.openxmlformats.org/officeDocument/2006/relationships/slide" Target="/ppt/slides/slide1.xml" Id="R72863c66c97e484b" /><Relationship Type="http://schemas.openxmlformats.org/officeDocument/2006/relationships/slide" Target="/ppt/slides/slide2.xml" Id="Rf06c9f5530df40b4" /><Relationship Type="http://schemas.openxmlformats.org/officeDocument/2006/relationships/slide" Target="/ppt/slides/slide3.xml" Id="R8148aaee68b5472c" /><Relationship Type="http://schemas.openxmlformats.org/officeDocument/2006/relationships/slide" Target="/ppt/slides/slide4.xml" Id="R10ccccb498824cee" /><Relationship Type="http://schemas.openxmlformats.org/officeDocument/2006/relationships/slide" Target="/ppt/slides/slide5.xml" Id="Rd2ec3dcf099d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c23868592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6446ec2154209" /><Relationship Type="http://schemas.openxmlformats.org/officeDocument/2006/relationships/notesMaster" Target="/ppt/notesMasters/notesMaster1.xml" Id="R5002767f0a0341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a8c953495e4b04" /><Relationship Type="http://schemas.openxmlformats.org/officeDocument/2006/relationships/notesMaster" Target="/ppt/notesMasters/notesMaster1.xml" Id="R6041a332f4c1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1803fc88345bd" /><Relationship Type="http://schemas.openxmlformats.org/officeDocument/2006/relationships/notesMaster" Target="/ppt/notesMasters/notesMaster1.xml" Id="Rcd3e0f51dcbe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3ff24425044cfd" /><Relationship Type="http://schemas.openxmlformats.org/officeDocument/2006/relationships/notesMaster" Target="/ppt/notesMasters/notesMaster1.xml" Id="Rdffb5fc5abd945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945815e5441c6" /><Relationship Type="http://schemas.openxmlformats.org/officeDocument/2006/relationships/notesMaster" Target="/ppt/notesMasters/notesMaster1.xml" Id="Rb55d5b2a2fb34e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5953eb68e43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1dbd428c74794" /><Relationship Type="http://schemas.openxmlformats.org/officeDocument/2006/relationships/slideLayout" Target="/ppt/slideLayouts/slideLayout1.xml" Id="Rf08ae8d01c50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ae8d01c50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b6963f85040fb" /><Relationship Type="http://schemas.openxmlformats.org/officeDocument/2006/relationships/notesSlide" Target="/ppt/notesSlides/notesSlide1.xml" Id="Rce47b9f8067a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fe2562ede4da8" /><Relationship Type="http://schemas.openxmlformats.org/officeDocument/2006/relationships/notesSlide" Target="/ppt/notesSlides/notesSlide2.xml" Id="Ra967b5ddbd3f41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0ebf57bf44afe" /><Relationship Type="http://schemas.openxmlformats.org/officeDocument/2006/relationships/chart" Target="/ppt/slides/charts/chart1.xml" Id="R43529df82c4040bf" /><Relationship Type="http://schemas.openxmlformats.org/officeDocument/2006/relationships/notesSlide" Target="/ppt/notesSlides/notesSlide3.xml" Id="R2c1f23824ce6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ecf5edf114ee4" /><Relationship Type="http://schemas.openxmlformats.org/officeDocument/2006/relationships/notesSlide" Target="/ppt/notesSlides/notesSlide4.xml" Id="R87590f3312a545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aba0d3b104497" /><Relationship Type="http://schemas.openxmlformats.org/officeDocument/2006/relationships/notesSlide" Target="/ppt/notesSlides/notesSlide5.xml" Id="R1a2c13187343465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Items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In scope</c:v>
              </c:pt>
              <c:pt idx="1">
                <c:v>Complete</c:v>
              </c:pt>
              <c:pt idx="2">
                <c:v>Open</c:v>
              </c:pt>
            </c:strLit>
          </c:cat>
          <c:val>
            <c:numLit>
              <c:formatCode>General</c:formatCode>
              <c:ptCount val="3"/>
              <c:pt idx="0">
                <c:v>42</c:v>
              </c:pt>
              <c:pt idx="1">
                <c:v>38</c:v>
              </c:pt>
              <c:pt idx="2">
                <c:v>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94588-8FCD-4405-81C5-B815727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4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EB1D7-0320-4D01-AD34-B7F4023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DFFF"/>
                </a:solidFill>
              </a:defRPr>
            </a:pPr>
            <a:r>
              <a:rPr sz="1050" b="1">
                <a:solidFill>
                  <a:srgbClr val="BFDFFF"/>
                </a:solidFill>
              </a:rPr>
              <a:t>METRIC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F9F45-78B9-464C-9AA5-CE832257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23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Privacy preservation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02CA-F07F-4787-9EFA-F9E8F3E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2F0"/>
                </a:solidFill>
              </a:defRPr>
            </a:pPr>
            <a:r>
              <a:rPr sz="1875" b="0">
                <a:solidFill>
                  <a:srgbClr val="D9E2F0"/>
                </a:solidFill>
              </a:rPr>
              <a:t>A concise operating view for the Matter Alpha legal hold closure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80A19-AF36-4CEE-9CE5-0E13D49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DFFF"/>
                </a:solidFill>
              </a:defRPr>
            </a:pPr>
            <a:r>
              <a:rPr sz="1050" b="0">
                <a:solidFill>
                  <a:srgbClr val="BFDFFF"/>
                </a:solidFill>
              </a:rPr>
              <a:t>Aster Legal  /  Matter Alpha AL-PA-2606  /  30 Jun 2026</a:t>
            </a:r>
          </a:p>
        </p:txBody>
      </p:sp>
    </p:spTree>
    <p:extLst>
      <p:ext uri="{BB962C8B-B14F-4D97-AF65-F5344CB8AC3E}">
        <p14:creationId xmlns:p14="http://schemas.microsoft.com/office/powerpoint/2010/main" val="1074125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A9321-91AC-43ED-AABE-10A8631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6DC3C-F2C2-437C-9E79-AC16693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1F8E3-A81C-401F-9B9E-EF31D0A2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34D09-B521-4C72-BA9A-2E53E00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Completion is 90%; exception closure is the only active decision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3CD7C-20D3-4464-945B-2F0C4DF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4DCD6-6B83-4819-BAA3-5BDE1E5D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74D82-2D46-49A3-9E56-EC069A1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8E8FB-2C02-4D79-A567-F169F38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IN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400B7-8B2C-4DB2-80F9-41E1D12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80074-1F44-44F3-951E-8C20AAA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preservation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26F63-F03C-4ABB-9861-BB25F90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69C2E-E214-43B1-9BDD-FB62F33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10FFB-AACD-4DEF-9CD3-F4F95135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19300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052F5-062D-471A-9EF4-71DCF34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955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25C65-7325-4ECE-9684-75F9D77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evidence recorded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DF3FE-DDEF-48E2-B6E6-DD1E3B3A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CAA95-913E-454C-8D5D-02E7561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49BD1-4164-42E7-8271-2D72E567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CE119-4D8A-4662-89BC-12B25F6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FFAE4-F2A7-4095-8085-17D2104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controlled exceptions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D3614-F3AF-4CD9-89BB-FEE48513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A95AD-9990-4423-90AB-C0CDF43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6F1B9-3161-4412-8CDD-72BD8CD1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DEADLINE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78A0D-BC70-4399-8CF7-52FB230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955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12 Jul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0E96A-0C3B-45C6-8139-0069E95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2028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closure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2EB28-AAA7-41B5-87CF-0535E13B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Status: controlled remediation in progress; no unowned exception.</a:t>
            </a:r>
          </a:p>
        </p:txBody>
      </p:sp>
    </p:spTree>
    <p:extLst>
      <p:ext uri="{BB962C8B-B14F-4D97-AF65-F5344CB8AC3E}">
        <p14:creationId xmlns:p14="http://schemas.microsoft.com/office/powerpoint/2010/main" val="629698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87C9E-9CAD-4044-ADE8-D45E672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COMPLETION TREND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805EE-289D-4ED6-9A13-940A8D5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4398-CC58-4105-91E8-DCC2C4A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DF587-507E-44B2-B29F-E131911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The final four items require evidence validation, not volume 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76FEB-1163-4119-99BB-091819E3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6477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529df82c4040b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7435-EEC3-4740-9E8C-3950F00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8A2B7-C5A6-468F-9014-D24832D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F6AD8-2972-4FCF-8E89-999AEE79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7"/>
                </a:solidFill>
              </a:defRPr>
            </a:pPr>
            <a:r>
              <a:rPr sz="1500" b="0">
                <a:solidFill>
                  <a:srgbClr val="101827"/>
                </a:solidFill>
              </a:rPr>
              <a:t>The completion count is stable. Closure quality depends on documented proof for each exception.</a:t>
            </a:r>
          </a:p>
        </p:txBody>
      </p:sp>
    </p:spTree>
    <p:extLst>
      <p:ext uri="{BB962C8B-B14F-4D97-AF65-F5344CB8AC3E}">
        <p14:creationId xmlns:p14="http://schemas.microsoft.com/office/powerpoint/2010/main" val="1609126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23FF0-FE38-4E21-90AF-BAFA6C51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EXCEPTION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515C5-0887-4C86-8C2E-EF084D6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5FE4A-5D30-438F-B2C5-BCED31E5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3B922-1F2C-401C-9856-8386BDFB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Four accountable owners are aligned to the closure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8FC9-05E9-489E-88CF-FC72A339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B34B-A2CF-476F-BC8F-F673D09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A8CFF-67DE-4E75-9BFD-6A70118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Records 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0C7CA-8F5F-46E0-8416-826BBE1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BBD95-EC8A-49C6-B818-3162CF35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73"/>
                </a:solidFill>
              </a:defRPr>
            </a:pPr>
            <a:r>
              <a:rPr sz="1350" b="1">
                <a:solidFill>
                  <a:srgbClr val="2D8C73"/>
                </a:solidFill>
              </a:rPr>
              <a:t>On 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AD440-E8AD-45EA-8B23-F0AFE59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8B959-0220-46BE-A372-C9662D2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IT Legal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DB3C0-72ED-45D8-B53A-E744DE6B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4EB70-1ED1-4F4C-9517-392AB95B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73"/>
                </a:solidFill>
              </a:defRPr>
            </a:pPr>
            <a:r>
              <a:rPr sz="1350" b="1">
                <a:solidFill>
                  <a:srgbClr val="2D8C73"/>
                </a:solidFill>
              </a:rPr>
              <a:t>On track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F3785-552B-40F2-AF52-F47A08B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FC976-7D95-43DD-88FC-4B7110E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Security 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C6299-B355-4544-B2AA-BB82A44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67307-B579-4E2D-9C02-76149B8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73"/>
                </a:solidFill>
              </a:defRPr>
            </a:pPr>
            <a:r>
              <a:rPr sz="1350" b="1">
                <a:solidFill>
                  <a:srgbClr val="2D8C73"/>
                </a:solidFill>
              </a:rPr>
              <a:t>On 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39535-DE5F-4B29-9605-ED14EBE7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38CC6-55F0-49DA-AB1A-9110347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Privacy Counsel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AB8FC-93E0-484C-A34C-7FECE18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Attestation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582AD-5C6F-4862-A61E-5CD2B239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73"/>
                </a:solidFill>
              </a:defRPr>
            </a:pPr>
            <a:r>
              <a:rPr sz="1350" b="1">
                <a:solidFill>
                  <a:srgbClr val="2D8C73"/>
                </a:solidFill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736474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155B5-D16D-4771-A380-53BEE6E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DECISION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0C7F2-35FC-4C41-A3DA-2C0EA0B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8725C-2545-41F5-A3BC-F3D5CE39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CA9A6-C277-45BE-A155-019AF96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Escalate early if the evidence package is incomplete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169E8-4DD2-47CE-A77D-B007321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48049-ABD6-48A6-B574-37337A1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17835-DB0F-43C0-83C5-EE1D0AD4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03 Jul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9DEBD-D935-4610-8397-E89DFD1D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B66A5-0846-47E0-8386-8E7D56C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81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ABB96-1734-44E2-8A1B-428A938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7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05–06 Jul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D76A1-5B96-4149-9B88-25FB48B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05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98FEA-97CC-4702-B4AB-A125C1C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81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406EF-E228-44E1-BB2F-F4722B7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08 Jul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233E2-9495-4553-A672-A1889BA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05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05C29-A933-4027-B921-4CFA2B9A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81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382B7-6B5F-4837-ADC2-AB3CD8D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12 Jul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B122F-733A-4B88-BECA-8C0C2A53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05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B18F7-388A-4B85-B37A-B72584C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Owner: Corporate Privacy Counsel  |  Ask: maintain escalation authority through close-out</a:t>
            </a:r>
          </a:p>
        </p:txBody>
      </p:sp>
    </p:spTree>
    <p:extLst>
      <p:ext uri="{BB962C8B-B14F-4D97-AF65-F5344CB8AC3E}">
        <p14:creationId xmlns:p14="http://schemas.microsoft.com/office/powerpoint/2010/main" val="365230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2026-08-23T16:58:19.8130000Z</dcterms:created>
  <dcterms:modified xsi:type="dcterms:W3CDTF">2026-08-23T16:58:19.8130000Z</dcterms:modified>
</coreProperties>
</file>