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04f28afae94194" /><Relationship Type="http://schemas.openxmlformats.org/officeDocument/2006/relationships/extended-properties" Target="/docProps/app.xml" Id="R6ede25ec22ab4540" /><Relationship Type="http://schemas.openxmlformats.org/officeDocument/2006/relationships/officeDocument" Target="/ppt/presentation.xml" Id="R4018eaaec6fe4d4c" /></Relationships>
</file>

<file path=ppt/presentation.xml><?xml version="1.0" encoding="utf-8"?>
<p:presentation xmlns:p="http://schemas.openxmlformats.org/presentationml/2006/main">
  <p:sldMasterIdLst>
    <p:sldMasterId xmlns:r="http://schemas.openxmlformats.org/officeDocument/2006/relationships" id="2147483648" r:id="R83cee876e497409e"/>
  </p:sldMasterIdLst>
  <p:notesMasterIdLst>
    <p:notesMasterId xmlns:r="http://schemas.openxmlformats.org/officeDocument/2006/relationships" r:id="R1ef84ade50994e49"/>
  </p:notesMasterIdLst>
  <p:sldIdLst>
    <p:sldId xmlns:r="http://schemas.openxmlformats.org/officeDocument/2006/relationships" id="256" r:id="Rb3866471a43c4e24"/>
    <p:sldId xmlns:r="http://schemas.openxmlformats.org/officeDocument/2006/relationships" id="257" r:id="R2ad8cb2b2fb143b5"/>
    <p:sldId xmlns:r="http://schemas.openxmlformats.org/officeDocument/2006/relationships" id="258" r:id="R46614eed8b3141db"/>
    <p:sldId xmlns:r="http://schemas.openxmlformats.org/officeDocument/2006/relationships" id="259" r:id="Rb9e3006596d5408f"/>
    <p:sldId xmlns:r="http://schemas.openxmlformats.org/officeDocument/2006/relationships" id="260" r:id="R8d4cc2dc43164f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588dbe81d648be" /><Relationship Type="http://schemas.openxmlformats.org/officeDocument/2006/relationships/slideMaster" Target="/ppt/slideMasters/slideMaster1.xml" Id="R83cee876e497409e" /><Relationship Type="http://schemas.openxmlformats.org/officeDocument/2006/relationships/notesMaster" Target="/ppt/notesMasters/notesMaster1.xml" Id="R1ef84ade50994e49" /><Relationship Type="http://schemas.openxmlformats.org/officeDocument/2006/relationships/presProps" Target="/ppt/presProps.xml" Id="Rab587e6accb2423d" /><Relationship Type="http://schemas.openxmlformats.org/officeDocument/2006/relationships/tableStyles" Target="/ppt/tableStyles.xml" Id="Rdb525bd6eb364f32" /><Relationship Type="http://schemas.openxmlformats.org/officeDocument/2006/relationships/slide" Target="/ppt/slides/slide1.xml" Id="Rb3866471a43c4e24" /><Relationship Type="http://schemas.openxmlformats.org/officeDocument/2006/relationships/slide" Target="/ppt/slides/slide2.xml" Id="R2ad8cb2b2fb143b5" /><Relationship Type="http://schemas.openxmlformats.org/officeDocument/2006/relationships/slide" Target="/ppt/slides/slide3.xml" Id="R46614eed8b3141db" /><Relationship Type="http://schemas.openxmlformats.org/officeDocument/2006/relationships/slide" Target="/ppt/slides/slide4.xml" Id="Rb9e3006596d5408f" /><Relationship Type="http://schemas.openxmlformats.org/officeDocument/2006/relationships/slide" Target="/ppt/slides/slide5.xml" Id="R8d4cc2dc43164f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36ed4841364e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12d53ec54b4c7b" /><Relationship Type="http://schemas.openxmlformats.org/officeDocument/2006/relationships/notesMaster" Target="/ppt/notesMasters/notesMaster1.xml" Id="R1b1e50e81ed045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d8982b16934ad6" /><Relationship Type="http://schemas.openxmlformats.org/officeDocument/2006/relationships/notesMaster" Target="/ppt/notesMasters/notesMaster1.xml" Id="R4d45adda9c1146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1ffcb4de734dd5" /><Relationship Type="http://schemas.openxmlformats.org/officeDocument/2006/relationships/notesMaster" Target="/ppt/notesMasters/notesMaster1.xml" Id="Ra30d3ced513143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3c4732a4be45a4" /><Relationship Type="http://schemas.openxmlformats.org/officeDocument/2006/relationships/notesMaster" Target="/ppt/notesMasters/notesMaster1.xml" Id="R07466fe926d547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c82554397e448b" /><Relationship Type="http://schemas.openxmlformats.org/officeDocument/2006/relationships/notesMaster" Target="/ppt/notesMasters/notesMaster1.xml" Id="R81815740ba6545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75d05c66784a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00a4176746484c" /><Relationship Type="http://schemas.openxmlformats.org/officeDocument/2006/relationships/slideLayout" Target="/ppt/slideLayouts/slideLayout1.xml" Id="R3d53985dea6f47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53985dea6f47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a0fa2b0bcf408f" /><Relationship Type="http://schemas.openxmlformats.org/officeDocument/2006/relationships/notesSlide" Target="/ppt/notesSlides/notesSlide1.xml" Id="Rf5203ff0eb1245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4154ee8af84a64" /><Relationship Type="http://schemas.openxmlformats.org/officeDocument/2006/relationships/notesSlide" Target="/ppt/notesSlides/notesSlide2.xml" Id="Rcdad4317e01a4c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e07588d3764143" /><Relationship Type="http://schemas.openxmlformats.org/officeDocument/2006/relationships/notesSlide" Target="/ppt/notesSlides/notesSlide3.xml" Id="R0cdda32cd05145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929fc54eb34721" /><Relationship Type="http://schemas.openxmlformats.org/officeDocument/2006/relationships/notesSlide" Target="/ppt/notesSlides/notesSlide4.xml" Id="Rd1d7358627254f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b1a23f222d4e5b" /><Relationship Type="http://schemas.openxmlformats.org/officeDocument/2006/relationships/notesSlide" Target="/ppt/notesSlides/notesSlide5.xml" Id="R1d6aaa1636ac47c8" /></Relationships>
</file>

<file path=ppt/slides/slide1.xml><?xml version="1.0" encoding="utf-8"?>
<p:sld xmlns:p="http://schemas.openxmlformats.org/presentationml/2006/main">
  <p:cSld>
    <p:bg>
      <p:bgPr>
        <a:solidFill xmlns:a="http://schemas.openxmlformats.org/drawingml/2006/main">
          <a:srgbClr val="101B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8B9F49-A61B-41EE-9B12-F1874139BC6D}"/>
              </a:ext>
            </a:extLst>
          </p:cNvPr>
          <p:cNvSpPr>
            <a:spLocks xmlns:a="http://schemas.openxmlformats.org/drawingml/2006/main" noGrp="1"/>
          </p:cNvSpPr>
          <p:nvPr/>
        </p:nvSpPr>
        <p:spPr>
          <a:xfrm xmlns:a="http://schemas.openxmlformats.org/drawingml/2006/main">
            <a:off x="609600" y="571500"/>
            <a:ext cx="114300" cy="5143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479114-3C3B-4298-BA9C-B600C1E78043}"/>
              </a:ext>
            </a:extLst>
          </p:cNvPr>
          <p:cNvSpPr>
            <a:spLocks xmlns:a="http://schemas.openxmlformats.org/drawingml/2006/main" noGrp="1"/>
          </p:cNvSpPr>
          <p:nvPr/>
        </p:nvSpPr>
        <p:spPr>
          <a:xfrm xmlns:a="http://schemas.openxmlformats.org/drawingml/2006/main">
            <a:off x="990600" y="819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050" b="1">
                <a:solidFill>
                  <a:srgbClr val="BFDFFF"/>
                </a:solidFill>
              </a:defRPr>
            </a:pPr>
            <a:r>
              <a:rPr sz="1050" b="1">
                <a:solidFill>
                  <a:srgbClr val="BFDFFF"/>
                </a:solidFill>
              </a:rPr>
              <a:t>BOARD DECISION BRIEFING</a:t>
            </a:r>
          </a:p>
        </p:txBody>
      </p:sp>
      <p:sp>
        <p:nvSpPr>
          <p:cNvPr id="3" name="">
            <a:extLst xmlns:a="http://schemas.openxmlformats.org/drawingml/2006/main">
              <a:ext uri="{FF2B5EF4-FFF2-40B4-BE49-F238E27FC236}">
                <a16:creationId xmlns:a16="http://schemas.microsoft.com/office/drawing/2014/main" id="{78552568-36D3-4BF0-BBAB-9C2C6AFAF905}"/>
              </a:ext>
            </a:extLst>
          </p:cNvPr>
          <p:cNvSpPr>
            <a:spLocks xmlns:a="http://schemas.openxmlformats.org/drawingml/2006/main" noGrp="1"/>
          </p:cNvSpPr>
          <p:nvPr/>
        </p:nvSpPr>
        <p:spPr>
          <a:xfrm xmlns:a="http://schemas.openxmlformats.org/drawingml/2006/main">
            <a:off x="990600" y="1657350"/>
            <a:ext cx="9239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4350" b="1">
                <a:solidFill>
                  <a:srgbClr val="FFFFFF"/>
                </a:solidFill>
              </a:defRPr>
            </a:pPr>
            <a:r>
              <a:rPr sz="4350" b="1">
                <a:solidFill>
                  <a:srgbClr val="FFFFFF"/>
                </a:solidFill>
              </a:rPr>
              <a:t>Privacy preservation decision briefing</a:t>
            </a:r>
          </a:p>
        </p:txBody>
      </p:sp>
      <p:sp>
        <p:nvSpPr>
          <p:cNvPr id="4" name="">
            <a:extLst xmlns:a="http://schemas.openxmlformats.org/drawingml/2006/main">
              <a:ext uri="{FF2B5EF4-FFF2-40B4-BE49-F238E27FC236}">
                <a16:creationId xmlns:a16="http://schemas.microsoft.com/office/drawing/2014/main" id="{72A6A107-7AF5-43CE-8DCA-645474DCEE58}"/>
              </a:ext>
            </a:extLst>
          </p:cNvPr>
          <p:cNvSpPr>
            <a:spLocks xmlns:a="http://schemas.openxmlformats.org/drawingml/2006/main" noGrp="1"/>
          </p:cNvSpPr>
          <p:nvPr/>
        </p:nvSpPr>
        <p:spPr>
          <a:xfrm xmlns:a="http://schemas.openxmlformats.org/drawingml/2006/main">
            <a:off x="1028700" y="3581400"/>
            <a:ext cx="7524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875" b="0">
                <a:solidFill>
                  <a:srgbClr val="D9E2F0"/>
                </a:solidFill>
              </a:defRPr>
            </a:pPr>
            <a:r>
              <a:rPr sz="1875" b="0">
                <a:solidFill>
                  <a:srgbClr val="D9E2F0"/>
                </a:solidFill>
              </a:rPr>
              <a:t>Approve a time-bound remediation path before the 12 July exception deadline.</a:t>
            </a:r>
          </a:p>
        </p:txBody>
      </p:sp>
      <p:sp>
        <p:nvSpPr>
          <p:cNvPr id="5" name="">
            <a:extLst xmlns:a="http://schemas.openxmlformats.org/drawingml/2006/main">
              <a:ext uri="{FF2B5EF4-FFF2-40B4-BE49-F238E27FC236}">
                <a16:creationId xmlns:a16="http://schemas.microsoft.com/office/drawing/2014/main" id="{4FEA5D56-6665-4B2C-9FD4-5E26F950312F}"/>
              </a:ext>
            </a:extLst>
          </p:cNvPr>
          <p:cNvSpPr>
            <a:spLocks xmlns:a="http://schemas.openxmlformats.org/drawingml/2006/main" noGrp="1"/>
          </p:cNvSpPr>
          <p:nvPr/>
        </p:nvSpPr>
        <p:spPr>
          <a:xfrm xmlns:a="http://schemas.openxmlformats.org/drawingml/2006/main">
            <a:off x="1028700" y="59055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050" b="0">
                <a:solidFill>
                  <a:srgbClr val="BFDFFF"/>
                </a:solidFill>
              </a:defRPr>
            </a:pPr>
            <a:r>
              <a:rPr sz="1050" b="0">
                <a:solidFill>
                  <a:srgbClr val="BFDFFF"/>
                </a:solidFill>
              </a:rPr>
              <a:t>Aster Legal  /  Matter Alpha AL-PA-2606  /  30 Jun 2026</a:t>
            </a:r>
          </a:p>
        </p:txBody>
      </p:sp>
    </p:spTree>
    <p:extLst>
      <p:ext uri="{BB962C8B-B14F-4D97-AF65-F5344CB8AC3E}">
        <p14:creationId xmlns:p14="http://schemas.microsoft.com/office/powerpoint/2010/main" val="19408722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C3A73A0-AFFB-4825-B560-710F54626BD8}"/>
              </a:ext>
            </a:extLst>
          </p:cNvPr>
          <p:cNvSpPr>
            <a:spLocks xmlns:a="http://schemas.openxmlformats.org/drawingml/2006/main" noGrp="1"/>
          </p:cNvSpPr>
          <p:nvPr/>
        </p:nvSpPr>
        <p:spPr>
          <a:xfrm xmlns:a="http://schemas.openxmlformats.org/drawingml/2006/main">
            <a:off x="609600" y="3429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DECISION REQUIRED</a:t>
            </a:r>
          </a:p>
        </p:txBody>
      </p:sp>
      <p:sp>
        <p:nvSpPr>
          <p:cNvPr id="2" name="">
            <a:extLst xmlns:a="http://schemas.openxmlformats.org/drawingml/2006/main">
              <a:ext uri="{FF2B5EF4-FFF2-40B4-BE49-F238E27FC236}">
                <a16:creationId xmlns:a16="http://schemas.microsoft.com/office/drawing/2014/main" id="{BAF0B2B7-11B7-4144-8D0D-B680CFF2BEEE}"/>
              </a:ext>
            </a:extLst>
          </p:cNvPr>
          <p:cNvSpPr>
            <a:spLocks xmlns:a="http://schemas.openxmlformats.org/drawingml/2006/main" noGrp="1"/>
          </p:cNvSpPr>
          <p:nvPr/>
        </p:nvSpPr>
        <p:spPr>
          <a:xfrm xmlns:a="http://schemas.openxmlformats.org/drawingml/2006/main">
            <a:off x="10953750" y="342900"/>
            <a:ext cx="628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02</a:t>
            </a:r>
          </a:p>
        </p:txBody>
      </p:sp>
      <p:sp>
        <p:nvSpPr>
          <p:cNvPr id="3" name="">
            <a:extLst xmlns:a="http://schemas.openxmlformats.org/drawingml/2006/main">
              <a:ext uri="{FF2B5EF4-FFF2-40B4-BE49-F238E27FC236}">
                <a16:creationId xmlns:a16="http://schemas.microsoft.com/office/drawing/2014/main" id="{C19C7BF1-48C9-4443-855A-B0035D55D07A}"/>
              </a:ext>
            </a:extLst>
          </p:cNvPr>
          <p:cNvSpPr>
            <a:spLocks xmlns:a="http://schemas.openxmlformats.org/drawingml/2006/main" noGrp="1"/>
          </p:cNvSpPr>
          <p:nvPr/>
        </p:nvSpPr>
        <p:spPr>
          <a:xfrm xmlns:a="http://schemas.openxmlformats.org/drawingml/2006/main">
            <a:off x="609600" y="628650"/>
            <a:ext cx="109728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2ABF998-F3A0-4619-9E71-040500A9FA86}"/>
              </a:ext>
            </a:extLst>
          </p:cNvPr>
          <p:cNvSpPr>
            <a:spLocks xmlns:a="http://schemas.openxmlformats.org/drawingml/2006/main" noGrp="1"/>
          </p:cNvSpPr>
          <p:nvPr/>
        </p:nvSpPr>
        <p:spPr>
          <a:xfrm xmlns:a="http://schemas.openxmlformats.org/drawingml/2006/main">
            <a:off x="609600" y="8382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2625" b="1">
                <a:solidFill>
                  <a:srgbClr val="101827"/>
                </a:solidFill>
              </a:defRPr>
            </a:pPr>
            <a:r>
              <a:rPr sz="2625" b="1">
                <a:solidFill>
                  <a:srgbClr val="101827"/>
                </a:solidFill>
              </a:rPr>
              <a:t>The control gap is contained, but the exception must close on schedule</a:t>
            </a:r>
          </a:p>
        </p:txBody>
      </p:sp>
      <p:sp>
        <p:nvSpPr>
          <p:cNvPr id="5" name="">
            <a:extLst xmlns:a="http://schemas.openxmlformats.org/drawingml/2006/main">
              <a:ext uri="{FF2B5EF4-FFF2-40B4-BE49-F238E27FC236}">
                <a16:creationId xmlns:a16="http://schemas.microsoft.com/office/drawing/2014/main" id="{F7380A46-BF0F-4780-893F-69333E9AAB79}"/>
              </a:ext>
            </a:extLst>
          </p:cNvPr>
          <p:cNvSpPr>
            <a:spLocks xmlns:a="http://schemas.openxmlformats.org/drawingml/2006/main" noGrp="1"/>
          </p:cNvSpPr>
          <p:nvPr/>
        </p:nvSpPr>
        <p:spPr>
          <a:xfrm xmlns:a="http://schemas.openxmlformats.org/drawingml/2006/main">
            <a:off x="609600" y="64389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00" b="0">
                <a:solidFill>
                  <a:srgbClr val="5B6472"/>
                </a:solidFill>
              </a:defRPr>
            </a:pPr>
            <a:r>
              <a:rPr sz="900" b="0">
                <a:solidFill>
                  <a:srgbClr val="5B6472"/>
                </a:solidFill>
              </a:rPr>
              <a:t>Aster Legal  |  Matter Alpha AL-PA-2606  |  30 Jun 2026</a:t>
            </a:r>
          </a:p>
        </p:txBody>
      </p:sp>
      <p:sp>
        <p:nvSpPr>
          <p:cNvPr id="6" name="">
            <a:extLst xmlns:a="http://schemas.openxmlformats.org/drawingml/2006/main">
              <a:ext uri="{FF2B5EF4-FFF2-40B4-BE49-F238E27FC236}">
                <a16:creationId xmlns:a16="http://schemas.microsoft.com/office/drawing/2014/main" id="{3CD9B603-5953-471D-83F3-22E36C40B1C1}"/>
              </a:ext>
            </a:extLst>
          </p:cNvPr>
          <p:cNvSpPr>
            <a:spLocks xmlns:a="http://schemas.openxmlformats.org/drawingml/2006/main" noGrp="1"/>
          </p:cNvSpPr>
          <p:nvPr/>
        </p:nvSpPr>
        <p:spPr>
          <a:xfrm xmlns:a="http://schemas.openxmlformats.org/drawingml/2006/main">
            <a:off x="609600" y="1809750"/>
            <a:ext cx="3143250" cy="13525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39D6062-5C57-4AB4-8A4B-031E9AC946AA}"/>
              </a:ext>
            </a:extLst>
          </p:cNvPr>
          <p:cNvSpPr>
            <a:spLocks xmlns:a="http://schemas.openxmlformats.org/drawingml/2006/main" noGrp="1"/>
          </p:cNvSpPr>
          <p:nvPr/>
        </p:nvSpPr>
        <p:spPr>
          <a:xfrm xmlns:a="http://schemas.openxmlformats.org/drawingml/2006/main">
            <a:off x="609600" y="1809750"/>
            <a:ext cx="7620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B71E44-3A96-4D42-8ABC-0B4B4E041B00}"/>
              </a:ext>
            </a:extLst>
          </p:cNvPr>
          <p:cNvSpPr>
            <a:spLocks xmlns:a="http://schemas.openxmlformats.org/drawingml/2006/main" noGrp="1"/>
          </p:cNvSpPr>
          <p:nvPr/>
        </p:nvSpPr>
        <p:spPr>
          <a:xfrm xmlns:a="http://schemas.openxmlformats.org/drawingml/2006/main">
            <a:off x="876300" y="2019300"/>
            <a:ext cx="274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PRESERVATION UNIVERSE</a:t>
            </a:r>
          </a:p>
        </p:txBody>
      </p:sp>
      <p:sp>
        <p:nvSpPr>
          <p:cNvPr id="9" name="">
            <a:extLst xmlns:a="http://schemas.openxmlformats.org/drawingml/2006/main">
              <a:ext uri="{FF2B5EF4-FFF2-40B4-BE49-F238E27FC236}">
                <a16:creationId xmlns:a16="http://schemas.microsoft.com/office/drawing/2014/main" id="{F588C0B9-A8A9-413C-839A-30178EFA9788}"/>
              </a:ext>
            </a:extLst>
          </p:cNvPr>
          <p:cNvSpPr>
            <a:spLocks xmlns:a="http://schemas.openxmlformats.org/drawingml/2006/main" noGrp="1"/>
          </p:cNvSpPr>
          <p:nvPr/>
        </p:nvSpPr>
        <p:spPr>
          <a:xfrm xmlns:a="http://schemas.openxmlformats.org/drawingml/2006/main">
            <a:off x="876300" y="2295525"/>
            <a:ext cx="274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3150" b="1">
                <a:solidFill>
                  <a:srgbClr val="101827"/>
                </a:solidFill>
              </a:defRPr>
            </a:pPr>
            <a:r>
              <a:rPr sz="3150" b="1">
                <a:solidFill>
                  <a:srgbClr val="101827"/>
                </a:solidFill>
              </a:rPr>
              <a:t>42</a:t>
            </a:r>
          </a:p>
        </p:txBody>
      </p:sp>
      <p:sp>
        <p:nvSpPr>
          <p:cNvPr id="10" name="">
            <a:extLst xmlns:a="http://schemas.openxmlformats.org/drawingml/2006/main">
              <a:ext uri="{FF2B5EF4-FFF2-40B4-BE49-F238E27FC236}">
                <a16:creationId xmlns:a16="http://schemas.microsoft.com/office/drawing/2014/main" id="{9CBE6BCD-A8BF-4FAC-A8FF-E98E978CCF78}"/>
              </a:ext>
            </a:extLst>
          </p:cNvPr>
          <p:cNvSpPr>
            <a:spLocks xmlns:a="http://schemas.openxmlformats.org/drawingml/2006/main" noGrp="1"/>
          </p:cNvSpPr>
          <p:nvPr/>
        </p:nvSpPr>
        <p:spPr>
          <a:xfrm xmlns:a="http://schemas.openxmlformats.org/drawingml/2006/main">
            <a:off x="876300" y="283845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050" b="0">
                <a:solidFill>
                  <a:srgbClr val="5B6472"/>
                </a:solidFill>
              </a:defRPr>
            </a:pPr>
            <a:r>
              <a:rPr sz="1050" b="0">
                <a:solidFill>
                  <a:srgbClr val="5B6472"/>
                </a:solidFill>
              </a:rPr>
              <a:t>identified in Matter Alpha</a:t>
            </a:r>
          </a:p>
        </p:txBody>
      </p:sp>
      <p:sp>
        <p:nvSpPr>
          <p:cNvPr id="11" name="">
            <a:extLst xmlns:a="http://schemas.openxmlformats.org/drawingml/2006/main">
              <a:ext uri="{FF2B5EF4-FFF2-40B4-BE49-F238E27FC236}">
                <a16:creationId xmlns:a16="http://schemas.microsoft.com/office/drawing/2014/main" id="{41036C96-AB3A-405E-B797-7B5F028A5B2F}"/>
              </a:ext>
            </a:extLst>
          </p:cNvPr>
          <p:cNvSpPr>
            <a:spLocks xmlns:a="http://schemas.openxmlformats.org/drawingml/2006/main" noGrp="1"/>
          </p:cNvSpPr>
          <p:nvPr/>
        </p:nvSpPr>
        <p:spPr>
          <a:xfrm xmlns:a="http://schemas.openxmlformats.org/drawingml/2006/main">
            <a:off x="4333875" y="1809750"/>
            <a:ext cx="3143250" cy="13525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E318CC6-B3F8-44D5-8321-D3EFE1D0F052}"/>
              </a:ext>
            </a:extLst>
          </p:cNvPr>
          <p:cNvSpPr>
            <a:spLocks xmlns:a="http://schemas.openxmlformats.org/drawingml/2006/main" noGrp="1"/>
          </p:cNvSpPr>
          <p:nvPr/>
        </p:nvSpPr>
        <p:spPr>
          <a:xfrm xmlns:a="http://schemas.openxmlformats.org/drawingml/2006/main">
            <a:off x="4333875" y="1809750"/>
            <a:ext cx="76200" cy="1352550"/>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F3799F-745E-40F8-9F40-DB459D1A01A2}"/>
              </a:ext>
            </a:extLst>
          </p:cNvPr>
          <p:cNvSpPr>
            <a:spLocks xmlns:a="http://schemas.openxmlformats.org/drawingml/2006/main" noGrp="1"/>
          </p:cNvSpPr>
          <p:nvPr/>
        </p:nvSpPr>
        <p:spPr>
          <a:xfrm xmlns:a="http://schemas.openxmlformats.org/drawingml/2006/main">
            <a:off x="4600575" y="2019300"/>
            <a:ext cx="274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COMPLETED</a:t>
            </a:r>
          </a:p>
        </p:txBody>
      </p:sp>
      <p:sp>
        <p:nvSpPr>
          <p:cNvPr id="14" name="">
            <a:extLst xmlns:a="http://schemas.openxmlformats.org/drawingml/2006/main">
              <a:ext uri="{FF2B5EF4-FFF2-40B4-BE49-F238E27FC236}">
                <a16:creationId xmlns:a16="http://schemas.microsoft.com/office/drawing/2014/main" id="{2013131C-7445-4A57-9206-6DAAD3121FCA}"/>
              </a:ext>
            </a:extLst>
          </p:cNvPr>
          <p:cNvSpPr>
            <a:spLocks xmlns:a="http://schemas.openxmlformats.org/drawingml/2006/main" noGrp="1"/>
          </p:cNvSpPr>
          <p:nvPr/>
        </p:nvSpPr>
        <p:spPr>
          <a:xfrm xmlns:a="http://schemas.openxmlformats.org/drawingml/2006/main">
            <a:off x="4600575" y="2295525"/>
            <a:ext cx="274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3150" b="1">
                <a:solidFill>
                  <a:srgbClr val="101827"/>
                </a:solidFill>
              </a:defRPr>
            </a:pPr>
            <a:r>
              <a:rPr sz="3150" b="1">
                <a:solidFill>
                  <a:srgbClr val="101827"/>
                </a:solidFill>
              </a:rPr>
              <a:t>38</a:t>
            </a:r>
          </a:p>
        </p:txBody>
      </p:sp>
      <p:sp>
        <p:nvSpPr>
          <p:cNvPr id="15" name="">
            <a:extLst xmlns:a="http://schemas.openxmlformats.org/drawingml/2006/main">
              <a:ext uri="{FF2B5EF4-FFF2-40B4-BE49-F238E27FC236}">
                <a16:creationId xmlns:a16="http://schemas.microsoft.com/office/drawing/2014/main" id="{56D81854-D42D-4C0E-80FC-17BD393BC798}"/>
              </a:ext>
            </a:extLst>
          </p:cNvPr>
          <p:cNvSpPr>
            <a:spLocks xmlns:a="http://schemas.openxmlformats.org/drawingml/2006/main" noGrp="1"/>
          </p:cNvSpPr>
          <p:nvPr/>
        </p:nvSpPr>
        <p:spPr>
          <a:xfrm xmlns:a="http://schemas.openxmlformats.org/drawingml/2006/main">
            <a:off x="4600575" y="283845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050" b="0">
                <a:solidFill>
                  <a:srgbClr val="5B6472"/>
                </a:solidFill>
              </a:defRPr>
            </a:pPr>
            <a:r>
              <a:rPr sz="1050" b="0">
                <a:solidFill>
                  <a:srgbClr val="5B6472"/>
                </a:solidFill>
              </a:rPr>
              <a:t>preserved and documented</a:t>
            </a:r>
          </a:p>
        </p:txBody>
      </p:sp>
      <p:sp>
        <p:nvSpPr>
          <p:cNvPr id="16" name="">
            <a:extLst xmlns:a="http://schemas.openxmlformats.org/drawingml/2006/main">
              <a:ext uri="{FF2B5EF4-FFF2-40B4-BE49-F238E27FC236}">
                <a16:creationId xmlns:a16="http://schemas.microsoft.com/office/drawing/2014/main" id="{FBB6C22A-2AB5-4057-98AD-3ED6E1897F19}"/>
              </a:ext>
            </a:extLst>
          </p:cNvPr>
          <p:cNvSpPr>
            <a:spLocks xmlns:a="http://schemas.openxmlformats.org/drawingml/2006/main" noGrp="1"/>
          </p:cNvSpPr>
          <p:nvPr/>
        </p:nvSpPr>
        <p:spPr>
          <a:xfrm xmlns:a="http://schemas.openxmlformats.org/drawingml/2006/main">
            <a:off x="8058150" y="1809750"/>
            <a:ext cx="3143250" cy="13525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4F9C987-AA65-4866-85D6-28629993D2D3}"/>
              </a:ext>
            </a:extLst>
          </p:cNvPr>
          <p:cNvSpPr>
            <a:spLocks xmlns:a="http://schemas.openxmlformats.org/drawingml/2006/main" noGrp="1"/>
          </p:cNvSpPr>
          <p:nvPr/>
        </p:nvSpPr>
        <p:spPr>
          <a:xfrm xmlns:a="http://schemas.openxmlformats.org/drawingml/2006/main">
            <a:off x="8058150" y="1809750"/>
            <a:ext cx="76200" cy="1352550"/>
          </a:xfrm>
          <a:prstGeom xmlns:a="http://schemas.openxmlformats.org/drawingml/2006/main" prst="rect">
            <a:avLst/>
          </a:prstGeom>
          <a:solidFill xmlns:a="http://schemas.openxmlformats.org/drawingml/2006/main">
            <a:srgbClr val="F5C66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F6C08CC-187A-44FE-949E-96C8800A15AB}"/>
              </a:ext>
            </a:extLst>
          </p:cNvPr>
          <p:cNvSpPr>
            <a:spLocks xmlns:a="http://schemas.openxmlformats.org/drawingml/2006/main" noGrp="1"/>
          </p:cNvSpPr>
          <p:nvPr/>
        </p:nvSpPr>
        <p:spPr>
          <a:xfrm xmlns:a="http://schemas.openxmlformats.org/drawingml/2006/main">
            <a:off x="8324850" y="2019300"/>
            <a:ext cx="274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OPEN EXCEPTIONS</a:t>
            </a:r>
          </a:p>
        </p:txBody>
      </p:sp>
      <p:sp>
        <p:nvSpPr>
          <p:cNvPr id="19" name="">
            <a:extLst xmlns:a="http://schemas.openxmlformats.org/drawingml/2006/main">
              <a:ext uri="{FF2B5EF4-FFF2-40B4-BE49-F238E27FC236}">
                <a16:creationId xmlns:a16="http://schemas.microsoft.com/office/drawing/2014/main" id="{54501749-2D05-479D-B98D-5FD1521EBFCD}"/>
              </a:ext>
            </a:extLst>
          </p:cNvPr>
          <p:cNvSpPr>
            <a:spLocks xmlns:a="http://schemas.openxmlformats.org/drawingml/2006/main" noGrp="1"/>
          </p:cNvSpPr>
          <p:nvPr/>
        </p:nvSpPr>
        <p:spPr>
          <a:xfrm xmlns:a="http://schemas.openxmlformats.org/drawingml/2006/main">
            <a:off x="8324850" y="2295525"/>
            <a:ext cx="274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3150" b="1">
                <a:solidFill>
                  <a:srgbClr val="101827"/>
                </a:solidFill>
              </a:defRPr>
            </a:pPr>
            <a:r>
              <a:rPr sz="3150" b="1">
                <a:solidFill>
                  <a:srgbClr val="101827"/>
                </a:solidFill>
              </a:rPr>
              <a:t>4</a:t>
            </a:r>
          </a:p>
        </p:txBody>
      </p:sp>
      <p:sp>
        <p:nvSpPr>
          <p:cNvPr id="20" name="">
            <a:extLst xmlns:a="http://schemas.openxmlformats.org/drawingml/2006/main">
              <a:ext uri="{FF2B5EF4-FFF2-40B4-BE49-F238E27FC236}">
                <a16:creationId xmlns:a16="http://schemas.microsoft.com/office/drawing/2014/main" id="{4DC5AB27-E16B-4FB0-9B47-4D067D43EA26}"/>
              </a:ext>
            </a:extLst>
          </p:cNvPr>
          <p:cNvSpPr>
            <a:spLocks xmlns:a="http://schemas.openxmlformats.org/drawingml/2006/main" noGrp="1"/>
          </p:cNvSpPr>
          <p:nvPr/>
        </p:nvSpPr>
        <p:spPr>
          <a:xfrm xmlns:a="http://schemas.openxmlformats.org/drawingml/2006/main">
            <a:off x="8324850" y="283845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050" b="0">
                <a:solidFill>
                  <a:srgbClr val="5B6472"/>
                </a:solidFill>
              </a:defRPr>
            </a:pPr>
            <a:r>
              <a:rPr sz="1050" b="0">
                <a:solidFill>
                  <a:srgbClr val="5B6472"/>
                </a:solidFill>
              </a:rPr>
              <a:t>owner confirmations pending</a:t>
            </a:r>
          </a:p>
        </p:txBody>
      </p:sp>
      <p:sp>
        <p:nvSpPr>
          <p:cNvPr id="21" name="">
            <a:extLst xmlns:a="http://schemas.openxmlformats.org/drawingml/2006/main">
              <a:ext uri="{FF2B5EF4-FFF2-40B4-BE49-F238E27FC236}">
                <a16:creationId xmlns:a16="http://schemas.microsoft.com/office/drawing/2014/main" id="{6F865ADF-AB31-4F7B-9D8B-C359A158F376}"/>
              </a:ext>
            </a:extLst>
          </p:cNvPr>
          <p:cNvSpPr>
            <a:spLocks xmlns:a="http://schemas.openxmlformats.org/drawingml/2006/main" noGrp="1"/>
          </p:cNvSpPr>
          <p:nvPr/>
        </p:nvSpPr>
        <p:spPr>
          <a:xfrm xmlns:a="http://schemas.openxmlformats.org/drawingml/2006/main">
            <a:off x="609600" y="38576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800" b="1">
                <a:solidFill>
                  <a:srgbClr val="101827"/>
                </a:solidFill>
              </a:defRPr>
            </a:pPr>
            <a:r>
              <a:rPr sz="1800" b="1">
                <a:solidFill>
                  <a:srgbClr val="101827"/>
                </a:solidFill>
              </a:rPr>
              <a:t>Board ask</a:t>
            </a:r>
          </a:p>
        </p:txBody>
      </p:sp>
      <p:sp>
        <p:nvSpPr>
          <p:cNvPr id="22" name="">
            <a:extLst xmlns:a="http://schemas.openxmlformats.org/drawingml/2006/main">
              <a:ext uri="{FF2B5EF4-FFF2-40B4-BE49-F238E27FC236}">
                <a16:creationId xmlns:a16="http://schemas.microsoft.com/office/drawing/2014/main" id="{13CECDDC-61B5-4D85-9F49-643A52F764B1}"/>
              </a:ext>
            </a:extLst>
          </p:cNvPr>
          <p:cNvSpPr>
            <a:spLocks xmlns:a="http://schemas.openxmlformats.org/drawingml/2006/main" noGrp="1"/>
          </p:cNvSpPr>
          <p:nvPr/>
        </p:nvSpPr>
        <p:spPr>
          <a:xfrm xmlns:a="http://schemas.openxmlformats.org/drawingml/2006/main">
            <a:off x="609600" y="4305300"/>
            <a:ext cx="762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5CDAC89-491F-43A2-B732-C19F81EE7D15}"/>
              </a:ext>
            </a:extLst>
          </p:cNvPr>
          <p:cNvSpPr>
            <a:spLocks xmlns:a="http://schemas.openxmlformats.org/drawingml/2006/main" noGrp="1"/>
          </p:cNvSpPr>
          <p:nvPr/>
        </p:nvSpPr>
        <p:spPr>
          <a:xfrm xmlns:a="http://schemas.openxmlformats.org/drawingml/2006/main">
            <a:off x="838200" y="4229100"/>
            <a:ext cx="967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75" b="0">
                <a:solidFill>
                  <a:srgbClr val="101827"/>
                </a:solidFill>
              </a:defRPr>
            </a:pPr>
            <a:r>
              <a:rPr sz="1575" b="0">
                <a:solidFill>
                  <a:srgbClr val="101827"/>
                </a:solidFill>
              </a:rPr>
              <a:t>Authorize closure by 12 July with weekly legal escalation.</a:t>
            </a:r>
          </a:p>
        </p:txBody>
      </p:sp>
      <p:sp>
        <p:nvSpPr>
          <p:cNvPr id="24" name="">
            <a:extLst xmlns:a="http://schemas.openxmlformats.org/drawingml/2006/main">
              <a:ext uri="{FF2B5EF4-FFF2-40B4-BE49-F238E27FC236}">
                <a16:creationId xmlns:a16="http://schemas.microsoft.com/office/drawing/2014/main" id="{193773AF-1D71-4186-83BA-A059D3A362FE}"/>
              </a:ext>
            </a:extLst>
          </p:cNvPr>
          <p:cNvSpPr>
            <a:spLocks xmlns:a="http://schemas.openxmlformats.org/drawingml/2006/main" noGrp="1"/>
          </p:cNvSpPr>
          <p:nvPr/>
        </p:nvSpPr>
        <p:spPr>
          <a:xfrm xmlns:a="http://schemas.openxmlformats.org/drawingml/2006/main">
            <a:off x="609600" y="4991100"/>
            <a:ext cx="762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66C7701-EE3F-44B6-8096-1B5DA9426DA6}"/>
              </a:ext>
            </a:extLst>
          </p:cNvPr>
          <p:cNvSpPr>
            <a:spLocks xmlns:a="http://schemas.openxmlformats.org/drawingml/2006/main" noGrp="1"/>
          </p:cNvSpPr>
          <p:nvPr/>
        </p:nvSpPr>
        <p:spPr>
          <a:xfrm xmlns:a="http://schemas.openxmlformats.org/drawingml/2006/main">
            <a:off x="838200" y="4914900"/>
            <a:ext cx="967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75" b="0">
                <a:solidFill>
                  <a:srgbClr val="101827"/>
                </a:solidFill>
              </a:defRPr>
            </a:pPr>
            <a:r>
              <a:rPr sz="1575" b="0">
                <a:solidFill>
                  <a:srgbClr val="101827"/>
                </a:solidFill>
              </a:rPr>
              <a:t>Endorse owner accountability for the four outstanding exceptions.</a:t>
            </a:r>
          </a:p>
        </p:txBody>
      </p:sp>
      <p:sp>
        <p:nvSpPr>
          <p:cNvPr id="26" name="">
            <a:extLst xmlns:a="http://schemas.openxmlformats.org/drawingml/2006/main">
              <a:ext uri="{FF2B5EF4-FFF2-40B4-BE49-F238E27FC236}">
                <a16:creationId xmlns:a16="http://schemas.microsoft.com/office/drawing/2014/main" id="{D3628824-0ABA-4B6B-B769-F2D3A1FA8627}"/>
              </a:ext>
            </a:extLst>
          </p:cNvPr>
          <p:cNvSpPr>
            <a:spLocks xmlns:a="http://schemas.openxmlformats.org/drawingml/2006/main" noGrp="1"/>
          </p:cNvSpPr>
          <p:nvPr/>
        </p:nvSpPr>
        <p:spPr>
          <a:xfrm xmlns:a="http://schemas.openxmlformats.org/drawingml/2006/main">
            <a:off x="609600" y="5676900"/>
            <a:ext cx="762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87A1943-E874-4C96-AC19-71B7E5031656}"/>
              </a:ext>
            </a:extLst>
          </p:cNvPr>
          <p:cNvSpPr>
            <a:spLocks xmlns:a="http://schemas.openxmlformats.org/drawingml/2006/main" noGrp="1"/>
          </p:cNvSpPr>
          <p:nvPr/>
        </p:nvSpPr>
        <p:spPr>
          <a:xfrm xmlns:a="http://schemas.openxmlformats.org/drawingml/2006/main">
            <a:off x="838200" y="5600700"/>
            <a:ext cx="967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75" b="0">
                <a:solidFill>
                  <a:srgbClr val="101827"/>
                </a:solidFill>
              </a:defRPr>
            </a:pPr>
            <a:r>
              <a:rPr sz="1575" b="0">
                <a:solidFill>
                  <a:srgbClr val="101827"/>
                </a:solidFill>
              </a:rPr>
              <a:t>Approve a limited contingency review if an exception remains open.</a:t>
            </a:r>
          </a:p>
        </p:txBody>
      </p:sp>
    </p:spTree>
    <p:extLst>
      <p:ext uri="{BB962C8B-B14F-4D97-AF65-F5344CB8AC3E}">
        <p14:creationId xmlns:p14="http://schemas.microsoft.com/office/powerpoint/2010/main" val="2281462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DA3D994-765A-4295-BCB5-7F46E6899ABB}"/>
              </a:ext>
            </a:extLst>
          </p:cNvPr>
          <p:cNvSpPr>
            <a:spLocks xmlns:a="http://schemas.openxmlformats.org/drawingml/2006/main" noGrp="1"/>
          </p:cNvSpPr>
          <p:nvPr/>
        </p:nvSpPr>
        <p:spPr>
          <a:xfrm xmlns:a="http://schemas.openxmlformats.org/drawingml/2006/main">
            <a:off x="609600" y="3429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ASSURANCE PICTURE</a:t>
            </a:r>
          </a:p>
        </p:txBody>
      </p:sp>
      <p:sp>
        <p:nvSpPr>
          <p:cNvPr id="2" name="">
            <a:extLst xmlns:a="http://schemas.openxmlformats.org/drawingml/2006/main">
              <a:ext uri="{FF2B5EF4-FFF2-40B4-BE49-F238E27FC236}">
                <a16:creationId xmlns:a16="http://schemas.microsoft.com/office/drawing/2014/main" id="{51ECA912-8BF2-412F-BF93-E763EDC76F9E}"/>
              </a:ext>
            </a:extLst>
          </p:cNvPr>
          <p:cNvSpPr>
            <a:spLocks xmlns:a="http://schemas.openxmlformats.org/drawingml/2006/main" noGrp="1"/>
          </p:cNvSpPr>
          <p:nvPr/>
        </p:nvSpPr>
        <p:spPr>
          <a:xfrm xmlns:a="http://schemas.openxmlformats.org/drawingml/2006/main">
            <a:off x="10953750" y="342900"/>
            <a:ext cx="628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03</a:t>
            </a:r>
          </a:p>
        </p:txBody>
      </p:sp>
      <p:sp>
        <p:nvSpPr>
          <p:cNvPr id="3" name="">
            <a:extLst xmlns:a="http://schemas.openxmlformats.org/drawingml/2006/main">
              <a:ext uri="{FF2B5EF4-FFF2-40B4-BE49-F238E27FC236}">
                <a16:creationId xmlns:a16="http://schemas.microsoft.com/office/drawing/2014/main" id="{AB0F657D-DCE6-4DC5-9EEE-7E219D1F0C72}"/>
              </a:ext>
            </a:extLst>
          </p:cNvPr>
          <p:cNvSpPr>
            <a:spLocks xmlns:a="http://schemas.openxmlformats.org/drawingml/2006/main" noGrp="1"/>
          </p:cNvSpPr>
          <p:nvPr/>
        </p:nvSpPr>
        <p:spPr>
          <a:xfrm xmlns:a="http://schemas.openxmlformats.org/drawingml/2006/main">
            <a:off x="609600" y="628650"/>
            <a:ext cx="109728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BE2130-FAE4-4193-A211-16FF57BFD737}"/>
              </a:ext>
            </a:extLst>
          </p:cNvPr>
          <p:cNvSpPr>
            <a:spLocks xmlns:a="http://schemas.openxmlformats.org/drawingml/2006/main" noGrp="1"/>
          </p:cNvSpPr>
          <p:nvPr/>
        </p:nvSpPr>
        <p:spPr>
          <a:xfrm xmlns:a="http://schemas.openxmlformats.org/drawingml/2006/main">
            <a:off x="609600" y="8382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2625" b="1">
                <a:solidFill>
                  <a:srgbClr val="101827"/>
                </a:solidFill>
              </a:defRPr>
            </a:pPr>
            <a:r>
              <a:rPr sz="2625" b="1">
                <a:solidFill>
                  <a:srgbClr val="101827"/>
                </a:solidFill>
              </a:rPr>
              <a:t>Four exceptions share one controlled path to closure</a:t>
            </a:r>
          </a:p>
        </p:txBody>
      </p:sp>
      <p:sp>
        <p:nvSpPr>
          <p:cNvPr id="5" name="">
            <a:extLst xmlns:a="http://schemas.openxmlformats.org/drawingml/2006/main">
              <a:ext uri="{FF2B5EF4-FFF2-40B4-BE49-F238E27FC236}">
                <a16:creationId xmlns:a16="http://schemas.microsoft.com/office/drawing/2014/main" id="{16159FF4-D526-45B5-BF29-D6A91BA88967}"/>
              </a:ext>
            </a:extLst>
          </p:cNvPr>
          <p:cNvSpPr>
            <a:spLocks xmlns:a="http://schemas.openxmlformats.org/drawingml/2006/main" noGrp="1"/>
          </p:cNvSpPr>
          <p:nvPr/>
        </p:nvSpPr>
        <p:spPr>
          <a:xfrm xmlns:a="http://schemas.openxmlformats.org/drawingml/2006/main">
            <a:off x="609600" y="64389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00" b="0">
                <a:solidFill>
                  <a:srgbClr val="5B6472"/>
                </a:solidFill>
              </a:defRPr>
            </a:pPr>
            <a:r>
              <a:rPr sz="900" b="0">
                <a:solidFill>
                  <a:srgbClr val="5B6472"/>
                </a:solidFill>
              </a:rPr>
              <a:t>Aster Legal  |  Matter Alpha AL-PA-2606  |  30 Jun 2026</a:t>
            </a:r>
          </a:p>
        </p:txBody>
      </p:sp>
      <p:sp>
        <p:nvSpPr>
          <p:cNvPr id="6" name="">
            <a:extLst xmlns:a="http://schemas.openxmlformats.org/drawingml/2006/main">
              <a:ext uri="{FF2B5EF4-FFF2-40B4-BE49-F238E27FC236}">
                <a16:creationId xmlns:a16="http://schemas.microsoft.com/office/drawing/2014/main" id="{293E239A-CFEC-4733-897D-00D869CF16F2}"/>
              </a:ext>
            </a:extLst>
          </p:cNvPr>
          <p:cNvSpPr>
            <a:spLocks xmlns:a="http://schemas.openxmlformats.org/drawingml/2006/main" noGrp="1"/>
          </p:cNvSpPr>
          <p:nvPr/>
        </p:nvSpPr>
        <p:spPr>
          <a:xfrm xmlns:a="http://schemas.openxmlformats.org/drawingml/2006/main">
            <a:off x="609600" y="1790700"/>
            <a:ext cx="4762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857F2442-DDDE-48F0-8B2B-1A28BB339371}"/>
              </a:ext>
            </a:extLst>
          </p:cNvPr>
          <p:cNvSpPr>
            <a:spLocks xmlns:a="http://schemas.openxmlformats.org/drawingml/2006/main" noGrp="1"/>
          </p:cNvSpPr>
          <p:nvPr/>
        </p:nvSpPr>
        <p:spPr>
          <a:xfrm xmlns:a="http://schemas.openxmlformats.org/drawingml/2006/main">
            <a:off x="609600" y="1790700"/>
            <a:ext cx="114300" cy="723900"/>
          </a:xfrm>
          <a:prstGeom xmlns:a="http://schemas.openxmlformats.org/drawingml/2006/main" prst="rect">
            <a:avLst/>
          </a:prstGeom>
          <a:solidFill xmlns:a="http://schemas.openxmlformats.org/drawingml/2006/main">
            <a:srgbClr val="F5C66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D8B639-F5AB-4994-901F-EFE7D212A581}"/>
              </a:ext>
            </a:extLst>
          </p:cNvPr>
          <p:cNvSpPr>
            <a:spLocks xmlns:a="http://schemas.openxmlformats.org/drawingml/2006/main" noGrp="1"/>
          </p:cNvSpPr>
          <p:nvPr/>
        </p:nvSpPr>
        <p:spPr>
          <a:xfrm xmlns:a="http://schemas.openxmlformats.org/drawingml/2006/main">
            <a:off x="895350" y="19050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1">
                <a:solidFill>
                  <a:srgbClr val="101827"/>
                </a:solidFill>
              </a:defRPr>
            </a:pPr>
            <a:r>
              <a:rPr sz="1350" b="1">
                <a:solidFill>
                  <a:srgbClr val="101827"/>
                </a:solidFill>
              </a:rPr>
              <a:t>Exception 01</a:t>
            </a:r>
          </a:p>
        </p:txBody>
      </p:sp>
      <p:sp>
        <p:nvSpPr>
          <p:cNvPr id="9" name="">
            <a:extLst xmlns:a="http://schemas.openxmlformats.org/drawingml/2006/main">
              <a:ext uri="{FF2B5EF4-FFF2-40B4-BE49-F238E27FC236}">
                <a16:creationId xmlns:a16="http://schemas.microsoft.com/office/drawing/2014/main" id="{3721164D-7540-4E0D-B66B-9EBC95420180}"/>
              </a:ext>
            </a:extLst>
          </p:cNvPr>
          <p:cNvSpPr>
            <a:spLocks xmlns:a="http://schemas.openxmlformats.org/drawingml/2006/main" noGrp="1"/>
          </p:cNvSpPr>
          <p:nvPr/>
        </p:nvSpPr>
        <p:spPr>
          <a:xfrm xmlns:a="http://schemas.openxmlformats.org/drawingml/2006/main">
            <a:off x="2343150" y="1885950"/>
            <a:ext cx="2800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00" b="0">
                <a:solidFill>
                  <a:srgbClr val="5B6472"/>
                </a:solidFill>
              </a:defRPr>
            </a:pPr>
            <a:r>
              <a:rPr sz="1200" b="0">
                <a:solidFill>
                  <a:srgbClr val="5B6472"/>
                </a:solidFill>
              </a:rPr>
              <a:t>Custodian confirmation; owner: Records Ops</a:t>
            </a:r>
          </a:p>
        </p:txBody>
      </p:sp>
      <p:sp>
        <p:nvSpPr>
          <p:cNvPr id="10" name="">
            <a:extLst xmlns:a="http://schemas.openxmlformats.org/drawingml/2006/main">
              <a:ext uri="{FF2B5EF4-FFF2-40B4-BE49-F238E27FC236}">
                <a16:creationId xmlns:a16="http://schemas.microsoft.com/office/drawing/2014/main" id="{8C221A85-BDE8-446B-B295-F21B83207F06}"/>
              </a:ext>
            </a:extLst>
          </p:cNvPr>
          <p:cNvSpPr>
            <a:spLocks xmlns:a="http://schemas.openxmlformats.org/drawingml/2006/main" noGrp="1"/>
          </p:cNvSpPr>
          <p:nvPr/>
        </p:nvSpPr>
        <p:spPr>
          <a:xfrm xmlns:a="http://schemas.openxmlformats.org/drawingml/2006/main">
            <a:off x="609600" y="2686050"/>
            <a:ext cx="4762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F6257BF9-D529-42C8-9765-3BA6E0A3EC4C}"/>
              </a:ext>
            </a:extLst>
          </p:cNvPr>
          <p:cNvSpPr>
            <a:spLocks xmlns:a="http://schemas.openxmlformats.org/drawingml/2006/main" noGrp="1"/>
          </p:cNvSpPr>
          <p:nvPr/>
        </p:nvSpPr>
        <p:spPr>
          <a:xfrm xmlns:a="http://schemas.openxmlformats.org/drawingml/2006/main">
            <a:off x="609600" y="2686050"/>
            <a:ext cx="114300" cy="723900"/>
          </a:xfrm>
          <a:prstGeom xmlns:a="http://schemas.openxmlformats.org/drawingml/2006/main" prst="rect">
            <a:avLst/>
          </a:prstGeom>
          <a:solidFill xmlns:a="http://schemas.openxmlformats.org/drawingml/2006/main">
            <a:srgbClr val="F5C66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50E3181-FCD0-436F-BBED-79B4A07193BB}"/>
              </a:ext>
            </a:extLst>
          </p:cNvPr>
          <p:cNvSpPr>
            <a:spLocks xmlns:a="http://schemas.openxmlformats.org/drawingml/2006/main" noGrp="1"/>
          </p:cNvSpPr>
          <p:nvPr/>
        </p:nvSpPr>
        <p:spPr>
          <a:xfrm xmlns:a="http://schemas.openxmlformats.org/drawingml/2006/main">
            <a:off x="895350" y="280035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1">
                <a:solidFill>
                  <a:srgbClr val="101827"/>
                </a:solidFill>
              </a:defRPr>
            </a:pPr>
            <a:r>
              <a:rPr sz="1350" b="1">
                <a:solidFill>
                  <a:srgbClr val="101827"/>
                </a:solidFill>
              </a:rPr>
              <a:t>Exception 02</a:t>
            </a:r>
          </a:p>
        </p:txBody>
      </p:sp>
      <p:sp>
        <p:nvSpPr>
          <p:cNvPr id="13" name="">
            <a:extLst xmlns:a="http://schemas.openxmlformats.org/drawingml/2006/main">
              <a:ext uri="{FF2B5EF4-FFF2-40B4-BE49-F238E27FC236}">
                <a16:creationId xmlns:a16="http://schemas.microsoft.com/office/drawing/2014/main" id="{23FAD9A5-9E75-46FA-80FF-82BFE0CCCB7D}"/>
              </a:ext>
            </a:extLst>
          </p:cNvPr>
          <p:cNvSpPr>
            <a:spLocks xmlns:a="http://schemas.openxmlformats.org/drawingml/2006/main" noGrp="1"/>
          </p:cNvSpPr>
          <p:nvPr/>
        </p:nvSpPr>
        <p:spPr>
          <a:xfrm xmlns:a="http://schemas.openxmlformats.org/drawingml/2006/main">
            <a:off x="2343150" y="2781300"/>
            <a:ext cx="2800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00" b="0">
                <a:solidFill>
                  <a:srgbClr val="5B6472"/>
                </a:solidFill>
              </a:defRPr>
            </a:pPr>
            <a:r>
              <a:rPr sz="1200" b="0">
                <a:solidFill>
                  <a:srgbClr val="5B6472"/>
                </a:solidFill>
              </a:rPr>
              <a:t>Repository access validation; owner: IT Legal</a:t>
            </a:r>
          </a:p>
        </p:txBody>
      </p:sp>
      <p:sp>
        <p:nvSpPr>
          <p:cNvPr id="14" name="">
            <a:extLst xmlns:a="http://schemas.openxmlformats.org/drawingml/2006/main">
              <a:ext uri="{FF2B5EF4-FFF2-40B4-BE49-F238E27FC236}">
                <a16:creationId xmlns:a16="http://schemas.microsoft.com/office/drawing/2014/main" id="{D7DBFD11-CBBB-4B76-A6A8-0F0CFACE56DF}"/>
              </a:ext>
            </a:extLst>
          </p:cNvPr>
          <p:cNvSpPr>
            <a:spLocks xmlns:a="http://schemas.openxmlformats.org/drawingml/2006/main" noGrp="1"/>
          </p:cNvSpPr>
          <p:nvPr/>
        </p:nvSpPr>
        <p:spPr>
          <a:xfrm xmlns:a="http://schemas.openxmlformats.org/drawingml/2006/main">
            <a:off x="609600" y="3581400"/>
            <a:ext cx="4762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ED444101-C801-42D5-8FA8-E6C99B082C16}"/>
              </a:ext>
            </a:extLst>
          </p:cNvPr>
          <p:cNvSpPr>
            <a:spLocks xmlns:a="http://schemas.openxmlformats.org/drawingml/2006/main" noGrp="1"/>
          </p:cNvSpPr>
          <p:nvPr/>
        </p:nvSpPr>
        <p:spPr>
          <a:xfrm xmlns:a="http://schemas.openxmlformats.org/drawingml/2006/main">
            <a:off x="609600" y="3581400"/>
            <a:ext cx="114300" cy="723900"/>
          </a:xfrm>
          <a:prstGeom xmlns:a="http://schemas.openxmlformats.org/drawingml/2006/main" prst="rect">
            <a:avLst/>
          </a:prstGeom>
          <a:solidFill xmlns:a="http://schemas.openxmlformats.org/drawingml/2006/main">
            <a:srgbClr val="F5C66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E3882B5-65E8-4344-A3E0-455A9C7037E4}"/>
              </a:ext>
            </a:extLst>
          </p:cNvPr>
          <p:cNvSpPr>
            <a:spLocks xmlns:a="http://schemas.openxmlformats.org/drawingml/2006/main" noGrp="1"/>
          </p:cNvSpPr>
          <p:nvPr/>
        </p:nvSpPr>
        <p:spPr>
          <a:xfrm xmlns:a="http://schemas.openxmlformats.org/drawingml/2006/main">
            <a:off x="895350" y="36957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1">
                <a:solidFill>
                  <a:srgbClr val="101827"/>
                </a:solidFill>
              </a:defRPr>
            </a:pPr>
            <a:r>
              <a:rPr sz="1350" b="1">
                <a:solidFill>
                  <a:srgbClr val="101827"/>
                </a:solidFill>
              </a:rPr>
              <a:t>Exception 03</a:t>
            </a:r>
          </a:p>
        </p:txBody>
      </p:sp>
      <p:sp>
        <p:nvSpPr>
          <p:cNvPr id="17" name="">
            <a:extLst xmlns:a="http://schemas.openxmlformats.org/drawingml/2006/main">
              <a:ext uri="{FF2B5EF4-FFF2-40B4-BE49-F238E27FC236}">
                <a16:creationId xmlns:a16="http://schemas.microsoft.com/office/drawing/2014/main" id="{4514B257-E3AB-4459-82C3-FF820E4850BA}"/>
              </a:ext>
            </a:extLst>
          </p:cNvPr>
          <p:cNvSpPr>
            <a:spLocks xmlns:a="http://schemas.openxmlformats.org/drawingml/2006/main" noGrp="1"/>
          </p:cNvSpPr>
          <p:nvPr/>
        </p:nvSpPr>
        <p:spPr>
          <a:xfrm xmlns:a="http://schemas.openxmlformats.org/drawingml/2006/main">
            <a:off x="2343150" y="3676650"/>
            <a:ext cx="2800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00" b="0">
                <a:solidFill>
                  <a:srgbClr val="5B6472"/>
                </a:solidFill>
              </a:defRPr>
            </a:pPr>
            <a:r>
              <a:rPr sz="1200" b="0">
                <a:solidFill>
                  <a:srgbClr val="5B6472"/>
                </a:solidFill>
              </a:rPr>
              <a:t>Retention snapshot; owner: Security Ops</a:t>
            </a:r>
          </a:p>
        </p:txBody>
      </p:sp>
      <p:sp>
        <p:nvSpPr>
          <p:cNvPr id="18" name="">
            <a:extLst xmlns:a="http://schemas.openxmlformats.org/drawingml/2006/main">
              <a:ext uri="{FF2B5EF4-FFF2-40B4-BE49-F238E27FC236}">
                <a16:creationId xmlns:a16="http://schemas.microsoft.com/office/drawing/2014/main" id="{D0276E8F-1B29-4718-AF8C-D965693B0A8A}"/>
              </a:ext>
            </a:extLst>
          </p:cNvPr>
          <p:cNvSpPr>
            <a:spLocks xmlns:a="http://schemas.openxmlformats.org/drawingml/2006/main" noGrp="1"/>
          </p:cNvSpPr>
          <p:nvPr/>
        </p:nvSpPr>
        <p:spPr>
          <a:xfrm xmlns:a="http://schemas.openxmlformats.org/drawingml/2006/main">
            <a:off x="609600" y="4476750"/>
            <a:ext cx="4762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A5B9ABC8-9ECA-4251-96ED-A4911D3B2CB9}"/>
              </a:ext>
            </a:extLst>
          </p:cNvPr>
          <p:cNvSpPr>
            <a:spLocks xmlns:a="http://schemas.openxmlformats.org/drawingml/2006/main" noGrp="1"/>
          </p:cNvSpPr>
          <p:nvPr/>
        </p:nvSpPr>
        <p:spPr>
          <a:xfrm xmlns:a="http://schemas.openxmlformats.org/drawingml/2006/main">
            <a:off x="609600" y="4476750"/>
            <a:ext cx="114300" cy="723900"/>
          </a:xfrm>
          <a:prstGeom xmlns:a="http://schemas.openxmlformats.org/drawingml/2006/main" prst="rect">
            <a:avLst/>
          </a:prstGeom>
          <a:solidFill xmlns:a="http://schemas.openxmlformats.org/drawingml/2006/main">
            <a:srgbClr val="F5C66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3BE3549-ED4B-4549-ACC9-B185F859140A}"/>
              </a:ext>
            </a:extLst>
          </p:cNvPr>
          <p:cNvSpPr>
            <a:spLocks xmlns:a="http://schemas.openxmlformats.org/drawingml/2006/main" noGrp="1"/>
          </p:cNvSpPr>
          <p:nvPr/>
        </p:nvSpPr>
        <p:spPr>
          <a:xfrm xmlns:a="http://schemas.openxmlformats.org/drawingml/2006/main">
            <a:off x="895350" y="459105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1">
                <a:solidFill>
                  <a:srgbClr val="101827"/>
                </a:solidFill>
              </a:defRPr>
            </a:pPr>
            <a:r>
              <a:rPr sz="1350" b="1">
                <a:solidFill>
                  <a:srgbClr val="101827"/>
                </a:solidFill>
              </a:rPr>
              <a:t>Exception 04</a:t>
            </a:r>
          </a:p>
        </p:txBody>
      </p:sp>
      <p:sp>
        <p:nvSpPr>
          <p:cNvPr id="21" name="">
            <a:extLst xmlns:a="http://schemas.openxmlformats.org/drawingml/2006/main">
              <a:ext uri="{FF2B5EF4-FFF2-40B4-BE49-F238E27FC236}">
                <a16:creationId xmlns:a16="http://schemas.microsoft.com/office/drawing/2014/main" id="{7E3B5AB2-63DD-4529-826C-22B109946B33}"/>
              </a:ext>
            </a:extLst>
          </p:cNvPr>
          <p:cNvSpPr>
            <a:spLocks xmlns:a="http://schemas.openxmlformats.org/drawingml/2006/main" noGrp="1"/>
          </p:cNvSpPr>
          <p:nvPr/>
        </p:nvSpPr>
        <p:spPr>
          <a:xfrm xmlns:a="http://schemas.openxmlformats.org/drawingml/2006/main">
            <a:off x="2343150" y="4572000"/>
            <a:ext cx="2800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00" b="0">
                <a:solidFill>
                  <a:srgbClr val="5B6472"/>
                </a:solidFill>
              </a:defRPr>
            </a:pPr>
            <a:r>
              <a:rPr sz="1200" b="0">
                <a:solidFill>
                  <a:srgbClr val="5B6472"/>
                </a:solidFill>
              </a:rPr>
              <a:t>Vendor archive attestation; owner: Privacy Counsel</a:t>
            </a:r>
          </a:p>
        </p:txBody>
      </p:sp>
      <p:sp>
        <p:nvSpPr>
          <p:cNvPr id="22" name="">
            <a:extLst xmlns:a="http://schemas.openxmlformats.org/drawingml/2006/main">
              <a:ext uri="{FF2B5EF4-FFF2-40B4-BE49-F238E27FC236}">
                <a16:creationId xmlns:a16="http://schemas.microsoft.com/office/drawing/2014/main" id="{977F0FA8-E522-442E-8526-A676F211429E}"/>
              </a:ext>
            </a:extLst>
          </p:cNvPr>
          <p:cNvSpPr>
            <a:spLocks xmlns:a="http://schemas.openxmlformats.org/drawingml/2006/main" noGrp="1"/>
          </p:cNvSpPr>
          <p:nvPr/>
        </p:nvSpPr>
        <p:spPr>
          <a:xfrm xmlns:a="http://schemas.openxmlformats.org/drawingml/2006/main">
            <a:off x="6191250" y="1790700"/>
            <a:ext cx="4762500" cy="3409950"/>
          </a:xfrm>
          <a:prstGeom xmlns:a="http://schemas.openxmlformats.org/drawingml/2006/main" prst="rect">
            <a:avLst/>
          </a:prstGeom>
          <a:solidFill xmlns:a="http://schemas.openxmlformats.org/drawingml/2006/main">
            <a:srgbClr val="DDF0F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13A9127-86FC-4632-A1FF-C08879456863}"/>
              </a:ext>
            </a:extLst>
          </p:cNvPr>
          <p:cNvSpPr>
            <a:spLocks xmlns:a="http://schemas.openxmlformats.org/drawingml/2006/main" noGrp="1"/>
          </p:cNvSpPr>
          <p:nvPr/>
        </p:nvSpPr>
        <p:spPr>
          <a:xfrm xmlns:a="http://schemas.openxmlformats.org/drawingml/2006/main">
            <a:off x="6553200" y="20955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800" b="1">
                <a:solidFill>
                  <a:srgbClr val="101827"/>
                </a:solidFill>
              </a:defRPr>
            </a:pPr>
            <a:r>
              <a:rPr sz="1800" b="1">
                <a:solidFill>
                  <a:srgbClr val="101827"/>
                </a:solidFill>
              </a:rPr>
              <a:t>Closure rule</a:t>
            </a:r>
          </a:p>
        </p:txBody>
      </p:sp>
      <p:sp>
        <p:nvSpPr>
          <p:cNvPr id="24" name="">
            <a:extLst xmlns:a="http://schemas.openxmlformats.org/drawingml/2006/main">
              <a:ext uri="{FF2B5EF4-FFF2-40B4-BE49-F238E27FC236}">
                <a16:creationId xmlns:a16="http://schemas.microsoft.com/office/drawing/2014/main" id="{65B049DD-EA6B-4D05-B2AB-7CF8D3331BBE}"/>
              </a:ext>
            </a:extLst>
          </p:cNvPr>
          <p:cNvSpPr>
            <a:spLocks xmlns:a="http://schemas.openxmlformats.org/drawingml/2006/main" noGrp="1"/>
          </p:cNvSpPr>
          <p:nvPr/>
        </p:nvSpPr>
        <p:spPr>
          <a:xfrm xmlns:a="http://schemas.openxmlformats.org/drawingml/2006/main">
            <a:off x="6553200" y="2571750"/>
            <a:ext cx="3752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0">
                <a:solidFill>
                  <a:srgbClr val="101827"/>
                </a:solidFill>
              </a:defRPr>
            </a:pPr>
            <a:r>
              <a:rPr sz="1650" b="0">
                <a:solidFill>
                  <a:srgbClr val="101827"/>
                </a:solidFill>
              </a:rPr>
              <a:t>Each exception closes only when preservation evidence, owner sign-off, and legal review are recorded.</a:t>
            </a:r>
          </a:p>
        </p:txBody>
      </p:sp>
      <p:sp>
        <p:nvSpPr>
          <p:cNvPr id="25" name="">
            <a:extLst xmlns:a="http://schemas.openxmlformats.org/drawingml/2006/main">
              <a:ext uri="{FF2B5EF4-FFF2-40B4-BE49-F238E27FC236}">
                <a16:creationId xmlns:a16="http://schemas.microsoft.com/office/drawing/2014/main" id="{8343E2A0-182A-4BB9-82B7-D584ADB9EF72}"/>
              </a:ext>
            </a:extLst>
          </p:cNvPr>
          <p:cNvSpPr>
            <a:spLocks xmlns:a="http://schemas.openxmlformats.org/drawingml/2006/main" noGrp="1"/>
          </p:cNvSpPr>
          <p:nvPr/>
        </p:nvSpPr>
        <p:spPr>
          <a:xfrm xmlns:a="http://schemas.openxmlformats.org/drawingml/2006/main">
            <a:off x="6553200" y="4381500"/>
            <a:ext cx="3762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1">
                <a:solidFill>
                  <a:srgbClr val="5B6472"/>
                </a:solidFill>
              </a:defRPr>
            </a:pPr>
            <a:r>
              <a:rPr sz="1350" b="1">
                <a:solidFill>
                  <a:srgbClr val="5B6472"/>
                </a:solidFill>
              </a:rPr>
              <a:t>Escalation: 08 Jul  •  Decision point: 12 Jul</a:t>
            </a:r>
          </a:p>
        </p:txBody>
      </p:sp>
    </p:spTree>
    <p:extLst>
      <p:ext uri="{BB962C8B-B14F-4D97-AF65-F5344CB8AC3E}">
        <p14:creationId xmlns:p14="http://schemas.microsoft.com/office/powerpoint/2010/main" val="10327952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F13B104-7740-4B60-B2E7-62BA62CE0BCF}"/>
              </a:ext>
            </a:extLst>
          </p:cNvPr>
          <p:cNvSpPr>
            <a:spLocks xmlns:a="http://schemas.openxmlformats.org/drawingml/2006/main" noGrp="1"/>
          </p:cNvSpPr>
          <p:nvPr/>
        </p:nvSpPr>
        <p:spPr>
          <a:xfrm xmlns:a="http://schemas.openxmlformats.org/drawingml/2006/main">
            <a:off x="609600" y="3429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OPERATING CADENCE</a:t>
            </a:r>
          </a:p>
        </p:txBody>
      </p:sp>
      <p:sp>
        <p:nvSpPr>
          <p:cNvPr id="2" name="">
            <a:extLst xmlns:a="http://schemas.openxmlformats.org/drawingml/2006/main">
              <a:ext uri="{FF2B5EF4-FFF2-40B4-BE49-F238E27FC236}">
                <a16:creationId xmlns:a16="http://schemas.microsoft.com/office/drawing/2014/main" id="{F22C1BC7-581A-4637-8840-5388F94771D5}"/>
              </a:ext>
            </a:extLst>
          </p:cNvPr>
          <p:cNvSpPr>
            <a:spLocks xmlns:a="http://schemas.openxmlformats.org/drawingml/2006/main" noGrp="1"/>
          </p:cNvSpPr>
          <p:nvPr/>
        </p:nvSpPr>
        <p:spPr>
          <a:xfrm xmlns:a="http://schemas.openxmlformats.org/drawingml/2006/main">
            <a:off x="10953750" y="342900"/>
            <a:ext cx="628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04</a:t>
            </a:r>
          </a:p>
        </p:txBody>
      </p:sp>
      <p:sp>
        <p:nvSpPr>
          <p:cNvPr id="3" name="">
            <a:extLst xmlns:a="http://schemas.openxmlformats.org/drawingml/2006/main">
              <a:ext uri="{FF2B5EF4-FFF2-40B4-BE49-F238E27FC236}">
                <a16:creationId xmlns:a16="http://schemas.microsoft.com/office/drawing/2014/main" id="{E7CEC003-1A79-475C-8124-020B1FB731C1}"/>
              </a:ext>
            </a:extLst>
          </p:cNvPr>
          <p:cNvSpPr>
            <a:spLocks xmlns:a="http://schemas.openxmlformats.org/drawingml/2006/main" noGrp="1"/>
          </p:cNvSpPr>
          <p:nvPr/>
        </p:nvSpPr>
        <p:spPr>
          <a:xfrm xmlns:a="http://schemas.openxmlformats.org/drawingml/2006/main">
            <a:off x="609600" y="628650"/>
            <a:ext cx="109728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1722CD-2F97-463D-8EAC-DF98C23DBBFC}"/>
              </a:ext>
            </a:extLst>
          </p:cNvPr>
          <p:cNvSpPr>
            <a:spLocks xmlns:a="http://schemas.openxmlformats.org/drawingml/2006/main" noGrp="1"/>
          </p:cNvSpPr>
          <p:nvPr/>
        </p:nvSpPr>
        <p:spPr>
          <a:xfrm xmlns:a="http://schemas.openxmlformats.org/drawingml/2006/main">
            <a:off x="609600" y="8382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2625" b="1">
                <a:solidFill>
                  <a:srgbClr val="101827"/>
                </a:solidFill>
              </a:defRPr>
            </a:pPr>
            <a:r>
              <a:rPr sz="2625" b="1">
                <a:solidFill>
                  <a:srgbClr val="101827"/>
                </a:solidFill>
              </a:rPr>
              <a:t>A short, auditable cadence protects the legal position</a:t>
            </a:r>
          </a:p>
        </p:txBody>
      </p:sp>
      <p:sp>
        <p:nvSpPr>
          <p:cNvPr id="5" name="">
            <a:extLst xmlns:a="http://schemas.openxmlformats.org/drawingml/2006/main">
              <a:ext uri="{FF2B5EF4-FFF2-40B4-BE49-F238E27FC236}">
                <a16:creationId xmlns:a16="http://schemas.microsoft.com/office/drawing/2014/main" id="{709CDD74-DC4C-455D-90FE-F6F6FF2F00B9}"/>
              </a:ext>
            </a:extLst>
          </p:cNvPr>
          <p:cNvSpPr>
            <a:spLocks xmlns:a="http://schemas.openxmlformats.org/drawingml/2006/main" noGrp="1"/>
          </p:cNvSpPr>
          <p:nvPr/>
        </p:nvSpPr>
        <p:spPr>
          <a:xfrm xmlns:a="http://schemas.openxmlformats.org/drawingml/2006/main">
            <a:off x="609600" y="64389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00" b="0">
                <a:solidFill>
                  <a:srgbClr val="5B6472"/>
                </a:solidFill>
              </a:defRPr>
            </a:pPr>
            <a:r>
              <a:rPr sz="900" b="0">
                <a:solidFill>
                  <a:srgbClr val="5B6472"/>
                </a:solidFill>
              </a:rPr>
              <a:t>Aster Legal  |  Matter Alpha AL-PA-2606  |  30 Jun 2026</a:t>
            </a:r>
          </a:p>
        </p:txBody>
      </p:sp>
      <p:sp>
        <p:nvSpPr>
          <p:cNvPr id="6" name="">
            <a:extLst xmlns:a="http://schemas.openxmlformats.org/drawingml/2006/main">
              <a:ext uri="{FF2B5EF4-FFF2-40B4-BE49-F238E27FC236}">
                <a16:creationId xmlns:a16="http://schemas.microsoft.com/office/drawing/2014/main" id="{50FF8499-2D28-4D4B-889A-3AB22E1A9C75}"/>
              </a:ext>
            </a:extLst>
          </p:cNvPr>
          <p:cNvSpPr>
            <a:spLocks xmlns:a="http://schemas.openxmlformats.org/drawingml/2006/main" noGrp="1"/>
          </p:cNvSpPr>
          <p:nvPr/>
        </p:nvSpPr>
        <p:spPr>
          <a:xfrm xmlns:a="http://schemas.openxmlformats.org/drawingml/2006/main">
            <a:off x="800100" y="2476500"/>
            <a:ext cx="1790700" cy="9906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2EDEC2-DF58-4EDE-B205-3FE17079BFD5}"/>
              </a:ext>
            </a:extLst>
          </p:cNvPr>
          <p:cNvSpPr>
            <a:spLocks xmlns:a="http://schemas.openxmlformats.org/drawingml/2006/main" noGrp="1"/>
          </p:cNvSpPr>
          <p:nvPr/>
        </p:nvSpPr>
        <p:spPr>
          <a:xfrm xmlns:a="http://schemas.openxmlformats.org/drawingml/2006/main">
            <a:off x="990600" y="26670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1">
                <a:solidFill>
                  <a:srgbClr val="101827"/>
                </a:solidFill>
              </a:defRPr>
            </a:pPr>
            <a:r>
              <a:rPr sz="1350" b="1">
                <a:solidFill>
                  <a:srgbClr val="101827"/>
                </a:solidFill>
              </a:rPr>
              <a:t>30 Jun</a:t>
            </a:r>
          </a:p>
        </p:txBody>
      </p:sp>
      <p:sp>
        <p:nvSpPr>
          <p:cNvPr id="8" name="">
            <a:extLst xmlns:a="http://schemas.openxmlformats.org/drawingml/2006/main">
              <a:ext uri="{FF2B5EF4-FFF2-40B4-BE49-F238E27FC236}">
                <a16:creationId xmlns:a16="http://schemas.microsoft.com/office/drawing/2014/main" id="{A83FC805-C472-41A0-9179-51C89A3BEFCB}"/>
              </a:ext>
            </a:extLst>
          </p:cNvPr>
          <p:cNvSpPr>
            <a:spLocks xmlns:a="http://schemas.openxmlformats.org/drawingml/2006/main" noGrp="1"/>
          </p:cNvSpPr>
          <p:nvPr/>
        </p:nvSpPr>
        <p:spPr>
          <a:xfrm xmlns:a="http://schemas.openxmlformats.org/drawingml/2006/main">
            <a:off x="990600" y="30289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00" b="0">
                <a:solidFill>
                  <a:srgbClr val="5B6472"/>
                </a:solidFill>
              </a:defRPr>
            </a:pPr>
            <a:r>
              <a:rPr sz="1200" b="0">
                <a:solidFill>
                  <a:srgbClr val="5B6472"/>
                </a:solidFill>
              </a:rPr>
              <a:t>Board authorization</a:t>
            </a:r>
          </a:p>
        </p:txBody>
      </p:sp>
      <p:sp>
        <p:nvSpPr>
          <p:cNvPr id="9" name="">
            <a:extLst xmlns:a="http://schemas.openxmlformats.org/drawingml/2006/main">
              <a:ext uri="{FF2B5EF4-FFF2-40B4-BE49-F238E27FC236}">
                <a16:creationId xmlns:a16="http://schemas.microsoft.com/office/drawing/2014/main" id="{13D9808B-06DD-4FE8-93F5-7F783B360E04}"/>
              </a:ext>
            </a:extLst>
          </p:cNvPr>
          <p:cNvSpPr>
            <a:spLocks xmlns:a="http://schemas.openxmlformats.org/drawingml/2006/main" noGrp="1"/>
          </p:cNvSpPr>
          <p:nvPr/>
        </p:nvSpPr>
        <p:spPr>
          <a:xfrm xmlns:a="http://schemas.openxmlformats.org/drawingml/2006/main">
            <a:off x="2590800" y="2952750"/>
            <a:ext cx="8953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EECE4F-3CD0-40DB-8301-B8B1D48A534D}"/>
              </a:ext>
            </a:extLst>
          </p:cNvPr>
          <p:cNvSpPr>
            <a:spLocks xmlns:a="http://schemas.openxmlformats.org/drawingml/2006/main" noGrp="1"/>
          </p:cNvSpPr>
          <p:nvPr/>
        </p:nvSpPr>
        <p:spPr>
          <a:xfrm xmlns:a="http://schemas.openxmlformats.org/drawingml/2006/main">
            <a:off x="3486150" y="2476500"/>
            <a:ext cx="1790700" cy="9906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2041730-B40F-4828-80F7-937D137BB728}"/>
              </a:ext>
            </a:extLst>
          </p:cNvPr>
          <p:cNvSpPr>
            <a:spLocks xmlns:a="http://schemas.openxmlformats.org/drawingml/2006/main" noGrp="1"/>
          </p:cNvSpPr>
          <p:nvPr/>
        </p:nvSpPr>
        <p:spPr>
          <a:xfrm xmlns:a="http://schemas.openxmlformats.org/drawingml/2006/main">
            <a:off x="3676650" y="26670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1">
                <a:solidFill>
                  <a:srgbClr val="101827"/>
                </a:solidFill>
              </a:defRPr>
            </a:pPr>
            <a:r>
              <a:rPr sz="1350" b="1">
                <a:solidFill>
                  <a:srgbClr val="101827"/>
                </a:solidFill>
              </a:rPr>
              <a:t>03 Jul</a:t>
            </a:r>
          </a:p>
        </p:txBody>
      </p:sp>
      <p:sp>
        <p:nvSpPr>
          <p:cNvPr id="12" name="">
            <a:extLst xmlns:a="http://schemas.openxmlformats.org/drawingml/2006/main">
              <a:ext uri="{FF2B5EF4-FFF2-40B4-BE49-F238E27FC236}">
                <a16:creationId xmlns:a16="http://schemas.microsoft.com/office/drawing/2014/main" id="{4B3DAA12-A608-41F0-B7A5-C2681D69F9A8}"/>
              </a:ext>
            </a:extLst>
          </p:cNvPr>
          <p:cNvSpPr>
            <a:spLocks xmlns:a="http://schemas.openxmlformats.org/drawingml/2006/main" noGrp="1"/>
          </p:cNvSpPr>
          <p:nvPr/>
        </p:nvSpPr>
        <p:spPr>
          <a:xfrm xmlns:a="http://schemas.openxmlformats.org/drawingml/2006/main">
            <a:off x="3676650" y="30289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00" b="0">
                <a:solidFill>
                  <a:srgbClr val="5B6472"/>
                </a:solidFill>
              </a:defRPr>
            </a:pPr>
            <a:r>
              <a:rPr sz="1200" b="0">
                <a:solidFill>
                  <a:srgbClr val="5B6472"/>
                </a:solidFill>
              </a:rPr>
              <a:t>Evidence review</a:t>
            </a:r>
          </a:p>
        </p:txBody>
      </p:sp>
      <p:sp>
        <p:nvSpPr>
          <p:cNvPr id="13" name="">
            <a:extLst xmlns:a="http://schemas.openxmlformats.org/drawingml/2006/main">
              <a:ext uri="{FF2B5EF4-FFF2-40B4-BE49-F238E27FC236}">
                <a16:creationId xmlns:a16="http://schemas.microsoft.com/office/drawing/2014/main" id="{2EB8F941-BBFF-4236-84BD-211CFD86B944}"/>
              </a:ext>
            </a:extLst>
          </p:cNvPr>
          <p:cNvSpPr>
            <a:spLocks xmlns:a="http://schemas.openxmlformats.org/drawingml/2006/main" noGrp="1"/>
          </p:cNvSpPr>
          <p:nvPr/>
        </p:nvSpPr>
        <p:spPr>
          <a:xfrm xmlns:a="http://schemas.openxmlformats.org/drawingml/2006/main">
            <a:off x="5276850" y="2952750"/>
            <a:ext cx="8953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F04963B-39DD-4C65-B68C-3415D79CC1E0}"/>
              </a:ext>
            </a:extLst>
          </p:cNvPr>
          <p:cNvSpPr>
            <a:spLocks xmlns:a="http://schemas.openxmlformats.org/drawingml/2006/main" noGrp="1"/>
          </p:cNvSpPr>
          <p:nvPr/>
        </p:nvSpPr>
        <p:spPr>
          <a:xfrm xmlns:a="http://schemas.openxmlformats.org/drawingml/2006/main">
            <a:off x="6172200" y="2476500"/>
            <a:ext cx="1790700" cy="9906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D3732A3-D4DC-43B7-9122-20497FE14CA8}"/>
              </a:ext>
            </a:extLst>
          </p:cNvPr>
          <p:cNvSpPr>
            <a:spLocks xmlns:a="http://schemas.openxmlformats.org/drawingml/2006/main" noGrp="1"/>
          </p:cNvSpPr>
          <p:nvPr/>
        </p:nvSpPr>
        <p:spPr>
          <a:xfrm xmlns:a="http://schemas.openxmlformats.org/drawingml/2006/main">
            <a:off x="6362700" y="26670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1">
                <a:solidFill>
                  <a:srgbClr val="101827"/>
                </a:solidFill>
              </a:defRPr>
            </a:pPr>
            <a:r>
              <a:rPr sz="1350" b="1">
                <a:solidFill>
                  <a:srgbClr val="101827"/>
                </a:solidFill>
              </a:rPr>
              <a:t>08 Jul</a:t>
            </a:r>
          </a:p>
        </p:txBody>
      </p:sp>
      <p:sp>
        <p:nvSpPr>
          <p:cNvPr id="16" name="">
            <a:extLst xmlns:a="http://schemas.openxmlformats.org/drawingml/2006/main">
              <a:ext uri="{FF2B5EF4-FFF2-40B4-BE49-F238E27FC236}">
                <a16:creationId xmlns:a16="http://schemas.microsoft.com/office/drawing/2014/main" id="{26B44894-4648-404D-A06D-50091593927D}"/>
              </a:ext>
            </a:extLst>
          </p:cNvPr>
          <p:cNvSpPr>
            <a:spLocks xmlns:a="http://schemas.openxmlformats.org/drawingml/2006/main" noGrp="1"/>
          </p:cNvSpPr>
          <p:nvPr/>
        </p:nvSpPr>
        <p:spPr>
          <a:xfrm xmlns:a="http://schemas.openxmlformats.org/drawingml/2006/main">
            <a:off x="6362700" y="30289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00" b="0">
                <a:solidFill>
                  <a:srgbClr val="5B6472"/>
                </a:solidFill>
              </a:defRPr>
            </a:pPr>
            <a:r>
              <a:rPr sz="1200" b="0">
                <a:solidFill>
                  <a:srgbClr val="5B6472"/>
                </a:solidFill>
              </a:rPr>
              <a:t>Escalation gate</a:t>
            </a:r>
          </a:p>
        </p:txBody>
      </p:sp>
      <p:sp>
        <p:nvSpPr>
          <p:cNvPr id="17" name="">
            <a:extLst xmlns:a="http://schemas.openxmlformats.org/drawingml/2006/main">
              <a:ext uri="{FF2B5EF4-FFF2-40B4-BE49-F238E27FC236}">
                <a16:creationId xmlns:a16="http://schemas.microsoft.com/office/drawing/2014/main" id="{265FF204-F7E4-4834-9517-A690B9170F4E}"/>
              </a:ext>
            </a:extLst>
          </p:cNvPr>
          <p:cNvSpPr>
            <a:spLocks xmlns:a="http://schemas.openxmlformats.org/drawingml/2006/main" noGrp="1"/>
          </p:cNvSpPr>
          <p:nvPr/>
        </p:nvSpPr>
        <p:spPr>
          <a:xfrm xmlns:a="http://schemas.openxmlformats.org/drawingml/2006/main">
            <a:off x="7962900" y="2952750"/>
            <a:ext cx="8953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94859C1-47BE-4ED9-9552-8DDB100E31DB}"/>
              </a:ext>
            </a:extLst>
          </p:cNvPr>
          <p:cNvSpPr>
            <a:spLocks xmlns:a="http://schemas.openxmlformats.org/drawingml/2006/main" noGrp="1"/>
          </p:cNvSpPr>
          <p:nvPr/>
        </p:nvSpPr>
        <p:spPr>
          <a:xfrm xmlns:a="http://schemas.openxmlformats.org/drawingml/2006/main">
            <a:off x="8858250" y="2476500"/>
            <a:ext cx="1790700" cy="9906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CCFF2E5-49EF-4EDD-B213-5A691A096A7D}"/>
              </a:ext>
            </a:extLst>
          </p:cNvPr>
          <p:cNvSpPr>
            <a:spLocks xmlns:a="http://schemas.openxmlformats.org/drawingml/2006/main" noGrp="1"/>
          </p:cNvSpPr>
          <p:nvPr/>
        </p:nvSpPr>
        <p:spPr>
          <a:xfrm xmlns:a="http://schemas.openxmlformats.org/drawingml/2006/main">
            <a:off x="9048750" y="26670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1">
                <a:solidFill>
                  <a:srgbClr val="FFFFFF"/>
                </a:solidFill>
              </a:defRPr>
            </a:pPr>
            <a:r>
              <a:rPr sz="1350" b="1">
                <a:solidFill>
                  <a:srgbClr val="FFFFFF"/>
                </a:solidFill>
              </a:rPr>
              <a:t>12 Jul</a:t>
            </a:r>
          </a:p>
        </p:txBody>
      </p:sp>
      <p:sp>
        <p:nvSpPr>
          <p:cNvPr id="20" name="">
            <a:extLst xmlns:a="http://schemas.openxmlformats.org/drawingml/2006/main">
              <a:ext uri="{FF2B5EF4-FFF2-40B4-BE49-F238E27FC236}">
                <a16:creationId xmlns:a16="http://schemas.microsoft.com/office/drawing/2014/main" id="{963A96A0-FF38-4113-A5F2-F1A50432F4A2}"/>
              </a:ext>
            </a:extLst>
          </p:cNvPr>
          <p:cNvSpPr>
            <a:spLocks xmlns:a="http://schemas.openxmlformats.org/drawingml/2006/main" noGrp="1"/>
          </p:cNvSpPr>
          <p:nvPr/>
        </p:nvSpPr>
        <p:spPr>
          <a:xfrm xmlns:a="http://schemas.openxmlformats.org/drawingml/2006/main">
            <a:off x="9048750" y="30289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00" b="0">
                <a:solidFill>
                  <a:srgbClr val="FFFFFF"/>
                </a:solidFill>
              </a:defRPr>
            </a:pPr>
            <a:r>
              <a:rPr sz="1200" b="0">
                <a:solidFill>
                  <a:srgbClr val="FFFFFF"/>
                </a:solidFill>
              </a:rPr>
              <a:t>Exception deadline</a:t>
            </a:r>
          </a:p>
        </p:txBody>
      </p:sp>
      <p:sp>
        <p:nvSpPr>
          <p:cNvPr id="21" name="">
            <a:extLst xmlns:a="http://schemas.openxmlformats.org/drawingml/2006/main">
              <a:ext uri="{FF2B5EF4-FFF2-40B4-BE49-F238E27FC236}">
                <a16:creationId xmlns:a16="http://schemas.microsoft.com/office/drawing/2014/main" id="{58753B41-EA9D-49DD-9A3C-B395968AAEF5}"/>
              </a:ext>
            </a:extLst>
          </p:cNvPr>
          <p:cNvSpPr>
            <a:spLocks xmlns:a="http://schemas.openxmlformats.org/drawingml/2006/main" noGrp="1"/>
          </p:cNvSpPr>
          <p:nvPr/>
        </p:nvSpPr>
        <p:spPr>
          <a:xfrm xmlns:a="http://schemas.openxmlformats.org/drawingml/2006/main">
            <a:off x="800100" y="43053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0">
                <a:solidFill>
                  <a:srgbClr val="101827"/>
                </a:solidFill>
              </a:defRPr>
            </a:pPr>
            <a:r>
              <a:rPr sz="1650" b="0">
                <a:solidFill>
                  <a:srgbClr val="101827"/>
                </a:solidFill>
              </a:rPr>
              <a:t>Owners: Privacy Counsel (accountable) • Records Ops, IT Legal, Security Ops (responsible)</a:t>
            </a:r>
          </a:p>
        </p:txBody>
      </p:sp>
      <p:sp>
        <p:nvSpPr>
          <p:cNvPr id="22" name="">
            <a:extLst xmlns:a="http://schemas.openxmlformats.org/drawingml/2006/main">
              <a:ext uri="{FF2B5EF4-FFF2-40B4-BE49-F238E27FC236}">
                <a16:creationId xmlns:a16="http://schemas.microsoft.com/office/drawing/2014/main" id="{9255B165-E4A0-41BB-A303-D714184D37CD}"/>
              </a:ext>
            </a:extLst>
          </p:cNvPr>
          <p:cNvSpPr>
            <a:spLocks xmlns:a="http://schemas.openxmlformats.org/drawingml/2006/main" noGrp="1"/>
          </p:cNvSpPr>
          <p:nvPr/>
        </p:nvSpPr>
        <p:spPr>
          <a:xfrm xmlns:a="http://schemas.openxmlformats.org/drawingml/2006/main">
            <a:off x="800100" y="4857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350" b="0">
                <a:solidFill>
                  <a:srgbClr val="5B6472"/>
                </a:solidFill>
              </a:defRPr>
            </a:pPr>
            <a:r>
              <a:rPr sz="1350" b="0">
                <a:solidFill>
                  <a:srgbClr val="5B6472"/>
                </a:solidFill>
              </a:rPr>
              <a:t>Deliverable: closure log with preserved evidence and dated legal approval.</a:t>
            </a:r>
          </a:p>
        </p:txBody>
      </p:sp>
    </p:spTree>
    <p:extLst>
      <p:ext uri="{BB962C8B-B14F-4D97-AF65-F5344CB8AC3E}">
        <p14:creationId xmlns:p14="http://schemas.microsoft.com/office/powerpoint/2010/main" val="2985214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2F94422-773B-4493-92E2-AF0E4E5E8438}"/>
              </a:ext>
            </a:extLst>
          </p:cNvPr>
          <p:cNvSpPr>
            <a:spLocks xmlns:a="http://schemas.openxmlformats.org/drawingml/2006/main" noGrp="1"/>
          </p:cNvSpPr>
          <p:nvPr/>
        </p:nvSpPr>
        <p:spPr>
          <a:xfrm xmlns:a="http://schemas.openxmlformats.org/drawingml/2006/main">
            <a:off x="609600" y="3429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RESOLUTION</a:t>
            </a:r>
          </a:p>
        </p:txBody>
      </p:sp>
      <p:sp>
        <p:nvSpPr>
          <p:cNvPr id="2" name="">
            <a:extLst xmlns:a="http://schemas.openxmlformats.org/drawingml/2006/main">
              <a:ext uri="{FF2B5EF4-FFF2-40B4-BE49-F238E27FC236}">
                <a16:creationId xmlns:a16="http://schemas.microsoft.com/office/drawing/2014/main" id="{EFFA4451-7E05-4CC4-A593-D7FF30F1FFC0}"/>
              </a:ext>
            </a:extLst>
          </p:cNvPr>
          <p:cNvSpPr>
            <a:spLocks xmlns:a="http://schemas.openxmlformats.org/drawingml/2006/main" noGrp="1"/>
          </p:cNvSpPr>
          <p:nvPr/>
        </p:nvSpPr>
        <p:spPr>
          <a:xfrm xmlns:a="http://schemas.openxmlformats.org/drawingml/2006/main">
            <a:off x="10953750" y="342900"/>
            <a:ext cx="628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75" b="1">
                <a:solidFill>
                  <a:srgbClr val="5B6472"/>
                </a:solidFill>
              </a:defRPr>
            </a:pPr>
            <a:r>
              <a:rPr sz="975" b="1">
                <a:solidFill>
                  <a:srgbClr val="5B6472"/>
                </a:solidFill>
              </a:rPr>
              <a:t>05</a:t>
            </a:r>
          </a:p>
        </p:txBody>
      </p:sp>
      <p:sp>
        <p:nvSpPr>
          <p:cNvPr id="3" name="">
            <a:extLst xmlns:a="http://schemas.openxmlformats.org/drawingml/2006/main">
              <a:ext uri="{FF2B5EF4-FFF2-40B4-BE49-F238E27FC236}">
                <a16:creationId xmlns:a16="http://schemas.microsoft.com/office/drawing/2014/main" id="{1073E952-C732-4304-9085-9C2C22E6A061}"/>
              </a:ext>
            </a:extLst>
          </p:cNvPr>
          <p:cNvSpPr>
            <a:spLocks xmlns:a="http://schemas.openxmlformats.org/drawingml/2006/main" noGrp="1"/>
          </p:cNvSpPr>
          <p:nvPr/>
        </p:nvSpPr>
        <p:spPr>
          <a:xfrm xmlns:a="http://schemas.openxmlformats.org/drawingml/2006/main">
            <a:off x="609600" y="628650"/>
            <a:ext cx="109728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E134CB-CD7C-4A66-9761-AE3EBE1261B3}"/>
              </a:ext>
            </a:extLst>
          </p:cNvPr>
          <p:cNvSpPr>
            <a:spLocks xmlns:a="http://schemas.openxmlformats.org/drawingml/2006/main" noGrp="1"/>
          </p:cNvSpPr>
          <p:nvPr/>
        </p:nvSpPr>
        <p:spPr>
          <a:xfrm xmlns:a="http://schemas.openxmlformats.org/drawingml/2006/main">
            <a:off x="609600" y="8382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2625" b="1">
                <a:solidFill>
                  <a:srgbClr val="101827"/>
                </a:solidFill>
              </a:defRPr>
            </a:pPr>
            <a:r>
              <a:rPr sz="2625" b="1">
                <a:solidFill>
                  <a:srgbClr val="101827"/>
                </a:solidFill>
              </a:rPr>
              <a:t>Approve the closure path and preserve escalation authority</a:t>
            </a:r>
          </a:p>
        </p:txBody>
      </p:sp>
      <p:sp>
        <p:nvSpPr>
          <p:cNvPr id="5" name="">
            <a:extLst xmlns:a="http://schemas.openxmlformats.org/drawingml/2006/main">
              <a:ext uri="{FF2B5EF4-FFF2-40B4-BE49-F238E27FC236}">
                <a16:creationId xmlns:a16="http://schemas.microsoft.com/office/drawing/2014/main" id="{25A330AF-6788-4206-ADBE-B30DF29B2EA2}"/>
              </a:ext>
            </a:extLst>
          </p:cNvPr>
          <p:cNvSpPr>
            <a:spLocks xmlns:a="http://schemas.openxmlformats.org/drawingml/2006/main" noGrp="1"/>
          </p:cNvSpPr>
          <p:nvPr/>
        </p:nvSpPr>
        <p:spPr>
          <a:xfrm xmlns:a="http://schemas.openxmlformats.org/drawingml/2006/main">
            <a:off x="609600" y="643890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00" b="0">
                <a:solidFill>
                  <a:srgbClr val="5B6472"/>
                </a:solidFill>
              </a:defRPr>
            </a:pPr>
            <a:r>
              <a:rPr sz="900" b="0">
                <a:solidFill>
                  <a:srgbClr val="5B6472"/>
                </a:solidFill>
              </a:rPr>
              <a:t>Aster Legal  |  Matter Alpha AL-PA-2606  |  30 Jun 2026</a:t>
            </a:r>
          </a:p>
        </p:txBody>
      </p:sp>
      <p:sp>
        <p:nvSpPr>
          <p:cNvPr id="6" name="">
            <a:extLst xmlns:a="http://schemas.openxmlformats.org/drawingml/2006/main">
              <a:ext uri="{FF2B5EF4-FFF2-40B4-BE49-F238E27FC236}">
                <a16:creationId xmlns:a16="http://schemas.microsoft.com/office/drawing/2014/main" id="{4BA3F5B4-94C2-4684-A5EA-4B061B7568AC}"/>
              </a:ext>
            </a:extLst>
          </p:cNvPr>
          <p:cNvSpPr>
            <a:spLocks xmlns:a="http://schemas.openxmlformats.org/drawingml/2006/main" noGrp="1"/>
          </p:cNvSpPr>
          <p:nvPr/>
        </p:nvSpPr>
        <p:spPr>
          <a:xfrm xmlns:a="http://schemas.openxmlformats.org/drawingml/2006/main">
            <a:off x="609600" y="1847850"/>
            <a:ext cx="10287000" cy="2476500"/>
          </a:xfrm>
          <a:prstGeom xmlns:a="http://schemas.openxmlformats.org/drawingml/2006/main" prst="rect">
            <a:avLst/>
          </a:prstGeom>
          <a:solidFill xmlns:a="http://schemas.openxmlformats.org/drawingml/2006/main">
            <a:srgbClr val="DDF0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91DDF0-E942-410C-B6BD-323E2774EB4C}"/>
              </a:ext>
            </a:extLst>
          </p:cNvPr>
          <p:cNvSpPr>
            <a:spLocks xmlns:a="http://schemas.openxmlformats.org/drawingml/2006/main" noGrp="1"/>
          </p:cNvSpPr>
          <p:nvPr/>
        </p:nvSpPr>
        <p:spPr>
          <a:xfrm xmlns:a="http://schemas.openxmlformats.org/drawingml/2006/main">
            <a:off x="952500" y="21907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875" b="1">
                <a:solidFill>
                  <a:srgbClr val="101827"/>
                </a:solidFill>
              </a:defRPr>
            </a:pPr>
            <a:r>
              <a:rPr sz="1875" b="1">
                <a:solidFill>
                  <a:srgbClr val="101827"/>
                </a:solidFill>
              </a:rPr>
              <a:t>Recommended resolution</a:t>
            </a:r>
          </a:p>
        </p:txBody>
      </p:sp>
      <p:sp>
        <p:nvSpPr>
          <p:cNvPr id="8" name="">
            <a:extLst xmlns:a="http://schemas.openxmlformats.org/drawingml/2006/main">
              <a:ext uri="{FF2B5EF4-FFF2-40B4-BE49-F238E27FC236}">
                <a16:creationId xmlns:a16="http://schemas.microsoft.com/office/drawing/2014/main" id="{21DC0381-A00B-43CE-9C01-1E9EE9658562}"/>
              </a:ext>
            </a:extLst>
          </p:cNvPr>
          <p:cNvSpPr>
            <a:spLocks xmlns:a="http://schemas.openxmlformats.org/drawingml/2006/main" noGrp="1"/>
          </p:cNvSpPr>
          <p:nvPr/>
        </p:nvSpPr>
        <p:spPr>
          <a:xfrm xmlns:a="http://schemas.openxmlformats.org/drawingml/2006/main">
            <a:off x="952500" y="2705100"/>
            <a:ext cx="9067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800" b="0">
                <a:solidFill>
                  <a:srgbClr val="101827"/>
                </a:solidFill>
              </a:defRPr>
            </a:pPr>
            <a:r>
              <a:rPr sz="1800" b="0">
                <a:solidFill>
                  <a:srgbClr val="101827"/>
                </a:solidFill>
              </a:rPr>
              <a:t>The Board authorizes management to complete the four controlled exceptions by 12 July 2026, with Privacy Counsel reporting any unresolved exception at the 08 July escalation gate and seeking further direction if closure cannot be substantiated.</a:t>
            </a:r>
          </a:p>
        </p:txBody>
      </p:sp>
      <p:sp>
        <p:nvSpPr>
          <p:cNvPr id="9" name="">
            <a:extLst xmlns:a="http://schemas.openxmlformats.org/drawingml/2006/main">
              <a:ext uri="{FF2B5EF4-FFF2-40B4-BE49-F238E27FC236}">
                <a16:creationId xmlns:a16="http://schemas.microsoft.com/office/drawing/2014/main" id="{F89000FA-B448-4600-A2E6-4BC7744E39FD}"/>
              </a:ext>
            </a:extLst>
          </p:cNvPr>
          <p:cNvSpPr>
            <a:spLocks xmlns:a="http://schemas.openxmlformats.org/drawingml/2006/main" noGrp="1"/>
          </p:cNvSpPr>
          <p:nvPr/>
        </p:nvSpPr>
        <p:spPr>
          <a:xfrm xmlns:a="http://schemas.openxmlformats.org/drawingml/2006/main">
            <a:off x="952500" y="39052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75" b="1">
                <a:solidFill>
                  <a:srgbClr val="5B6472"/>
                </a:solidFill>
              </a:defRPr>
            </a:pPr>
            <a:r>
              <a:rPr sz="1275" b="1">
                <a:solidFill>
                  <a:srgbClr val="5B6472"/>
                </a:solidFill>
              </a:rPr>
              <a:t>Owner: Corporate Privacy Counsel  •  Next report: 08 Jul 2026</a:t>
            </a:r>
          </a:p>
        </p:txBody>
      </p:sp>
    </p:spTree>
    <p:extLst>
      <p:ext uri="{BB962C8B-B14F-4D97-AF65-F5344CB8AC3E}">
        <p14:creationId xmlns:p14="http://schemas.microsoft.com/office/powerpoint/2010/main" val="8956567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2026-08-23T16:58:18.6150000Z</dcterms:created>
  <dcterms:modified xsi:type="dcterms:W3CDTF">2026-08-23T16:58:18.6150000Z</dcterms:modified>
</coreProperties>
</file>