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eeb8b9fd2c4a43" /><Relationship Type="http://schemas.openxmlformats.org/officeDocument/2006/relationships/extended-properties" Target="/docProps/app.xml" Id="R9e63a45464954820" /><Relationship Type="http://schemas.openxmlformats.org/officeDocument/2006/relationships/officeDocument" Target="/ppt/presentation.xml" Id="Rad18ef357b424f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184dad49bd4fe5"/>
  </p:sldMasterIdLst>
  <p:notesMasterIdLst>
    <p:notesMasterId xmlns:r="http://schemas.openxmlformats.org/officeDocument/2006/relationships" r:id="R9ba8547cd01d4cd4"/>
  </p:notesMasterIdLst>
  <p:sldIdLst>
    <p:sldId xmlns:r="http://schemas.openxmlformats.org/officeDocument/2006/relationships" id="256" r:id="R93797731e73744af"/>
    <p:sldId xmlns:r="http://schemas.openxmlformats.org/officeDocument/2006/relationships" id="257" r:id="R975b3635d4df4b21"/>
    <p:sldId xmlns:r="http://schemas.openxmlformats.org/officeDocument/2006/relationships" id="258" r:id="R7a913ee12e8a4802"/>
    <p:sldId xmlns:r="http://schemas.openxmlformats.org/officeDocument/2006/relationships" id="259" r:id="R431405c01ceb4848"/>
    <p:sldId xmlns:r="http://schemas.openxmlformats.org/officeDocument/2006/relationships" id="260" r:id="Ra6d31886886f4e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11ee34d67a4783" /><Relationship Type="http://schemas.openxmlformats.org/officeDocument/2006/relationships/slideMaster" Target="/ppt/slideMasters/slideMaster1.xml" Id="R6c184dad49bd4fe5" /><Relationship Type="http://schemas.openxmlformats.org/officeDocument/2006/relationships/notesMaster" Target="/ppt/notesMasters/notesMaster1.xml" Id="R9ba8547cd01d4cd4" /><Relationship Type="http://schemas.openxmlformats.org/officeDocument/2006/relationships/presProps" Target="/ppt/presProps.xml" Id="R9d854223364848c5" /><Relationship Type="http://schemas.openxmlformats.org/officeDocument/2006/relationships/tableStyles" Target="/ppt/tableStyles.xml" Id="R60d27264ca644e26" /><Relationship Type="http://schemas.openxmlformats.org/officeDocument/2006/relationships/slide" Target="/ppt/slides/slide1.xml" Id="R93797731e73744af" /><Relationship Type="http://schemas.openxmlformats.org/officeDocument/2006/relationships/slide" Target="/ppt/slides/slide2.xml" Id="R975b3635d4df4b21" /><Relationship Type="http://schemas.openxmlformats.org/officeDocument/2006/relationships/slide" Target="/ppt/slides/slide3.xml" Id="R7a913ee12e8a4802" /><Relationship Type="http://schemas.openxmlformats.org/officeDocument/2006/relationships/slide" Target="/ppt/slides/slide4.xml" Id="R431405c01ceb4848" /><Relationship Type="http://schemas.openxmlformats.org/officeDocument/2006/relationships/slide" Target="/ppt/slides/slide5.xml" Id="Ra6d31886886f4e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6a37fdbe5040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919eccc8114402" /><Relationship Type="http://schemas.openxmlformats.org/officeDocument/2006/relationships/notesMaster" Target="/ppt/notesMasters/notesMaster1.xml" Id="Rb6018fd695d34b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234c99d1724daa" /><Relationship Type="http://schemas.openxmlformats.org/officeDocument/2006/relationships/notesMaster" Target="/ppt/notesMasters/notesMaster1.xml" Id="R9f54ba7612064b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94cefe8b0640a2" /><Relationship Type="http://schemas.openxmlformats.org/officeDocument/2006/relationships/notesMaster" Target="/ppt/notesMasters/notesMaster1.xml" Id="Rcb6725b63bed43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967b0466474eab" /><Relationship Type="http://schemas.openxmlformats.org/officeDocument/2006/relationships/notesMaster" Target="/ppt/notesMasters/notesMaster1.xml" Id="R58d9218cc3fd4a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876168a0dc4372" /><Relationship Type="http://schemas.openxmlformats.org/officeDocument/2006/relationships/notesMaster" Target="/ppt/notesMasters/notesMaster1.xml" Id="R9062a2abf99f4d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3ccf2893041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16b8790184a2f" /><Relationship Type="http://schemas.openxmlformats.org/officeDocument/2006/relationships/slideLayout" Target="/ppt/slideLayouts/slideLayout1.xml" Id="R0541b80f018c4e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41b80f018c4e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f786938484548" /><Relationship Type="http://schemas.openxmlformats.org/officeDocument/2006/relationships/notesSlide" Target="/ppt/notesSlides/notesSlide1.xml" Id="R7f2a8fef75b348b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c40d0e789044ed" /><Relationship Type="http://schemas.openxmlformats.org/officeDocument/2006/relationships/notesSlide" Target="/ppt/notesSlides/notesSlide2.xml" Id="R7bc7f1e0e7c641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3b0dc128f4aaa" /><Relationship Type="http://schemas.openxmlformats.org/officeDocument/2006/relationships/notesSlide" Target="/ppt/notesSlides/notesSlide3.xml" Id="Re41539d92c1c4e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ca48a21e14365" /><Relationship Type="http://schemas.openxmlformats.org/officeDocument/2006/relationships/notesSlide" Target="/ppt/notesSlides/notesSlide4.xml" Id="R28cd6d4e524d41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68ac410eb42ab" /><Relationship Type="http://schemas.openxmlformats.org/officeDocument/2006/relationships/notesSlide" Target="/ppt/notesSlides/notesSlide5.xml" Id="R3afa6bacf84443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4E432-667B-44B1-A0C7-0278DF84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93F7A"/>
                </a:solidFill>
              </a:defRPr>
            </a:pPr>
            <a:r>
              <a:rPr sz="2700" b="1">
                <a:solidFill>
                  <a:srgbClr val="593F7A"/>
                </a:solidFill>
              </a:rPr>
              <a:t>Study Alpha A-24 methods workshop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3FADED-3DE2-4A02-B891-75F24916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0"/>
                </a:solidFill>
              </a:defRPr>
            </a:pPr>
            <a:r>
              <a:rPr sz="900" b="0">
                <a:solidFill>
                  <a:srgbClr val="617080"/>
                </a:solidFill>
              </a:rPr>
              <a:t>Orchid Cellworks | Study Alpha | 2026-07-13 | cohort A-24 | assay 6.8 ng/mL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94606-EB20-4BEC-AC90-4DAD5891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65D"/>
                </a:solidFill>
              </a:defRPr>
            </a:pPr>
            <a:r>
              <a:rPr sz="1725" b="0">
                <a:solidFill>
                  <a:srgbClr val="17365D"/>
                </a:solidFill>
              </a:rPr>
              <a:t>Interactive working session | Orchid Cellworks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561640-61F6-4031-A253-1F03D05B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B3A"/>
                </a:solidFill>
              </a:defRPr>
            </a:pPr>
            <a:r>
              <a:rPr sz="1500" b="0">
                <a:solidFill>
                  <a:srgbClr val="182B3A"/>
                </a:solidFill>
              </a:rPr>
              <a:t>Use the A-24 synthetic case to practice calculation, plate-layout review, and decision capture.</a:t>
            </a:r>
          </a:p>
        </p:txBody>
      </p:sp>
    </p:spTree>
    <p:extLst>
      <p:ext uri="{BB962C8B-B14F-4D97-AF65-F5344CB8AC3E}">
        <p14:creationId xmlns:p14="http://schemas.microsoft.com/office/powerpoint/2010/main" val="6533125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C9D7B-9B99-4E59-B1C6-D9517EED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93F7A"/>
                </a:solidFill>
              </a:defRPr>
            </a:pPr>
            <a:r>
              <a:rPr sz="2700" b="1">
                <a:solidFill>
                  <a:srgbClr val="593F7A"/>
                </a:solidFill>
              </a:rPr>
              <a:t>Interactive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721A9-12B2-4E32-846C-32A1AE3A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0"/>
                </a:solidFill>
              </a:defRPr>
            </a:pPr>
            <a:r>
              <a:rPr sz="900" b="0">
                <a:solidFill>
                  <a:srgbClr val="617080"/>
                </a:solidFill>
              </a:rPr>
              <a:t>Orchid Cellworks | Study Alpha | 2026-07-13 | cohort A-24 | 6.8 ng/mL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5B34B8-336C-4DE5-9BED-C417AFA8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606867-C217-4340-806C-33BCBE83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33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3F7A"/>
                </a:solidFill>
              </a:defRPr>
            </a:pPr>
            <a:r>
              <a:rPr sz="1200" b="1">
                <a:solidFill>
                  <a:srgbClr val="593F7A"/>
                </a:solidFill>
              </a:rPr>
              <a:t>1 | Frame the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DBF1D-CE22-4E62-9AE4-D1C4492B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OCW-BIO-017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F72F5-CB71-4B36-AC1D-DB6C78B6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145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A341A-D813-4B44-807E-D9491A4C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33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3F7A"/>
                </a:solidFill>
              </a:defRPr>
            </a:pPr>
            <a:r>
              <a:rPr sz="1200" b="1">
                <a:solidFill>
                  <a:srgbClr val="593F7A"/>
                </a:solidFill>
              </a:rPr>
              <a:t>2 | Work the plate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ECE2E-F3E7-47F6-85CC-22047C9C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A-24 exercise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95765-3521-4F83-99A8-5CC1474E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7145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7938B7-717D-43FB-A01A-10EC8E14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33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3F7A"/>
                </a:solidFill>
              </a:defRPr>
            </a:pPr>
            <a:r>
              <a:rPr sz="1200" b="1">
                <a:solidFill>
                  <a:srgbClr val="593F7A"/>
                </a:solidFill>
              </a:rPr>
              <a:t>3 | Calculate together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D8527-0EF5-45BA-8DA1-E14A00B5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assay 6.8 ng/mL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E394E4-4C59-4BCC-B8E8-AD8CF1CB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333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BE533-DA98-4A06-AED7-CB7B6B7E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33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93F7A"/>
                </a:solidFill>
              </a:defRPr>
            </a:pPr>
            <a:r>
              <a:rPr sz="1200" b="1">
                <a:solidFill>
                  <a:srgbClr val="593F7A"/>
                </a:solidFill>
              </a:rPr>
              <a:t>4 | Capture a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B42D0D-0C3A-4C7F-8002-35485E13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365D"/>
                </a:solidFill>
              </a:defRPr>
            </a:pPr>
            <a:r>
              <a:rPr sz="1500" b="1">
                <a:solidFill>
                  <a:srgbClr val="17365D"/>
                </a:solidFill>
              </a:rPr>
              <a:t>Fictional workshop only</a:t>
            </a:r>
          </a:p>
        </p:txBody>
      </p:sp>
    </p:spTree>
    <p:extLst>
      <p:ext uri="{BB962C8B-B14F-4D97-AF65-F5344CB8AC3E}">
        <p14:creationId xmlns:p14="http://schemas.microsoft.com/office/powerpoint/2010/main" val="1349462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55C37-CF97-486E-96A8-EB1B6908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93F7A"/>
                </a:solidFill>
              </a:defRPr>
            </a:pPr>
            <a:r>
              <a:rPr sz="2700" b="1">
                <a:solidFill>
                  <a:srgbClr val="593F7A"/>
                </a:solidFill>
              </a:rPr>
              <a:t>Plate-layout exercise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BB1EE-5C2A-4483-9259-336D22CF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0"/>
                </a:solidFill>
              </a:defRPr>
            </a:pPr>
            <a:r>
              <a:rPr sz="900" b="0">
                <a:solidFill>
                  <a:srgbClr val="617080"/>
                </a:solidFill>
              </a:rPr>
              <a:t>Orchid Cellworks | Study Alpha | 2026-07-13 | cohort A-24 | assay 6.8 ng/mL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678023-753C-42A6-B04A-A93D849F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D951B-9C2F-4788-9510-1A994E5E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1 | Place the A-24 controls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E7E5A-B6F7-4BFC-8EA1-8F4FE881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D4AE75-7475-411E-B911-C1BDBA4F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2 | Trace OCW-A24-001..024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5B57C-B126-42EB-89CA-CF81B244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0F1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3B2CF-1E64-46BF-9F8C-67ECB90A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3 | Mark one duplicate pair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B16CC-E9B2-4832-A749-E78C87B7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1907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F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DCC3F-7DE9-4DC9-9813-8F943B51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365D"/>
                </a:solidFill>
              </a:defRPr>
            </a:pPr>
            <a:r>
              <a:rPr sz="1350" b="1">
                <a:solidFill>
                  <a:srgbClr val="17365D"/>
                </a:solidFill>
              </a:rPr>
              <a:t>4 | Share your review prompt</a:t>
            </a:r>
          </a:p>
        </p:txBody>
      </p:sp>
    </p:spTree>
    <p:extLst>
      <p:ext uri="{BB962C8B-B14F-4D97-AF65-F5344CB8AC3E}">
        <p14:creationId xmlns:p14="http://schemas.microsoft.com/office/powerpoint/2010/main" val="8378686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99076-3566-442D-8E44-95F0B262A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93F7A"/>
                </a:solidFill>
              </a:defRPr>
            </a:pPr>
            <a:r>
              <a:rPr sz="2700" b="1">
                <a:solidFill>
                  <a:srgbClr val="593F7A"/>
                </a:solidFill>
              </a:rPr>
              <a:t>Worked calculation and decision 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7C3CE7-BEF4-4F2F-9479-772B8B35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0"/>
                </a:solidFill>
              </a:defRPr>
            </a:pPr>
            <a:r>
              <a:rPr sz="900" b="0">
                <a:solidFill>
                  <a:srgbClr val="617080"/>
                </a:solidFill>
              </a:rPr>
              <a:t>Orchid Cellworks | Study Alpha | 2026-07-13 | cohort A-24 | assay 6.8 ng/mL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5BBE8F-329B-4042-BEA4-219674C6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3F7A"/>
                </a:solidFill>
              </a:defRPr>
            </a:pPr>
            <a:r>
              <a:rPr sz="1500" b="1">
                <a:solidFill>
                  <a:srgbClr val="593F7A"/>
                </a:solidFill>
              </a:rPr>
              <a:t>Reference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7A9F1-1D6C-4FD5-A608-4CFC4381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1925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65D"/>
                </a:solidFill>
              </a:defRPr>
            </a:pPr>
            <a:r>
              <a:rPr sz="1500" b="0">
                <a:solidFill>
                  <a:srgbClr val="17365D"/>
                </a:solidFill>
              </a:rPr>
              <a:t>6.8 ng/mL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15753-9F1D-46A7-B025-F290B8B6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</a:defRPr>
            </a:pPr>
            <a:r>
              <a:rPr sz="1200" b="0">
                <a:solidFill>
                  <a:srgbClr val="617080"/>
                </a:solidFill>
              </a:rPr>
              <a:t>Study Alpha A-24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F37E4-F7F9-4CC0-8BCC-FE840F3A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3F7A"/>
                </a:solidFill>
              </a:defRPr>
            </a:pPr>
            <a:r>
              <a:rPr sz="1500" b="1">
                <a:solidFill>
                  <a:srgbClr val="593F7A"/>
                </a:solidFill>
              </a:rPr>
              <a:t>Duplicate pair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D9D7C-364D-40A7-BFD1-19C3954F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65D"/>
                </a:solidFill>
              </a:defRPr>
            </a:pPr>
            <a:r>
              <a:rPr sz="1500" b="0">
                <a:solidFill>
                  <a:srgbClr val="17365D"/>
                </a:solidFill>
              </a:rPr>
              <a:t>6.6 / 7.0 ng/mL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26AAAF-BA4E-453A-A314-3D1D2D1C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2412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</a:defRPr>
            </a:pPr>
            <a:r>
              <a:rPr sz="1200" b="0">
                <a:solidFill>
                  <a:srgbClr val="617080"/>
                </a:solidFill>
              </a:rPr>
              <a:t>Discuss the reasoning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E03B1-4CCB-4F09-96A8-26370F00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3F7A"/>
                </a:solidFill>
              </a:defRPr>
            </a:pPr>
            <a:r>
              <a:rPr sz="1500" b="1">
                <a:solidFill>
                  <a:srgbClr val="593F7A"/>
                </a:solidFill>
              </a:rPr>
              <a:t>Recovery window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6F7F1-66AA-4C81-81AE-AAA5087E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290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65D"/>
                </a:solidFill>
              </a:defRPr>
            </a:pPr>
            <a:r>
              <a:rPr sz="1500" b="0">
                <a:solidFill>
                  <a:srgbClr val="17365D"/>
                </a:solidFill>
              </a:rPr>
              <a:t>90-110%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B7282-53D7-434C-BB46-1DFF691B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</a:defRPr>
            </a:pPr>
            <a:r>
              <a:rPr sz="1200" b="0">
                <a:solidFill>
                  <a:srgbClr val="617080"/>
                </a:solidFill>
              </a:rPr>
              <a:t>Discuss the reasoning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36F08-1C8C-49C2-A185-45BE2511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93F7A"/>
                </a:solidFill>
              </a:defRPr>
            </a:pPr>
            <a:r>
              <a:rPr sz="1500" b="1">
                <a:solidFill>
                  <a:srgbClr val="593F7A"/>
                </a:solidFill>
              </a:rPr>
              <a:t>Participant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0C63B-B1E6-4026-81B4-6211F6DF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338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365D"/>
                </a:solidFill>
              </a:defRPr>
            </a:pPr>
            <a:r>
              <a:rPr sz="1500" b="0">
                <a:solidFill>
                  <a:srgbClr val="17365D"/>
                </a:solidFill>
              </a:rPr>
              <a:t>Would you record pass or hold?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ABCDB-D030-4C47-9941-A38AF2B3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33875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17080"/>
                </a:solidFill>
              </a:defRPr>
            </a:pPr>
            <a:r>
              <a:rPr sz="1200" b="0">
                <a:solidFill>
                  <a:srgbClr val="617080"/>
                </a:solidFill>
              </a:rPr>
              <a:t>Discuss the reasoning</a:t>
            </a:r>
          </a:p>
        </p:txBody>
      </p:sp>
    </p:spTree>
    <p:extLst>
      <p:ext uri="{BB962C8B-B14F-4D97-AF65-F5344CB8AC3E}">
        <p14:creationId xmlns:p14="http://schemas.microsoft.com/office/powerpoint/2010/main" val="5250751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024E7-0AFB-4119-BD6E-0FCE1DA2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93F7A"/>
                </a:solidFill>
              </a:defRPr>
            </a:pPr>
            <a:r>
              <a:rPr sz="2700" b="1">
                <a:solidFill>
                  <a:srgbClr val="593F7A"/>
                </a:solidFill>
              </a:rPr>
              <a:t>Takeaways and action capture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7368D9-399C-4D3D-B3E5-CF050105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10325"/>
            <a:ext cx="1047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17080"/>
                </a:solidFill>
              </a:defRPr>
            </a:pPr>
            <a:r>
              <a:rPr sz="900" b="0">
                <a:solidFill>
                  <a:srgbClr val="617080"/>
                </a:solidFill>
              </a:rPr>
              <a:t>Orchid Cellworks | Study Alpha | 2026-07-13 | cohort A-24 | assay 6.8 ng/mL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05AA3-5AC4-4607-8C21-2C964491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3F7A"/>
                </a:solidFill>
              </a:defRPr>
            </a:pPr>
            <a:r>
              <a:rPr sz="1575" b="1">
                <a:solidFill>
                  <a:srgbClr val="593F7A"/>
                </a:solidFill>
              </a:rPr>
              <a:t>Capture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54EC4-13AC-4D82-B724-2492E181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B3A"/>
                </a:solidFill>
              </a:defRPr>
            </a:pPr>
            <a:r>
              <a:rPr sz="1425" b="0">
                <a:solidFill>
                  <a:srgbClr val="182B3A"/>
                </a:solidFill>
              </a:rPr>
              <a:t>Write the rationale: 6.8 ng/mL reference, duplicate CV at or below 10%, recovery 90-110%.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39EE3-716C-407E-9FF2-F88CE294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93F7A"/>
                </a:solidFill>
              </a:defRPr>
            </a:pPr>
            <a:r>
              <a:rPr sz="1575" b="1">
                <a:solidFill>
                  <a:srgbClr val="593F7A"/>
                </a:solidFill>
              </a:rPr>
              <a:t>Take away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38E47-0F0D-4674-84E2-DF510C4E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82B3A"/>
                </a:solidFill>
              </a:defRPr>
            </a:pPr>
            <a:r>
              <a:rPr sz="1425" b="0">
                <a:solidFill>
                  <a:srgbClr val="182B3A"/>
                </a:solidFill>
              </a:rPr>
              <a:t>Bring one plate-layout question and one decision note to the next synthetic methods review.</a:t>
            </a:r>
          </a:p>
        </p:txBody>
      </p:sp>
    </p:spTree>
    <p:extLst>
      <p:ext uri="{BB962C8B-B14F-4D97-AF65-F5344CB8AC3E}">
        <p14:creationId xmlns:p14="http://schemas.microsoft.com/office/powerpoint/2010/main" val="141257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2026-08-23T07:59:35.7650000Z</dcterms:created>
  <dcterms:modified xsi:type="dcterms:W3CDTF">2026-08-23T07:59:35.7650000Z</dcterms:modified>
</coreProperties>
</file>