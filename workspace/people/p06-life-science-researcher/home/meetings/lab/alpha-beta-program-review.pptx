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5c2729102642ac" /><Relationship Type="http://schemas.openxmlformats.org/officeDocument/2006/relationships/extended-properties" Target="/docProps/app.xml" Id="R659ee41985db4ef0" /><Relationship Type="http://schemas.openxmlformats.org/officeDocument/2006/relationships/officeDocument" Target="/ppt/presentation.xml" Id="R24684865238a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24cc9a95224401"/>
  </p:sldMasterIdLst>
  <p:notesMasterIdLst>
    <p:notesMasterId xmlns:r="http://schemas.openxmlformats.org/officeDocument/2006/relationships" r:id="R053d2459ecea4c7c"/>
  </p:notesMasterIdLst>
  <p:sldIdLst>
    <p:sldId xmlns:r="http://schemas.openxmlformats.org/officeDocument/2006/relationships" id="256" r:id="Rcb48b3431ad34d30"/>
    <p:sldId xmlns:r="http://schemas.openxmlformats.org/officeDocument/2006/relationships" id="257" r:id="R4add50fddf424849"/>
    <p:sldId xmlns:r="http://schemas.openxmlformats.org/officeDocument/2006/relationships" id="258" r:id="R95fbe8989f594736"/>
    <p:sldId xmlns:r="http://schemas.openxmlformats.org/officeDocument/2006/relationships" id="259" r:id="R8a55601c27bf48a2"/>
    <p:sldId xmlns:r="http://schemas.openxmlformats.org/officeDocument/2006/relationships" id="260" r:id="R4a44e80f0205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8aa4b1d0744de" /><Relationship Type="http://schemas.openxmlformats.org/officeDocument/2006/relationships/slideMaster" Target="/ppt/slideMasters/slideMaster1.xml" Id="Rce24cc9a95224401" /><Relationship Type="http://schemas.openxmlformats.org/officeDocument/2006/relationships/notesMaster" Target="/ppt/notesMasters/notesMaster1.xml" Id="R053d2459ecea4c7c" /><Relationship Type="http://schemas.openxmlformats.org/officeDocument/2006/relationships/presProps" Target="/ppt/presProps.xml" Id="R1aa1b69964034205" /><Relationship Type="http://schemas.openxmlformats.org/officeDocument/2006/relationships/tableStyles" Target="/ppt/tableStyles.xml" Id="Rd8ebe7937dcf4f87" /><Relationship Type="http://schemas.openxmlformats.org/officeDocument/2006/relationships/slide" Target="/ppt/slides/slide1.xml" Id="Rcb48b3431ad34d30" /><Relationship Type="http://schemas.openxmlformats.org/officeDocument/2006/relationships/slide" Target="/ppt/slides/slide2.xml" Id="R4add50fddf424849" /><Relationship Type="http://schemas.openxmlformats.org/officeDocument/2006/relationships/slide" Target="/ppt/slides/slide3.xml" Id="R95fbe8989f594736" /><Relationship Type="http://schemas.openxmlformats.org/officeDocument/2006/relationships/slide" Target="/ppt/slides/slide4.xml" Id="R8a55601c27bf48a2" /><Relationship Type="http://schemas.openxmlformats.org/officeDocument/2006/relationships/slide" Target="/ppt/slides/slide5.xml" Id="R4a44e80f0205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f4ef437e5d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8e06f48b34f5d" /><Relationship Type="http://schemas.openxmlformats.org/officeDocument/2006/relationships/notesMaster" Target="/ppt/notesMasters/notesMaster1.xml" Id="R8f2b32adf3b9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e2733719cf46c1" /><Relationship Type="http://schemas.openxmlformats.org/officeDocument/2006/relationships/notesMaster" Target="/ppt/notesMasters/notesMaster1.xml" Id="R2fa0e8aa5bbc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b6106e3510489a" /><Relationship Type="http://schemas.openxmlformats.org/officeDocument/2006/relationships/notesMaster" Target="/ppt/notesMasters/notesMaster1.xml" Id="Rf9fcf19136e8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f92ce0008d462f" /><Relationship Type="http://schemas.openxmlformats.org/officeDocument/2006/relationships/notesMaster" Target="/ppt/notesMasters/notesMaster1.xml" Id="Raf179de58f6f44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7cf785f781496b" /><Relationship Type="http://schemas.openxmlformats.org/officeDocument/2006/relationships/notesMaster" Target="/ppt/notesMasters/notesMaster1.xml" Id="R5428ae71f871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474fcf08d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50587de7204054" /><Relationship Type="http://schemas.openxmlformats.org/officeDocument/2006/relationships/slideLayout" Target="/ppt/slideLayouts/slideLayout1.xml" Id="Rfcdb43557e10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b43557e10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510ee84d4803" /><Relationship Type="http://schemas.openxmlformats.org/officeDocument/2006/relationships/notesSlide" Target="/ppt/notesSlides/notesSlide1.xml" Id="R87aa7938ca28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571c182d74f3c" /><Relationship Type="http://schemas.openxmlformats.org/officeDocument/2006/relationships/notesSlide" Target="/ppt/notesSlides/notesSlide2.xml" Id="Rb906eb45cac7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945a0e51a4edd" /><Relationship Type="http://schemas.openxmlformats.org/officeDocument/2006/relationships/chart" Target="/ppt/slides/charts/chart1.xml" Id="Rb7d9897d9bfd4037" /><Relationship Type="http://schemas.openxmlformats.org/officeDocument/2006/relationships/notesSlide" Target="/ppt/notesSlides/notesSlide3.xml" Id="R7c63f4ab8053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5ba13534f48b7" /><Relationship Type="http://schemas.openxmlformats.org/officeDocument/2006/relationships/notesSlide" Target="/ppt/notesSlides/notesSlide4.xml" Id="R16cedac1b50f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2073edc8c47ce" /><Relationship Type="http://schemas.openxmlformats.org/officeDocument/2006/relationships/notesSlide" Target="/ppt/notesSlides/notesSlide5.xml" Id="Rb92f8f8b8558485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Assay (ng/mL)</c:v>
          </c:tx>
          <c:spPr>
            <a:solidFill xmlns:a="http://schemas.openxmlformats.org/drawingml/2006/main">
              <a:srgbClr val="0D9488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4</c:v>
              </c:pt>
              <c:pt idx="2">
                <c:v>8</c:v>
              </c:pt>
              <c:pt idx="3">
                <c:v>12</c:v>
              </c:pt>
              <c:pt idx="4">
                <c:v>16</c:v>
              </c:pt>
              <c:pt idx="5">
                <c:v>20</c:v>
              </c:pt>
              <c:pt idx="6">
                <c:v>24</c:v>
              </c:pt>
            </c:numLit>
          </c:cat>
          <c:val>
            <c:numLit>
              <c:formatCode>General</c:formatCode>
              <c:ptCount val="7"/>
              <c:pt idx="0">
                <c:v>5.7</c:v>
              </c:pt>
              <c:pt idx="1">
                <c:v>6.4</c:v>
              </c:pt>
              <c:pt idx="2">
                <c:v>6.8</c:v>
              </c:pt>
              <c:pt idx="3">
                <c:v>6.9</c:v>
              </c:pt>
              <c:pt idx="4">
                <c:v>7</c:v>
              </c:pt>
              <c:pt idx="5">
                <c:v>6.8</c:v>
              </c:pt>
              <c:pt idx="6">
                <c:v>6.8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D1C8B-89EC-440F-B830-40F78CB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SYNTHETIC RESEARCH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FC564-3EC2-4F89-A7FA-1BD0E63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Alpha/Beta program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29B4E-A92B-4C53-8C0B-2756E067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9AEF6-045B-410F-BD6F-7DC21277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A synthetic program comparison: Alpha A-24 assay reference 6.8 ng/mL; Beta B-16 baseline 1.00 and treated 1.18.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5E95D-C651-426A-90F8-15151811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D9488"/>
                </a:solidFill>
              </a:defRPr>
            </a:pPr>
            <a:r>
              <a:rPr sz="4650" b="1">
                <a:solidFill>
                  <a:srgbClr val="0D9488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7C18-520F-4058-8021-405331C2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synthetic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192F-CF16-44DB-8406-66D7AF4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 participant, clinical, or live laboratory data are represented.</a:t>
            </a:r>
          </a:p>
        </p:txBody>
      </p:sp>
    </p:spTree>
    <p:extLst>
      <p:ext uri="{BB962C8B-B14F-4D97-AF65-F5344CB8AC3E}">
        <p14:creationId xmlns:p14="http://schemas.microsoft.com/office/powerpoint/2010/main" val="1798410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3AA77-3BF1-46F5-A75F-9D7280D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01 / DECISION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9B090-F18E-49AA-A6A9-7CB4F4A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Analytical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F949C-F398-47B9-8189-BD16826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A9627-B5FF-4546-82D2-A1180C7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How does Study Alpha A-24 readiness inform the synthetic Study Beta B-16 comparator discussion?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FE067-DF68-4D46-83AD-66D80649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8F3BA-CCDB-421B-ADAC-0D59C5C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6.8 ng/mL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4601C-B856-4DC4-B8AC-0594091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CV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B7E77-386F-4A1B-A494-4E34ECD5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≤ 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6E910-5625-47E6-983D-038DAB4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7A14F-E2A2-4317-966A-4DFFA012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4C5C"/>
                </a:solidFill>
              </a:defRPr>
            </a:pPr>
            <a:r>
              <a:rPr sz="2100" b="1">
                <a:solidFill>
                  <a:srgbClr val="0F4C5C"/>
                </a:solidFill>
              </a:rPr>
              <a:t>90–110%</a:t>
            </a:r>
          </a:p>
        </p:txBody>
      </p:sp>
    </p:spTree>
    <p:extLst>
      <p:ext uri="{BB962C8B-B14F-4D97-AF65-F5344CB8AC3E}">
        <p14:creationId xmlns:p14="http://schemas.microsoft.com/office/powerpoint/2010/main" val="511551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57B9F-8159-4349-9186-0527E622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02 /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7222A-FA9E-45B9-B2C0-B2C710A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Program evidence in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5CCD5-EF60-4691-82A1-2544172A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d9897d9bfd40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A26BF-7EB8-4364-8D50-B9AFB39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4C5C"/>
                </a:solidFill>
              </a:defRPr>
            </a:pPr>
            <a:r>
              <a:rPr sz="2250" b="1">
                <a:solidFill>
                  <a:srgbClr val="0F4C5C"/>
                </a:solidFill>
              </a:rPr>
              <a:t>Alpha median</a:t>
            </a:r>
          </a:p>
          <a:p xmlns:a="http://schemas.openxmlformats.org/drawingml/2006/main">
            <a:pPr>
              <a:defRPr sz="2250" b="1">
                <a:solidFill>
                  <a:srgbClr val="0F4C5C"/>
                </a:solidFill>
              </a:defRPr>
            </a:pPr>
            <a:r>
              <a:rPr sz="2250" b="1">
                <a:solidFill>
                  <a:srgbClr val="0F4C5C"/>
                </a:solidFill>
              </a:rPr>
              <a:t>6.8 ng/mL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B98D5-2017-40CB-845C-64B4ABDC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9488"/>
                </a:solidFill>
              </a:defRPr>
            </a:pPr>
            <a:r>
              <a:rPr sz="2250" b="1">
                <a:solidFill>
                  <a:srgbClr val="0D9488"/>
                </a:solidFill>
              </a:rPr>
              <a:t>Alpha duplicate CV</a:t>
            </a:r>
          </a:p>
          <a:p xmlns:a="http://schemas.openxmlformats.org/drawingml/2006/main">
            <a:pPr>
              <a:defRPr sz="2250" b="1">
                <a:solidFill>
                  <a:srgbClr val="0D9488"/>
                </a:solidFill>
              </a:defRPr>
            </a:pPr>
            <a:r>
              <a:rPr sz="2250" b="1">
                <a:solidFill>
                  <a:srgbClr val="0D9488"/>
                </a:solidFill>
              </a:rPr>
              <a:t>5.01%</a:t>
            </a:r>
          </a:p>
        </p:txBody>
      </p:sp>
    </p:spTree>
    <p:extLst>
      <p:ext uri="{BB962C8B-B14F-4D97-AF65-F5344CB8AC3E}">
        <p14:creationId xmlns:p14="http://schemas.microsoft.com/office/powerpoint/2010/main" val="1253686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C93D0-CC56-4F1E-A0C6-A57219D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03 / QC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6190A-FBC4-46F4-A71A-87C49A7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Shared quality-control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1DE93-E16B-431A-8AB1-8C13C2B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B3555-3531-40EC-88B3-FFC4120A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Three checks, one reviewable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D669E-3F24-4BD2-843C-3A8D2A39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1369A-F1CC-47F4-8988-12DAF73A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24 unique synthetic OCW-A24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C5BD1-254B-428A-B4F0-BF510909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28A18-4A48-4517-91C1-96E0E80A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BC6B-F430-48AA-8CB8-9634C348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Maximum duplicate CV remains below 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A11BB-6F54-46C9-B0E3-B14C81C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B11F3-DD73-4B6A-84F3-AE2E1AB9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4C5C"/>
                </a:solidFill>
              </a:defRPr>
            </a:pPr>
            <a:r>
              <a:rPr sz="1500" b="1">
                <a:solidFill>
                  <a:srgbClr val="0F4C5C"/>
                </a:solidFill>
              </a:rPr>
              <a:t>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041B5-8AD3-49F2-9FFE-5A5F642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Synthetic recoveries remain inside 90–110%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9CFC2-ECC0-4632-BD84-0D3129D4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81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9488"/>
                </a:solidFill>
              </a:defRPr>
            </a:pPr>
            <a:r>
              <a:rPr sz="1350" b="1">
                <a:solidFill>
                  <a:srgbClr val="0D9488"/>
                </a:solidFill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686418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6DE11-114C-40C7-9A06-FDC6C5B0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D9488"/>
                </a:solidFill>
              </a:defRPr>
            </a:pPr>
            <a:r>
              <a:rPr sz="1050" b="1">
                <a:solidFill>
                  <a:srgbClr val="0D9488"/>
                </a:solidFill>
              </a:rPr>
              <a:t>04 /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AB3E6-B448-4CB5-82E0-E7D7ACA9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4C5C"/>
                </a:solidFill>
              </a:defRPr>
            </a:pPr>
            <a:r>
              <a:rPr sz="2850" b="1">
                <a:solidFill>
                  <a:srgbClr val="0F4C5C"/>
                </a:solidFill>
              </a:rPr>
              <a:t>Program review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E0B17-64E3-4270-9728-A811D1B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Orchid Cellworks • Study Alpha • cohort A-24 •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6DAC0-E993-4C4B-B3EF-37676F82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340D5-0FD5-48EB-9C56-42E4758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Retain Alpha A-24 diagnostics and the B-16 comparator 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8EB97-D7D5-4E32-8BBF-96DAE76E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40C21-983D-464A-84F0-5A7E4195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194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Review OCW-BIO-017 and ALPHA-A24-R03 before the next program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C4EE6-C39B-42CE-9EDD-668F8DF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9488"/>
                </a:solidFill>
              </a:defRPr>
            </a:pPr>
            <a:r>
              <a:rPr sz="2400" b="1">
                <a:solidFill>
                  <a:srgbClr val="0D9488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AEDCE-41C5-4DC7-9B31-634BB00B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1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Document baseline 1.00 and treated 1.18 as synthetic Beta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4975B-0150-431E-9934-ADE8723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All artifacts are synthetic corpus material; no clinical or operational decision is implied.</a:t>
            </a:r>
          </a:p>
        </p:txBody>
      </p:sp>
    </p:spTree>
    <p:extLst>
      <p:ext uri="{BB962C8B-B14F-4D97-AF65-F5344CB8AC3E}">
        <p14:creationId xmlns:p14="http://schemas.microsoft.com/office/powerpoint/2010/main" val="31081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2026-08-23T08:00:52.8900000Z</dcterms:created>
  <dcterms:modified xsi:type="dcterms:W3CDTF">2026-08-23T08:00:52.8900000Z</dcterms:modified>
</coreProperties>
</file>