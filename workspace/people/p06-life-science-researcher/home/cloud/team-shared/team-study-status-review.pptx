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77240"/>
            <a:ext cx="6309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1F4E79"/>
                </a:solidFill>
                <a:latin typeface="Aptos"/>
              </a:rPr>
              <a:t>Study Alpha A-24
status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2249424"/>
            <a:ext cx="1920240" cy="54864"/>
          </a:xfrm>
          <a:prstGeom prst="rect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5B6573"/>
                </a:solidFill>
                <a:latin typeface="Aptos"/>
              </a:rPr>
              <a:t>Orchid Cellworks team handoff
Study Beta B-16 comparator context
2026-07-13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2412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47D89"/>
                </a:solidFill>
                <a:latin typeface="Aptos"/>
              </a:rPr>
              <a:t>ASSAY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187451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200" b="1">
                <a:solidFill>
                  <a:srgbClr val="1F4E79"/>
                </a:solidFill>
                <a:latin typeface="Aptos"/>
              </a:rPr>
              <a:t>6.8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0391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>
                <a:solidFill>
                  <a:srgbClr val="5B6573"/>
                </a:solidFill>
                <a:latin typeface="Aptos"/>
              </a:rPr>
              <a:t>ng/mL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321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ORCHID CELLWORKS  |  SYNTHETIC INTERNAL REVIEW  |  2026-07-13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64922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5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1F4E79"/>
                </a:solidFill>
                <a:latin typeface="Aptos"/>
              </a:rPr>
              <a:t>What is ready for team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088136"/>
            <a:ext cx="1371600" cy="54864"/>
          </a:xfrm>
          <a:prstGeom prst="rect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5B6573"/>
                </a:solidFill>
                <a:latin typeface="Aptos"/>
              </a:rPr>
              <a:t>The package documents operational readiness; it does not make a clinical or cross-study performance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2468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7D89"/>
                </a:solidFill>
                <a:latin typeface="Aptos"/>
              </a:rPr>
              <a:t>Study Alpha A-24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871216"/>
            <a:ext cx="214884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815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2026-07-13 review record
Orchid cytokine panel
6.8 ng/mL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0712" y="2148840"/>
            <a:ext cx="2468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7D89"/>
                </a:solidFill>
                <a:latin typeface="Aptos"/>
              </a:rPr>
              <a:t>Study Beta B-16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2871216"/>
            <a:ext cx="214884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30815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Comparator context only
Same reporting convention
No equivalence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2148840"/>
            <a:ext cx="2468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7D89"/>
                </a:solidFill>
                <a:latin typeface="Aptos"/>
              </a:rPr>
              <a:t>Shared handoff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2871216"/>
            <a:ext cx="214884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30815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Windows lab-workstation
SMB staging to team-shared
Archive after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8321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ORCHID CELLWORKS  |  SYNTHETIC INTERNAL REVIEW  |  2026-07-13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64922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5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1F4E79"/>
                </a:solidFill>
                <a:latin typeface="Aptos"/>
              </a:rPr>
              <a:t>Alpha result is review-ready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078992"/>
            <a:ext cx="1554480" cy="54864"/>
          </a:xfrm>
          <a:prstGeom prst="rect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573"/>
                </a:solidFill>
                <a:latin typeface="Aptos"/>
              </a:rPr>
              <a:t>The core check is traceability of date, cohort, assay, unit, and disposition.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7D89"/>
                </a:solidFill>
                <a:latin typeface="Aptos"/>
              </a:rPr>
              <a:t>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Study Alpha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59152"/>
            <a:ext cx="726948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2432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7D89"/>
                </a:solidFill>
                <a:latin typeface="Aptos"/>
              </a:rPr>
              <a:t>Cohort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2432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A-24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17520"/>
            <a:ext cx="726948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8269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7D89"/>
                </a:solidFill>
                <a:latin typeface="Aptos"/>
              </a:rPr>
              <a:t>Assay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8269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Orchid cytokine panel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726948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4106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7D89"/>
                </a:solidFill>
                <a:latin typeface="Aptos"/>
              </a:rPr>
              <a:t>Reported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41064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6.8 ng/mL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34256"/>
            <a:ext cx="726948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99431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7D89"/>
                </a:solidFill>
                <a:latin typeface="Aptos"/>
              </a:rPr>
              <a:t>Disposition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99431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Accept for team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992623"/>
            <a:ext cx="7269480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726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573"/>
                </a:solidFill>
                <a:latin typeface="Aptos"/>
              </a:rPr>
              <a:t>Review note: preserve the assay unit and cohort label in every meeting artifact.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321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ORCHID CELLWORKS  |  SYNTHETIC INTERNAL REVIEW  |  2026-07-13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64922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5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F4E79"/>
                </a:solidFill>
                <a:latin typeface="Aptos"/>
              </a:rPr>
              <a:t>Beta B-16 is context, not a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572768"/>
            <a:ext cx="1828800" cy="54864"/>
          </a:xfrm>
          <a:prstGeom prst="rect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573"/>
                </a:solidFill>
                <a:latin typeface="Aptos"/>
              </a:rPr>
              <a:t>Comparator handling keeps the team discussion scoped and readable.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7D89"/>
                </a:solidFill>
                <a:latin typeface="Aptos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Use Beta B-16 to distinguish the separate study package and confirm consistent reporting conventions.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25786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B3A32"/>
                </a:solidFill>
                <a:latin typeface="Aptos"/>
              </a:rPr>
              <a:t>DO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30175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Infer efficacy, equivalence, or a cross-study performance result from this operational review package.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560320"/>
            <a:ext cx="54864" cy="54864"/>
          </a:xfrm>
          <a:prstGeom prst="rect">
            <a:avLst/>
          </a:prstGeom>
          <a:solidFill>
            <a:srgbClr val="D6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321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ORCHID CELLWORKS  |  SYNTHETIC INTERNAL REVIEW  |  2026-07-13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4922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5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F4E79"/>
                </a:solidFill>
                <a:latin typeface="Aptos"/>
              </a:rPr>
              <a:t>Transfer path and meeting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371600"/>
            <a:ext cx="1554480" cy="54864"/>
          </a:xfrm>
          <a:prstGeom prst="rect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847088"/>
            <a:ext cx="411480" cy="411480"/>
          </a:xfrm>
          <a:prstGeom prst="ellipse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92807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Windows lab-workstation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56432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Stage synthetic export and review record</a:t>
            </a:r>
          </a:p>
        </p:txBody>
      </p:sp>
      <p:sp>
        <p:nvSpPr>
          <p:cNvPr id="8" name="Oval 7"/>
          <p:cNvSpPr/>
          <p:nvPr/>
        </p:nvSpPr>
        <p:spPr>
          <a:xfrm>
            <a:off x="2734056" y="1847088"/>
            <a:ext cx="411480" cy="411480"/>
          </a:xfrm>
          <a:prstGeom prst="ellipse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4056" y="1892807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056" y="2514600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SMB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3456432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Place package in team-shared</a:t>
            </a:r>
          </a:p>
        </p:txBody>
      </p:sp>
      <p:sp>
        <p:nvSpPr>
          <p:cNvPr id="12" name="Oval 11"/>
          <p:cNvSpPr/>
          <p:nvPr/>
        </p:nvSpPr>
        <p:spPr>
          <a:xfrm>
            <a:off x="4873752" y="1847088"/>
            <a:ext cx="411480" cy="411480"/>
          </a:xfrm>
          <a:prstGeom prst="ellipse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514600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Team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3456432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Confirm labels, status, and scoped comparator use</a:t>
            </a:r>
          </a:p>
        </p:txBody>
      </p:sp>
      <p:sp>
        <p:nvSpPr>
          <p:cNvPr id="16" name="Oval 15"/>
          <p:cNvSpPr/>
          <p:nvPr/>
        </p:nvSpPr>
        <p:spPr>
          <a:xfrm>
            <a:off x="7013448" y="1847088"/>
            <a:ext cx="411480" cy="411480"/>
          </a:xfrm>
          <a:prstGeom prst="ellipse">
            <a:avLst/>
          </a:prstGeom>
          <a:solidFill>
            <a:srgbClr val="14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1892807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514600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456432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Retain meeting outcome with shared 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23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573"/>
                </a:solidFill>
                <a:latin typeface="Aptos"/>
              </a:rPr>
              <a:t>Close: the team can proceed with a bounded status review of Alpha A-24 while keeping Beta B-16 in its comparator-only role.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321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ORCHID CELLWORKS  |  SYNTHETIC INTERNAL REVIEW  |  2026-07-13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64922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5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