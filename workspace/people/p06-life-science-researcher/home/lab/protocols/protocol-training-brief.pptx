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beeb8b9fd2c4a43" /><Relationship Type="http://schemas.openxmlformats.org/officeDocument/2006/relationships/extended-properties" Target="/docProps/app.xml" Id="R9e63a45464954820" /><Relationship Type="http://schemas.openxmlformats.org/officeDocument/2006/relationships/officeDocument" Target="/ppt/presentation.xml" Id="Rad18ef357b424f9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c184dad49bd4fe5"/>
  </p:sldMasterIdLst>
  <p:notesMasterIdLst>
    <p:notesMasterId xmlns:r="http://schemas.openxmlformats.org/officeDocument/2006/relationships" r:id="R9ba8547cd01d4cd4"/>
  </p:notesMasterIdLst>
  <p:sldIdLst>
    <p:sldId xmlns:r="http://schemas.openxmlformats.org/officeDocument/2006/relationships" id="256" r:id="R93797731e73744af"/>
    <p:sldId xmlns:r="http://schemas.openxmlformats.org/officeDocument/2006/relationships" id="257" r:id="R975b3635d4df4b21"/>
    <p:sldId xmlns:r="http://schemas.openxmlformats.org/officeDocument/2006/relationships" id="258" r:id="R7a913ee12e8a4802"/>
    <p:sldId xmlns:r="http://schemas.openxmlformats.org/officeDocument/2006/relationships" id="259" r:id="R431405c01ceb4848"/>
    <p:sldId xmlns:r="http://schemas.openxmlformats.org/officeDocument/2006/relationships" id="260" r:id="Ra6d31886886f4ed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711ee34d67a4783" /><Relationship Type="http://schemas.openxmlformats.org/officeDocument/2006/relationships/slideMaster" Target="/ppt/slideMasters/slideMaster1.xml" Id="R6c184dad49bd4fe5" /><Relationship Type="http://schemas.openxmlformats.org/officeDocument/2006/relationships/notesMaster" Target="/ppt/notesMasters/notesMaster1.xml" Id="R9ba8547cd01d4cd4" /><Relationship Type="http://schemas.openxmlformats.org/officeDocument/2006/relationships/presProps" Target="/ppt/presProps.xml" Id="R9d854223364848c5" /><Relationship Type="http://schemas.openxmlformats.org/officeDocument/2006/relationships/tableStyles" Target="/ppt/tableStyles.xml" Id="R60d27264ca644e26" /><Relationship Type="http://schemas.openxmlformats.org/officeDocument/2006/relationships/slide" Target="/ppt/slides/slide1.xml" Id="R93797731e73744af" /><Relationship Type="http://schemas.openxmlformats.org/officeDocument/2006/relationships/slide" Target="/ppt/slides/slide2.xml" Id="R975b3635d4df4b21" /><Relationship Type="http://schemas.openxmlformats.org/officeDocument/2006/relationships/slide" Target="/ppt/slides/slide3.xml" Id="R7a913ee12e8a4802" /><Relationship Type="http://schemas.openxmlformats.org/officeDocument/2006/relationships/slide" Target="/ppt/slides/slide4.xml" Id="R431405c01ceb4848" /><Relationship Type="http://schemas.openxmlformats.org/officeDocument/2006/relationships/slide" Target="/ppt/slides/slide5.xml" Id="Ra6d31886886f4ed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e6a37fdbe50408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4919eccc8114402" /><Relationship Type="http://schemas.openxmlformats.org/officeDocument/2006/relationships/notesMaster" Target="/ppt/notesMasters/notesMaster1.xml" Id="Rb6018fd695d34b8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b234c99d1724daa" /><Relationship Type="http://schemas.openxmlformats.org/officeDocument/2006/relationships/notesMaster" Target="/ppt/notesMasters/notesMaster1.xml" Id="R9f54ba7612064bb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794cefe8b0640a2" /><Relationship Type="http://schemas.openxmlformats.org/officeDocument/2006/relationships/notesMaster" Target="/ppt/notesMasters/notesMaster1.xml" Id="Rcb6725b63bed430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2967b0466474eab" /><Relationship Type="http://schemas.openxmlformats.org/officeDocument/2006/relationships/notesMaster" Target="/ppt/notesMasters/notesMaster1.xml" Id="R58d9218cc3fd4ac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e876168a0dc4372" /><Relationship Type="http://schemas.openxmlformats.org/officeDocument/2006/relationships/notesMaster" Target="/ppt/notesMasters/notesMaster1.xml" Id="R9062a2abf99f4d6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03ccf28930418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7d16b8790184a2f" /><Relationship Type="http://schemas.openxmlformats.org/officeDocument/2006/relationships/slideLayout" Target="/ppt/slideLayouts/slideLayout1.xml" Id="R0541b80f018c4ed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541b80f018c4ed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7f786938484548" /><Relationship Type="http://schemas.openxmlformats.org/officeDocument/2006/relationships/notesSlide" Target="/ppt/notesSlides/notesSlide1.xml" Id="R7f2a8fef75b348b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c40d0e789044ed" /><Relationship Type="http://schemas.openxmlformats.org/officeDocument/2006/relationships/notesSlide" Target="/ppt/notesSlides/notesSlide2.xml" Id="R7bc7f1e0e7c6414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13b0dc128f4aaa" /><Relationship Type="http://schemas.openxmlformats.org/officeDocument/2006/relationships/notesSlide" Target="/ppt/notesSlides/notesSlide3.xml" Id="Re41539d92c1c4e3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2ca48a21e14365" /><Relationship Type="http://schemas.openxmlformats.org/officeDocument/2006/relationships/notesSlide" Target="/ppt/notesSlides/notesSlide4.xml" Id="R28cd6d4e524d41a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e68ac410eb42ab" /><Relationship Type="http://schemas.openxmlformats.org/officeDocument/2006/relationships/notesSlide" Target="/ppt/notesSlides/notesSlide5.xml" Id="R3afa6bacf84443e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C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A4E432-667B-44B1-A0C7-0278DF84F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593F7A"/>
                </a:solidFill>
              </a:defRPr>
            </a:pPr>
            <a:r>
              <a:rPr sz="2700" b="1">
                <a:solidFill>
                  <a:srgbClr val="593F7A"/>
                </a:solidFill>
              </a:rPr>
              <a:t>Protocol training brief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3FADED-3DE2-4A02-B891-75F249168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10325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17080"/>
                </a:solidFill>
              </a:defRPr>
            </a:pPr>
            <a:r>
              <a:rPr sz="900" b="0">
                <a:solidFill>
                  <a:srgbClr val="617080"/>
                </a:solidFill>
              </a:rPr>
              <a:t>Orchid Cellworks | Study Alpha | 2026-07-13 | cohort A-24 | assay 6.8 ng/mL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E94606-EB20-4BEC-AC90-4DAD58917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285875"/>
            <a:ext cx="857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65D"/>
                </a:solidFill>
              </a:defRPr>
            </a:pPr>
            <a:r>
              <a:rPr sz="1725" b="0">
                <a:solidFill>
                  <a:srgbClr val="17365D"/>
                </a:solidFill>
              </a:rPr>
              <a:t>Synthetic laboratory workflow | Orchid Cellworks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561640-61F6-4031-A253-1F03D05BB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09750"/>
            <a:ext cx="857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82B3A"/>
                </a:solidFill>
              </a:defRPr>
            </a:pPr>
            <a:r>
              <a:rPr sz="1500" b="0">
                <a:solidFill>
                  <a:srgbClr val="182B3A"/>
                </a:solidFill>
              </a:rPr>
              <a:t>A controlled, fictional Study Alpha exercise for cohort A-24.</a:t>
            </a:r>
          </a:p>
        </p:txBody>
      </p:sp>
    </p:spTree>
    <p:extLst>
      <p:ext uri="{BB962C8B-B14F-4D97-AF65-F5344CB8AC3E}">
        <p14:creationId xmlns:p14="http://schemas.microsoft.com/office/powerpoint/2010/main" val="65331259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1C9D7B-9B99-4E59-B1C6-D9517EED3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593F7A"/>
                </a:solidFill>
              </a:defRPr>
            </a:pPr>
            <a:r>
              <a:rPr sz="2700" b="1">
                <a:solidFill>
                  <a:srgbClr val="593F7A"/>
                </a:solidFill>
              </a:rPr>
              <a:t>Run context and controls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2721A9-12B2-4E32-846C-32A1AE3A2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10325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17080"/>
                </a:solidFill>
              </a:defRPr>
            </a:pPr>
            <a:r>
              <a:rPr sz="900" b="0">
                <a:solidFill>
                  <a:srgbClr val="617080"/>
                </a:solidFill>
              </a:rPr>
              <a:t>Orchid Cellworks | Study Alpha | 2026-07-13 | cohort A-24 | assay 6.8 ng/mL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5B34B8-336C-4DE5-9BED-C417AFA83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2333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0F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606867-C217-4340-806C-33BCBE830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3357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93F7A"/>
                </a:solidFill>
              </a:defRPr>
            </a:pPr>
            <a:r>
              <a:rPr sz="1200" b="1">
                <a:solidFill>
                  <a:srgbClr val="593F7A"/>
                </a:solidFill>
              </a:rPr>
              <a:t>Protocol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8DBF1D-CE22-4E62-9AE4-D1C4492BB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050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365D"/>
                </a:solidFill>
              </a:defRPr>
            </a:pPr>
            <a:r>
              <a:rPr sz="1500" b="1">
                <a:solidFill>
                  <a:srgbClr val="17365D"/>
                </a:solidFill>
              </a:rPr>
              <a:t>OCW-BIO-017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7F72F5-CB71-4B36-AC1D-DB6C78B65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714500"/>
            <a:ext cx="2333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0F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AA341A-D813-4B44-807E-D9491A4C2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93357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93F7A"/>
                </a:solidFill>
              </a:defRPr>
            </a:pPr>
            <a:r>
              <a:rPr sz="1200" b="1">
                <a:solidFill>
                  <a:srgbClr val="593F7A"/>
                </a:solidFill>
              </a:rPr>
              <a:t>Run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EECE2E-F3E7-47F6-85CC-22047C9CC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3050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365D"/>
                </a:solidFill>
              </a:defRPr>
            </a:pPr>
            <a:r>
              <a:rPr sz="1500" b="1">
                <a:solidFill>
                  <a:srgbClr val="17365D"/>
                </a:solidFill>
              </a:rPr>
              <a:t>ALPHA-A24-R03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795765-3521-4F83-99A8-5CC1474EF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714500"/>
            <a:ext cx="2333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0F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7938B7-717D-43FB-A01A-10EC8E14B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3357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93F7A"/>
                </a:solidFill>
              </a:defRPr>
            </a:pPr>
            <a:r>
              <a:rPr sz="1200" b="1">
                <a:solidFill>
                  <a:srgbClr val="593F7A"/>
                </a:solidFill>
              </a:rPr>
              <a:t>Target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2D8527-0EF5-45BA-8DA1-E14A00B57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050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365D"/>
                </a:solidFill>
              </a:defRPr>
            </a:pPr>
            <a:r>
              <a:rPr sz="1500" b="1">
                <a:solidFill>
                  <a:srgbClr val="17365D"/>
                </a:solidFill>
              </a:rPr>
              <a:t>assay 6.8 ng/mL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E394E4-4C59-4BCC-B8E8-AD8CF1CB8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714500"/>
            <a:ext cx="2333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0F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9BE533-DA98-4A06-AED7-CB7B6B7E0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93357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93F7A"/>
                </a:solidFill>
              </a:defRPr>
            </a:pPr>
            <a:r>
              <a:rPr sz="1200" b="1">
                <a:solidFill>
                  <a:srgbClr val="593F7A"/>
                </a:solidFill>
              </a:rPr>
              <a:t>Status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B42D0D-0C3A-4C7F-8002-35485E13F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3050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365D"/>
                </a:solidFill>
              </a:defRPr>
            </a:pPr>
            <a:r>
              <a:rPr sz="1500" b="1">
                <a:solidFill>
                  <a:srgbClr val="17365D"/>
                </a:solidFill>
              </a:rPr>
              <a:t>Synthetic training only</a:t>
            </a:r>
          </a:p>
        </p:txBody>
      </p:sp>
    </p:spTree>
    <p:extLst>
      <p:ext uri="{BB962C8B-B14F-4D97-AF65-F5344CB8AC3E}">
        <p14:creationId xmlns:p14="http://schemas.microsoft.com/office/powerpoint/2010/main" val="134946289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655C37-CF97-486E-96A8-EB1B6908E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593F7A"/>
                </a:solidFill>
              </a:defRPr>
            </a:pPr>
            <a:r>
              <a:rPr sz="2700" b="1">
                <a:solidFill>
                  <a:srgbClr val="593F7A"/>
                </a:solidFill>
              </a:rPr>
              <a:t>Preparation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3BB1EE-5C2A-4483-9259-336D22CFF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10325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17080"/>
                </a:solidFill>
              </a:defRPr>
            </a:pPr>
            <a:r>
              <a:rPr sz="900" b="0">
                <a:solidFill>
                  <a:srgbClr val="617080"/>
                </a:solidFill>
              </a:rPr>
              <a:t>Orchid Cellworks | Study Alpha | 2026-07-13 | cohort A-24 | assay 6.8 ng/mL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678023-753C-42A6-B04A-A93D849FD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21907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0F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6D951B-9C2F-4788-9510-1A994E5EA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1937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365D"/>
                </a:solidFill>
              </a:defRPr>
            </a:pPr>
            <a:r>
              <a:rPr sz="1350" b="1">
                <a:solidFill>
                  <a:srgbClr val="17365D"/>
                </a:solidFill>
              </a:rPr>
              <a:t>1 | Verify calibration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2E7E5A-B6F7-4BFC-8EA1-8F4FE881A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333625"/>
            <a:ext cx="21907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F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D4AE75-7475-411E-B911-C1BDBA4FF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61937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365D"/>
                </a:solidFill>
              </a:defRPr>
            </a:pPr>
            <a:r>
              <a:rPr sz="1350" b="1">
                <a:solidFill>
                  <a:srgbClr val="17365D"/>
                </a:solidFill>
              </a:rPr>
              <a:t>2 | Stage synthetic reagents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15B57C-B126-42EB-89CA-CF81B2447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333625"/>
            <a:ext cx="21907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0F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43B2CF-1E64-46BF-9F8C-67ECB90AF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1937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365D"/>
                </a:solidFill>
              </a:defRPr>
            </a:pPr>
            <a:r>
              <a:rPr sz="1350" b="1">
                <a:solidFill>
                  <a:srgbClr val="17365D"/>
                </a:solidFill>
              </a:rPr>
              <a:t>3 | Prepare plate map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EB16CC-E9B2-4832-A749-E78C87B7B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333625"/>
            <a:ext cx="21907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F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4DCC3F-7DE9-4DC9-9813-8F943B51D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1937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365D"/>
                </a:solidFill>
              </a:defRPr>
            </a:pPr>
            <a:r>
              <a:rPr sz="1350" b="1">
                <a:solidFill>
                  <a:srgbClr val="17365D"/>
                </a:solidFill>
              </a:rPr>
              <a:t>4 | Run and review</a:t>
            </a:r>
          </a:p>
        </p:txBody>
      </p:sp>
    </p:spTree>
    <p:extLst>
      <p:ext uri="{BB962C8B-B14F-4D97-AF65-F5344CB8AC3E}">
        <p14:creationId xmlns:p14="http://schemas.microsoft.com/office/powerpoint/2010/main" val="83786868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E99076-3566-442D-8E44-95F0B262A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593F7A"/>
                </a:solidFill>
              </a:defRPr>
            </a:pPr>
            <a:r>
              <a:rPr sz="2700" b="1">
                <a:solidFill>
                  <a:srgbClr val="593F7A"/>
                </a:solidFill>
              </a:rPr>
              <a:t>Acceptance criteria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7C3CE7-BEF4-4F2F-9479-772B8B35C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10325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17080"/>
                </a:solidFill>
              </a:defRPr>
            </a:pPr>
            <a:r>
              <a:rPr sz="900" b="0">
                <a:solidFill>
                  <a:srgbClr val="617080"/>
                </a:solidFill>
              </a:rPr>
              <a:t>Orchid Cellworks | Study Alpha | 2026-07-13 | cohort A-24 | assay 6.8 ng/mL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5BBE8F-329B-4042-BEA4-219674C67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219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93F7A"/>
                </a:solidFill>
              </a:defRPr>
            </a:pPr>
            <a:r>
              <a:rPr sz="1500" b="1">
                <a:solidFill>
                  <a:srgbClr val="593F7A"/>
                </a:solidFill>
              </a:rPr>
              <a:t>Blank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07A9F1-1D6C-4FD5-A608-4CFC43815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619250"/>
            <a:ext cx="219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7365D"/>
                </a:solidFill>
              </a:defRPr>
            </a:pPr>
            <a:r>
              <a:rPr sz="1500" b="0">
                <a:solidFill>
                  <a:srgbClr val="17365D"/>
                </a:solidFill>
              </a:rPr>
              <a:t>0.02 AU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B15753-9F1D-46A7-B025-F290B8B6E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304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17080"/>
                </a:solidFill>
              </a:defRPr>
            </a:pPr>
            <a:r>
              <a:rPr sz="1200" b="0">
                <a:solidFill>
                  <a:srgbClr val="617080"/>
                </a:solidFill>
              </a:rPr>
              <a:t>Synthetic QC control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CF37E4-F7F9-4CC0-8BCC-FE840F3AC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24125"/>
            <a:ext cx="219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93F7A"/>
                </a:solidFill>
              </a:defRPr>
            </a:pPr>
            <a:r>
              <a:rPr sz="1500" b="1">
                <a:solidFill>
                  <a:srgbClr val="593F7A"/>
                </a:solidFill>
              </a:rPr>
              <a:t>Slope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DD9D7C-364D-40A7-BFD1-19C3954FC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524125"/>
            <a:ext cx="219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7365D"/>
                </a:solidFill>
              </a:defRPr>
            </a:pPr>
            <a:r>
              <a:rPr sz="1500" b="0">
                <a:solidFill>
                  <a:srgbClr val="17365D"/>
                </a:solidFill>
              </a:rPr>
              <a:t>0.998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26AAAF-BA4E-453A-A314-3D1D2D1C8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24125"/>
            <a:ext cx="304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17080"/>
                </a:solidFill>
              </a:defRPr>
            </a:pPr>
            <a:r>
              <a:rPr sz="1200" b="0">
                <a:solidFill>
                  <a:srgbClr val="617080"/>
                </a:solidFill>
              </a:rPr>
              <a:t>Synthetic QC control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FE03B1-4CCB-4F09-96A8-26370F00D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29000"/>
            <a:ext cx="219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93F7A"/>
                </a:solidFill>
              </a:defRPr>
            </a:pPr>
            <a:r>
              <a:rPr sz="1500" b="1">
                <a:solidFill>
                  <a:srgbClr val="593F7A"/>
                </a:solidFill>
              </a:rPr>
              <a:t>R squared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56F7F1-66AA-4C81-81AE-AAA5087E8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429000"/>
            <a:ext cx="219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7365D"/>
                </a:solidFill>
              </a:defRPr>
            </a:pPr>
            <a:r>
              <a:rPr sz="1500" b="0">
                <a:solidFill>
                  <a:srgbClr val="17365D"/>
                </a:solidFill>
              </a:rPr>
              <a:t>0.9992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AB7282-53D7-434C-BB46-1DFF691B0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429000"/>
            <a:ext cx="304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17080"/>
                </a:solidFill>
              </a:defRPr>
            </a:pPr>
            <a:r>
              <a:rPr sz="1200" b="0">
                <a:solidFill>
                  <a:srgbClr val="617080"/>
                </a:solidFill>
              </a:rPr>
              <a:t>Synthetic QC control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236F08-1C8C-49C2-A185-45BE25119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33875"/>
            <a:ext cx="219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93F7A"/>
                </a:solidFill>
              </a:defRPr>
            </a:pPr>
            <a:r>
              <a:rPr sz="1500" b="1">
                <a:solidFill>
                  <a:srgbClr val="593F7A"/>
                </a:solidFill>
              </a:rPr>
              <a:t>Duplicate CV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D0C63B-B1E6-4026-81B4-6211F6DFF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333875"/>
            <a:ext cx="219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7365D"/>
                </a:solidFill>
              </a:defRPr>
            </a:pPr>
            <a:r>
              <a:rPr sz="1500" b="0">
                <a:solidFill>
                  <a:srgbClr val="17365D"/>
                </a:solidFill>
              </a:rPr>
              <a:t>≤ 10%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5ABCDB-D030-4C47-9941-A38AF2B3B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333875"/>
            <a:ext cx="304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17080"/>
                </a:solidFill>
              </a:defRPr>
            </a:pPr>
            <a:r>
              <a:rPr sz="1200" b="0">
                <a:solidFill>
                  <a:srgbClr val="617080"/>
                </a:solidFill>
              </a:rPr>
              <a:t>Synthetic QC control</a:t>
            </a:r>
          </a:p>
        </p:txBody>
      </p:sp>
    </p:spTree>
    <p:extLst>
      <p:ext uri="{BB962C8B-B14F-4D97-AF65-F5344CB8AC3E}">
        <p14:creationId xmlns:p14="http://schemas.microsoft.com/office/powerpoint/2010/main" val="52507519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9024E7-0AFB-4119-BD6E-0FCE1DA24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593F7A"/>
                </a:solidFill>
              </a:defRPr>
            </a:pPr>
            <a:r>
              <a:rPr sz="2700" b="1">
                <a:solidFill>
                  <a:srgbClr val="593F7A"/>
                </a:solidFill>
              </a:rPr>
              <a:t>Documentation and release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7368D9-399C-4D3D-B3E5-CF050105B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10325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17080"/>
                </a:solidFill>
              </a:defRPr>
            </a:pPr>
            <a:r>
              <a:rPr sz="900" b="0">
                <a:solidFill>
                  <a:srgbClr val="617080"/>
                </a:solidFill>
              </a:rPr>
              <a:t>Orchid Cellworks | Study Alpha | 2026-07-13 | cohort A-24 | assay 6.8 ng/mL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305AA3-5AC4-4607-8C21-2C9644917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593F7A"/>
                </a:solidFill>
              </a:defRPr>
            </a:pPr>
            <a:r>
              <a:rPr sz="1575" b="1">
                <a:solidFill>
                  <a:srgbClr val="593F7A"/>
                </a:solidFill>
              </a:rPr>
              <a:t>Record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B54EC4-13AC-4D82-B724-2492E1812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82B3A"/>
                </a:solidFill>
              </a:defRPr>
            </a:pPr>
            <a:r>
              <a:rPr sz="1425" b="0">
                <a:solidFill>
                  <a:srgbClr val="182B3A"/>
                </a:solidFill>
              </a:rPr>
              <a:t>Plate map, run ID, calibration status, and reviewer decision.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C39EE3-716C-407E-9FF2-F88CE294E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527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593F7A"/>
                </a:solidFill>
              </a:defRPr>
            </a:pPr>
            <a:r>
              <a:rPr sz="1575" b="1">
                <a:solidFill>
                  <a:srgbClr val="593F7A"/>
                </a:solidFill>
              </a:rPr>
              <a:t>Release gate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D38E47-0F0D-4674-84E2-DF510C4EC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81375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82B3A"/>
                </a:solidFill>
              </a:defRPr>
            </a:pPr>
            <a:r>
              <a:rPr sz="1425" b="0">
                <a:solidFill>
                  <a:srgbClr val="182B3A"/>
                </a:solidFill>
              </a:rPr>
              <a:t>All declared controls pass; material remains fully synthetic.</a:t>
            </a:r>
          </a:p>
        </p:txBody>
      </p:sp>
    </p:spTree>
    <p:extLst>
      <p:ext uri="{BB962C8B-B14F-4D97-AF65-F5344CB8AC3E}">
        <p14:creationId xmlns:p14="http://schemas.microsoft.com/office/powerpoint/2010/main" val="141257342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2026-08-23T07:59:35.7650000Z</dcterms:created>
  <dcterms:modified xsi:type="dcterms:W3CDTF">2026-08-23T07:59:35.7650000Z</dcterms:modified>
</coreProperties>
</file>