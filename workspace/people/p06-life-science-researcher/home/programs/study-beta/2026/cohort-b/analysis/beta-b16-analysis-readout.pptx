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49877eff44311" /><Relationship Type="http://schemas.openxmlformats.org/officeDocument/2006/relationships/extended-properties" Target="/docProps/app.xml" Id="R3b0c543ac7e84fc3" /><Relationship Type="http://schemas.openxmlformats.org/officeDocument/2006/relationships/officeDocument" Target="/ppt/presentation.xml" Id="Rb1f332f87a4a48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b33b70051a48f0"/>
  </p:sldMasterIdLst>
  <p:notesMasterIdLst>
    <p:notesMasterId xmlns:r="http://schemas.openxmlformats.org/officeDocument/2006/relationships" r:id="R3999ef8634174d8b"/>
  </p:notesMasterIdLst>
  <p:sldIdLst>
    <p:sldId xmlns:r="http://schemas.openxmlformats.org/officeDocument/2006/relationships" id="256" r:id="R9bd3bc430faa4ff1"/>
    <p:sldId xmlns:r="http://schemas.openxmlformats.org/officeDocument/2006/relationships" id="257" r:id="R2a961c6fcc6c49d4"/>
    <p:sldId xmlns:r="http://schemas.openxmlformats.org/officeDocument/2006/relationships" id="258" r:id="Rfd6495c945db4652"/>
    <p:sldId xmlns:r="http://schemas.openxmlformats.org/officeDocument/2006/relationships" id="259" r:id="R671deb6b92734984"/>
    <p:sldId xmlns:r="http://schemas.openxmlformats.org/officeDocument/2006/relationships" id="260" r:id="R987c8f7e34154b52"/>
    <p:sldId xmlns:r="http://schemas.openxmlformats.org/officeDocument/2006/relationships" id="261" r:id="R6a55adb684ad47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f4faa3ae2445cb" /><Relationship Type="http://schemas.openxmlformats.org/officeDocument/2006/relationships/slideMaster" Target="/ppt/slideMasters/slideMaster1.xml" Id="Re5b33b70051a48f0" /><Relationship Type="http://schemas.openxmlformats.org/officeDocument/2006/relationships/notesMaster" Target="/ppt/notesMasters/notesMaster1.xml" Id="R3999ef8634174d8b" /><Relationship Type="http://schemas.openxmlformats.org/officeDocument/2006/relationships/presProps" Target="/ppt/presProps.xml" Id="R12f036fc354b48b3" /><Relationship Type="http://schemas.openxmlformats.org/officeDocument/2006/relationships/tableStyles" Target="/ppt/tableStyles.xml" Id="Rb74312bb7d1344f1" /><Relationship Type="http://schemas.openxmlformats.org/officeDocument/2006/relationships/slide" Target="/ppt/slides/slide1.xml" Id="R9bd3bc430faa4ff1" /><Relationship Type="http://schemas.openxmlformats.org/officeDocument/2006/relationships/slide" Target="/ppt/slides/slide2.xml" Id="R2a961c6fcc6c49d4" /><Relationship Type="http://schemas.openxmlformats.org/officeDocument/2006/relationships/slide" Target="/ppt/slides/slide3.xml" Id="Rfd6495c945db4652" /><Relationship Type="http://schemas.openxmlformats.org/officeDocument/2006/relationships/slide" Target="/ppt/slides/slide4.xml" Id="R671deb6b92734984" /><Relationship Type="http://schemas.openxmlformats.org/officeDocument/2006/relationships/slide" Target="/ppt/slides/slide5.xml" Id="R987c8f7e34154b52" /><Relationship Type="http://schemas.openxmlformats.org/officeDocument/2006/relationships/slide" Target="/ppt/slides/slide6.xml" Id="R6a55adb684ad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3060fac724d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bf4977ce4458b" /><Relationship Type="http://schemas.openxmlformats.org/officeDocument/2006/relationships/notesMaster" Target="/ppt/notesMasters/notesMaster1.xml" Id="R494f217b89fa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dc6b788c941c2" /><Relationship Type="http://schemas.openxmlformats.org/officeDocument/2006/relationships/notesMaster" Target="/ppt/notesMasters/notesMaster1.xml" Id="Ra84b34cef3a14f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755e528904c3a" /><Relationship Type="http://schemas.openxmlformats.org/officeDocument/2006/relationships/notesMaster" Target="/ppt/notesMasters/notesMaster1.xml" Id="Rd899ce09efc14d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c8ed7e10f5405b" /><Relationship Type="http://schemas.openxmlformats.org/officeDocument/2006/relationships/notesMaster" Target="/ppt/notesMasters/notesMaster1.xml" Id="Rc70f6292c3a94a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1c1f54f4ce479a" /><Relationship Type="http://schemas.openxmlformats.org/officeDocument/2006/relationships/notesMaster" Target="/ppt/notesMasters/notesMaster1.xml" Id="Rc8175344bfed4f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47e3d8d00a47f8" /><Relationship Type="http://schemas.openxmlformats.org/officeDocument/2006/relationships/notesMaster" Target="/ppt/notesMasters/notesMaster1.xml" Id="R5508c22999ab4f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074518e884a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87d4b56c0c4306" /><Relationship Type="http://schemas.openxmlformats.org/officeDocument/2006/relationships/slideLayout" Target="/ppt/slideLayouts/slideLayout1.xml" Id="Rddb25cc540874e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25cc540874e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1d5b0512d4b0d" /><Relationship Type="http://schemas.openxmlformats.org/officeDocument/2006/relationships/notesSlide" Target="/ppt/notesSlides/notesSlide1.xml" Id="Rfd601f49702a44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7ea820a6642d8" /><Relationship Type="http://schemas.openxmlformats.org/officeDocument/2006/relationships/notesSlide" Target="/ppt/notesSlides/notesSlide2.xml" Id="Ra8ec3411e79046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c23ccb57c44b7" /><Relationship Type="http://schemas.openxmlformats.org/officeDocument/2006/relationships/notesSlide" Target="/ppt/notesSlides/notesSlide3.xml" Id="R4169836616614a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6a592d0ec4a4e" /><Relationship Type="http://schemas.openxmlformats.org/officeDocument/2006/relationships/notesSlide" Target="/ppt/notesSlides/notesSlide4.xml" Id="R6c7aa92f56ea40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531c0085d47ae" /><Relationship Type="http://schemas.openxmlformats.org/officeDocument/2006/relationships/notesSlide" Target="/ppt/notesSlides/notesSlide5.xml" Id="R9eaacf68800b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ccf16679740d9" /><Relationship Type="http://schemas.openxmlformats.org/officeDocument/2006/relationships/notesSlide" Target="/ppt/notesSlides/notesSlide6.xml" Id="R4fca6057fe7a4d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8C44F-2152-44D3-B121-FB018F4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ORCHID CELLWORKS |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60296-418B-42D2-BEEC-02005F79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Study Beta B-16 synthetic response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DBA02-F1B5-4AF2-A951-F03A7BD4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Decision-ready analysis of a wholly synthetic 16-record cohort.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DB94E-FF35-4FC6-9BAA-E97B2D02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6680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8ED66-090F-4832-9767-C0B7E98E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55E75"/>
                </a:solidFill>
              </a:defRPr>
            </a:pPr>
            <a:r>
              <a:rPr sz="4050" b="1">
                <a:solidFill>
                  <a:srgbClr val="155E75"/>
                </a:solidFill>
              </a:rPr>
              <a:t>1.00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DD86F-F689-4834-A6BD-04F77776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Baseline</a:t>
            </a:r>
          </a:p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normalized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3C937-AC6B-45CE-B8FD-F779834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766E"/>
                </a:solidFill>
              </a:defRPr>
            </a:pPr>
            <a:r>
              <a:rPr sz="39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D2420-017F-4C39-B134-EE644235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766E"/>
                </a:solidFill>
              </a:defRPr>
            </a:pPr>
            <a:r>
              <a:rPr sz="4050" b="1">
                <a:solidFill>
                  <a:srgbClr val="0F766E"/>
                </a:solidFill>
              </a:rPr>
              <a:t>1.18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C3080-E043-475F-9621-A436F929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Treated target</a:t>
            </a:r>
          </a:p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normalized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DB167-BC7B-415B-9ED3-706957BB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Synthetic-only evidence • no PHI/PII • review use only</a:t>
            </a:r>
          </a:p>
        </p:txBody>
      </p:sp>
    </p:spTree>
    <p:extLst>
      <p:ext uri="{BB962C8B-B14F-4D97-AF65-F5344CB8AC3E}">
        <p14:creationId xmlns:p14="http://schemas.microsoft.com/office/powerpoint/2010/main" val="1817666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DF82F-5324-46FC-8D02-EF22464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E3D97-69CC-4106-A9C1-E5951EF5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Cohort construction and estimand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B5771-392B-41A2-9BC8-CFBAC2B5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 synthetic paired-response design designed for traceable internal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84088-6360-437B-A56F-698896D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12070-C5DE-4F13-98AC-A67669D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90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E293B"/>
                </a:solidFill>
              </a:defRPr>
            </a:pPr>
            <a:r>
              <a:rPr sz="1875" b="0">
                <a:solidFill>
                  <a:srgbClr val="1E293B"/>
                </a:solidFill>
              </a:rPr>
              <a:t>Cohort B-16</a:t>
            </a:r>
          </a:p>
          <a:p xmlns:a="http://schemas.openxmlformats.org/drawingml/2006/main">
            <a:pPr>
              <a:defRPr sz="1875" b="0">
                <a:solidFill>
                  <a:srgbClr val="1E293B"/>
                </a:solidFill>
              </a:defRPr>
            </a:pPr>
            <a:r>
              <a:rPr sz="1875" b="0">
                <a:solidFill>
                  <a:srgbClr val="1E293B"/>
                </a:solidFill>
              </a:rPr>
              <a:t>16 synthetic records</a:t>
            </a:r>
          </a:p>
          <a:p xmlns:a="http://schemas.openxmlformats.org/drawingml/2006/main">
            <a:pPr>
              <a:defRPr sz="1875" b="0">
                <a:solidFill>
                  <a:srgbClr val="1E293B"/>
                </a:solidFill>
              </a:defRPr>
            </a:pPr>
            <a:r>
              <a:rPr sz="1875" b="0">
                <a:solidFill>
                  <a:srgbClr val="1E293B"/>
                </a:solidFill>
              </a:rPr>
              <a:t>8 vehicle / 8 treated</a:t>
            </a:r>
          </a:p>
          <a:p xmlns:a="http://schemas.openxmlformats.org/drawingml/2006/main">
            <a:pPr>
              <a:defRPr sz="1875" b="0">
                <a:solidFill>
                  <a:srgbClr val="1E293B"/>
                </a:solidFill>
              </a:defRPr>
            </a:pPr>
            <a:r>
              <a:rPr sz="1875" b="0">
                <a:solidFill>
                  <a:srgbClr val="1E293B"/>
                </a:solidFill>
              </a:rPr>
              <a:t>Run: BETA-B16-R02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E53A0-7D2E-4D15-AB69-46424036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1816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F5D3E-50F8-46EB-A200-72A7B0B2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293B"/>
                </a:solidFill>
              </a:defRPr>
            </a:pPr>
            <a:r>
              <a:rPr sz="1875" b="1">
                <a:solidFill>
                  <a:srgbClr val="1E293B"/>
                </a:solidFill>
              </a:rPr>
              <a:t>Primary estimand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27128-BB92-444D-9508-A0905EFC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Mean treated normalized response − baseline</a:t>
            </a:r>
          </a:p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Target contrast: +0.18 AU</a:t>
            </a:r>
          </a:p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Unit: normalized response (AU)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A9FB6-BE91-4C79-B1BD-A298257D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All identifiers are fictional OCW-B16-### records.</a:t>
            </a:r>
          </a:p>
        </p:txBody>
      </p:sp>
    </p:spTree>
    <p:extLst>
      <p:ext uri="{BB962C8B-B14F-4D97-AF65-F5344CB8AC3E}">
        <p14:creationId xmlns:p14="http://schemas.microsoft.com/office/powerpoint/2010/main" val="371860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6ACE4-F20A-4EF3-82AE-EB0A9B55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F6BD0-1C60-4C61-A580-C64CE2AC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16-record response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C91EE-5D81-4A44-92DD-94E096AA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Synthetic observations support a mean treated response of 1.136; target is 1.18.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4C8A8-E063-449F-BCB4-66440EB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48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428E-1CDC-4661-ACBA-1C57487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293B"/>
                </a:solidFill>
              </a:defRPr>
            </a:pPr>
            <a:r>
              <a:rPr sz="1275" b="1">
                <a:solidFill>
                  <a:srgbClr val="1E293B"/>
                </a:solidFill>
              </a:rPr>
              <a:t>Normalized response (AU)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F1171-C9BF-46DB-85E2-5DD1038C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1.20 ─ ─ ─ ─ planning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5ADB2-9AA9-48D7-BD83-26A5E4EC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1.10 ─ ─ ─ 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F1AC3-3DA0-475B-A293-8C1FCC98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1.00 ─ ─ ─ ─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2FAEA-95C1-4B5D-8CC3-B960089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1190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C2DC8-C05A-458D-8F6F-95DD8FDD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1190625" cy="133350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E1AF2-1BA8-40B3-8F9F-397AD16F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48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1.00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FCAED-77AC-4A2E-93F5-23C51DF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48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1.136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2AD8F-A935-4338-A69C-EB6559B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Vehicle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6C054-B392-4FAC-9B26-A05B3372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293B"/>
                </a:solidFill>
              </a:defRPr>
            </a:pPr>
            <a:r>
              <a:rPr sz="1500" b="1">
                <a:solidFill>
                  <a:srgbClr val="1E293B"/>
                </a:solidFill>
              </a:rPr>
              <a:t>Treated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9A2D9-4E24-4689-A18F-E09DCD8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81350" cy="37147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AE20-9781-444D-AD23-D0E6BD2D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293B"/>
                </a:solidFill>
              </a:defRPr>
            </a:pPr>
            <a:r>
              <a:rPr sz="1800" b="1">
                <a:solidFill>
                  <a:srgbClr val="1E293B"/>
                </a:solidFill>
              </a:rPr>
              <a:t>Evidence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E3B2B-BCE5-4028-BC34-91052390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52750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n = 16</a:t>
            </a:r>
          </a:p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Baseline = 1.00</a:t>
            </a:r>
          </a:p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Treated mean = 1.136</a:t>
            </a:r>
          </a:p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Target = 1.18</a:t>
            </a:r>
          </a:p>
          <a:p xmlns:a="http://schemas.openxmlformats.org/drawingml/2006/main">
            <a:pPr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Observed delta = +0.136</a:t>
            </a:r>
          </a:p>
        </p:txBody>
      </p:sp>
    </p:spTree>
    <p:extLst>
      <p:ext uri="{BB962C8B-B14F-4D97-AF65-F5344CB8AC3E}">
        <p14:creationId xmlns:p14="http://schemas.microsoft.com/office/powerpoint/2010/main" val="1620913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88547-AF9C-4B3B-B6E7-74663570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QUALITY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A8E0D-A19D-45A4-904B-DE62D8EB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Acceptance checks are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AD1C3-CE91-4F9D-BE29-423DBBD0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No calculation exceptions are present in the synthetic workbook.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329CA-4760-4094-B30D-6BFA3144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668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3409B-6BDC-48A7-B886-71F548A9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CFB27-57E3-4048-8E91-81B4977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BA232-E1EF-472F-8FC6-CB177D32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8E2A7-BBA7-4050-A23E-2D7406E0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FCDF7-739F-4B8E-9743-9D6E44DB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Duplicate 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D00C8-ACA9-4552-AB26-B6FEEC5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≤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8FF97-89A5-4921-AC3B-ABFD1C0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6.2%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B1B61-C040-4286-BA63-D9BF3470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051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5485A-6D08-4BCC-9DA7-8ECF2B9C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Formula 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9897B-EE33-42F7-9E3C-D0793946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575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C7411-BA23-4675-BE09-52A4F852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575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ABA99-CE4A-4EB7-9E81-A970ED37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575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C06F1-8352-486F-B108-1ED16CF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Synthetic-data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3F4B2-3D5A-417C-B5E0-4350E2E2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D74AA-ED0A-4B00-8841-861D2DD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00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Met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7392B-3277-4E32-845E-461C4305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100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B389D-F2A3-4F14-9CD9-478B9E73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Record 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9A1CC-310C-48A1-AB22-6A1AD79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624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57402-EA9D-44BF-ADFF-2577243D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624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E293B"/>
                </a:solidFill>
              </a:defRPr>
            </a:pPr>
            <a:r>
              <a:rPr sz="1500" b="0">
                <a:solidFill>
                  <a:srgbClr val="1E293B"/>
                </a:solidFill>
              </a:rPr>
              <a:t>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FF90B-EB99-4958-BF52-AB432FDD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624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258939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41BEC-4D38-483F-9E55-76E4F797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20F87-79F5-4FF7-8F97-583B701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Study Alpha is a contextual anchor, not a comparator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EC1D5-CCAE-4B2A-B549-3FA6CDBA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Cross-study reference supports communication only; it does not establish equivalence.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040C1-FF19-4CC7-BCD5-65CFC55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23B20-2A1E-4163-9ABD-C307FCF2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Study Alpha</a:t>
            </a:r>
          </a:p>
          <a:p xmlns:a="http://schemas.openxmlformats.org/drawingml/2006/main">
            <a:pPr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cohort A-24</a:t>
            </a:r>
          </a:p>
          <a:p xmlns:a="http://schemas.openxmlformats.org/drawingml/2006/main">
            <a:pPr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assay 6.8 ng/mL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410E9-5062-4565-B968-AFF13B0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E71D-2DD3-4E94-A654-361B60D6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670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Study Beta</a:t>
            </a:r>
          </a:p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cohort B-16</a:t>
            </a:r>
          </a:p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primary analysis: 1.136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64BD4-12BC-4A3B-AC26-01D401FC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Boundary: different synthetic cohorts, exports, and analytical purposes. Do not infer treatment equivalence.</a:t>
            </a:r>
          </a:p>
        </p:txBody>
      </p:sp>
    </p:spTree>
    <p:extLst>
      <p:ext uri="{BB962C8B-B14F-4D97-AF65-F5344CB8AC3E}">
        <p14:creationId xmlns:p14="http://schemas.microsoft.com/office/powerpoint/2010/main" val="1005872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268C5-637F-4AFB-B2E1-40872A72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9244A-960B-46AF-9193-F3E1728B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Recommended next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5D125-9E39-46E1-94B2-329B4AFA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Proceed only with the defined synthetic-method review pathway.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945D1-4A04-4C8E-8344-C98DA439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22C44-C9F9-441C-B17C-FEF6617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F6891-D9E8-474F-A87D-58DB1E4C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29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Archive synthetic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A66FF-E90B-446F-A41A-501BD054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05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E293B"/>
                </a:solidFill>
              </a:defRPr>
            </a:pPr>
            <a:r>
              <a:rPr sz="1425" b="0">
                <a:solidFill>
                  <a:srgbClr val="1E293B"/>
                </a:solidFill>
              </a:rPr>
              <a:t>Lock BETA-B16-R02 table and workbook.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6B56B-296B-46A2-A5E7-B44FD8AE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8CC79-C68E-48E7-AEA3-DBE4647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FE8C3-8A9E-4197-A84D-18FD12AA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29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Review variance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FD4AA-3505-4CD6-9A1F-F939FEBD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05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E293B"/>
                </a:solidFill>
              </a:defRPr>
            </a:pPr>
            <a:r>
              <a:rPr sz="1425" b="0">
                <a:solidFill>
                  <a:srgbClr val="1E293B"/>
                </a:solidFill>
              </a:rPr>
              <a:t>Confirm CV remains ≤10% after any method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FB5BD-3102-44A3-93C0-7C8A7526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B4055-172D-4B6B-AD94-D94FD2E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4FCD0-48D8-44AB-8904-D95DB665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29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B"/>
                </a:solidFill>
              </a:defRPr>
            </a:pPr>
            <a:r>
              <a:rPr sz="1725" b="1">
                <a:solidFill>
                  <a:srgbClr val="1E293B"/>
                </a:solidFill>
              </a:rPr>
              <a:t>Document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5CC7C-F3FE-4BB1-9E7F-481173C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05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E293B"/>
                </a:solidFill>
              </a:defRPr>
            </a:pPr>
            <a:r>
              <a:rPr sz="1425" b="0">
                <a:solidFill>
                  <a:srgbClr val="1E293B"/>
                </a:solidFill>
              </a:rPr>
              <a:t>Keep Alpha reference explicitly non-equivalent.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59DEE-DBCB-4907-8318-D855916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Decision rule: no progression outside this synthetic corpus without independent real-world governance.</a:t>
            </a:r>
          </a:p>
        </p:txBody>
      </p:sp>
    </p:spTree>
    <p:extLst>
      <p:ext uri="{BB962C8B-B14F-4D97-AF65-F5344CB8AC3E}">
        <p14:creationId xmlns:p14="http://schemas.microsoft.com/office/powerpoint/2010/main" val="1018459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2026-08-23T08:23:54.6710000Z</dcterms:created>
  <dcterms:modified xsi:type="dcterms:W3CDTF">2026-08-23T08:23:54.6710000Z</dcterms:modified>
</coreProperties>
</file>