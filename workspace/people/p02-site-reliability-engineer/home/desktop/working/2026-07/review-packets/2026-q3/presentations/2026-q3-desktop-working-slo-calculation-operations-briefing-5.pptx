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c00b0e1885a47f6" /><Relationship Type="http://schemas.openxmlformats.org/officeDocument/2006/relationships/extended-properties" Target="/docProps/app.xml" Id="Rfa9a1e950d874163" /><Relationship Type="http://schemas.openxmlformats.org/officeDocument/2006/relationships/officeDocument" Target="/ppt/presentation.xml" Id="R7b129392ea14466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b3b3e0a04c74294"/>
  </p:sldMasterIdLst>
  <p:notesMasterIdLst>
    <p:notesMasterId xmlns:r="http://schemas.openxmlformats.org/officeDocument/2006/relationships" r:id="Rc8034f87e4bd474e"/>
  </p:notesMasterIdLst>
  <p:sldIdLst>
    <p:sldId xmlns:r="http://schemas.openxmlformats.org/officeDocument/2006/relationships" id="256" r:id="R164163ca00b14881"/>
    <p:sldId xmlns:r="http://schemas.openxmlformats.org/officeDocument/2006/relationships" id="257" r:id="Rd653f52c09ff47ba"/>
    <p:sldId xmlns:r="http://schemas.openxmlformats.org/officeDocument/2006/relationships" id="258" r:id="Raee10d753262452e"/>
    <p:sldId xmlns:r="http://schemas.openxmlformats.org/officeDocument/2006/relationships" id="259" r:id="Rb0b1299eecd44b9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85948d523594525" /><Relationship Type="http://schemas.openxmlformats.org/officeDocument/2006/relationships/slideMaster" Target="/ppt/slideMasters/slideMaster1.xml" Id="Rcb3b3e0a04c74294" /><Relationship Type="http://schemas.openxmlformats.org/officeDocument/2006/relationships/notesMaster" Target="/ppt/notesMasters/notesMaster1.xml" Id="Rc8034f87e4bd474e" /><Relationship Type="http://schemas.openxmlformats.org/officeDocument/2006/relationships/presProps" Target="/ppt/presProps.xml" Id="R7783bbba579344b3" /><Relationship Type="http://schemas.openxmlformats.org/officeDocument/2006/relationships/tableStyles" Target="/ppt/tableStyles.xml" Id="Reb3c7a2085124762" /><Relationship Type="http://schemas.openxmlformats.org/officeDocument/2006/relationships/slide" Target="/ppt/slides/slide1.xml" Id="R164163ca00b14881" /><Relationship Type="http://schemas.openxmlformats.org/officeDocument/2006/relationships/slide" Target="/ppt/slides/slide2.xml" Id="Rd653f52c09ff47ba" /><Relationship Type="http://schemas.openxmlformats.org/officeDocument/2006/relationships/slide" Target="/ppt/slides/slide3.xml" Id="Raee10d753262452e" /><Relationship Type="http://schemas.openxmlformats.org/officeDocument/2006/relationships/slide" Target="/ppt/slides/slide4.xml" Id="Rb0b1299eecd44b9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a5c50cff9614f2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b1387cb89dc4a80" /><Relationship Type="http://schemas.openxmlformats.org/officeDocument/2006/relationships/notesMaster" Target="/ppt/notesMasters/notesMaster1.xml" Id="R7dadac16cd794c6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fdb20644ec3473a" /><Relationship Type="http://schemas.openxmlformats.org/officeDocument/2006/relationships/notesMaster" Target="/ppt/notesMasters/notesMaster1.xml" Id="Rbab824376793426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02248515a524d00" /><Relationship Type="http://schemas.openxmlformats.org/officeDocument/2006/relationships/notesMaster" Target="/ppt/notesMasters/notesMaster1.xml" Id="Rb1e3fba7d78046b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932ac84572a48b8" /><Relationship Type="http://schemas.openxmlformats.org/officeDocument/2006/relationships/notesMaster" Target="/ppt/notesMasters/notesMaster1.xml" Id="R6aa68516b29c450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desktop/working/2026-07/data/2026-07-15-desktop-working-slo-calculation-metrics-tsv-s001033.tsv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p02-full-001033, row:canonical-metric.</a:t>
            </a:r>
          </a:p>
          <a:p xmlns:a="http://schemas.openxmlformats.org/drawingml/2006/main">
            <a:r>
              <a:t>Artifact: p02-full-010849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desktop/working/2026-07/data/2026-07-15-desktop-working-slo-calculation-metrics-tsv-s001033.tsv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p02-full-001033, row:canonical-metric.</a:t>
            </a:r>
          </a:p>
          <a:p xmlns:a="http://schemas.openxmlformats.org/drawingml/2006/main">
            <a:r>
              <a:t>Artifact: p02-full-010849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desktop/working/2026-07/data/2026-07-15-desktop-working-slo-calculation-metrics-tsv-s001033.tsv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p02-full-001033, row:canonical-metric.</a:t>
            </a:r>
          </a:p>
          <a:p xmlns:a="http://schemas.openxmlformats.org/drawingml/2006/main">
            <a:r>
              <a:t>Artifact: p02-full-010849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desktop/working/2026-07/data/2026-07-15-desktop-working-slo-calculation-metrics-tsv-s001033.tsv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p02-full-001033, row:canonical-metric.</a:t>
            </a:r>
          </a:p>
          <a:p xmlns:a="http://schemas.openxmlformats.org/drawingml/2006/main">
            <a:r>
              <a:t>Artifact: p02-full-010849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a6bf1559d1439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cd2e3b8bc9b4e54" /><Relationship Type="http://schemas.openxmlformats.org/officeDocument/2006/relationships/slideLayout" Target="/ppt/slideLayouts/slideLayout1.xml" Id="R353444b0b9194da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53444b0b9194da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1187c47ccb4619" /><Relationship Type="http://schemas.openxmlformats.org/officeDocument/2006/relationships/notesSlide" Target="/ppt/notesSlides/notesSlide1.xml" Id="Ra222eb44d33b44f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3ea34d78fa4508" /><Relationship Type="http://schemas.openxmlformats.org/officeDocument/2006/relationships/notesSlide" Target="/ppt/notesSlides/notesSlide2.xml" Id="Rb4294abe237b4d6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5ad2ae6d164de1" /><Relationship Type="http://schemas.openxmlformats.org/officeDocument/2006/relationships/notesSlide" Target="/ppt/notesSlides/notesSlide3.xml" Id="R304fa42fbbba431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f49aa0135b4c17" /><Relationship Type="http://schemas.openxmlformats.org/officeDocument/2006/relationships/chart" Target="/ppt/slides/charts/chart1.xml" Id="Rc717092c7ac249a4" /><Relationship Type="http://schemas.openxmlformats.org/officeDocument/2006/relationships/notesSlide" Target="/ppt/notesSlides/notesSlide4.xml" Id="R136be78ce4424b57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Platform Reliability Q-07 jobs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3"/>
              <c:pt idx="0">
                <c:v>Warning threshold · 09:42</c:v>
              </c:pt>
              <c:pt idx="1">
                <c:v>Critical threshold</c:v>
              </c:pt>
              <c:pt idx="2">
                <c:v>Maximum observed</c:v>
              </c:pt>
            </c:strLit>
          </c:cat>
          <c:val>
            <c:numLit>
              <c:formatCode>General</c:formatCode>
              <c:ptCount val="3"/>
              <c:pt idx="0">
                <c:v>12000</c:v>
              </c:pt>
              <c:pt idx="1">
                <c:v>24000</c:v>
              </c:pt>
              <c:pt idx="2">
                <c:v>38420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4200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jobs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50112"/>
        <c:crossBetween val="between"/>
        <c:majorUnit val="12000"/>
      </c:valAx>
      <c:spPr>
        <a:noFill xmlns:a="http://schemas.openxmlformats.org/drawingml/2006/main"/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grid01-eyebrow">
            <a:extLst xmlns:a="http://schemas.openxmlformats.org/drawingml/2006/main">
              <a:ext uri="{FF2B5EF4-FFF2-40B4-BE49-F238E27FC236}">
                <a16:creationId xmlns:a16="http://schemas.microsoft.com/office/drawing/2014/main" id="{C466A391-4CCD-4A27-8EC0-F0ECF91F1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9052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NORTHSTAR TRANSIT CLOUD · RELIABILITY REVIEW</a:t>
            </a:r>
          </a:p>
        </p:txBody>
      </p:sp>
      <p:sp>
        <p:nvSpPr>
          <p:cNvPr id="2" name="grid01-title">
            <a:extLst xmlns:a="http://schemas.openxmlformats.org/drawingml/2006/main">
              <a:ext uri="{FF2B5EF4-FFF2-40B4-BE49-F238E27FC236}">
                <a16:creationId xmlns:a16="http://schemas.microsoft.com/office/drawing/2014/main" id="{B00FDA00-F7F6-4A9C-B8AE-9DD361664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43075"/>
            <a:ext cx="1066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Reliability decision brief</a:t>
            </a:r>
          </a:p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p02-full-010849</a:t>
            </a:r>
          </a:p>
        </p:txBody>
      </p:sp>
      <p:sp>
        <p:nvSpPr>
          <p:cNvPr id="3" name="grid01-subtitle">
            <a:extLst xmlns:a="http://schemas.openxmlformats.org/drawingml/2006/main">
              <a:ext uri="{FF2B5EF4-FFF2-40B4-BE49-F238E27FC236}">
                <a16:creationId xmlns:a16="http://schemas.microsoft.com/office/drawing/2014/main" id="{53CBAECE-733D-4E37-86DC-6643A6570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7434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2026-Q3 · desktop/working · Platform Reliability · control p02-full-010849 · 2026 Q3 Desktop Working Slo Calculation Operations Briefing Pptx · Checkout availability SLO 99.95%</a:t>
            </a:r>
          </a:p>
        </p:txBody>
      </p:sp>
      <p:sp>
        <p:nvSpPr>
          <p:cNvPr id="4" name="grid01-anchor-strip">
            <a:extLst xmlns:a="http://schemas.openxmlformats.org/drawingml/2006/main">
              <a:ext uri="{FF2B5EF4-FFF2-40B4-BE49-F238E27FC236}">
                <a16:creationId xmlns:a16="http://schemas.microsoft.com/office/drawing/2014/main" id="{17373A44-E7D5-452B-9D9A-7C648F9C6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876925"/>
            <a:ext cx="1133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Canonical corpus anchors: Northstar Transit Cloud | Checkout SVC-17 | 2026-07-13 | error budget 2.4% | INC-260713</a:t>
            </a:r>
          </a:p>
        </p:txBody>
      </p:sp>
    </p:spTree>
    <p:extLst>
      <p:ext uri="{BB962C8B-B14F-4D97-AF65-F5344CB8AC3E}">
        <p14:creationId xmlns:p14="http://schemas.microsoft.com/office/powerpoint/2010/main" val="87669482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rid17-title">
            <a:extLst xmlns:a="http://schemas.openxmlformats.org/drawingml/2006/main">
              <a:ext uri="{FF2B5EF4-FFF2-40B4-BE49-F238E27FC236}">
                <a16:creationId xmlns:a16="http://schemas.microsoft.com/office/drawing/2014/main" id="{010A94A4-9A1C-45B1-9231-41907D8D2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Q3 Desktop Working Slo Calculation Operations Briefing Pptx: controls and recipients</a:t>
            </a:r>
          </a:p>
        </p:txBody>
      </p:sp>
      <p:cxnSp>
        <p:nvCxnSpPr>
          <p:cNvPr id="18" name="grid17-timeline-rule"/>
          <p:cNvCxnSpPr/>
          <p:nvPr/>
        </p:nvCxnSpPr>
        <p:spPr>
          <a:xfrm xmlns:a="http://schemas.openxmlformats.org/drawingml/2006/main">
            <a:off x="333375" y="3371850"/>
            <a:ext cx="114300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3" name="grid17-dot-09:42">
            <a:extLst xmlns:a="http://schemas.openxmlformats.org/drawingml/2006/main">
              <a:ext uri="{FF2B5EF4-FFF2-40B4-BE49-F238E27FC236}">
                <a16:creationId xmlns:a16="http://schemas.microsoft.com/office/drawing/2014/main" id="{6326A277-4121-4602-BCED-49EE65E9E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7-label-09:42">
            <a:extLst xmlns:a="http://schemas.openxmlformats.org/drawingml/2006/main">
              <a:ext uri="{FF2B5EF4-FFF2-40B4-BE49-F238E27FC236}">
                <a16:creationId xmlns:a16="http://schemas.microsoft.com/office/drawing/2014/main" id="{4F0589ED-8864-4731-991D-A8E755CAF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09:42</a:t>
            </a:r>
          </a:p>
        </p:txBody>
      </p:sp>
      <p:sp>
        <p:nvSpPr>
          <p:cNvPr id="5" name="grid17-header-09:42">
            <a:extLst xmlns:a="http://schemas.openxmlformats.org/drawingml/2006/main">
              <a:ext uri="{FF2B5EF4-FFF2-40B4-BE49-F238E27FC236}">
                <a16:creationId xmlns:a16="http://schemas.microsoft.com/office/drawing/2014/main" id="{E888FB28-0392-47B8-865A-16CCCC811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Warning</a:t>
            </a:r>
          </a:p>
        </p:txBody>
      </p:sp>
      <p:sp>
        <p:nvSpPr>
          <p:cNvPr id="6" name="grid17-body-09:42">
            <a:extLst xmlns:a="http://schemas.openxmlformats.org/drawingml/2006/main">
              <a:ext uri="{FF2B5EF4-FFF2-40B4-BE49-F238E27FC236}">
                <a16:creationId xmlns:a16="http://schemas.microsoft.com/office/drawing/2014/main" id="{9544A930-9ADA-45FD-8BA9-FEC80D440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crossed 12,000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15 desktop working slo calculation metrics tsv</a:t>
            </a:r>
          </a:p>
        </p:txBody>
      </p:sp>
      <p:sp>
        <p:nvSpPr>
          <p:cNvPr id="7" name="grid17-dot-10:02">
            <a:extLst xmlns:a="http://schemas.openxmlformats.org/drawingml/2006/main">
              <a:ext uri="{FF2B5EF4-FFF2-40B4-BE49-F238E27FC236}">
                <a16:creationId xmlns:a16="http://schemas.microsoft.com/office/drawing/2014/main" id="{8A9AEE90-C21C-4C40-A069-8CA61DE2F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17-label-10:02">
            <a:extLst xmlns:a="http://schemas.openxmlformats.org/drawingml/2006/main">
              <a:ext uri="{FF2B5EF4-FFF2-40B4-BE49-F238E27FC236}">
                <a16:creationId xmlns:a16="http://schemas.microsoft.com/office/drawing/2014/main" id="{F438B92A-8AF4-4D25-8108-5DD3497FE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10:02</a:t>
            </a:r>
          </a:p>
        </p:txBody>
      </p:sp>
      <p:sp>
        <p:nvSpPr>
          <p:cNvPr id="9" name="grid17-header-10:02">
            <a:extLst xmlns:a="http://schemas.openxmlformats.org/drawingml/2006/main">
              <a:ext uri="{FF2B5EF4-FFF2-40B4-BE49-F238E27FC236}">
                <a16:creationId xmlns:a16="http://schemas.microsoft.com/office/drawing/2014/main" id="{21D1FAB7-7A78-4EFB-B165-53052143A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Rollback</a:t>
            </a:r>
          </a:p>
        </p:txBody>
      </p:sp>
      <p:sp>
        <p:nvSpPr>
          <p:cNvPr id="10" name="grid17-body-10:02">
            <a:extLst xmlns:a="http://schemas.openxmlformats.org/drawingml/2006/main">
              <a:ext uri="{FF2B5EF4-FFF2-40B4-BE49-F238E27FC236}">
                <a16:creationId xmlns:a16="http://schemas.microsoft.com/office/drawing/2014/main" id="{44D2844D-3C35-417A-ABC1-433CEB35E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Approval recorded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Recipient: Platform Reliability</a:t>
            </a:r>
          </a:p>
        </p:txBody>
      </p:sp>
      <p:sp>
        <p:nvSpPr>
          <p:cNvPr id="11" name="grid17-dot-10:24">
            <a:extLst xmlns:a="http://schemas.openxmlformats.org/drawingml/2006/main">
              <a:ext uri="{FF2B5EF4-FFF2-40B4-BE49-F238E27FC236}">
                <a16:creationId xmlns:a16="http://schemas.microsoft.com/office/drawing/2014/main" id="{0851E64E-576B-4FF4-A044-A905EF4A4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2" name="grid17-label-10:24">
            <a:extLst xmlns:a="http://schemas.openxmlformats.org/drawingml/2006/main">
              <a:ext uri="{FF2B5EF4-FFF2-40B4-BE49-F238E27FC236}">
                <a16:creationId xmlns:a16="http://schemas.microsoft.com/office/drawing/2014/main" id="{81BBB53C-9A19-41B0-87B9-7663FAE4F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10:24</a:t>
            </a:r>
          </a:p>
        </p:txBody>
      </p:sp>
      <p:sp>
        <p:nvSpPr>
          <p:cNvPr id="13" name="grid17-header-10:24">
            <a:extLst xmlns:a="http://schemas.openxmlformats.org/drawingml/2006/main">
              <a:ext uri="{FF2B5EF4-FFF2-40B4-BE49-F238E27FC236}">
                <a16:creationId xmlns:a16="http://schemas.microsoft.com/office/drawing/2014/main" id="{0AD73D51-3753-4D8D-B743-E09EE362B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Recovery</a:t>
            </a:r>
          </a:p>
        </p:txBody>
      </p:sp>
      <p:sp>
        <p:nvSpPr>
          <p:cNvPr id="14" name="grid17-body-10:24">
            <a:extLst xmlns:a="http://schemas.openxmlformats.org/drawingml/2006/main">
              <a:ext uri="{FF2B5EF4-FFF2-40B4-BE49-F238E27FC236}">
                <a16:creationId xmlns:a16="http://schemas.microsoft.com/office/drawing/2014/main" id="{20314BEB-CA3A-44F7-B9B1-3CA69BB94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below 8,000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2026-Q3 review</a:t>
            </a:r>
          </a:p>
        </p:txBody>
      </p:sp>
      <p:sp>
        <p:nvSpPr>
          <p:cNvPr id="15" name="grid17-control">
            <a:extLst xmlns:a="http://schemas.openxmlformats.org/drawingml/2006/main">
              <a:ext uri="{FF2B5EF4-FFF2-40B4-BE49-F238E27FC236}">
                <a16:creationId xmlns:a16="http://schemas.microsoft.com/office/drawing/2014/main" id="{11B82045-B74B-4448-B338-AC31B4964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p02-full-010849</a:t>
            </a:r>
          </a:p>
        </p:txBody>
      </p:sp>
      <p:sp>
        <p:nvSpPr>
          <p:cNvPr id="16" name="grid17-footer">
            <a:extLst xmlns:a="http://schemas.openxmlformats.org/drawingml/2006/main">
              <a:ext uri="{FF2B5EF4-FFF2-40B4-BE49-F238E27FC236}">
                <a16:creationId xmlns:a16="http://schemas.microsoft.com/office/drawing/2014/main" id="{6ECAED32-B411-48DB-9166-C829BECC8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70329058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grid19-title">
            <a:extLst xmlns:a="http://schemas.openxmlformats.org/drawingml/2006/main">
              <a:ext uri="{FF2B5EF4-FFF2-40B4-BE49-F238E27FC236}">
                <a16:creationId xmlns:a16="http://schemas.microsoft.com/office/drawing/2014/main" id="{AFE2FF5F-0ADA-4234-A048-A50304029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Decision metrics · p02-full-010849</a:t>
            </a:r>
          </a:p>
        </p:txBody>
      </p:sp>
      <p:sp>
        <p:nvSpPr>
          <p:cNvPr id="2" name="grid19-context">
            <a:extLst xmlns:a="http://schemas.openxmlformats.org/drawingml/2006/main">
              <a:ext uri="{FF2B5EF4-FFF2-40B4-BE49-F238E27FC236}">
                <a16:creationId xmlns:a16="http://schemas.microsoft.com/office/drawing/2014/main" id="{72582765-3EDB-4287-B683-F7B98B7A1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3350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Recipients: Platform Reliability. org.ntc · term.evidence-chain · rel.oncall.2026-07-13 · period.2026-q3. Error budget 2.4% is a request-error allowance, not downtime. Checkout latency SLO: 99.0% below 400 ms.</a:t>
            </a:r>
          </a:p>
        </p:txBody>
      </p:sp>
      <p:sp>
        <p:nvSpPr>
          <p:cNvPr id="3" name="grid13-column-0">
            <a:extLst xmlns:a="http://schemas.openxmlformats.org/drawingml/2006/main">
              <a:ext uri="{FF2B5EF4-FFF2-40B4-BE49-F238E27FC236}">
                <a16:creationId xmlns:a16="http://schemas.microsoft.com/office/drawing/2014/main" id="{CA4187F9-EFB1-4190-97D8-B7014C889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3-kicker-0">
            <a:extLst xmlns:a="http://schemas.openxmlformats.org/drawingml/2006/main">
              <a:ext uri="{FF2B5EF4-FFF2-40B4-BE49-F238E27FC236}">
                <a16:creationId xmlns:a16="http://schemas.microsoft.com/office/drawing/2014/main" id="{CCD94CEC-5C7D-4F04-9D2A-918047B72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01</a:t>
            </a:r>
          </a:p>
        </p:txBody>
      </p:sp>
      <p:sp>
        <p:nvSpPr>
          <p:cNvPr id="5" name="grid13-value-0">
            <a:extLst xmlns:a="http://schemas.openxmlformats.org/drawingml/2006/main">
              <a:ext uri="{FF2B5EF4-FFF2-40B4-BE49-F238E27FC236}">
                <a16:creationId xmlns:a16="http://schemas.microsoft.com/office/drawing/2014/main" id="{BFCC9C31-F422-4401-A28E-CB828B570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99.95%</a:t>
            </a:r>
          </a:p>
        </p:txBody>
      </p:sp>
      <p:sp>
        <p:nvSpPr>
          <p:cNvPr id="6" name="grid13-header-0">
            <a:extLst xmlns:a="http://schemas.openxmlformats.org/drawingml/2006/main">
              <a:ext uri="{FF2B5EF4-FFF2-40B4-BE49-F238E27FC236}">
                <a16:creationId xmlns:a16="http://schemas.microsoft.com/office/drawing/2014/main" id="{186DBD8F-DAB3-4F6B-A4F2-D8A4B0EDF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Checkout availability SLO</a:t>
            </a:r>
          </a:p>
        </p:txBody>
      </p:sp>
      <p:sp>
        <p:nvSpPr>
          <p:cNvPr id="7" name="grid13-column-1">
            <a:extLst xmlns:a="http://schemas.openxmlformats.org/drawingml/2006/main">
              <a:ext uri="{FF2B5EF4-FFF2-40B4-BE49-F238E27FC236}">
                <a16:creationId xmlns:a16="http://schemas.microsoft.com/office/drawing/2014/main" id="{FB5DB696-92DE-4C7F-B9DE-21D21EE02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grid13-field-1">
            <a:extLst xmlns:a="http://schemas.openxmlformats.org/drawingml/2006/main">
              <a:ext uri="{FF2B5EF4-FFF2-40B4-BE49-F238E27FC236}">
                <a16:creationId xmlns:a16="http://schemas.microsoft.com/office/drawing/2014/main" id="{25D4B916-B48D-47B8-80A4-EA134FF22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0">
            <a:solidFill>
              <a:srgbClr val="EAF4FF"/>
            </a:solidFill>
            <a:prstDash val="solid"/>
          </a:ln>
        </p:spPr>
      </p:sp>
      <p:sp>
        <p:nvSpPr>
          <p:cNvPr id="9" name="grid13-kicker-1">
            <a:extLst xmlns:a="http://schemas.openxmlformats.org/drawingml/2006/main">
              <a:ext uri="{FF2B5EF4-FFF2-40B4-BE49-F238E27FC236}">
                <a16:creationId xmlns:a16="http://schemas.microsoft.com/office/drawing/2014/main" id="{714305C2-EE4E-477B-9705-B2F20A5E8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02</a:t>
            </a:r>
          </a:p>
        </p:txBody>
      </p:sp>
      <p:sp>
        <p:nvSpPr>
          <p:cNvPr id="10" name="grid13-value-1">
            <a:extLst xmlns:a="http://schemas.openxmlformats.org/drawingml/2006/main">
              <a:ext uri="{FF2B5EF4-FFF2-40B4-BE49-F238E27FC236}">
                <a16:creationId xmlns:a16="http://schemas.microsoft.com/office/drawing/2014/main" id="{92B281CB-3978-4B4C-8960-9B86FED12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99.0% below 400 ms</a:t>
            </a:r>
          </a:p>
        </p:txBody>
      </p:sp>
      <p:sp>
        <p:nvSpPr>
          <p:cNvPr id="11" name="grid13-header-1">
            <a:extLst xmlns:a="http://schemas.openxmlformats.org/drawingml/2006/main">
              <a:ext uri="{FF2B5EF4-FFF2-40B4-BE49-F238E27FC236}">
                <a16:creationId xmlns:a16="http://schemas.microsoft.com/office/drawing/2014/main" id="{38DF5403-6E7D-4CDC-B8CF-42CDAFCF9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Latency target</a:t>
            </a:r>
          </a:p>
        </p:txBody>
      </p:sp>
      <p:sp>
        <p:nvSpPr>
          <p:cNvPr id="12" name="grid13-column-2">
            <a:extLst xmlns:a="http://schemas.openxmlformats.org/drawingml/2006/main">
              <a:ext uri="{FF2B5EF4-FFF2-40B4-BE49-F238E27FC236}">
                <a16:creationId xmlns:a16="http://schemas.microsoft.com/office/drawing/2014/main" id="{DE7D1E7D-2213-4141-AFA2-8C71F6765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3" name="grid13-field-2">
            <a:extLst xmlns:a="http://schemas.openxmlformats.org/drawingml/2006/main">
              <a:ext uri="{FF2B5EF4-FFF2-40B4-BE49-F238E27FC236}">
                <a16:creationId xmlns:a16="http://schemas.microsoft.com/office/drawing/2014/main" id="{BFD37801-5086-4CF2-8FF0-6DB79F38F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14" name="grid13-kicker-2">
            <a:extLst xmlns:a="http://schemas.openxmlformats.org/drawingml/2006/main">
              <a:ext uri="{FF2B5EF4-FFF2-40B4-BE49-F238E27FC236}">
                <a16:creationId xmlns:a16="http://schemas.microsoft.com/office/drawing/2014/main" id="{A3231940-14B8-461B-AF65-CD5089335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03</a:t>
            </a:r>
          </a:p>
        </p:txBody>
      </p:sp>
      <p:sp>
        <p:nvSpPr>
          <p:cNvPr id="15" name="grid13-value-2">
            <a:extLst xmlns:a="http://schemas.openxmlformats.org/drawingml/2006/main">
              <a:ext uri="{FF2B5EF4-FFF2-40B4-BE49-F238E27FC236}">
                <a16:creationId xmlns:a16="http://schemas.microsoft.com/office/drawing/2014/main" id="{F3469A85-35AB-4C52-B307-DCEEFF22E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14.6x</a:t>
            </a:r>
          </a:p>
        </p:txBody>
      </p:sp>
      <p:sp>
        <p:nvSpPr>
          <p:cNvPr id="16" name="grid13-header-2">
            <a:extLst xmlns:a="http://schemas.openxmlformats.org/drawingml/2006/main">
              <a:ext uri="{FF2B5EF4-FFF2-40B4-BE49-F238E27FC236}">
                <a16:creationId xmlns:a16="http://schemas.microsoft.com/office/drawing/2014/main" id="{48554D99-97A8-4E3F-800C-9EC545D20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Short burn</a:t>
            </a:r>
          </a:p>
        </p:txBody>
      </p:sp>
      <p:sp>
        <p:nvSpPr>
          <p:cNvPr id="17" name="grid19-control">
            <a:extLst xmlns:a="http://schemas.openxmlformats.org/drawingml/2006/main">
              <a:ext uri="{FF2B5EF4-FFF2-40B4-BE49-F238E27FC236}">
                <a16:creationId xmlns:a16="http://schemas.microsoft.com/office/drawing/2014/main" id="{B0639FF7-67D6-40CB-B439-540E42B2C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p02-full-010849</a:t>
            </a:r>
          </a:p>
        </p:txBody>
      </p:sp>
      <p:sp>
        <p:nvSpPr>
          <p:cNvPr id="18" name="grid19-footer">
            <a:extLst xmlns:a="http://schemas.openxmlformats.org/drawingml/2006/main">
              <a:ext uri="{FF2B5EF4-FFF2-40B4-BE49-F238E27FC236}">
                <a16:creationId xmlns:a16="http://schemas.microsoft.com/office/drawing/2014/main" id="{373AC7C5-98E0-4F71-9306-8C1F6A6A3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53025664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rid20-title">
            <a:extLst xmlns:a="http://schemas.openxmlformats.org/drawingml/2006/main">
              <a:ext uri="{FF2B5EF4-FFF2-40B4-BE49-F238E27FC236}">
                <a16:creationId xmlns:a16="http://schemas.microsoft.com/office/drawing/2014/main" id="{F01744BA-9AED-49CF-BFD1-E14271AC2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threshold decision</a:t>
            </a:r>
          </a:p>
        </p:txBody>
      </p:sp>
      <p:sp>
        <p:nvSpPr>
          <p:cNvPr id="2" name="grid20-context">
            <a:extLst xmlns:a="http://schemas.openxmlformats.org/drawingml/2006/main">
              <a:ext uri="{FF2B5EF4-FFF2-40B4-BE49-F238E27FC236}">
                <a16:creationId xmlns:a16="http://schemas.microsoft.com/office/drawing/2014/main" id="{5B4E9E03-DA46-4FD9-8501-78C3A13DD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990600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Q3 Desktop Working Slo Calculation Operations Briefing Pptx: Q-07 threshold evidence · p02-full-010849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409575" y="1619250"/>
          <a:ext xmlns:a="http://schemas.openxmlformats.org/drawingml/2006/main" cx="5124450" cy="45339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717092c7ac249a4"/>
          </a:graphicData>
        </a:graphic>
      </p:graphicFrame>
      <p:sp>
        <p:nvSpPr>
          <p:cNvPr id="4" name="grid20-queue-value-0">
            <a:extLst xmlns:a="http://schemas.openxmlformats.org/drawingml/2006/main">
              <a:ext uri="{FF2B5EF4-FFF2-40B4-BE49-F238E27FC236}">
                <a16:creationId xmlns:a16="http://schemas.microsoft.com/office/drawing/2014/main" id="{FDCFB986-69B8-423A-84C8-3ED78C3DC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45148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12,000</a:t>
            </a:r>
          </a:p>
        </p:txBody>
      </p:sp>
      <p:sp>
        <p:nvSpPr>
          <p:cNvPr id="5" name="grid20-queue-value-1">
            <a:extLst xmlns:a="http://schemas.openxmlformats.org/drawingml/2006/main">
              <a:ext uri="{FF2B5EF4-FFF2-40B4-BE49-F238E27FC236}">
                <a16:creationId xmlns:a16="http://schemas.microsoft.com/office/drawing/2014/main" id="{33AC5BC8-B522-430E-8766-04808E527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32194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24,000</a:t>
            </a:r>
          </a:p>
        </p:txBody>
      </p:sp>
      <p:sp>
        <p:nvSpPr>
          <p:cNvPr id="6" name="grid20-queue-value-2">
            <a:extLst xmlns:a="http://schemas.openxmlformats.org/drawingml/2006/main">
              <a:ext uri="{FF2B5EF4-FFF2-40B4-BE49-F238E27FC236}">
                <a16:creationId xmlns:a16="http://schemas.microsoft.com/office/drawing/2014/main" id="{4E8C7F8B-18D7-448E-B0F0-664B1D136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1685925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38,420</a:t>
            </a:r>
          </a:p>
        </p:txBody>
      </p:sp>
      <p:sp>
        <p:nvSpPr>
          <p:cNvPr id="7" name="grid20-rule-0">
            <a:extLst xmlns:a="http://schemas.openxmlformats.org/drawingml/2006/main">
              <a:ext uri="{FF2B5EF4-FFF2-40B4-BE49-F238E27FC236}">
                <a16:creationId xmlns:a16="http://schemas.microsoft.com/office/drawing/2014/main" id="{AFA63818-58E6-45C6-A62B-82329E00B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192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20-header-0">
            <a:extLst xmlns:a="http://schemas.openxmlformats.org/drawingml/2006/main">
              <a:ext uri="{FF2B5EF4-FFF2-40B4-BE49-F238E27FC236}">
                <a16:creationId xmlns:a16="http://schemas.microsoft.com/office/drawing/2014/main" id="{D9330AC1-6ADC-4CE5-8FBD-57100BFE2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478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Cause</a:t>
            </a:r>
          </a:p>
        </p:txBody>
      </p:sp>
      <p:sp>
        <p:nvSpPr>
          <p:cNvPr id="9" name="grid20-body-0">
            <a:extLst xmlns:a="http://schemas.openxmlformats.org/drawingml/2006/main">
              <a:ext uri="{FF2B5EF4-FFF2-40B4-BE49-F238E27FC236}">
                <a16:creationId xmlns:a16="http://schemas.microsoft.com/office/drawing/2014/main" id="{F224E562-7E3F-4457-8A92-882F360E4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431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Removed queue-pressure guardrail</a:t>
            </a:r>
          </a:p>
        </p:txBody>
      </p:sp>
      <p:sp>
        <p:nvSpPr>
          <p:cNvPr id="10" name="grid20-rule-1">
            <a:extLst xmlns:a="http://schemas.openxmlformats.org/drawingml/2006/main">
              <a:ext uri="{FF2B5EF4-FFF2-40B4-BE49-F238E27FC236}">
                <a16:creationId xmlns:a16="http://schemas.microsoft.com/office/drawing/2014/main" id="{447A6EFB-54A3-4805-B357-25369A395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0040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1" name="grid20-header-1">
            <a:extLst xmlns:a="http://schemas.openxmlformats.org/drawingml/2006/main">
              <a:ext uri="{FF2B5EF4-FFF2-40B4-BE49-F238E27FC236}">
                <a16:creationId xmlns:a16="http://schemas.microsoft.com/office/drawing/2014/main" id="{06AD81C0-F85A-476E-B1D5-01CFB92DF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2900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</a:t>
            </a:r>
          </a:p>
        </p:txBody>
      </p:sp>
      <p:sp>
        <p:nvSpPr>
          <p:cNvPr id="12" name="grid20-body-1">
            <a:extLst xmlns:a="http://schemas.openxmlformats.org/drawingml/2006/main">
              <a:ext uri="{FF2B5EF4-FFF2-40B4-BE49-F238E27FC236}">
                <a16:creationId xmlns:a16="http://schemas.microsoft.com/office/drawing/2014/main" id="{475627BE-273F-4ABD-9083-50B78DC9C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2430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Platform Reliability</a:t>
            </a:r>
          </a:p>
        </p:txBody>
      </p:sp>
      <p:sp>
        <p:nvSpPr>
          <p:cNvPr id="13" name="grid20-rule-2">
            <a:extLst xmlns:a="http://schemas.openxmlformats.org/drawingml/2006/main">
              <a:ext uri="{FF2B5EF4-FFF2-40B4-BE49-F238E27FC236}">
                <a16:creationId xmlns:a16="http://schemas.microsoft.com/office/drawing/2014/main" id="{8AF99F47-8FA5-4BDE-8513-BD142D1B2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7815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" name="grid20-header-2">
            <a:extLst xmlns:a="http://schemas.openxmlformats.org/drawingml/2006/main">
              <a:ext uri="{FF2B5EF4-FFF2-40B4-BE49-F238E27FC236}">
                <a16:creationId xmlns:a16="http://schemas.microsoft.com/office/drawing/2014/main" id="{5AC8AE5C-AD4D-441F-BB21-AEC7AA1B7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0101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Dependency</a:t>
            </a:r>
          </a:p>
        </p:txBody>
      </p:sp>
      <p:sp>
        <p:nvSpPr>
          <p:cNvPr id="15" name="grid20-body-2">
            <a:extLst xmlns:a="http://schemas.openxmlformats.org/drawingml/2006/main">
              <a:ext uri="{FF2B5EF4-FFF2-40B4-BE49-F238E27FC236}">
                <a16:creationId xmlns:a16="http://schemas.microsoft.com/office/drawing/2014/main" id="{13CBC494-5056-4480-B6F8-5D667DE17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5054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15 desktop working slo calculation metrics tsv</a:t>
            </a:r>
          </a:p>
        </p:txBody>
      </p:sp>
      <p:sp>
        <p:nvSpPr>
          <p:cNvPr id="16" name="grid20-footer">
            <a:extLst xmlns:a="http://schemas.openxmlformats.org/drawingml/2006/main">
              <a:ext uri="{FF2B5EF4-FFF2-40B4-BE49-F238E27FC236}">
                <a16:creationId xmlns:a16="http://schemas.microsoft.com/office/drawing/2014/main" id="{56B81A6C-E24B-4B2E-ABB6-5D810C4C5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66401911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2026-08-24T12:58:54.8110000Z</dcterms:created>
  <dcterms:modified xsi:type="dcterms:W3CDTF">2026-08-24T12:58:54.8110000Z</dcterms:modified>
</coreProperties>
</file>