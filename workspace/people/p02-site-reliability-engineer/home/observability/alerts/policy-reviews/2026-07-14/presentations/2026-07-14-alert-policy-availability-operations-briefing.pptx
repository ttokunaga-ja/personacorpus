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b0b5a3e6c8c41b1" /><Relationship Type="http://schemas.openxmlformats.org/officeDocument/2006/relationships/extended-properties" Target="/docProps/app.xml" Id="Rdd65987b0e0d4c1f" /><Relationship Type="http://schemas.openxmlformats.org/officeDocument/2006/relationships/officeDocument" Target="/ppt/presentation.xml" Id="Ra64a6bdcece2449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769f7660cd94b6d"/>
  </p:sldMasterIdLst>
  <p:notesMasterIdLst>
    <p:notesMasterId xmlns:r="http://schemas.openxmlformats.org/officeDocument/2006/relationships" r:id="R700f1cd8605b4acd"/>
  </p:notesMasterIdLst>
  <p:sldIdLst>
    <p:sldId xmlns:r="http://schemas.openxmlformats.org/officeDocument/2006/relationships" id="256" r:id="Rc3943783c6e44b40"/>
    <p:sldId xmlns:r="http://schemas.openxmlformats.org/officeDocument/2006/relationships" id="257" r:id="R40b6314437e74d27"/>
    <p:sldId xmlns:r="http://schemas.openxmlformats.org/officeDocument/2006/relationships" id="258" r:id="Rdc0a82e4101c4050"/>
    <p:sldId xmlns:r="http://schemas.openxmlformats.org/officeDocument/2006/relationships" id="259" r:id="R8371a8349db344e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758dfe951fb4f0b" /><Relationship Type="http://schemas.openxmlformats.org/officeDocument/2006/relationships/slideMaster" Target="/ppt/slideMasters/slideMaster1.xml" Id="R1769f7660cd94b6d" /><Relationship Type="http://schemas.openxmlformats.org/officeDocument/2006/relationships/notesMaster" Target="/ppt/notesMasters/notesMaster1.xml" Id="R700f1cd8605b4acd" /><Relationship Type="http://schemas.openxmlformats.org/officeDocument/2006/relationships/presProps" Target="/ppt/presProps.xml" Id="R50546ce30407441a" /><Relationship Type="http://schemas.openxmlformats.org/officeDocument/2006/relationships/tableStyles" Target="/ppt/tableStyles.xml" Id="Rb07420942ac94db6" /><Relationship Type="http://schemas.openxmlformats.org/officeDocument/2006/relationships/slide" Target="/ppt/slides/slide1.xml" Id="Rc3943783c6e44b40" /><Relationship Type="http://schemas.openxmlformats.org/officeDocument/2006/relationships/slide" Target="/ppt/slides/slide2.xml" Id="R40b6314437e74d27" /><Relationship Type="http://schemas.openxmlformats.org/officeDocument/2006/relationships/slide" Target="/ppt/slides/slide3.xml" Id="Rdc0a82e4101c4050" /><Relationship Type="http://schemas.openxmlformats.org/officeDocument/2006/relationships/slide" Target="/ppt/slides/slide4.xml" Id="R8371a8349db344e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141b58c8285400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43db11b596b4282" /><Relationship Type="http://schemas.openxmlformats.org/officeDocument/2006/relationships/notesMaster" Target="/ppt/notesMasters/notesMaster1.xml" Id="R1ea77cf1ec324fd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90d7fcf4bf44bee" /><Relationship Type="http://schemas.openxmlformats.org/officeDocument/2006/relationships/notesMaster" Target="/ppt/notesMasters/notesMaster1.xml" Id="R682c1ab519334e8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eeb1857f3104108" /><Relationship Type="http://schemas.openxmlformats.org/officeDocument/2006/relationships/notesMaster" Target="/ppt/notesMasters/notesMaster1.xml" Id="R4898c5d8d7e8477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cebdf03829a4322" /><Relationship Type="http://schemas.openxmlformats.org/officeDocument/2006/relationships/notesMaster" Target="/ppt/notesMasters/notesMaster1.xml" Id="R5247dc5f2d264a2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observability/alerts/rules/data/2026-07-14-alert-policy-export-gap-metrics-tsv-s000567.tsv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p02-full-000567, row:canonical-metric.</a:t>
            </a:r>
          </a:p>
          <a:p xmlns:a="http://schemas.openxmlformats.org/drawingml/2006/main">
            <a:r>
              <a:t>Artifact: p02-full-002248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observability/alerts/rules/data/2026-07-14-alert-policy-export-gap-metrics-tsv-s000567.tsv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p02-full-000567, row:canonical-metric.</a:t>
            </a:r>
          </a:p>
          <a:p xmlns:a="http://schemas.openxmlformats.org/drawingml/2006/main">
            <a:r>
              <a:t>Artifact: p02-full-002248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observability/alerts/rules/data/2026-07-14-alert-policy-export-gap-metrics-tsv-s000567.tsv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p02-full-000567, row:canonical-metric.</a:t>
            </a:r>
          </a:p>
          <a:p xmlns:a="http://schemas.openxmlformats.org/drawingml/2006/main">
            <a:r>
              <a:t>Artifact: p02-full-002248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observability/alerts/rules/data/2026-07-14-alert-policy-export-gap-metrics-tsv-s000567.tsv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p02-full-000567, row:canonical-metric.</a:t>
            </a:r>
          </a:p>
          <a:p xmlns:a="http://schemas.openxmlformats.org/drawingml/2006/main">
            <a:r>
              <a:t>Artifact: p02-full-002248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5d22a3ef5f4fb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6786e6495ce4bc0" /><Relationship Type="http://schemas.openxmlformats.org/officeDocument/2006/relationships/slideLayout" Target="/ppt/slideLayouts/slideLayout1.xml" Id="R066e85def63f49e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66e85def63f49e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6bef9d5a594e88" /><Relationship Type="http://schemas.openxmlformats.org/officeDocument/2006/relationships/notesSlide" Target="/ppt/notesSlides/notesSlide1.xml" Id="R331351728d014d2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9716d2955c440a" /><Relationship Type="http://schemas.openxmlformats.org/officeDocument/2006/relationships/notesSlide" Target="/ppt/notesSlides/notesSlide2.xml" Id="R908f0147f721408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31e44158004217" /><Relationship Type="http://schemas.openxmlformats.org/officeDocument/2006/relationships/notesSlide" Target="/ppt/notesSlides/notesSlide3.xml" Id="R8a9bcab615b8467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d15dfad6cd465f" /><Relationship Type="http://schemas.openxmlformats.org/officeDocument/2006/relationships/chart" Target="/ppt/slides/charts/chart1.xml" Id="Ra7d914cb7b1f4390" /><Relationship Type="http://schemas.openxmlformats.org/officeDocument/2006/relationships/notesSlide" Target="/ppt/notesSlides/notesSlide4.xml" Id="R2d698e78a8714977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Platform Reliability Q-07 jobs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Warning threshold · 09:42</c:v>
              </c:pt>
              <c:pt idx="1">
                <c:v>Critical threshold</c:v>
              </c:pt>
              <c:pt idx="2">
                <c:v>Maximum observed</c:v>
              </c:pt>
            </c:strLit>
          </c:cat>
          <c:val>
            <c:numLit>
              <c:formatCode>General</c:formatCode>
              <c:ptCount val="3"/>
              <c:pt idx="0">
                <c:v>12000</c:v>
              </c:pt>
              <c:pt idx="1">
                <c:v>24000</c:v>
              </c:pt>
              <c:pt idx="2">
                <c:v>38420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420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jobs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50112"/>
        <c:crossBetween val="between"/>
        <c:majorUnit val="12000"/>
      </c:valAx>
      <c:spPr>
        <a:noFill xmlns:a="http://schemas.openxmlformats.org/drawingml/2006/main"/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rid01-eyebrow">
            <a:extLst xmlns:a="http://schemas.openxmlformats.org/drawingml/2006/main">
              <a:ext uri="{FF2B5EF4-FFF2-40B4-BE49-F238E27FC236}">
                <a16:creationId xmlns:a16="http://schemas.microsoft.com/office/drawing/2014/main" id="{D8CDD137-47FE-431F-A2EF-BBECD1E1A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NORTHSTAR TRANSIT CLOUD · RELIABILITY REVIEW</a:t>
            </a:r>
          </a:p>
        </p:txBody>
      </p:sp>
      <p:sp>
        <p:nvSpPr>
          <p:cNvPr id="2" name="grid01-title">
            <a:extLst xmlns:a="http://schemas.openxmlformats.org/drawingml/2006/main">
              <a:ext uri="{FF2B5EF4-FFF2-40B4-BE49-F238E27FC236}">
                <a16:creationId xmlns:a16="http://schemas.microsoft.com/office/drawing/2014/main" id="{059DD481-F7E0-438A-88DB-119350882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43075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Reliability decision brief</a:t>
            </a:r>
          </a:p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p02-full-002248</a:t>
            </a:r>
          </a:p>
        </p:txBody>
      </p:sp>
      <p:sp>
        <p:nvSpPr>
          <p:cNvPr id="3" name="grid01-subtitle">
            <a:extLst xmlns:a="http://schemas.openxmlformats.org/drawingml/2006/main">
              <a:ext uri="{FF2B5EF4-FFF2-40B4-BE49-F238E27FC236}">
                <a16:creationId xmlns:a16="http://schemas.microsoft.com/office/drawing/2014/main" id="{0FDF227D-6279-44FB-AF17-29FA58A7E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7434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2026-07-14 · observability/alerts · Platform Reliability · control p02-full-002248 · 2026 07 14 Alert Policy Availability Operations Briefing Pptx · Checkout availability SLO 99.95%</a:t>
            </a:r>
          </a:p>
        </p:txBody>
      </p:sp>
      <p:sp>
        <p:nvSpPr>
          <p:cNvPr id="4" name="grid01-anchor-strip">
            <a:extLst xmlns:a="http://schemas.openxmlformats.org/drawingml/2006/main">
              <a:ext uri="{FF2B5EF4-FFF2-40B4-BE49-F238E27FC236}">
                <a16:creationId xmlns:a16="http://schemas.microsoft.com/office/drawing/2014/main" id="{0436CA72-7A17-4C31-8543-108FE5947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876925"/>
            <a:ext cx="1133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Canonical corpus anchors: Northstar Transit Cloud | Checkout SVC-17 | 2026-07-13 | error budget 2.4% | INC-260713</a:t>
            </a:r>
          </a:p>
        </p:txBody>
      </p:sp>
    </p:spTree>
    <p:extLst>
      <p:ext uri="{BB962C8B-B14F-4D97-AF65-F5344CB8AC3E}">
        <p14:creationId xmlns:p14="http://schemas.microsoft.com/office/powerpoint/2010/main" val="49911794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17-title">
            <a:extLst xmlns:a="http://schemas.openxmlformats.org/drawingml/2006/main">
              <a:ext uri="{FF2B5EF4-FFF2-40B4-BE49-F238E27FC236}">
                <a16:creationId xmlns:a16="http://schemas.microsoft.com/office/drawing/2014/main" id="{619AD1B5-C28B-40D1-AFDF-0EFA6BF5D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14 Alert Policy Availability Operations Briefing Pptx: controls and recipients</a:t>
            </a:r>
          </a:p>
        </p:txBody>
      </p:sp>
      <p:cxnSp>
        <p:nvCxnSpPr>
          <p:cNvPr id="18" name="grid17-timeline-rule"/>
          <p:cNvCxnSpPr/>
          <p:nvPr/>
        </p:nvCxnSpPr>
        <p:spPr>
          <a:xfrm xmlns:a="http://schemas.openxmlformats.org/drawingml/2006/main">
            <a:off x="333375" y="3371850"/>
            <a:ext cx="11430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3" name="grid17-dot-09:42">
            <a:extLst xmlns:a="http://schemas.openxmlformats.org/drawingml/2006/main">
              <a:ext uri="{FF2B5EF4-FFF2-40B4-BE49-F238E27FC236}">
                <a16:creationId xmlns:a16="http://schemas.microsoft.com/office/drawing/2014/main" id="{B86B5903-A2F6-4071-8DE3-063927DF9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7-label-09:42">
            <a:extLst xmlns:a="http://schemas.openxmlformats.org/drawingml/2006/main">
              <a:ext uri="{FF2B5EF4-FFF2-40B4-BE49-F238E27FC236}">
                <a16:creationId xmlns:a16="http://schemas.microsoft.com/office/drawing/2014/main" id="{46F73BAF-B2B0-40AE-8E93-8ED987932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09:42</a:t>
            </a:r>
          </a:p>
        </p:txBody>
      </p:sp>
      <p:sp>
        <p:nvSpPr>
          <p:cNvPr id="5" name="grid17-header-09:42">
            <a:extLst xmlns:a="http://schemas.openxmlformats.org/drawingml/2006/main">
              <a:ext uri="{FF2B5EF4-FFF2-40B4-BE49-F238E27FC236}">
                <a16:creationId xmlns:a16="http://schemas.microsoft.com/office/drawing/2014/main" id="{3A19A47D-5D22-435A-B6EA-4E01CCAE6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Warning</a:t>
            </a:r>
          </a:p>
        </p:txBody>
      </p:sp>
      <p:sp>
        <p:nvSpPr>
          <p:cNvPr id="6" name="grid17-body-09:42">
            <a:extLst xmlns:a="http://schemas.openxmlformats.org/drawingml/2006/main">
              <a:ext uri="{FF2B5EF4-FFF2-40B4-BE49-F238E27FC236}">
                <a16:creationId xmlns:a16="http://schemas.microsoft.com/office/drawing/2014/main" id="{6634F489-104B-463E-9169-CECD8B10B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crossed 12,000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14 alert policy export gap metrics tsv</a:t>
            </a:r>
          </a:p>
        </p:txBody>
      </p:sp>
      <p:sp>
        <p:nvSpPr>
          <p:cNvPr id="7" name="grid17-dot-10:02">
            <a:extLst xmlns:a="http://schemas.openxmlformats.org/drawingml/2006/main">
              <a:ext uri="{FF2B5EF4-FFF2-40B4-BE49-F238E27FC236}">
                <a16:creationId xmlns:a16="http://schemas.microsoft.com/office/drawing/2014/main" id="{7E258018-0FFB-4A00-8A96-726F3E45F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17-label-10:02">
            <a:extLst xmlns:a="http://schemas.openxmlformats.org/drawingml/2006/main">
              <a:ext uri="{FF2B5EF4-FFF2-40B4-BE49-F238E27FC236}">
                <a16:creationId xmlns:a16="http://schemas.microsoft.com/office/drawing/2014/main" id="{B1FCDE07-BBAC-45B5-8DFF-70766E08B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10:02</a:t>
            </a:r>
          </a:p>
        </p:txBody>
      </p:sp>
      <p:sp>
        <p:nvSpPr>
          <p:cNvPr id="9" name="grid17-header-10:02">
            <a:extLst xmlns:a="http://schemas.openxmlformats.org/drawingml/2006/main">
              <a:ext uri="{FF2B5EF4-FFF2-40B4-BE49-F238E27FC236}">
                <a16:creationId xmlns:a16="http://schemas.microsoft.com/office/drawing/2014/main" id="{0843E97B-9B02-4ABA-9BB5-CCDC40ABA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Rollback</a:t>
            </a:r>
          </a:p>
        </p:txBody>
      </p:sp>
      <p:sp>
        <p:nvSpPr>
          <p:cNvPr id="10" name="grid17-body-10:02">
            <a:extLst xmlns:a="http://schemas.openxmlformats.org/drawingml/2006/main">
              <a:ext uri="{FF2B5EF4-FFF2-40B4-BE49-F238E27FC236}">
                <a16:creationId xmlns:a16="http://schemas.microsoft.com/office/drawing/2014/main" id="{5603B664-BF56-4F02-A798-37F2A8474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Approval recorded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Recipient: Platform Reliability</a:t>
            </a:r>
          </a:p>
        </p:txBody>
      </p:sp>
      <p:sp>
        <p:nvSpPr>
          <p:cNvPr id="11" name="grid17-dot-10:24">
            <a:extLst xmlns:a="http://schemas.openxmlformats.org/drawingml/2006/main">
              <a:ext uri="{FF2B5EF4-FFF2-40B4-BE49-F238E27FC236}">
                <a16:creationId xmlns:a16="http://schemas.microsoft.com/office/drawing/2014/main" id="{5469CAB3-1214-4686-98CC-BB7925556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grid17-label-10:24">
            <a:extLst xmlns:a="http://schemas.openxmlformats.org/drawingml/2006/main">
              <a:ext uri="{FF2B5EF4-FFF2-40B4-BE49-F238E27FC236}">
                <a16:creationId xmlns:a16="http://schemas.microsoft.com/office/drawing/2014/main" id="{97201145-2853-4E0E-A13D-A77DAF37F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10:24</a:t>
            </a:r>
          </a:p>
        </p:txBody>
      </p:sp>
      <p:sp>
        <p:nvSpPr>
          <p:cNvPr id="13" name="grid17-header-10:24">
            <a:extLst xmlns:a="http://schemas.openxmlformats.org/drawingml/2006/main">
              <a:ext uri="{FF2B5EF4-FFF2-40B4-BE49-F238E27FC236}">
                <a16:creationId xmlns:a16="http://schemas.microsoft.com/office/drawing/2014/main" id="{8D973E3C-C93B-4E00-8251-28F264094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Recovery</a:t>
            </a:r>
          </a:p>
        </p:txBody>
      </p:sp>
      <p:sp>
        <p:nvSpPr>
          <p:cNvPr id="14" name="grid17-body-10:24">
            <a:extLst xmlns:a="http://schemas.openxmlformats.org/drawingml/2006/main">
              <a:ext uri="{FF2B5EF4-FFF2-40B4-BE49-F238E27FC236}">
                <a16:creationId xmlns:a16="http://schemas.microsoft.com/office/drawing/2014/main" id="{A9BFD769-DC81-43DA-9492-09A30FE54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below 8,000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2026-07-14 review</a:t>
            </a:r>
          </a:p>
        </p:txBody>
      </p:sp>
      <p:sp>
        <p:nvSpPr>
          <p:cNvPr id="15" name="grid17-control">
            <a:extLst xmlns:a="http://schemas.openxmlformats.org/drawingml/2006/main">
              <a:ext uri="{FF2B5EF4-FFF2-40B4-BE49-F238E27FC236}">
                <a16:creationId xmlns:a16="http://schemas.microsoft.com/office/drawing/2014/main" id="{4F3E56B5-90A1-4EB0-BCB4-53B55243C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p02-full-002248</a:t>
            </a:r>
          </a:p>
        </p:txBody>
      </p:sp>
      <p:sp>
        <p:nvSpPr>
          <p:cNvPr id="16" name="grid17-footer">
            <a:extLst xmlns:a="http://schemas.openxmlformats.org/drawingml/2006/main">
              <a:ext uri="{FF2B5EF4-FFF2-40B4-BE49-F238E27FC236}">
                <a16:creationId xmlns:a16="http://schemas.microsoft.com/office/drawing/2014/main" id="{E4FD959D-6F67-488E-B202-1058AFDC3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2842297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grid19-title">
            <a:extLst xmlns:a="http://schemas.openxmlformats.org/drawingml/2006/main">
              <a:ext uri="{FF2B5EF4-FFF2-40B4-BE49-F238E27FC236}">
                <a16:creationId xmlns:a16="http://schemas.microsoft.com/office/drawing/2014/main" id="{2B8D3BD5-1655-4E40-97CD-D3B19B8E2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Decision metrics · p02-full-002248</a:t>
            </a:r>
          </a:p>
        </p:txBody>
      </p:sp>
      <p:sp>
        <p:nvSpPr>
          <p:cNvPr id="2" name="grid19-context">
            <a:extLst xmlns:a="http://schemas.openxmlformats.org/drawingml/2006/main">
              <a:ext uri="{FF2B5EF4-FFF2-40B4-BE49-F238E27FC236}">
                <a16:creationId xmlns:a16="http://schemas.microsoft.com/office/drawing/2014/main" id="{DB26836D-C137-461C-8506-ACEDC92DA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3350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Recipients: Platform Reliability. org.ntc · slo.checkout.latency · rel.slo.2026-q3 · date.2026-07-14. Error budget 2.4% is a request-error allowance, not downtime. Checkout latency SLO: 99.0% below 400 ms.</a:t>
            </a:r>
          </a:p>
        </p:txBody>
      </p:sp>
      <p:sp>
        <p:nvSpPr>
          <p:cNvPr id="3" name="grid13-column-0">
            <a:extLst xmlns:a="http://schemas.openxmlformats.org/drawingml/2006/main">
              <a:ext uri="{FF2B5EF4-FFF2-40B4-BE49-F238E27FC236}">
                <a16:creationId xmlns:a16="http://schemas.microsoft.com/office/drawing/2014/main" id="{B803EAAD-C20A-483D-AEBC-8C538F8DA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3-kicker-0">
            <a:extLst xmlns:a="http://schemas.openxmlformats.org/drawingml/2006/main">
              <a:ext uri="{FF2B5EF4-FFF2-40B4-BE49-F238E27FC236}">
                <a16:creationId xmlns:a16="http://schemas.microsoft.com/office/drawing/2014/main" id="{66E0A715-4F5E-4DAB-BE97-1E182BD6A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01</a:t>
            </a:r>
          </a:p>
        </p:txBody>
      </p:sp>
      <p:sp>
        <p:nvSpPr>
          <p:cNvPr id="5" name="grid13-value-0">
            <a:extLst xmlns:a="http://schemas.openxmlformats.org/drawingml/2006/main">
              <a:ext uri="{FF2B5EF4-FFF2-40B4-BE49-F238E27FC236}">
                <a16:creationId xmlns:a16="http://schemas.microsoft.com/office/drawing/2014/main" id="{2BEB03B1-4299-4087-ADC4-4FB10F787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99.95%</a:t>
            </a:r>
          </a:p>
        </p:txBody>
      </p:sp>
      <p:sp>
        <p:nvSpPr>
          <p:cNvPr id="6" name="grid13-header-0">
            <a:extLst xmlns:a="http://schemas.openxmlformats.org/drawingml/2006/main">
              <a:ext uri="{FF2B5EF4-FFF2-40B4-BE49-F238E27FC236}">
                <a16:creationId xmlns:a16="http://schemas.microsoft.com/office/drawing/2014/main" id="{9E1FB4FF-7D14-432F-8989-4BA55E828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Checkout availability SLO</a:t>
            </a:r>
          </a:p>
        </p:txBody>
      </p:sp>
      <p:sp>
        <p:nvSpPr>
          <p:cNvPr id="7" name="grid13-column-1">
            <a:extLst xmlns:a="http://schemas.openxmlformats.org/drawingml/2006/main">
              <a:ext uri="{FF2B5EF4-FFF2-40B4-BE49-F238E27FC236}">
                <a16:creationId xmlns:a16="http://schemas.microsoft.com/office/drawing/2014/main" id="{BC94C1DD-5A93-4502-A755-8AB166B1B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grid13-field-1">
            <a:extLst xmlns:a="http://schemas.openxmlformats.org/drawingml/2006/main">
              <a:ext uri="{FF2B5EF4-FFF2-40B4-BE49-F238E27FC236}">
                <a16:creationId xmlns:a16="http://schemas.microsoft.com/office/drawing/2014/main" id="{2429C588-CA84-47A5-9CB5-C64D5CE18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solidFill>
              <a:srgbClr val="EAF4FF"/>
            </a:solidFill>
            <a:prstDash val="solid"/>
          </a:ln>
        </p:spPr>
      </p:sp>
      <p:sp>
        <p:nvSpPr>
          <p:cNvPr id="9" name="grid13-kicker-1">
            <a:extLst xmlns:a="http://schemas.openxmlformats.org/drawingml/2006/main">
              <a:ext uri="{FF2B5EF4-FFF2-40B4-BE49-F238E27FC236}">
                <a16:creationId xmlns:a16="http://schemas.microsoft.com/office/drawing/2014/main" id="{3F3DED2D-7EBB-4C4D-81B0-C10C25330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02</a:t>
            </a:r>
          </a:p>
        </p:txBody>
      </p:sp>
      <p:sp>
        <p:nvSpPr>
          <p:cNvPr id="10" name="grid13-value-1">
            <a:extLst xmlns:a="http://schemas.openxmlformats.org/drawingml/2006/main">
              <a:ext uri="{FF2B5EF4-FFF2-40B4-BE49-F238E27FC236}">
                <a16:creationId xmlns:a16="http://schemas.microsoft.com/office/drawing/2014/main" id="{B1BC4739-F89C-4AD1-83F3-F50D0E348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99.0% below 400 ms</a:t>
            </a:r>
          </a:p>
        </p:txBody>
      </p:sp>
      <p:sp>
        <p:nvSpPr>
          <p:cNvPr id="11" name="grid13-header-1">
            <a:extLst xmlns:a="http://schemas.openxmlformats.org/drawingml/2006/main">
              <a:ext uri="{FF2B5EF4-FFF2-40B4-BE49-F238E27FC236}">
                <a16:creationId xmlns:a16="http://schemas.microsoft.com/office/drawing/2014/main" id="{33AB94E3-99A2-49A1-AEDD-385042D2C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Latency target</a:t>
            </a:r>
          </a:p>
        </p:txBody>
      </p:sp>
      <p:sp>
        <p:nvSpPr>
          <p:cNvPr id="12" name="grid13-column-2">
            <a:extLst xmlns:a="http://schemas.openxmlformats.org/drawingml/2006/main">
              <a:ext uri="{FF2B5EF4-FFF2-40B4-BE49-F238E27FC236}">
                <a16:creationId xmlns:a16="http://schemas.microsoft.com/office/drawing/2014/main" id="{C294768F-E315-4A6F-9527-4EF088618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3" name="grid13-field-2">
            <a:extLst xmlns:a="http://schemas.openxmlformats.org/drawingml/2006/main">
              <a:ext uri="{FF2B5EF4-FFF2-40B4-BE49-F238E27FC236}">
                <a16:creationId xmlns:a16="http://schemas.microsoft.com/office/drawing/2014/main" id="{70084358-7036-4749-A20A-80F6724F1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4" name="grid13-kicker-2">
            <a:extLst xmlns:a="http://schemas.openxmlformats.org/drawingml/2006/main">
              <a:ext uri="{FF2B5EF4-FFF2-40B4-BE49-F238E27FC236}">
                <a16:creationId xmlns:a16="http://schemas.microsoft.com/office/drawing/2014/main" id="{025EDE7C-6A04-4B92-8304-558B74214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03</a:t>
            </a:r>
          </a:p>
        </p:txBody>
      </p:sp>
      <p:sp>
        <p:nvSpPr>
          <p:cNvPr id="15" name="grid13-value-2">
            <a:extLst xmlns:a="http://schemas.openxmlformats.org/drawingml/2006/main">
              <a:ext uri="{FF2B5EF4-FFF2-40B4-BE49-F238E27FC236}">
                <a16:creationId xmlns:a16="http://schemas.microsoft.com/office/drawing/2014/main" id="{F388C89A-9DF6-4F1E-BDA0-C964C99DD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14.6x</a:t>
            </a:r>
          </a:p>
        </p:txBody>
      </p:sp>
      <p:sp>
        <p:nvSpPr>
          <p:cNvPr id="16" name="grid13-header-2">
            <a:extLst xmlns:a="http://schemas.openxmlformats.org/drawingml/2006/main">
              <a:ext uri="{FF2B5EF4-FFF2-40B4-BE49-F238E27FC236}">
                <a16:creationId xmlns:a16="http://schemas.microsoft.com/office/drawing/2014/main" id="{BF7C2C71-8590-4BD0-8B20-13D492525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Short burn</a:t>
            </a:r>
          </a:p>
        </p:txBody>
      </p:sp>
      <p:sp>
        <p:nvSpPr>
          <p:cNvPr id="17" name="grid19-control">
            <a:extLst xmlns:a="http://schemas.openxmlformats.org/drawingml/2006/main">
              <a:ext uri="{FF2B5EF4-FFF2-40B4-BE49-F238E27FC236}">
                <a16:creationId xmlns:a16="http://schemas.microsoft.com/office/drawing/2014/main" id="{3BBE3B5C-D231-4A16-9FF8-66E6C9EE2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p02-full-002248</a:t>
            </a:r>
          </a:p>
        </p:txBody>
      </p:sp>
      <p:sp>
        <p:nvSpPr>
          <p:cNvPr id="18" name="grid19-footer">
            <a:extLst xmlns:a="http://schemas.openxmlformats.org/drawingml/2006/main">
              <a:ext uri="{FF2B5EF4-FFF2-40B4-BE49-F238E27FC236}">
                <a16:creationId xmlns:a16="http://schemas.microsoft.com/office/drawing/2014/main" id="{77BF5449-5E3A-4A6E-A50E-D70EAD883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28748612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20-title">
            <a:extLst xmlns:a="http://schemas.openxmlformats.org/drawingml/2006/main">
              <a:ext uri="{FF2B5EF4-FFF2-40B4-BE49-F238E27FC236}">
                <a16:creationId xmlns:a16="http://schemas.microsoft.com/office/drawing/2014/main" id="{E6C47F24-81E4-42A9-BE21-8DF6B5644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threshold decision</a:t>
            </a:r>
          </a:p>
        </p:txBody>
      </p:sp>
      <p:sp>
        <p:nvSpPr>
          <p:cNvPr id="2" name="grid20-context">
            <a:extLst xmlns:a="http://schemas.openxmlformats.org/drawingml/2006/main">
              <a:ext uri="{FF2B5EF4-FFF2-40B4-BE49-F238E27FC236}">
                <a16:creationId xmlns:a16="http://schemas.microsoft.com/office/drawing/2014/main" id="{F0AC624F-D1FF-44E9-97EC-7CF50D1FB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990600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14 Alert Policy Availability Operations Briefing Pptx: Q-07 threshold evidence · p02-full-002248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409575" y="1619250"/>
          <a:ext xmlns:a="http://schemas.openxmlformats.org/drawingml/2006/main" cx="5124450" cy="45339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7d914cb7b1f4390"/>
          </a:graphicData>
        </a:graphic>
      </p:graphicFrame>
      <p:sp>
        <p:nvSpPr>
          <p:cNvPr id="4" name="grid20-queue-value-0">
            <a:extLst xmlns:a="http://schemas.openxmlformats.org/drawingml/2006/main">
              <a:ext uri="{FF2B5EF4-FFF2-40B4-BE49-F238E27FC236}">
                <a16:creationId xmlns:a16="http://schemas.microsoft.com/office/drawing/2014/main" id="{B0362EEF-C234-4AE4-B8DB-2D25A9FAF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5148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12,000</a:t>
            </a:r>
          </a:p>
        </p:txBody>
      </p:sp>
      <p:sp>
        <p:nvSpPr>
          <p:cNvPr id="5" name="grid20-queue-value-1">
            <a:extLst xmlns:a="http://schemas.openxmlformats.org/drawingml/2006/main">
              <a:ext uri="{FF2B5EF4-FFF2-40B4-BE49-F238E27FC236}">
                <a16:creationId xmlns:a16="http://schemas.microsoft.com/office/drawing/2014/main" id="{D109FB91-6F72-489B-BFC0-01A9D7C0C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2194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24,000</a:t>
            </a:r>
          </a:p>
        </p:txBody>
      </p:sp>
      <p:sp>
        <p:nvSpPr>
          <p:cNvPr id="6" name="grid20-queue-value-2">
            <a:extLst xmlns:a="http://schemas.openxmlformats.org/drawingml/2006/main">
              <a:ext uri="{FF2B5EF4-FFF2-40B4-BE49-F238E27FC236}">
                <a16:creationId xmlns:a16="http://schemas.microsoft.com/office/drawing/2014/main" id="{1E72298C-5FC1-4555-A42C-CC33F9F7C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685925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38,420</a:t>
            </a:r>
          </a:p>
        </p:txBody>
      </p:sp>
      <p:sp>
        <p:nvSpPr>
          <p:cNvPr id="7" name="grid20-rule-0">
            <a:extLst xmlns:a="http://schemas.openxmlformats.org/drawingml/2006/main">
              <a:ext uri="{FF2B5EF4-FFF2-40B4-BE49-F238E27FC236}">
                <a16:creationId xmlns:a16="http://schemas.microsoft.com/office/drawing/2014/main" id="{1FAC14B7-F1CC-4D9F-AB6A-6D1D9D8FB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192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20-header-0">
            <a:extLst xmlns:a="http://schemas.openxmlformats.org/drawingml/2006/main">
              <a:ext uri="{FF2B5EF4-FFF2-40B4-BE49-F238E27FC236}">
                <a16:creationId xmlns:a16="http://schemas.microsoft.com/office/drawing/2014/main" id="{AAF38A23-6C03-4899-81BE-CD50C3051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478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Cause</a:t>
            </a:r>
          </a:p>
        </p:txBody>
      </p:sp>
      <p:sp>
        <p:nvSpPr>
          <p:cNvPr id="9" name="grid20-body-0">
            <a:extLst xmlns:a="http://schemas.openxmlformats.org/drawingml/2006/main">
              <a:ext uri="{FF2B5EF4-FFF2-40B4-BE49-F238E27FC236}">
                <a16:creationId xmlns:a16="http://schemas.microsoft.com/office/drawing/2014/main" id="{34F2468C-D853-47E5-B4FF-102310293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431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Removed queue-pressure guardrail</a:t>
            </a:r>
          </a:p>
        </p:txBody>
      </p:sp>
      <p:sp>
        <p:nvSpPr>
          <p:cNvPr id="10" name="grid20-rule-1">
            <a:extLst xmlns:a="http://schemas.openxmlformats.org/drawingml/2006/main">
              <a:ext uri="{FF2B5EF4-FFF2-40B4-BE49-F238E27FC236}">
                <a16:creationId xmlns:a16="http://schemas.microsoft.com/office/drawing/2014/main" id="{1EAFF871-7016-4D14-8301-8EA1A3E9D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0040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1" name="grid20-header-1">
            <a:extLst xmlns:a="http://schemas.openxmlformats.org/drawingml/2006/main">
              <a:ext uri="{FF2B5EF4-FFF2-40B4-BE49-F238E27FC236}">
                <a16:creationId xmlns:a16="http://schemas.microsoft.com/office/drawing/2014/main" id="{16946FD8-07B5-4C4E-BD48-3CFD18FDF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290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</a:t>
            </a:r>
          </a:p>
        </p:txBody>
      </p:sp>
      <p:sp>
        <p:nvSpPr>
          <p:cNvPr id="12" name="grid20-body-1">
            <a:extLst xmlns:a="http://schemas.openxmlformats.org/drawingml/2006/main">
              <a:ext uri="{FF2B5EF4-FFF2-40B4-BE49-F238E27FC236}">
                <a16:creationId xmlns:a16="http://schemas.microsoft.com/office/drawing/2014/main" id="{E893D34E-5B0C-4829-9C23-D795B482E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243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Platform Reliability</a:t>
            </a:r>
          </a:p>
        </p:txBody>
      </p:sp>
      <p:sp>
        <p:nvSpPr>
          <p:cNvPr id="13" name="grid20-rule-2">
            <a:extLst xmlns:a="http://schemas.openxmlformats.org/drawingml/2006/main">
              <a:ext uri="{FF2B5EF4-FFF2-40B4-BE49-F238E27FC236}">
                <a16:creationId xmlns:a16="http://schemas.microsoft.com/office/drawing/2014/main" id="{7616F601-1E54-4858-A10A-34FCEAD97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815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grid20-header-2">
            <a:extLst xmlns:a="http://schemas.openxmlformats.org/drawingml/2006/main">
              <a:ext uri="{FF2B5EF4-FFF2-40B4-BE49-F238E27FC236}">
                <a16:creationId xmlns:a16="http://schemas.microsoft.com/office/drawing/2014/main" id="{F4A13F25-5B47-4EAA-9E8A-7F8ED04D9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0101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Dependency</a:t>
            </a:r>
          </a:p>
        </p:txBody>
      </p:sp>
      <p:sp>
        <p:nvSpPr>
          <p:cNvPr id="15" name="grid20-body-2">
            <a:extLst xmlns:a="http://schemas.openxmlformats.org/drawingml/2006/main">
              <a:ext uri="{FF2B5EF4-FFF2-40B4-BE49-F238E27FC236}">
                <a16:creationId xmlns:a16="http://schemas.microsoft.com/office/drawing/2014/main" id="{30422779-752F-4A24-933D-C85A5F66F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5054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14 alert policy export gap metrics tsv</a:t>
            </a:r>
          </a:p>
        </p:txBody>
      </p:sp>
      <p:sp>
        <p:nvSpPr>
          <p:cNvPr id="16" name="grid20-footer">
            <a:extLst xmlns:a="http://schemas.openxmlformats.org/drawingml/2006/main">
              <a:ext uri="{FF2B5EF4-FFF2-40B4-BE49-F238E27FC236}">
                <a16:creationId xmlns:a16="http://schemas.microsoft.com/office/drawing/2014/main" id="{1E8D5CF2-2998-49FF-A60B-4A0B66F18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71901116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2026-08-24T13:00:50.6450000Z</dcterms:created>
  <dcterms:modified xsi:type="dcterms:W3CDTF">2026-08-24T13:00:50.6450000Z</dcterms:modified>
</coreProperties>
</file>