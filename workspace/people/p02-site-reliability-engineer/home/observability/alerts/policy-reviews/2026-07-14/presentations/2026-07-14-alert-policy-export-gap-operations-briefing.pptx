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aa2beaba67c4c96" /><Relationship Type="http://schemas.openxmlformats.org/officeDocument/2006/relationships/extended-properties" Target="/docProps/app.xml" Id="Rcc87da62ab87481e" /><Relationship Type="http://schemas.openxmlformats.org/officeDocument/2006/relationships/officeDocument" Target="/ppt/presentation.xml" Id="Rd3ef9803d57c485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1abdb0f9fdc4a4e"/>
  </p:sldMasterIdLst>
  <p:notesMasterIdLst>
    <p:notesMasterId xmlns:r="http://schemas.openxmlformats.org/officeDocument/2006/relationships" r:id="Recd2cd1814294b3a"/>
  </p:notesMasterIdLst>
  <p:sldIdLst>
    <p:sldId xmlns:r="http://schemas.openxmlformats.org/officeDocument/2006/relationships" id="256" r:id="Rc3204120ee684626"/>
    <p:sldId xmlns:r="http://schemas.openxmlformats.org/officeDocument/2006/relationships" id="257" r:id="R34de40f911424997"/>
    <p:sldId xmlns:r="http://schemas.openxmlformats.org/officeDocument/2006/relationships" id="258" r:id="R0caeea54708b4575"/>
    <p:sldId xmlns:r="http://schemas.openxmlformats.org/officeDocument/2006/relationships" id="259" r:id="R57c44e478e87458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3493e59725c48bb" /><Relationship Type="http://schemas.openxmlformats.org/officeDocument/2006/relationships/slideMaster" Target="/ppt/slideMasters/slideMaster1.xml" Id="R31abdb0f9fdc4a4e" /><Relationship Type="http://schemas.openxmlformats.org/officeDocument/2006/relationships/notesMaster" Target="/ppt/notesMasters/notesMaster1.xml" Id="Recd2cd1814294b3a" /><Relationship Type="http://schemas.openxmlformats.org/officeDocument/2006/relationships/presProps" Target="/ppt/presProps.xml" Id="R4ce589b1b97c484a" /><Relationship Type="http://schemas.openxmlformats.org/officeDocument/2006/relationships/tableStyles" Target="/ppt/tableStyles.xml" Id="R45f607a51d624bb4" /><Relationship Type="http://schemas.openxmlformats.org/officeDocument/2006/relationships/slide" Target="/ppt/slides/slide1.xml" Id="Rc3204120ee684626" /><Relationship Type="http://schemas.openxmlformats.org/officeDocument/2006/relationships/slide" Target="/ppt/slides/slide2.xml" Id="R34de40f911424997" /><Relationship Type="http://schemas.openxmlformats.org/officeDocument/2006/relationships/slide" Target="/ppt/slides/slide3.xml" Id="R0caeea54708b4575" /><Relationship Type="http://schemas.openxmlformats.org/officeDocument/2006/relationships/slide" Target="/ppt/slides/slide4.xml" Id="R57c44e478e87458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b0c708e65f9409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7e6b7ce40ae4be3" /><Relationship Type="http://schemas.openxmlformats.org/officeDocument/2006/relationships/notesMaster" Target="/ppt/notesMasters/notesMaster1.xml" Id="R2f78e52e287340c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efbd92c2f794621" /><Relationship Type="http://schemas.openxmlformats.org/officeDocument/2006/relationships/notesMaster" Target="/ppt/notesMasters/notesMaster1.xml" Id="R1c93f8a3023b4cf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69b71fd3c7549a2" /><Relationship Type="http://schemas.openxmlformats.org/officeDocument/2006/relationships/notesMaster" Target="/ppt/notesMasters/notesMaster1.xml" Id="Redf9dfdffa6d4d9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9897507e7c042a8" /><Relationship Type="http://schemas.openxmlformats.org/officeDocument/2006/relationships/notesMaster" Target="/ppt/notesMasters/notesMaster1.xml" Id="Rf2f90a9662134bd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observability/alerts/rules/data/2026-07-15-alert-policy-latency-metrics-tsv-s001769.tsv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p02-full-001769, row:canonical-metric.</a:t>
            </a:r>
          </a:p>
          <a:p xmlns:a="http://schemas.openxmlformats.org/drawingml/2006/main">
            <a:r>
              <a:t>Artifact: p02-full-003055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observability/alerts/rules/data/2026-07-15-alert-policy-latency-metrics-tsv-s001769.tsv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p02-full-001769, row:canonical-metric.</a:t>
            </a:r>
          </a:p>
          <a:p xmlns:a="http://schemas.openxmlformats.org/drawingml/2006/main">
            <a:r>
              <a:t>Artifact: p02-full-003055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observability/alerts/rules/data/2026-07-15-alert-policy-latency-metrics-tsv-s001769.tsv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p02-full-001769, row:canonical-metric.</a:t>
            </a:r>
          </a:p>
          <a:p xmlns:a="http://schemas.openxmlformats.org/drawingml/2006/main">
            <a:r>
              <a:t>Artifact: p02-full-003055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observability/alerts/rules/data/2026-07-15-alert-policy-latency-metrics-tsv-s001769.tsv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p02-full-001769, row:canonical-metric.</a:t>
            </a:r>
          </a:p>
          <a:p xmlns:a="http://schemas.openxmlformats.org/drawingml/2006/main">
            <a:r>
              <a:t>Artifact: p02-full-003055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02047637f14fa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945e37ec0144bd7" /><Relationship Type="http://schemas.openxmlformats.org/officeDocument/2006/relationships/slideLayout" Target="/ppt/slideLayouts/slideLayout1.xml" Id="R7d3c14573a504b5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d3c14573a504b5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a4891c116c417a" /><Relationship Type="http://schemas.openxmlformats.org/officeDocument/2006/relationships/notesSlide" Target="/ppt/notesSlides/notesSlide1.xml" Id="Rd62a4391a753457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d0318a77234097" /><Relationship Type="http://schemas.openxmlformats.org/officeDocument/2006/relationships/notesSlide" Target="/ppt/notesSlides/notesSlide2.xml" Id="R2617b1106c55436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1816f2027f4ed8" /><Relationship Type="http://schemas.openxmlformats.org/officeDocument/2006/relationships/notesSlide" Target="/ppt/notesSlides/notesSlide3.xml" Id="R98da2e256e96414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eb51d78b7d485a" /><Relationship Type="http://schemas.openxmlformats.org/officeDocument/2006/relationships/chart" Target="/ppt/slides/charts/chart1.xml" Id="R55fc5ef0c0374015" /><Relationship Type="http://schemas.openxmlformats.org/officeDocument/2006/relationships/notesSlide" Target="/ppt/notesSlides/notesSlide4.xml" Id="R4b5a929fecc148aa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Platform Reliability Q-07 jobs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3"/>
              <c:pt idx="0">
                <c:v>Warning threshold · 09:42</c:v>
              </c:pt>
              <c:pt idx="1">
                <c:v>Critical threshold</c:v>
              </c:pt>
              <c:pt idx="2">
                <c:v>Maximum observed</c:v>
              </c:pt>
            </c:strLit>
          </c:cat>
          <c:val>
            <c:numLit>
              <c:formatCode>General</c:formatCode>
              <c:ptCount val="3"/>
              <c:pt idx="0">
                <c:v>12000</c:v>
              </c:pt>
              <c:pt idx="1">
                <c:v>24000</c:v>
              </c:pt>
              <c:pt idx="2">
                <c:v>38420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4200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jobs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</a:defRPr>
            </a:pPr>
          </a:p>
        </c:txPr>
        <c:crossAx val="48650112"/>
        <c:crossBetween val="between"/>
        <c:majorUnit val="12000"/>
      </c:valAx>
      <c:spPr>
        <a:noFill xmlns:a="http://schemas.openxmlformats.org/drawingml/2006/main"/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grid01-eyebrow">
            <a:extLst xmlns:a="http://schemas.openxmlformats.org/drawingml/2006/main">
              <a:ext uri="{FF2B5EF4-FFF2-40B4-BE49-F238E27FC236}">
                <a16:creationId xmlns:a16="http://schemas.microsoft.com/office/drawing/2014/main" id="{4F7EFD10-EC96-454C-A6A1-92A74F1EB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90525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NORTHSTAR TRANSIT CLOUD · RELIABILITY REVIEW</a:t>
            </a:r>
          </a:p>
        </p:txBody>
      </p:sp>
      <p:sp>
        <p:nvSpPr>
          <p:cNvPr id="2" name="grid01-title">
            <a:extLst xmlns:a="http://schemas.openxmlformats.org/drawingml/2006/main">
              <a:ext uri="{FF2B5EF4-FFF2-40B4-BE49-F238E27FC236}">
                <a16:creationId xmlns:a16="http://schemas.microsoft.com/office/drawing/2014/main" id="{81926ECB-C6EF-47AD-91AF-758F415EE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743075"/>
            <a:ext cx="1066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Reliability decision brief</a:t>
            </a:r>
          </a:p>
          <a:p xmlns:a="http://schemas.openxmlformats.org/drawingml/2006/main">
            <a:pPr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p02-full-003055</a:t>
            </a:r>
          </a:p>
        </p:txBody>
      </p:sp>
      <p:sp>
        <p:nvSpPr>
          <p:cNvPr id="3" name="grid01-subtitle">
            <a:extLst xmlns:a="http://schemas.openxmlformats.org/drawingml/2006/main">
              <a:ext uri="{FF2B5EF4-FFF2-40B4-BE49-F238E27FC236}">
                <a16:creationId xmlns:a16="http://schemas.microsoft.com/office/drawing/2014/main" id="{C1FD1354-B62D-4CB3-AE36-399829F07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7434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2026-07-14 · observability/alerts · Platform Reliability · control p02-full-003055 · 2026 07 14 Alert Policy Export Gap Operations Briefing Pptx · Checkout availability SLO 99.95%</a:t>
            </a:r>
          </a:p>
        </p:txBody>
      </p:sp>
      <p:sp>
        <p:nvSpPr>
          <p:cNvPr id="4" name="grid01-anchor-strip">
            <a:extLst xmlns:a="http://schemas.openxmlformats.org/drawingml/2006/main">
              <a:ext uri="{FF2B5EF4-FFF2-40B4-BE49-F238E27FC236}">
                <a16:creationId xmlns:a16="http://schemas.microsoft.com/office/drawing/2014/main" id="{6CDC82F2-A630-4746-AA5E-143147AAF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876925"/>
            <a:ext cx="1133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Canonical corpus anchors: Northstar Transit Cloud | Checkout SVC-17 | 2026-07-13 | error budget 2.4% | INC-260713</a:t>
            </a:r>
          </a:p>
        </p:txBody>
      </p:sp>
    </p:spTree>
    <p:extLst>
      <p:ext uri="{BB962C8B-B14F-4D97-AF65-F5344CB8AC3E}">
        <p14:creationId xmlns:p14="http://schemas.microsoft.com/office/powerpoint/2010/main" val="84412267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rid17-title">
            <a:extLst xmlns:a="http://schemas.openxmlformats.org/drawingml/2006/main">
              <a:ext uri="{FF2B5EF4-FFF2-40B4-BE49-F238E27FC236}">
                <a16:creationId xmlns:a16="http://schemas.microsoft.com/office/drawing/2014/main" id="{F4A97225-2274-4288-9032-2F486948B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14 Alert Policy Export Gap Operations Briefing Pptx: controls and recipients</a:t>
            </a:r>
          </a:p>
        </p:txBody>
      </p:sp>
      <p:cxnSp>
        <p:nvCxnSpPr>
          <p:cNvPr id="18" name="grid17-timeline-rule"/>
          <p:cNvCxnSpPr/>
          <p:nvPr/>
        </p:nvCxnSpPr>
        <p:spPr>
          <a:xfrm xmlns:a="http://schemas.openxmlformats.org/drawingml/2006/main">
            <a:off x="333375" y="3371850"/>
            <a:ext cx="114300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3" name="grid17-dot-09:42">
            <a:extLst xmlns:a="http://schemas.openxmlformats.org/drawingml/2006/main">
              <a:ext uri="{FF2B5EF4-FFF2-40B4-BE49-F238E27FC236}">
                <a16:creationId xmlns:a16="http://schemas.microsoft.com/office/drawing/2014/main" id="{0258FEF4-0CBD-4612-9978-4143D4BD5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grid17-label-09:42">
            <a:extLst xmlns:a="http://schemas.openxmlformats.org/drawingml/2006/main">
              <a:ext uri="{FF2B5EF4-FFF2-40B4-BE49-F238E27FC236}">
                <a16:creationId xmlns:a16="http://schemas.microsoft.com/office/drawing/2014/main" id="{EBF3547C-AF6A-4527-94C1-1203D24CA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09:42</a:t>
            </a:r>
          </a:p>
        </p:txBody>
      </p:sp>
      <p:sp>
        <p:nvSpPr>
          <p:cNvPr id="5" name="grid17-header-09:42">
            <a:extLst xmlns:a="http://schemas.openxmlformats.org/drawingml/2006/main">
              <a:ext uri="{FF2B5EF4-FFF2-40B4-BE49-F238E27FC236}">
                <a16:creationId xmlns:a16="http://schemas.microsoft.com/office/drawing/2014/main" id="{FBAC53F9-10A0-4B4B-9C21-4A335DD64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Warning</a:t>
            </a:r>
          </a:p>
        </p:txBody>
      </p:sp>
      <p:sp>
        <p:nvSpPr>
          <p:cNvPr id="6" name="grid17-body-09:42">
            <a:extLst xmlns:a="http://schemas.openxmlformats.org/drawingml/2006/main">
              <a:ext uri="{FF2B5EF4-FFF2-40B4-BE49-F238E27FC236}">
                <a16:creationId xmlns:a16="http://schemas.microsoft.com/office/drawing/2014/main" id="{55360239-7CD8-4DC7-98E9-004CB532F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crossed 12,000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15 alert policy latency metrics tsv</a:t>
            </a:r>
          </a:p>
        </p:txBody>
      </p:sp>
      <p:sp>
        <p:nvSpPr>
          <p:cNvPr id="7" name="grid17-dot-10:02">
            <a:extLst xmlns:a="http://schemas.openxmlformats.org/drawingml/2006/main">
              <a:ext uri="{FF2B5EF4-FFF2-40B4-BE49-F238E27FC236}">
                <a16:creationId xmlns:a16="http://schemas.microsoft.com/office/drawing/2014/main" id="{939AEEB4-26CE-46EC-9A3E-9ED329E9F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grid17-label-10:02">
            <a:extLst xmlns:a="http://schemas.openxmlformats.org/drawingml/2006/main">
              <a:ext uri="{FF2B5EF4-FFF2-40B4-BE49-F238E27FC236}">
                <a16:creationId xmlns:a16="http://schemas.microsoft.com/office/drawing/2014/main" id="{7024105E-134C-4711-829F-F657A9E3F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10:02</a:t>
            </a:r>
          </a:p>
        </p:txBody>
      </p:sp>
      <p:sp>
        <p:nvSpPr>
          <p:cNvPr id="9" name="grid17-header-10:02">
            <a:extLst xmlns:a="http://schemas.openxmlformats.org/drawingml/2006/main">
              <a:ext uri="{FF2B5EF4-FFF2-40B4-BE49-F238E27FC236}">
                <a16:creationId xmlns:a16="http://schemas.microsoft.com/office/drawing/2014/main" id="{B40C1372-E578-48B0-8BBE-0A57435B5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Rollback</a:t>
            </a:r>
          </a:p>
        </p:txBody>
      </p:sp>
      <p:sp>
        <p:nvSpPr>
          <p:cNvPr id="10" name="grid17-body-10:02">
            <a:extLst xmlns:a="http://schemas.openxmlformats.org/drawingml/2006/main">
              <a:ext uri="{FF2B5EF4-FFF2-40B4-BE49-F238E27FC236}">
                <a16:creationId xmlns:a16="http://schemas.microsoft.com/office/drawing/2014/main" id="{AA8D5062-9F56-40C3-AA4D-EAC1E2F50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Approval recorded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Recipient: Platform Reliability</a:t>
            </a:r>
          </a:p>
        </p:txBody>
      </p:sp>
      <p:sp>
        <p:nvSpPr>
          <p:cNvPr id="11" name="grid17-dot-10:24">
            <a:extLst xmlns:a="http://schemas.openxmlformats.org/drawingml/2006/main">
              <a:ext uri="{FF2B5EF4-FFF2-40B4-BE49-F238E27FC236}">
                <a16:creationId xmlns:a16="http://schemas.microsoft.com/office/drawing/2014/main" id="{5314B30E-5D23-4FEF-9C04-14CCF7535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2" name="grid17-label-10:24">
            <a:extLst xmlns:a="http://schemas.openxmlformats.org/drawingml/2006/main">
              <a:ext uri="{FF2B5EF4-FFF2-40B4-BE49-F238E27FC236}">
                <a16:creationId xmlns:a16="http://schemas.microsoft.com/office/drawing/2014/main" id="{89E67892-4B04-4C69-801A-A29224935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10:24</a:t>
            </a:r>
          </a:p>
        </p:txBody>
      </p:sp>
      <p:sp>
        <p:nvSpPr>
          <p:cNvPr id="13" name="grid17-header-10:24">
            <a:extLst xmlns:a="http://schemas.openxmlformats.org/drawingml/2006/main">
              <a:ext uri="{FF2B5EF4-FFF2-40B4-BE49-F238E27FC236}">
                <a16:creationId xmlns:a16="http://schemas.microsoft.com/office/drawing/2014/main" id="{AB894C4F-8A1E-49B2-8999-20EC14489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Recovery</a:t>
            </a:r>
          </a:p>
        </p:txBody>
      </p:sp>
      <p:sp>
        <p:nvSpPr>
          <p:cNvPr id="14" name="grid17-body-10:24">
            <a:extLst xmlns:a="http://schemas.openxmlformats.org/drawingml/2006/main">
              <a:ext uri="{FF2B5EF4-FFF2-40B4-BE49-F238E27FC236}">
                <a16:creationId xmlns:a16="http://schemas.microsoft.com/office/drawing/2014/main" id="{FC8A64F1-0393-4DA0-BE71-FD1451EFC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below 8,000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2026-07-14 review</a:t>
            </a:r>
          </a:p>
        </p:txBody>
      </p:sp>
      <p:sp>
        <p:nvSpPr>
          <p:cNvPr id="15" name="grid17-control">
            <a:extLst xmlns:a="http://schemas.openxmlformats.org/drawingml/2006/main">
              <a:ext uri="{FF2B5EF4-FFF2-40B4-BE49-F238E27FC236}">
                <a16:creationId xmlns:a16="http://schemas.microsoft.com/office/drawing/2014/main" id="{00DDDC25-F7BF-4D62-856D-A8EC1EC07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 p02-full-003055</a:t>
            </a:r>
          </a:p>
        </p:txBody>
      </p:sp>
      <p:sp>
        <p:nvSpPr>
          <p:cNvPr id="16" name="grid17-footer">
            <a:extLst xmlns:a="http://schemas.openxmlformats.org/drawingml/2006/main">
              <a:ext uri="{FF2B5EF4-FFF2-40B4-BE49-F238E27FC236}">
                <a16:creationId xmlns:a16="http://schemas.microsoft.com/office/drawing/2014/main" id="{26ADE119-7118-4943-8B63-3D4DF9312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81643872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grid19-title">
            <a:extLst xmlns:a="http://schemas.openxmlformats.org/drawingml/2006/main">
              <a:ext uri="{FF2B5EF4-FFF2-40B4-BE49-F238E27FC236}">
                <a16:creationId xmlns:a16="http://schemas.microsoft.com/office/drawing/2014/main" id="{C18A5A1A-2A71-4882-BACF-3D0729A2A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Decision metrics · p02-full-003055</a:t>
            </a:r>
          </a:p>
        </p:txBody>
      </p:sp>
      <p:sp>
        <p:nvSpPr>
          <p:cNvPr id="2" name="grid19-context">
            <a:extLst xmlns:a="http://schemas.openxmlformats.org/drawingml/2006/main">
              <a:ext uri="{FF2B5EF4-FFF2-40B4-BE49-F238E27FC236}">
                <a16:creationId xmlns:a16="http://schemas.microsoft.com/office/drawing/2014/main" id="{6721D5A2-10EE-4A5A-AF9B-AD4D2757F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3350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Recipients: Platform Reliability. org.ntc · slo.checkout.latency · rel.slo.2026-q3 · date.2026-07-14. Error budget 2.4% is a request-error allowance, not downtime. Checkout latency SLO: 99.0% below 400 ms.</a:t>
            </a:r>
          </a:p>
        </p:txBody>
      </p:sp>
      <p:sp>
        <p:nvSpPr>
          <p:cNvPr id="3" name="grid13-column-0">
            <a:extLst xmlns:a="http://schemas.openxmlformats.org/drawingml/2006/main">
              <a:ext uri="{FF2B5EF4-FFF2-40B4-BE49-F238E27FC236}">
                <a16:creationId xmlns:a16="http://schemas.microsoft.com/office/drawing/2014/main" id="{FDDCE064-B196-4134-9F3E-0E8D80DD9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grid13-kicker-0">
            <a:extLst xmlns:a="http://schemas.openxmlformats.org/drawingml/2006/main">
              <a:ext uri="{FF2B5EF4-FFF2-40B4-BE49-F238E27FC236}">
                <a16:creationId xmlns:a16="http://schemas.microsoft.com/office/drawing/2014/main" id="{46FF6409-1BA0-4207-A899-6AB2ECCB0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01</a:t>
            </a:r>
          </a:p>
        </p:txBody>
      </p:sp>
      <p:sp>
        <p:nvSpPr>
          <p:cNvPr id="5" name="grid13-value-0">
            <a:extLst xmlns:a="http://schemas.openxmlformats.org/drawingml/2006/main">
              <a:ext uri="{FF2B5EF4-FFF2-40B4-BE49-F238E27FC236}">
                <a16:creationId xmlns:a16="http://schemas.microsoft.com/office/drawing/2014/main" id="{9E017EFE-3ED5-4BA2-A07E-AA049A5DD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99.95%</a:t>
            </a:r>
          </a:p>
        </p:txBody>
      </p:sp>
      <p:sp>
        <p:nvSpPr>
          <p:cNvPr id="6" name="grid13-header-0">
            <a:extLst xmlns:a="http://schemas.openxmlformats.org/drawingml/2006/main">
              <a:ext uri="{FF2B5EF4-FFF2-40B4-BE49-F238E27FC236}">
                <a16:creationId xmlns:a16="http://schemas.microsoft.com/office/drawing/2014/main" id="{EBFCE9F4-77E0-423C-9636-BE8ACE894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Checkout availability SLO</a:t>
            </a:r>
          </a:p>
        </p:txBody>
      </p:sp>
      <p:sp>
        <p:nvSpPr>
          <p:cNvPr id="7" name="grid13-column-1">
            <a:extLst xmlns:a="http://schemas.openxmlformats.org/drawingml/2006/main">
              <a:ext uri="{FF2B5EF4-FFF2-40B4-BE49-F238E27FC236}">
                <a16:creationId xmlns:a16="http://schemas.microsoft.com/office/drawing/2014/main" id="{4ED04071-DE7C-4964-9EC1-9A9AF6411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8" name="grid13-field-1">
            <a:extLst xmlns:a="http://schemas.openxmlformats.org/drawingml/2006/main">
              <a:ext uri="{FF2B5EF4-FFF2-40B4-BE49-F238E27FC236}">
                <a16:creationId xmlns:a16="http://schemas.microsoft.com/office/drawing/2014/main" id="{2994A5FD-8A6A-4AEC-8380-374F952F0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095750"/>
            <a:ext cx="3162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0">
            <a:solidFill>
              <a:srgbClr val="EAF4FF"/>
            </a:solidFill>
            <a:prstDash val="solid"/>
          </a:ln>
        </p:spPr>
      </p:sp>
      <p:sp>
        <p:nvSpPr>
          <p:cNvPr id="9" name="grid13-kicker-1">
            <a:extLst xmlns:a="http://schemas.openxmlformats.org/drawingml/2006/main">
              <a:ext uri="{FF2B5EF4-FFF2-40B4-BE49-F238E27FC236}">
                <a16:creationId xmlns:a16="http://schemas.microsoft.com/office/drawing/2014/main" id="{888BFB66-EA14-4279-BF59-D386F9FD8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02</a:t>
            </a:r>
          </a:p>
        </p:txBody>
      </p:sp>
      <p:sp>
        <p:nvSpPr>
          <p:cNvPr id="10" name="grid13-value-1">
            <a:extLst xmlns:a="http://schemas.openxmlformats.org/drawingml/2006/main">
              <a:ext uri="{FF2B5EF4-FFF2-40B4-BE49-F238E27FC236}">
                <a16:creationId xmlns:a16="http://schemas.microsoft.com/office/drawing/2014/main" id="{2A8A3500-9ADB-4A6C-8C8F-1E8B512C7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99.0% below 400 ms</a:t>
            </a:r>
          </a:p>
        </p:txBody>
      </p:sp>
      <p:sp>
        <p:nvSpPr>
          <p:cNvPr id="11" name="grid13-header-1">
            <a:extLst xmlns:a="http://schemas.openxmlformats.org/drawingml/2006/main">
              <a:ext uri="{FF2B5EF4-FFF2-40B4-BE49-F238E27FC236}">
                <a16:creationId xmlns:a16="http://schemas.microsoft.com/office/drawing/2014/main" id="{BF94FD50-0871-46D5-A3F3-8D1856BDD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Latency target</a:t>
            </a:r>
          </a:p>
        </p:txBody>
      </p:sp>
      <p:sp>
        <p:nvSpPr>
          <p:cNvPr id="12" name="grid13-column-2">
            <a:extLst xmlns:a="http://schemas.openxmlformats.org/drawingml/2006/main">
              <a:ext uri="{FF2B5EF4-FFF2-40B4-BE49-F238E27FC236}">
                <a16:creationId xmlns:a16="http://schemas.microsoft.com/office/drawing/2014/main" id="{84431820-FEA8-4459-AA74-032FA255A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3" name="grid13-field-2">
            <a:extLst xmlns:a="http://schemas.openxmlformats.org/drawingml/2006/main">
              <a:ext uri="{FF2B5EF4-FFF2-40B4-BE49-F238E27FC236}">
                <a16:creationId xmlns:a16="http://schemas.microsoft.com/office/drawing/2014/main" id="{AE2ED6CE-F03E-477A-8BFE-2D054B429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095750"/>
            <a:ext cx="3162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14" name="grid13-kicker-2">
            <a:extLst xmlns:a="http://schemas.openxmlformats.org/drawingml/2006/main">
              <a:ext uri="{FF2B5EF4-FFF2-40B4-BE49-F238E27FC236}">
                <a16:creationId xmlns:a16="http://schemas.microsoft.com/office/drawing/2014/main" id="{1CD65537-AFBE-4C26-97F0-7E390AA57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03</a:t>
            </a:r>
          </a:p>
        </p:txBody>
      </p:sp>
      <p:sp>
        <p:nvSpPr>
          <p:cNvPr id="15" name="grid13-value-2">
            <a:extLst xmlns:a="http://schemas.openxmlformats.org/drawingml/2006/main">
              <a:ext uri="{FF2B5EF4-FFF2-40B4-BE49-F238E27FC236}">
                <a16:creationId xmlns:a16="http://schemas.microsoft.com/office/drawing/2014/main" id="{9544E3DD-C133-49C2-832C-F6CED1E81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14.6x</a:t>
            </a:r>
          </a:p>
        </p:txBody>
      </p:sp>
      <p:sp>
        <p:nvSpPr>
          <p:cNvPr id="16" name="grid13-header-2">
            <a:extLst xmlns:a="http://schemas.openxmlformats.org/drawingml/2006/main">
              <a:ext uri="{FF2B5EF4-FFF2-40B4-BE49-F238E27FC236}">
                <a16:creationId xmlns:a16="http://schemas.microsoft.com/office/drawing/2014/main" id="{E5CFD53F-F2E0-4916-8F34-9BE46A08A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Short burn</a:t>
            </a:r>
          </a:p>
        </p:txBody>
      </p:sp>
      <p:sp>
        <p:nvSpPr>
          <p:cNvPr id="17" name="grid19-control">
            <a:extLst xmlns:a="http://schemas.openxmlformats.org/drawingml/2006/main">
              <a:ext uri="{FF2B5EF4-FFF2-40B4-BE49-F238E27FC236}">
                <a16:creationId xmlns:a16="http://schemas.microsoft.com/office/drawing/2014/main" id="{F7C35D5C-51F1-45C9-B7F0-5742EB29E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 p02-full-003055</a:t>
            </a:r>
          </a:p>
        </p:txBody>
      </p:sp>
      <p:sp>
        <p:nvSpPr>
          <p:cNvPr id="18" name="grid19-footer">
            <a:extLst xmlns:a="http://schemas.openxmlformats.org/drawingml/2006/main">
              <a:ext uri="{FF2B5EF4-FFF2-40B4-BE49-F238E27FC236}">
                <a16:creationId xmlns:a16="http://schemas.microsoft.com/office/drawing/2014/main" id="{47C09F33-9D96-4C91-BEB3-2D5FC40C2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478426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rid20-title">
            <a:extLst xmlns:a="http://schemas.openxmlformats.org/drawingml/2006/main">
              <a:ext uri="{FF2B5EF4-FFF2-40B4-BE49-F238E27FC236}">
                <a16:creationId xmlns:a16="http://schemas.microsoft.com/office/drawing/2014/main" id="{E5EA399A-FDBE-469B-B042-8374BA5FC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threshold decision</a:t>
            </a:r>
          </a:p>
        </p:txBody>
      </p:sp>
      <p:sp>
        <p:nvSpPr>
          <p:cNvPr id="2" name="grid20-context">
            <a:extLst xmlns:a="http://schemas.openxmlformats.org/drawingml/2006/main">
              <a:ext uri="{FF2B5EF4-FFF2-40B4-BE49-F238E27FC236}">
                <a16:creationId xmlns:a16="http://schemas.microsoft.com/office/drawing/2014/main" id="{E10714B3-099A-4E23-829F-6015DC56F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990600"/>
            <a:ext cx="1095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14 Alert Policy Export Gap Operations Briefing Pptx: Q-07 threshold evidence · p02-full-003055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409575" y="1619250"/>
          <a:ext xmlns:a="http://schemas.openxmlformats.org/drawingml/2006/main" cx="5124450" cy="45339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5fc5ef0c0374015"/>
          </a:graphicData>
        </a:graphic>
      </p:graphicFrame>
      <p:sp>
        <p:nvSpPr>
          <p:cNvPr id="4" name="grid20-queue-value-0">
            <a:extLst xmlns:a="http://schemas.openxmlformats.org/drawingml/2006/main">
              <a:ext uri="{FF2B5EF4-FFF2-40B4-BE49-F238E27FC236}">
                <a16:creationId xmlns:a16="http://schemas.microsoft.com/office/drawing/2014/main" id="{6D3171DF-0B68-4D37-A53E-EB68E8298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4514850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12,000</a:t>
            </a:r>
          </a:p>
        </p:txBody>
      </p:sp>
      <p:sp>
        <p:nvSpPr>
          <p:cNvPr id="5" name="grid20-queue-value-1">
            <a:extLst xmlns:a="http://schemas.openxmlformats.org/drawingml/2006/main">
              <a:ext uri="{FF2B5EF4-FFF2-40B4-BE49-F238E27FC236}">
                <a16:creationId xmlns:a16="http://schemas.microsoft.com/office/drawing/2014/main" id="{E098FB88-7A5A-4D9B-BBCD-2EAB584F5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3219450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24,000</a:t>
            </a:r>
          </a:p>
        </p:txBody>
      </p:sp>
      <p:sp>
        <p:nvSpPr>
          <p:cNvPr id="6" name="grid20-queue-value-2">
            <a:extLst xmlns:a="http://schemas.openxmlformats.org/drawingml/2006/main">
              <a:ext uri="{FF2B5EF4-FFF2-40B4-BE49-F238E27FC236}">
                <a16:creationId xmlns:a16="http://schemas.microsoft.com/office/drawing/2014/main" id="{A3E06511-5840-4B69-B43B-5C9F7AAEF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1685925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38,420</a:t>
            </a:r>
          </a:p>
        </p:txBody>
      </p:sp>
      <p:sp>
        <p:nvSpPr>
          <p:cNvPr id="7" name="grid20-rule-0">
            <a:extLst xmlns:a="http://schemas.openxmlformats.org/drawingml/2006/main">
              <a:ext uri="{FF2B5EF4-FFF2-40B4-BE49-F238E27FC236}">
                <a16:creationId xmlns:a16="http://schemas.microsoft.com/office/drawing/2014/main" id="{DD33C4D4-7C77-427E-9262-A78FE7802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1925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grid20-header-0">
            <a:extLst xmlns:a="http://schemas.openxmlformats.org/drawingml/2006/main">
              <a:ext uri="{FF2B5EF4-FFF2-40B4-BE49-F238E27FC236}">
                <a16:creationId xmlns:a16="http://schemas.microsoft.com/office/drawing/2014/main" id="{C5FB616B-8DA1-465F-8A38-6BA9AA2A8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8478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Cause</a:t>
            </a:r>
          </a:p>
        </p:txBody>
      </p:sp>
      <p:sp>
        <p:nvSpPr>
          <p:cNvPr id="9" name="grid20-body-0">
            <a:extLst xmlns:a="http://schemas.openxmlformats.org/drawingml/2006/main">
              <a:ext uri="{FF2B5EF4-FFF2-40B4-BE49-F238E27FC236}">
                <a16:creationId xmlns:a16="http://schemas.microsoft.com/office/drawing/2014/main" id="{C5A379B0-7238-4B80-8427-31695C8FF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431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Removed queue-pressure guardrail</a:t>
            </a:r>
          </a:p>
        </p:txBody>
      </p:sp>
      <p:sp>
        <p:nvSpPr>
          <p:cNvPr id="10" name="grid20-rule-1">
            <a:extLst xmlns:a="http://schemas.openxmlformats.org/drawingml/2006/main">
              <a:ext uri="{FF2B5EF4-FFF2-40B4-BE49-F238E27FC236}">
                <a16:creationId xmlns:a16="http://schemas.microsoft.com/office/drawing/2014/main" id="{C6EF4FA8-D1B5-4AE7-8140-78A06BFBE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20040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1" name="grid20-header-1">
            <a:extLst xmlns:a="http://schemas.openxmlformats.org/drawingml/2006/main">
              <a:ext uri="{FF2B5EF4-FFF2-40B4-BE49-F238E27FC236}">
                <a16:creationId xmlns:a16="http://schemas.microsoft.com/office/drawing/2014/main" id="{BB56C52C-F92D-4290-AAC3-9B8BA6D9F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2900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</a:t>
            </a:r>
          </a:p>
        </p:txBody>
      </p:sp>
      <p:sp>
        <p:nvSpPr>
          <p:cNvPr id="12" name="grid20-body-1">
            <a:extLst xmlns:a="http://schemas.openxmlformats.org/drawingml/2006/main">
              <a:ext uri="{FF2B5EF4-FFF2-40B4-BE49-F238E27FC236}">
                <a16:creationId xmlns:a16="http://schemas.microsoft.com/office/drawing/2014/main" id="{1AC86270-FB0A-4C20-BA27-02B54DBED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2430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Platform Reliability</a:t>
            </a:r>
          </a:p>
        </p:txBody>
      </p:sp>
      <p:sp>
        <p:nvSpPr>
          <p:cNvPr id="13" name="grid20-rule-2">
            <a:extLst xmlns:a="http://schemas.openxmlformats.org/drawingml/2006/main">
              <a:ext uri="{FF2B5EF4-FFF2-40B4-BE49-F238E27FC236}">
                <a16:creationId xmlns:a16="http://schemas.microsoft.com/office/drawing/2014/main" id="{849B0781-3ED9-46EE-A314-72CA9D9BF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78155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4" name="grid20-header-2">
            <a:extLst xmlns:a="http://schemas.openxmlformats.org/drawingml/2006/main">
              <a:ext uri="{FF2B5EF4-FFF2-40B4-BE49-F238E27FC236}">
                <a16:creationId xmlns:a16="http://schemas.microsoft.com/office/drawing/2014/main" id="{0F34900C-7BC3-435F-AB56-CC5D5F981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0101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Dependency</a:t>
            </a:r>
          </a:p>
        </p:txBody>
      </p:sp>
      <p:sp>
        <p:nvSpPr>
          <p:cNvPr id="15" name="grid20-body-2">
            <a:extLst xmlns:a="http://schemas.openxmlformats.org/drawingml/2006/main">
              <a:ext uri="{FF2B5EF4-FFF2-40B4-BE49-F238E27FC236}">
                <a16:creationId xmlns:a16="http://schemas.microsoft.com/office/drawing/2014/main" id="{48DE82DE-8592-452B-8C49-042B4C5AB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5054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15 alert policy latency metrics tsv</a:t>
            </a:r>
          </a:p>
        </p:txBody>
      </p:sp>
      <p:sp>
        <p:nvSpPr>
          <p:cNvPr id="16" name="grid20-footer">
            <a:extLst xmlns:a="http://schemas.openxmlformats.org/drawingml/2006/main">
              <a:ext uri="{FF2B5EF4-FFF2-40B4-BE49-F238E27FC236}">
                <a16:creationId xmlns:a16="http://schemas.microsoft.com/office/drawing/2014/main" id="{04BA91A5-1E85-4016-9D92-2BFDE61CB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08656578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2026-08-24T13:00:52.6770000Z</dcterms:created>
  <dcterms:modified xsi:type="dcterms:W3CDTF">2026-08-24T13:00:52.6770000Z</dcterms:modified>
</coreProperties>
</file>