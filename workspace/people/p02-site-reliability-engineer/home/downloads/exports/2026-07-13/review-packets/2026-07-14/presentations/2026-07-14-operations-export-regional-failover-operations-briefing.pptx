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slides/charts/chart1.xml" ContentType="application/vnd.openxmlformats-officedocument.drawingml.chart+xml"/>
  <Override PartName="/ppt/notesSlides/notesSlide4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fd5510b67cc492c" /><Relationship Type="http://schemas.openxmlformats.org/officeDocument/2006/relationships/extended-properties" Target="/docProps/app.xml" Id="R8a4543d825e942e2" /><Relationship Type="http://schemas.openxmlformats.org/officeDocument/2006/relationships/officeDocument" Target="/ppt/presentation.xml" Id="Rb50716811a8c41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dab9a644a68407e"/>
  </p:sldMasterIdLst>
  <p:notesMasterIdLst>
    <p:notesMasterId xmlns:r="http://schemas.openxmlformats.org/officeDocument/2006/relationships" r:id="R9a6ce2ec46b349b7"/>
  </p:notesMasterIdLst>
  <p:sldIdLst>
    <p:sldId xmlns:r="http://schemas.openxmlformats.org/officeDocument/2006/relationships" id="256" r:id="R01fd5327c8174d0c"/>
    <p:sldId xmlns:r="http://schemas.openxmlformats.org/officeDocument/2006/relationships" id="257" r:id="R34dc6e97371f45c5"/>
    <p:sldId xmlns:r="http://schemas.openxmlformats.org/officeDocument/2006/relationships" id="258" r:id="R73ccbdf82341443a"/>
    <p:sldId xmlns:r="http://schemas.openxmlformats.org/officeDocument/2006/relationships" id="259" r:id="R0e5d6b7a8a234241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eb26c42ce204df5" /><Relationship Type="http://schemas.openxmlformats.org/officeDocument/2006/relationships/slideMaster" Target="/ppt/slideMasters/slideMaster1.xml" Id="R3dab9a644a68407e" /><Relationship Type="http://schemas.openxmlformats.org/officeDocument/2006/relationships/notesMaster" Target="/ppt/notesMasters/notesMaster1.xml" Id="R9a6ce2ec46b349b7" /><Relationship Type="http://schemas.openxmlformats.org/officeDocument/2006/relationships/presProps" Target="/ppt/presProps.xml" Id="R70189edb5c454610" /><Relationship Type="http://schemas.openxmlformats.org/officeDocument/2006/relationships/tableStyles" Target="/ppt/tableStyles.xml" Id="R5dc6b1a23f83466f" /><Relationship Type="http://schemas.openxmlformats.org/officeDocument/2006/relationships/slide" Target="/ppt/slides/slide1.xml" Id="R01fd5327c8174d0c" /><Relationship Type="http://schemas.openxmlformats.org/officeDocument/2006/relationships/slide" Target="/ppt/slides/slide2.xml" Id="R34dc6e97371f45c5" /><Relationship Type="http://schemas.openxmlformats.org/officeDocument/2006/relationships/slide" Target="/ppt/slides/slide3.xml" Id="R73ccbdf82341443a" /><Relationship Type="http://schemas.openxmlformats.org/officeDocument/2006/relationships/slide" Target="/ppt/slides/slide4.xml" Id="R0e5d6b7a8a234241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c8039fb18fc84c62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1be7ccda8a82483f" /><Relationship Type="http://schemas.openxmlformats.org/officeDocument/2006/relationships/notesMaster" Target="/ppt/notesMasters/notesMaster1.xml" Id="Rf16475115af64af6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1089e2138ab45e2" /><Relationship Type="http://schemas.openxmlformats.org/officeDocument/2006/relationships/notesMaster" Target="/ppt/notesMasters/notesMaster1.xml" Id="Rd5f3a0cd705e47d9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5ed6f7d4125472e" /><Relationship Type="http://schemas.openxmlformats.org/officeDocument/2006/relationships/notesMaster" Target="/ppt/notesMasters/notesMaster1.xml" Id="Rb63d8b1d531a4a4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8a0a86f6eab4472" /><Relationship Type="http://schemas.openxmlformats.org/officeDocument/2006/relationships/notesMaster" Target="/ppt/notesMasters/notesMaster1.xml" Id="Rd47db5cedf394088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downloads/exports/2026-07-13/source-data/2026-07-15-operations-export-export-audit-metrics-csv-s011183.csv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p02-full-011183, row:canonical-metric.</a:t>
            </a:r>
          </a:p>
          <a:p xmlns:a="http://schemas.openxmlformats.org/drawingml/2006/main">
            <a:r>
              <a:t>Artifact: p02-full-005155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downloads/exports/2026-07-13/source-data/2026-07-15-operations-export-export-audit-metrics-csv-s011183.csv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p02-full-011183, row:canonical-metric.</a:t>
            </a:r>
          </a:p>
          <a:p xmlns:a="http://schemas.openxmlformats.org/drawingml/2006/main">
            <a:r>
              <a:t>Artifact: p02-full-005155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downloads/exports/2026-07-13/source-data/2026-07-15-operations-export-export-audit-metrics-csv-s011183.csv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p02-full-011183, row:canonical-metric.</a:t>
            </a:r>
          </a:p>
          <a:p xmlns:a="http://schemas.openxmlformats.org/drawingml/2006/main">
            <a:r>
              <a:t>Artifact: p02-full-005155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Frozen p02 content spine: progress/p02/full/content-spine.md</a:t>
            </a:r>
          </a:p>
          <a:p xmlns:a="http://schemas.openxmlformats.org/drawingml/2006/main">
            <a:r>
              <a:t>Scope-local dependency paths:</a:t>
            </a:r>
          </a:p>
          <a:p xmlns:a="http://schemas.openxmlformats.org/drawingml/2006/main">
            <a:r>
              <a:t>- downloads/exports/2026-07-13/source-data/2026-07-15-operations-export-export-audit-metrics-csv-s011183.csv</a:t>
            </a:r>
          </a:p>
          <a:p xmlns:a="http://schemas.openxmlformats.org/drawingml/2006/main">
            <a:r>
              <a:t>Derived dependency excerpts:</a:t>
            </a:r>
          </a:p>
          <a:p xmlns:a="http://schemas.openxmlformats.org/drawingml/2006/main">
            <a:r>
              <a:t>- Dependency evidence: Checkout availability SLO = 99.95%; source p02-full-011183, row:canonical-metric.</a:t>
            </a:r>
          </a:p>
          <a:p xmlns:a="http://schemas.openxmlformats.org/drawingml/2006/main">
            <a:r>
              <a:t>Artifact: p02-full-005155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7544cfac3df4c1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2815a8d85b5f499b" /><Relationship Type="http://schemas.openxmlformats.org/officeDocument/2006/relationships/slideLayout" Target="/ppt/slideLayouts/slideLayout1.xml" Id="R6c9d31132f1e4c6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6c9d31132f1e4c6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b0f77fc36f14e87" /><Relationship Type="http://schemas.openxmlformats.org/officeDocument/2006/relationships/notesSlide" Target="/ppt/notesSlides/notesSlide1.xml" Id="R207ab67b0c3c4273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307d5b8958444cd" /><Relationship Type="http://schemas.openxmlformats.org/officeDocument/2006/relationships/notesSlide" Target="/ppt/notesSlides/notesSlide2.xml" Id="R29b43c4c368845d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fd7832c63e64bdc" /><Relationship Type="http://schemas.openxmlformats.org/officeDocument/2006/relationships/notesSlide" Target="/ppt/notesSlides/notesSlide3.xml" Id="R27a1c259ca8149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dab070820e465d" /><Relationship Type="http://schemas.openxmlformats.org/officeDocument/2006/relationships/chart" Target="/ppt/slides/charts/chart1.xml" Id="R7b841e169b5b49b7" /><Relationship Type="http://schemas.openxmlformats.org/officeDocument/2006/relationships/notesSlide" Target="/ppt/notesSlides/notesSlide4.xml" Id="Rcc45f4efe2ad4655" /></Relationships>
</file>

<file path=ppt/slides/charts/chart1.xml><?xml version="1.0" encoding="utf-8"?>
<c:chartSpace xmlns:c="http://schemas.openxmlformats.org/drawingml/2006/chart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Platform Reliability Q-07 jobs</c:v>
          </c:tx>
          <c:spPr>
            <a:solidFill xmlns:a="http://schemas.openxmlformats.org/drawingml/2006/main">
              <a:srgbClr val="3D8DFF"/>
            </a:solidFill>
          </c:spPr>
          <c:cat>
            <c:strLit>
              <c:ptCount val="3"/>
              <c:pt idx="0">
                <c:v>Warning threshold · 09:42</c:v>
              </c:pt>
              <c:pt idx="1">
                <c:v>Critical threshold</c:v>
              </c:pt>
              <c:pt idx="2">
                <c:v>Maximum observed</c:v>
              </c:pt>
            </c:strLit>
          </c:cat>
          <c:val>
            <c:numLit>
              <c:formatCode>General</c:formatCode>
              <c:ptCount val="3"/>
              <c:pt idx="0">
                <c:v>12000</c:v>
              </c:pt>
              <c:pt idx="1">
                <c:v>24000</c:v>
              </c:pt>
              <c:pt idx="2">
                <c:v>38420</c:v>
              </c:pt>
            </c:numLit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B8BCC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72768"/>
      </c:catAx>
      <c:valAx>
        <c:axId val="48672768"/>
        <c:scaling>
          <c:orientation val="minMax"/>
          <c:max val="42000"/>
        </c:scaling>
        <c:delete val="0"/>
        <c:axPos val="l"/>
        <c:majorGridlines>
          <c:spPr>
            <a:ln xmlns:a="http://schemas.openxmlformats.org/drawingml/2006/main" w="9525">
              <a:solidFill>
                <a:srgbClr val="EDEDED"/>
              </a:solidFill>
              <a:prstDash val="solid"/>
            </a:ln>
          </c:spPr>
        </c:majorGridlines>
        <c:title>
          <c:tx>
            <c:rich>
              <a:bodyPr xmlns:a="http://schemas.openxmlformats.org/drawingml/2006/main"/>
              <a:lstStyle xmlns:a="http://schemas.openxmlformats.org/drawingml/2006/main"/>
              <a:p xmlns:a="http://schemas.openxmlformats.org/drawingml/2006/main">
                <a:r>
                  <a:t>jobs</a:t>
                </a:r>
              </a:p>
            </c:rich>
          </c:tx>
          <c:overlay val="0"/>
        </c:title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</a:defRPr>
            </a:pPr>
          </a:p>
        </c:txPr>
        <c:crossAx val="48650112"/>
        <c:crossBetween val="between"/>
        <c:majorUnit val="12000"/>
      </c:valAx>
      <c:spPr>
        <a:noFill xmlns:a="http://schemas.openxmlformats.org/drawingml/2006/main"/>
      </c:spPr>
    </c:plotArea>
    <c:plotVisOnly val="1"/>
  </c:chart>
  <c:spPr>
    <a:solidFill xmlns:a="http://schemas.openxmlformats.org/drawingml/2006/main">
      <a:srgbClr val="FFFFFF"/>
    </a:solidFill>
  </c:spPr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rid01-eyebrow">
            <a:extLst xmlns:a="http://schemas.openxmlformats.org/drawingml/2006/main">
              <a:ext uri="{FF2B5EF4-FFF2-40B4-BE49-F238E27FC236}">
                <a16:creationId xmlns:a16="http://schemas.microsoft.com/office/drawing/2014/main" id="{901B07E3-37C3-4EAE-ACCA-B4DDC58EF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90525"/>
            <a:ext cx="10477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NORTHSTAR TRANSIT CLOUD · RELIABILITY REVIEW</a:t>
            </a:r>
          </a:p>
        </p:txBody>
      </p:sp>
      <p:sp>
        <p:nvSpPr>
          <p:cNvPr id="2" name="grid01-title">
            <a:extLst xmlns:a="http://schemas.openxmlformats.org/drawingml/2006/main">
              <a:ext uri="{FF2B5EF4-FFF2-40B4-BE49-F238E27FC236}">
                <a16:creationId xmlns:a16="http://schemas.microsoft.com/office/drawing/2014/main" id="{04464999-D6C7-43BE-A849-A02D6D8DF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743075"/>
            <a:ext cx="10668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Reliability decision brief</a:t>
            </a:r>
          </a:p>
          <a:p xmlns:a="http://schemas.openxmlformats.org/drawingml/2006/main">
            <a:pPr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p02-full-005155</a:t>
            </a:r>
          </a:p>
        </p:txBody>
      </p:sp>
      <p:sp>
        <p:nvSpPr>
          <p:cNvPr id="3" name="grid01-subtitle">
            <a:extLst xmlns:a="http://schemas.openxmlformats.org/drawingml/2006/main">
              <a:ext uri="{FF2B5EF4-FFF2-40B4-BE49-F238E27FC236}">
                <a16:creationId xmlns:a16="http://schemas.microsoft.com/office/drawing/2014/main" id="{46581E4F-12C4-4403-84C8-09424C30B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743450"/>
            <a:ext cx="10668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· downloads/exports · Platform Reliability · control p02-full-005155 · 2026 07 14 Operations Export Regional Failover Operations Briefing Pptx · Checkout availability SLO 99.95%</a:t>
            </a:r>
          </a:p>
        </p:txBody>
      </p:sp>
      <p:sp>
        <p:nvSpPr>
          <p:cNvPr id="4" name="grid01-anchor-strip">
            <a:extLst xmlns:a="http://schemas.openxmlformats.org/drawingml/2006/main">
              <a:ext uri="{FF2B5EF4-FFF2-40B4-BE49-F238E27FC236}">
                <a16:creationId xmlns:a16="http://schemas.microsoft.com/office/drawing/2014/main" id="{CB51B548-5754-42E6-9B97-2204EEAC2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5876925"/>
            <a:ext cx="113347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Canonical corpus anchors: Northstar Transit Cloud | Checkout SVC-17 | 2026-07-13 | error budget 2.4% | INC-260713</a:t>
            </a:r>
          </a:p>
        </p:txBody>
      </p:sp>
    </p:spTree>
    <p:extLst>
      <p:ext uri="{BB962C8B-B14F-4D97-AF65-F5344CB8AC3E}">
        <p14:creationId xmlns:p14="http://schemas.microsoft.com/office/powerpoint/2010/main" val="202247259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17-title">
            <a:extLst xmlns:a="http://schemas.openxmlformats.org/drawingml/2006/main">
              <a:ext uri="{FF2B5EF4-FFF2-40B4-BE49-F238E27FC236}">
                <a16:creationId xmlns:a16="http://schemas.microsoft.com/office/drawing/2014/main" id="{1FC911F6-2EFF-4C3C-A12E-BB2785D273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Operations Export Regional Failover Operations Briefing Pptx: controls and recipients</a:t>
            </a:r>
          </a:p>
        </p:txBody>
      </p:sp>
      <p:cxnSp>
        <p:nvCxnSpPr>
          <p:cNvPr id="18" name="grid17-timeline-rule"/>
          <p:cNvCxnSpPr/>
          <p:nvPr/>
        </p:nvCxnSpPr>
        <p:spPr>
          <a:xfrm xmlns:a="http://schemas.openxmlformats.org/drawingml/2006/main">
            <a:off x="333375" y="3371850"/>
            <a:ext cx="11430000" cy="952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3" name="grid17-dot-09:42">
            <a:extLst xmlns:a="http://schemas.openxmlformats.org/drawingml/2006/main">
              <a:ext uri="{FF2B5EF4-FFF2-40B4-BE49-F238E27FC236}">
                <a16:creationId xmlns:a16="http://schemas.microsoft.com/office/drawing/2014/main" id="{0A60F0E3-BFCC-46A1-9AA2-6449D8EE4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7-label-09:42">
            <a:extLst xmlns:a="http://schemas.openxmlformats.org/drawingml/2006/main">
              <a:ext uri="{FF2B5EF4-FFF2-40B4-BE49-F238E27FC236}">
                <a16:creationId xmlns:a16="http://schemas.microsoft.com/office/drawing/2014/main" id="{5B3EEA5F-3086-4081-8722-1ECD9E6C5D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09:42</a:t>
            </a:r>
          </a:p>
        </p:txBody>
      </p:sp>
      <p:sp>
        <p:nvSpPr>
          <p:cNvPr id="5" name="grid17-header-09:42">
            <a:extLst xmlns:a="http://schemas.openxmlformats.org/drawingml/2006/main">
              <a:ext uri="{FF2B5EF4-FFF2-40B4-BE49-F238E27FC236}">
                <a16:creationId xmlns:a16="http://schemas.microsoft.com/office/drawing/2014/main" id="{D8060E5E-B7EE-4EB3-A605-B652D14A6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Warning</a:t>
            </a:r>
          </a:p>
        </p:txBody>
      </p:sp>
      <p:sp>
        <p:nvSpPr>
          <p:cNvPr id="6" name="grid17-body-09:42">
            <a:extLst xmlns:a="http://schemas.openxmlformats.org/drawingml/2006/main">
              <a:ext uri="{FF2B5EF4-FFF2-40B4-BE49-F238E27FC236}">
                <a16:creationId xmlns:a16="http://schemas.microsoft.com/office/drawing/2014/main" id="{66D6664E-7EA0-428F-9B6A-2A5B6780A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crossed 12,000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operations export export audit metrics csv</a:t>
            </a:r>
          </a:p>
        </p:txBody>
      </p:sp>
      <p:sp>
        <p:nvSpPr>
          <p:cNvPr id="7" name="grid17-dot-10:02">
            <a:extLst xmlns:a="http://schemas.openxmlformats.org/drawingml/2006/main">
              <a:ext uri="{FF2B5EF4-FFF2-40B4-BE49-F238E27FC236}">
                <a16:creationId xmlns:a16="http://schemas.microsoft.com/office/drawing/2014/main" id="{D495E45B-7D48-4A0B-B3D6-6976B13D46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17-label-10:02">
            <a:extLst xmlns:a="http://schemas.openxmlformats.org/drawingml/2006/main">
              <a:ext uri="{FF2B5EF4-FFF2-40B4-BE49-F238E27FC236}">
                <a16:creationId xmlns:a16="http://schemas.microsoft.com/office/drawing/2014/main" id="{2E736747-D797-4D2B-9D71-C601D3D86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10:02</a:t>
            </a:r>
          </a:p>
        </p:txBody>
      </p:sp>
      <p:sp>
        <p:nvSpPr>
          <p:cNvPr id="9" name="grid17-header-10:02">
            <a:extLst xmlns:a="http://schemas.openxmlformats.org/drawingml/2006/main">
              <a:ext uri="{FF2B5EF4-FFF2-40B4-BE49-F238E27FC236}">
                <a16:creationId xmlns:a16="http://schemas.microsoft.com/office/drawing/2014/main" id="{30A23165-C121-489A-95D4-7B3F94D6BF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Rollback</a:t>
            </a:r>
          </a:p>
        </p:txBody>
      </p:sp>
      <p:sp>
        <p:nvSpPr>
          <p:cNvPr id="10" name="grid17-body-10:02">
            <a:extLst xmlns:a="http://schemas.openxmlformats.org/drawingml/2006/main">
              <a:ext uri="{FF2B5EF4-FFF2-40B4-BE49-F238E27FC236}">
                <a16:creationId xmlns:a16="http://schemas.microsoft.com/office/drawing/2014/main" id="{E2A99DA1-E0AE-40EC-B1C2-6A4C3D14D8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57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Approval recorded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Recipient: Platform Reliability</a:t>
            </a:r>
          </a:p>
        </p:txBody>
      </p:sp>
      <p:sp>
        <p:nvSpPr>
          <p:cNvPr id="11" name="grid17-dot-10:24">
            <a:extLst xmlns:a="http://schemas.openxmlformats.org/drawingml/2006/main">
              <a:ext uri="{FF2B5EF4-FFF2-40B4-BE49-F238E27FC236}">
                <a16:creationId xmlns:a16="http://schemas.microsoft.com/office/drawing/2014/main" id="{1548495C-E984-427D-A449-6DFE904A1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3242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2" name="grid17-label-10:24">
            <a:extLst xmlns:a="http://schemas.openxmlformats.org/drawingml/2006/main">
              <a:ext uri="{FF2B5EF4-FFF2-40B4-BE49-F238E27FC236}">
                <a16:creationId xmlns:a16="http://schemas.microsoft.com/office/drawing/2014/main" id="{B823DF1A-9278-411F-8FDA-FC255FF68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28479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4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10:24</a:t>
            </a:r>
          </a:p>
        </p:txBody>
      </p:sp>
      <p:sp>
        <p:nvSpPr>
          <p:cNvPr id="13" name="grid17-header-10:24">
            <a:extLst xmlns:a="http://schemas.openxmlformats.org/drawingml/2006/main">
              <a:ext uri="{FF2B5EF4-FFF2-40B4-BE49-F238E27FC236}">
                <a16:creationId xmlns:a16="http://schemas.microsoft.com/office/drawing/2014/main" id="{4B6C8080-0D99-4E24-A40C-4242702BBF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3819525"/>
            <a:ext cx="3143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9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Recovery</a:t>
            </a:r>
          </a:p>
        </p:txBody>
      </p:sp>
      <p:sp>
        <p:nvSpPr>
          <p:cNvPr id="14" name="grid17-body-10:24">
            <a:extLst xmlns:a="http://schemas.openxmlformats.org/drawingml/2006/main">
              <a:ext uri="{FF2B5EF4-FFF2-40B4-BE49-F238E27FC236}">
                <a16:creationId xmlns:a16="http://schemas.microsoft.com/office/drawing/2014/main" id="{EA660C91-15B5-4EF7-AF96-9597F75A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81975" y="4305300"/>
            <a:ext cx="314325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below 8,000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2026-07-13 review</a:t>
            </a:r>
          </a:p>
        </p:txBody>
      </p:sp>
      <p:sp>
        <p:nvSpPr>
          <p:cNvPr id="15" name="grid17-control">
            <a:extLst xmlns:a="http://schemas.openxmlformats.org/drawingml/2006/main">
              <a:ext uri="{FF2B5EF4-FFF2-40B4-BE49-F238E27FC236}">
                <a16:creationId xmlns:a16="http://schemas.microsoft.com/office/drawing/2014/main" id="{F756C65A-3AAD-4522-9768-1E932EA3B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p02-full-005155</a:t>
            </a:r>
          </a:p>
        </p:txBody>
      </p:sp>
      <p:sp>
        <p:nvSpPr>
          <p:cNvPr id="16" name="grid17-footer">
            <a:extLst xmlns:a="http://schemas.openxmlformats.org/drawingml/2006/main">
              <a:ext uri="{FF2B5EF4-FFF2-40B4-BE49-F238E27FC236}">
                <a16:creationId xmlns:a16="http://schemas.microsoft.com/office/drawing/2014/main" id="{FCC44120-3847-4E05-8478-5BCDAFCB12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</a:t>
            </a:r>
          </a:p>
        </p:txBody>
      </p:sp>
    </p:spTree>
    <p:extLst>
      <p:ext uri="{BB962C8B-B14F-4D97-AF65-F5344CB8AC3E}">
        <p14:creationId xmlns:p14="http://schemas.microsoft.com/office/powerpoint/2010/main" val="78077575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grid19-title">
            <a:extLst xmlns:a="http://schemas.openxmlformats.org/drawingml/2006/main">
              <a:ext uri="{FF2B5EF4-FFF2-40B4-BE49-F238E27FC236}">
                <a16:creationId xmlns:a16="http://schemas.microsoft.com/office/drawing/2014/main" id="{FB904CB2-2B82-475F-BCDE-27E1E9662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11401425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Decision metrics · p02-full-005155</a:t>
            </a:r>
          </a:p>
        </p:txBody>
      </p:sp>
      <p:sp>
        <p:nvSpPr>
          <p:cNvPr id="2" name="grid19-context">
            <a:extLst xmlns:a="http://schemas.openxmlformats.org/drawingml/2006/main">
              <a:ext uri="{FF2B5EF4-FFF2-40B4-BE49-F238E27FC236}">
                <a16:creationId xmlns:a16="http://schemas.microsoft.com/office/drawing/2014/main" id="{F6E1AB69-5CAA-4384-9F7D-D454E009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1333500"/>
            <a:ext cx="11049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Recipients: Platform Reliability. org.ntc · measure.queue.depth-high · rel.topology.260713 · date.2026-07-14. Error budget 2.4% is a request-error allowance, not downtime. Checkout latency SLO: 99.0% below 400 ms.</a:t>
            </a:r>
          </a:p>
        </p:txBody>
      </p:sp>
      <p:sp>
        <p:nvSpPr>
          <p:cNvPr id="3" name="grid13-column-0">
            <a:extLst xmlns:a="http://schemas.openxmlformats.org/drawingml/2006/main">
              <a:ext uri="{FF2B5EF4-FFF2-40B4-BE49-F238E27FC236}">
                <a16:creationId xmlns:a16="http://schemas.microsoft.com/office/drawing/2014/main" id="{C0493423-EB7E-4ADC-89BA-34EC1EC82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4" name="grid13-kicker-0">
            <a:extLst xmlns:a="http://schemas.openxmlformats.org/drawingml/2006/main">
              <a:ext uri="{FF2B5EF4-FFF2-40B4-BE49-F238E27FC236}">
                <a16:creationId xmlns:a16="http://schemas.microsoft.com/office/drawing/2014/main" id="{5DEB3FD0-4E37-447A-B6B9-F6369EF16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01</a:t>
            </a:r>
          </a:p>
        </p:txBody>
      </p:sp>
      <p:sp>
        <p:nvSpPr>
          <p:cNvPr id="5" name="grid13-value-0">
            <a:extLst xmlns:a="http://schemas.openxmlformats.org/drawingml/2006/main">
              <a:ext uri="{FF2B5EF4-FFF2-40B4-BE49-F238E27FC236}">
                <a16:creationId xmlns:a16="http://schemas.microsoft.com/office/drawing/2014/main" id="{A1E0496A-CB7E-4645-8F44-C72E7E6C5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10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99.95%</a:t>
            </a:r>
          </a:p>
        </p:txBody>
      </p:sp>
      <p:sp>
        <p:nvSpPr>
          <p:cNvPr id="6" name="grid13-header-0">
            <a:extLst xmlns:a="http://schemas.openxmlformats.org/drawingml/2006/main">
              <a:ext uri="{FF2B5EF4-FFF2-40B4-BE49-F238E27FC236}">
                <a16:creationId xmlns:a16="http://schemas.microsoft.com/office/drawing/2014/main" id="{FCDCCD40-A66F-4EEB-824D-B8C3EF3EF2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Checkout availability SLO</a:t>
            </a:r>
          </a:p>
        </p:txBody>
      </p:sp>
      <p:sp>
        <p:nvSpPr>
          <p:cNvPr id="7" name="grid13-column-1">
            <a:extLst xmlns:a="http://schemas.openxmlformats.org/drawingml/2006/main">
              <a:ext uri="{FF2B5EF4-FFF2-40B4-BE49-F238E27FC236}">
                <a16:creationId xmlns:a16="http://schemas.microsoft.com/office/drawing/2014/main" id="{FA15055F-35E7-4F32-9D4C-5ED16F97B4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4825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grid13-field-1">
            <a:extLst xmlns:a="http://schemas.openxmlformats.org/drawingml/2006/main">
              <a:ext uri="{FF2B5EF4-FFF2-40B4-BE49-F238E27FC236}">
                <a16:creationId xmlns:a16="http://schemas.microsoft.com/office/drawing/2014/main" id="{6C97D3E7-6043-49F2-91E2-334276343A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4FF"/>
          </a:solidFill>
          <a:ln xmlns:a="http://schemas.openxmlformats.org/drawingml/2006/main" w="0">
            <a:solidFill>
              <a:srgbClr val="EAF4FF"/>
            </a:solidFill>
            <a:prstDash val="solid"/>
          </a:ln>
        </p:spPr>
      </p:sp>
      <p:sp>
        <p:nvSpPr>
          <p:cNvPr id="9" name="grid13-kicker-1">
            <a:extLst xmlns:a="http://schemas.openxmlformats.org/drawingml/2006/main">
              <a:ext uri="{FF2B5EF4-FFF2-40B4-BE49-F238E27FC236}">
                <a16:creationId xmlns:a16="http://schemas.microsoft.com/office/drawing/2014/main" id="{2162619F-48B8-4F8B-BDD4-519724FFB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02</a:t>
            </a:r>
          </a:p>
        </p:txBody>
      </p:sp>
      <p:sp>
        <p:nvSpPr>
          <p:cNvPr id="10" name="grid13-value-1">
            <a:extLst xmlns:a="http://schemas.openxmlformats.org/drawingml/2006/main">
              <a:ext uri="{FF2B5EF4-FFF2-40B4-BE49-F238E27FC236}">
                <a16:creationId xmlns:a16="http://schemas.microsoft.com/office/drawing/2014/main" id="{B7C54698-8479-4812-A891-17BA62C28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05325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7</a:t>
            </a:r>
          </a:p>
        </p:txBody>
      </p:sp>
      <p:sp>
        <p:nvSpPr>
          <p:cNvPr id="11" name="grid13-header-1">
            <a:extLst xmlns:a="http://schemas.openxmlformats.org/drawingml/2006/main">
              <a:ext uri="{FF2B5EF4-FFF2-40B4-BE49-F238E27FC236}">
                <a16:creationId xmlns:a16="http://schemas.microsoft.com/office/drawing/2014/main" id="{AA96BEE7-BF4B-4FE1-A8E3-BB0BBEAFB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Export gap</a:t>
            </a:r>
          </a:p>
        </p:txBody>
      </p:sp>
      <p:sp>
        <p:nvSpPr>
          <p:cNvPr id="12" name="grid13-body-1">
            <a:extLst xmlns:a="http://schemas.openxmlformats.org/drawingml/2006/main">
              <a:ext uri="{FF2B5EF4-FFF2-40B4-BE49-F238E27FC236}">
                <a16:creationId xmlns:a16="http://schemas.microsoft.com/office/drawing/2014/main" id="{38FBCCBD-68FC-4A57-ACF9-AE966A51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57725" y="471487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minutes</a:t>
            </a:r>
          </a:p>
        </p:txBody>
      </p:sp>
      <p:sp>
        <p:nvSpPr>
          <p:cNvPr id="13" name="grid13-column-2">
            <a:extLst xmlns:a="http://schemas.openxmlformats.org/drawingml/2006/main">
              <a:ext uri="{FF2B5EF4-FFF2-40B4-BE49-F238E27FC236}">
                <a16:creationId xmlns:a16="http://schemas.microsoft.com/office/drawing/2014/main" id="{C6867E4E-807A-48AC-A76D-AC445532D0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9600" y="2647950"/>
            <a:ext cx="1905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13-field-2">
            <a:extLst xmlns:a="http://schemas.openxmlformats.org/drawingml/2006/main">
              <a:ext uri="{FF2B5EF4-FFF2-40B4-BE49-F238E27FC236}">
                <a16:creationId xmlns:a16="http://schemas.microsoft.com/office/drawing/2014/main" id="{74235799-25B4-4B60-9056-429EE45A3A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095750"/>
            <a:ext cx="31623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solidFill>
              <a:srgbClr val="F2F2F2"/>
            </a:solidFill>
            <a:prstDash val="solid"/>
          </a:ln>
        </p:spPr>
      </p:sp>
      <p:sp>
        <p:nvSpPr>
          <p:cNvPr id="15" name="grid13-kicker-2">
            <a:extLst xmlns:a="http://schemas.openxmlformats.org/drawingml/2006/main">
              <a:ext uri="{FF2B5EF4-FFF2-40B4-BE49-F238E27FC236}">
                <a16:creationId xmlns:a16="http://schemas.microsoft.com/office/drawing/2014/main" id="{517CE26E-DDE9-4EF7-99FC-C3CBF1F4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EVIDENCE 03</a:t>
            </a:r>
          </a:p>
        </p:txBody>
      </p:sp>
      <p:sp>
        <p:nvSpPr>
          <p:cNvPr id="16" name="grid13-value-2">
            <a:extLst xmlns:a="http://schemas.openxmlformats.org/drawingml/2006/main">
              <a:ext uri="{FF2B5EF4-FFF2-40B4-BE49-F238E27FC236}">
                <a16:creationId xmlns:a16="http://schemas.microsoft.com/office/drawing/2014/main" id="{973FF0C2-8607-4AE2-B880-8D99D8A103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314325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b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6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11:06 UTC</a:t>
            </a:r>
          </a:p>
        </p:txBody>
      </p:sp>
      <p:sp>
        <p:nvSpPr>
          <p:cNvPr id="17" name="grid13-header-2">
            <a:extLst xmlns:a="http://schemas.openxmlformats.org/drawingml/2006/main">
              <a:ext uri="{FF2B5EF4-FFF2-40B4-BE49-F238E27FC236}">
                <a16:creationId xmlns:a16="http://schemas.microsoft.com/office/drawing/2014/main" id="{88E664E1-2ED5-45F5-855D-66D33E07A5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0" y="4276725"/>
            <a:ext cx="2714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Reconciliation</a:t>
            </a:r>
          </a:p>
        </p:txBody>
      </p:sp>
      <p:sp>
        <p:nvSpPr>
          <p:cNvPr id="18" name="grid19-control">
            <a:extLst xmlns:a="http://schemas.openxmlformats.org/drawingml/2006/main">
              <a:ext uri="{FF2B5EF4-FFF2-40B4-BE49-F238E27FC236}">
                <a16:creationId xmlns:a16="http://schemas.microsoft.com/office/drawing/2014/main" id="{954FA442-CCBD-4A3A-BE46-D7E29623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6191250"/>
            <a:ext cx="4953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Control p02-full-005155</a:t>
            </a:r>
          </a:p>
        </p:txBody>
      </p:sp>
      <p:sp>
        <p:nvSpPr>
          <p:cNvPr id="19" name="grid19-footer">
            <a:extLst xmlns:a="http://schemas.openxmlformats.org/drawingml/2006/main">
              <a:ext uri="{FF2B5EF4-FFF2-40B4-BE49-F238E27FC236}">
                <a16:creationId xmlns:a16="http://schemas.microsoft.com/office/drawing/2014/main" id="{C8695AB2-9FAF-4D9F-A86C-45FBB94E0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</a:t>
            </a:r>
          </a:p>
        </p:txBody>
      </p:sp>
    </p:spTree>
    <p:extLst>
      <p:ext uri="{BB962C8B-B14F-4D97-AF65-F5344CB8AC3E}">
        <p14:creationId xmlns:p14="http://schemas.microsoft.com/office/powerpoint/2010/main" val="2063695193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grid20-title">
            <a:extLst xmlns:a="http://schemas.openxmlformats.org/drawingml/2006/main">
              <a:ext uri="{FF2B5EF4-FFF2-40B4-BE49-F238E27FC236}">
                <a16:creationId xmlns:a16="http://schemas.microsoft.com/office/drawing/2014/main" id="{7EA81C36-ABB0-43A6-8BC9-4CCD6CD6E3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34290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1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Q-07 threshold decision</a:t>
            </a:r>
          </a:p>
        </p:txBody>
      </p:sp>
      <p:sp>
        <p:nvSpPr>
          <p:cNvPr id="2" name="grid20-context">
            <a:extLst xmlns:a="http://schemas.openxmlformats.org/drawingml/2006/main">
              <a:ext uri="{FF2B5EF4-FFF2-40B4-BE49-F238E27FC236}">
                <a16:creationId xmlns:a16="http://schemas.microsoft.com/office/drawing/2014/main" id="{D9A598BA-772E-42E1-A64D-0CFB3DBDA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" y="990600"/>
            <a:ext cx="10953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14 Operations Export Regional Failover Operations Briefing Pptx: Q-07 threshold evidence · p02-full-005155</a:t>
            </a:r>
          </a:p>
        </p:txBody>
      </p:sp>
      <p:graphicFrame>
        <p:nvGraphicFramePr>
          <p:cNvPr id="19" name="Chart"/>
          <p:cNvGraphicFramePr/>
          <p:nvPr/>
        </p:nvGraphicFramePr>
        <p:xfrm>
          <a:off xmlns:a="http://schemas.openxmlformats.org/drawingml/2006/main" x="409575" y="1619250"/>
          <a:ext xmlns:a="http://schemas.openxmlformats.org/drawingml/2006/main" cx="5124450" cy="45339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7b841e169b5b49b7"/>
          </a:graphicData>
        </a:graphic>
      </p:graphicFrame>
      <p:sp>
        <p:nvSpPr>
          <p:cNvPr id="4" name="grid20-queue-value-0">
            <a:extLst xmlns:a="http://schemas.openxmlformats.org/drawingml/2006/main">
              <a:ext uri="{FF2B5EF4-FFF2-40B4-BE49-F238E27FC236}">
                <a16:creationId xmlns:a16="http://schemas.microsoft.com/office/drawing/2014/main" id="{AF548522-58AE-4627-B9A2-46144FB75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66825" y="45148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12,000</a:t>
            </a:r>
          </a:p>
        </p:txBody>
      </p:sp>
      <p:sp>
        <p:nvSpPr>
          <p:cNvPr id="5" name="grid20-queue-value-1">
            <a:extLst xmlns:a="http://schemas.openxmlformats.org/drawingml/2006/main">
              <a:ext uri="{FF2B5EF4-FFF2-40B4-BE49-F238E27FC236}">
                <a16:creationId xmlns:a16="http://schemas.microsoft.com/office/drawing/2014/main" id="{EE485C18-1BBD-4BF7-AEEB-CA5677A27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43275" y="3219450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24,000</a:t>
            </a:r>
          </a:p>
        </p:txBody>
      </p:sp>
      <p:sp>
        <p:nvSpPr>
          <p:cNvPr id="6" name="grid20-queue-value-2">
            <a:extLst xmlns:a="http://schemas.openxmlformats.org/drawingml/2006/main">
              <a:ext uri="{FF2B5EF4-FFF2-40B4-BE49-F238E27FC236}">
                <a16:creationId xmlns:a16="http://schemas.microsoft.com/office/drawing/2014/main" id="{80C3E22F-376D-4DEA-ADA7-FEDE14591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29175" y="1685925"/>
            <a:ext cx="1190625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38,420</a:t>
            </a:r>
          </a:p>
        </p:txBody>
      </p:sp>
      <p:sp>
        <p:nvSpPr>
          <p:cNvPr id="7" name="grid20-rule-0">
            <a:extLst xmlns:a="http://schemas.openxmlformats.org/drawingml/2006/main">
              <a:ext uri="{FF2B5EF4-FFF2-40B4-BE49-F238E27FC236}">
                <a16:creationId xmlns:a16="http://schemas.microsoft.com/office/drawing/2014/main" id="{94EC25A3-4486-4F1A-98BD-D4EF123B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6192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8" name="grid20-header-0">
            <a:extLst xmlns:a="http://schemas.openxmlformats.org/drawingml/2006/main">
              <a:ext uri="{FF2B5EF4-FFF2-40B4-BE49-F238E27FC236}">
                <a16:creationId xmlns:a16="http://schemas.microsoft.com/office/drawing/2014/main" id="{973CA6CC-69FD-4208-8252-F97571B8B6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18478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Cause</a:t>
            </a:r>
          </a:p>
        </p:txBody>
      </p:sp>
      <p:sp>
        <p:nvSpPr>
          <p:cNvPr id="9" name="grid20-body-0">
            <a:extLst xmlns:a="http://schemas.openxmlformats.org/drawingml/2006/main">
              <a:ext uri="{FF2B5EF4-FFF2-40B4-BE49-F238E27FC236}">
                <a16:creationId xmlns:a16="http://schemas.microsoft.com/office/drawing/2014/main" id="{EA6A3BBD-B473-48DB-8C72-17498C595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23431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Removed queue-pressure guardrail</a:t>
            </a:r>
          </a:p>
        </p:txBody>
      </p:sp>
      <p:sp>
        <p:nvSpPr>
          <p:cNvPr id="10" name="grid20-rule-1">
            <a:extLst xmlns:a="http://schemas.openxmlformats.org/drawingml/2006/main">
              <a:ext uri="{FF2B5EF4-FFF2-40B4-BE49-F238E27FC236}">
                <a16:creationId xmlns:a16="http://schemas.microsoft.com/office/drawing/2014/main" id="{D4225102-35FE-44D7-964D-636A37AF1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20040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1" name="grid20-header-1">
            <a:extLst xmlns:a="http://schemas.openxmlformats.org/drawingml/2006/main">
              <a:ext uri="{FF2B5EF4-FFF2-40B4-BE49-F238E27FC236}">
                <a16:creationId xmlns:a16="http://schemas.microsoft.com/office/drawing/2014/main" id="{F451BFB3-682B-4B10-B442-1B18B905E7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42900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Recipient</a:t>
            </a:r>
          </a:p>
        </p:txBody>
      </p:sp>
      <p:sp>
        <p:nvSpPr>
          <p:cNvPr id="12" name="grid20-body-1">
            <a:extLst xmlns:a="http://schemas.openxmlformats.org/drawingml/2006/main">
              <a:ext uri="{FF2B5EF4-FFF2-40B4-BE49-F238E27FC236}">
                <a16:creationId xmlns:a16="http://schemas.microsoft.com/office/drawing/2014/main" id="{3E26FF89-ED01-43D6-995B-7BBAECC44D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392430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Platform Reliability</a:t>
            </a:r>
          </a:p>
        </p:txBody>
      </p:sp>
      <p:sp>
        <p:nvSpPr>
          <p:cNvPr id="13" name="grid20-rule-2">
            <a:extLst xmlns:a="http://schemas.openxmlformats.org/drawingml/2006/main">
              <a:ext uri="{FF2B5EF4-FFF2-40B4-BE49-F238E27FC236}">
                <a16:creationId xmlns:a16="http://schemas.microsoft.com/office/drawing/2014/main" id="{65E4A0DE-E97F-4C04-B4EA-E60D7808E1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4781550"/>
            <a:ext cx="5905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solidFill>
              <a:srgbClr val="000000"/>
            </a:solidFill>
            <a:prstDash val="solid"/>
          </a:ln>
        </p:spPr>
      </p:sp>
      <p:sp>
        <p:nvSpPr>
          <p:cNvPr id="14" name="grid20-header-2">
            <a:extLst xmlns:a="http://schemas.openxmlformats.org/drawingml/2006/main">
              <a:ext uri="{FF2B5EF4-FFF2-40B4-BE49-F238E27FC236}">
                <a16:creationId xmlns:a16="http://schemas.microsoft.com/office/drawing/2014/main" id="{997BFDE3-6692-47FD-BDF4-9512E6AB2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010150"/>
            <a:ext cx="4953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Dependency</a:t>
            </a:r>
          </a:p>
        </p:txBody>
      </p:sp>
      <p:sp>
        <p:nvSpPr>
          <p:cNvPr id="15" name="grid20-body-2">
            <a:extLst xmlns:a="http://schemas.openxmlformats.org/drawingml/2006/main">
              <a:ext uri="{FF2B5EF4-FFF2-40B4-BE49-F238E27FC236}">
                <a16:creationId xmlns:a16="http://schemas.microsoft.com/office/drawing/2014/main" id="{173FE59F-203C-4A96-95B7-39C09960C9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7450" y="55054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2026 07 15 operations export export audit metrics csv</a:t>
            </a:r>
          </a:p>
        </p:txBody>
      </p:sp>
      <p:sp>
        <p:nvSpPr>
          <p:cNvPr id="16" name="grid20-footer">
            <a:extLst xmlns:a="http://schemas.openxmlformats.org/drawingml/2006/main">
              <a:ext uri="{FF2B5EF4-FFF2-40B4-BE49-F238E27FC236}">
                <a16:creationId xmlns:a16="http://schemas.microsoft.com/office/drawing/2014/main" id="{11948D51-36FF-43A0-9DD2-9891F89FF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191250"/>
            <a:ext cx="7429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4</a:t>
            </a:r>
          </a:p>
        </p:txBody>
      </p:sp>
    </p:spTree>
    <p:extLst>
      <p:ext uri="{BB962C8B-B14F-4D97-AF65-F5344CB8AC3E}">
        <p14:creationId xmlns:p14="http://schemas.microsoft.com/office/powerpoint/2010/main" val="110541060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2026-08-24T13:01:00.9820000Z</dcterms:created>
  <dcterms:modified xsi:type="dcterms:W3CDTF">2026-08-24T13:01:00.9820000Z</dcterms:modified>
</coreProperties>
</file>