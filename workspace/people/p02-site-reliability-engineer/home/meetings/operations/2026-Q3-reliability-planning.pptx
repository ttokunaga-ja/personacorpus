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d2cefdeae45b4" /><Relationship Type="http://schemas.openxmlformats.org/officeDocument/2006/relationships/extended-properties" Target="/docProps/app.xml" Id="Rd97903f222d54716" /><Relationship Type="http://schemas.openxmlformats.org/officeDocument/2006/relationships/officeDocument" Target="/ppt/presentation.xml" Id="R5b195cb2038f49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1974bc38b4c43"/>
  </p:sldMasterIdLst>
  <p:notesMasterIdLst>
    <p:notesMasterId xmlns:r="http://schemas.openxmlformats.org/officeDocument/2006/relationships" r:id="Rd7f64d104ec8495f"/>
  </p:notesMasterIdLst>
  <p:sldIdLst>
    <p:sldId xmlns:r="http://schemas.openxmlformats.org/officeDocument/2006/relationships" id="256" r:id="Ra2a36640d6a440cb"/>
    <p:sldId xmlns:r="http://schemas.openxmlformats.org/officeDocument/2006/relationships" id="257" r:id="R5757e4f2dc044cdb"/>
    <p:sldId xmlns:r="http://schemas.openxmlformats.org/officeDocument/2006/relationships" id="258" r:id="Rf8e671ce49364f87"/>
    <p:sldId xmlns:r="http://schemas.openxmlformats.org/officeDocument/2006/relationships" id="259" r:id="Rf87df52b82a245b5"/>
    <p:sldId xmlns:r="http://schemas.openxmlformats.org/officeDocument/2006/relationships" id="260" r:id="R7d22e1be77c34bf1"/>
    <p:sldId xmlns:r="http://schemas.openxmlformats.org/officeDocument/2006/relationships" id="261" r:id="R240b07b824704a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2e54567fb4d3a" /><Relationship Type="http://schemas.openxmlformats.org/officeDocument/2006/relationships/slideMaster" Target="/ppt/slideMasters/slideMaster1.xml" Id="Rf771974bc38b4c43" /><Relationship Type="http://schemas.openxmlformats.org/officeDocument/2006/relationships/notesMaster" Target="/ppt/notesMasters/notesMaster1.xml" Id="Rd7f64d104ec8495f" /><Relationship Type="http://schemas.openxmlformats.org/officeDocument/2006/relationships/presProps" Target="/ppt/presProps.xml" Id="Rc8eb40251a554efe" /><Relationship Type="http://schemas.openxmlformats.org/officeDocument/2006/relationships/tableStyles" Target="/ppt/tableStyles.xml" Id="R928685bce5154a5a" /><Relationship Type="http://schemas.openxmlformats.org/officeDocument/2006/relationships/slide" Target="/ppt/slides/slide1.xml" Id="Ra2a36640d6a440cb" /><Relationship Type="http://schemas.openxmlformats.org/officeDocument/2006/relationships/slide" Target="/ppt/slides/slide2.xml" Id="R5757e4f2dc044cdb" /><Relationship Type="http://schemas.openxmlformats.org/officeDocument/2006/relationships/slide" Target="/ppt/slides/slide3.xml" Id="Rf8e671ce49364f87" /><Relationship Type="http://schemas.openxmlformats.org/officeDocument/2006/relationships/slide" Target="/ppt/slides/slide4.xml" Id="Rf87df52b82a245b5" /><Relationship Type="http://schemas.openxmlformats.org/officeDocument/2006/relationships/slide" Target="/ppt/slides/slide5.xml" Id="R7d22e1be77c34bf1" /><Relationship Type="http://schemas.openxmlformats.org/officeDocument/2006/relationships/slide" Target="/ppt/slides/slide6.xml" Id="R240b07b824704a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044b054f56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d002cd5a648cb" /><Relationship Type="http://schemas.openxmlformats.org/officeDocument/2006/relationships/notesMaster" Target="/ppt/notesMasters/notesMaster1.xml" Id="Ra5ea2a9f15d948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d055e7a6f4702" /><Relationship Type="http://schemas.openxmlformats.org/officeDocument/2006/relationships/notesMaster" Target="/ppt/notesMasters/notesMaster1.xml" Id="R982edbe76ffa4a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5567cf46448d5" /><Relationship Type="http://schemas.openxmlformats.org/officeDocument/2006/relationships/notesMaster" Target="/ppt/notesMasters/notesMaster1.xml" Id="R3255886e83194d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917d6dfc6e4584" /><Relationship Type="http://schemas.openxmlformats.org/officeDocument/2006/relationships/notesMaster" Target="/ppt/notesMasters/notesMaster1.xml" Id="Rdd804ecd8b6e4d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db4d6d1fa453f" /><Relationship Type="http://schemas.openxmlformats.org/officeDocument/2006/relationships/notesMaster" Target="/ppt/notesMasters/notesMaster1.xml" Id="R7c21e6e801ae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b510470c174fa4" /><Relationship Type="http://schemas.openxmlformats.org/officeDocument/2006/relationships/notesMaster" Target="/ppt/notesMasters/notesMaster1.xml" Id="Rdee96f6dced5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bc4d104174a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498d55a98f4569" /><Relationship Type="http://schemas.openxmlformats.org/officeDocument/2006/relationships/slideLayout" Target="/ppt/slideLayouts/slideLayout1.xml" Id="R28de75c4f8934f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de75c4f8934f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b8f9defc84424" /><Relationship Type="http://schemas.openxmlformats.org/officeDocument/2006/relationships/notesSlide" Target="/ppt/notesSlides/notesSlide1.xml" Id="Rf05343b10164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fd5209a704398" /><Relationship Type="http://schemas.openxmlformats.org/officeDocument/2006/relationships/notesSlide" Target="/ppt/notesSlides/notesSlide2.xml" Id="R02ff0ce79e63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27d2484994a2c" /><Relationship Type="http://schemas.openxmlformats.org/officeDocument/2006/relationships/notesSlide" Target="/ppt/notesSlides/notesSlide3.xml" Id="Rf5fdbe66e84742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4bfc9a90e475d" /><Relationship Type="http://schemas.openxmlformats.org/officeDocument/2006/relationships/chart" Target="/ppt/slides/charts/chart1.xml" Id="R3abdff84abde42c9" /><Relationship Type="http://schemas.openxmlformats.org/officeDocument/2006/relationships/notesSlide" Target="/ppt/notesSlides/notesSlide4.xml" Id="R1992b42c654549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039c8f5974a25" /><Relationship Type="http://schemas.openxmlformats.org/officeDocument/2006/relationships/notesSlide" Target="/ppt/notesSlides/notesSlide5.xml" Id="R50944d19359c4a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b43a6fb44ece" /><Relationship Type="http://schemas.openxmlformats.org/officeDocument/2006/relationships/notesSlide" Target="/ppt/notesSlides/notesSlide6.xml" Id="Ra0c837d98562461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Detection confidence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5"/>
              <c:pt idx="0">
                <c:v>Baseline</c:v>
              </c:pt>
              <c:pt idx="1">
                <c:v>Peak −15m</c:v>
              </c:pt>
              <c:pt idx="2">
                <c:v>Peak</c:v>
              </c:pt>
              <c:pt idx="3">
                <c:v>Guardrail</c:v>
              </c:pt>
              <c:pt idx="4">
                <c:v>Recovery</c:v>
              </c:pt>
            </c:strLit>
          </c:cat>
          <c:val>
            <c:numLit>
              <c:formatCode>General</c:formatCode>
              <c:ptCount val="5"/>
              <c:pt idx="0">
                <c:v>32</c:v>
              </c:pt>
              <c:pt idx="1">
                <c:v>48</c:v>
              </c:pt>
              <c:pt idx="2">
                <c:v>76</c:v>
              </c:pt>
              <c:pt idx="3">
                <c:v>92</c:v>
              </c:pt>
              <c:pt idx="4">
                <c:v>96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6564B6-C297-4802-9C4A-92108D80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NORTHSTAR TRANSIT CLOUD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60B5C7E-F7A7-4C94-A659-E6F5121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Q3 reliability planning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0E9DF10-49EB-475E-82FC-27E370E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July–September 2026 · Operations audience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D2DAF8B1-21EF-4978-824F-3C9BED3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"/>
            <a:ext cx="3905250" cy="4000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DED28E-4B5E-4FA9-A61E-07D7E63E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operating aim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7A73F5-7857-48C6-8A02-FE8497E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Protect checkout reliability before peak transit demand exposes dependency risk.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D3C3D5-E5C2-47EF-9E70-3C72F4E3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Scenario planning data</a:t>
            </a:r>
          </a:p>
        </p:txBody>
      </p:sp>
    </p:spTree>
    <p:extLst>
      <p:ext uri="{BB962C8B-B14F-4D97-AF65-F5344CB8AC3E}">
        <p14:creationId xmlns:p14="http://schemas.microsoft.com/office/powerpoint/2010/main" val="1385032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32CA105B-C048-4A00-8B7F-97EB5F45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 AT A GLANCE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79307F-8D40-43C5-A268-B747281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2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Q3 investment is weighted toward prevention, detection, and practiced recovery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6AD0D82-DC00-42A6-9FE7-FCF04FBA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metric">
            <a:extLst xmlns:a="http://schemas.openxmlformats.org/drawingml/2006/main">
              <a:ext uri="{FF2B5EF4-FFF2-40B4-BE49-F238E27FC236}">
                <a16:creationId xmlns:a16="http://schemas.microsoft.com/office/drawing/2014/main" id="{4BB6E0A0-CBDD-4065-AD33-C54D208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C92BBF-7FF2-4D39-AA6D-6454298D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434253-3D75-4F48-9A05-9F3C590A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guardrail readiness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110369-285E-42CA-900F-8DDA8B1A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baseline target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3590CCD9-F8F0-4A54-99E2-735E6FDB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0B48E24-B8C9-43C1-9920-0DA4B39E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1C29A1-4575-4CD7-9821-61DFD99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43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checkout probes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5674AC1-B090-4CBC-BD12-D42D4F42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102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peak-window checks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063218A0-AA5B-4634-A723-61E16C5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DE9C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9309B8-12C4-4E14-8ED0-6256A52E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C48F3CE-0F4E-49CF-AF75-31B86C1E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43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recovery drills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E71BBD-7BC7-43B8-9A6F-3A03203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102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before August peak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B3093F-7070-4774-8DD6-9AB9768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78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The portfolio is intentionally narrow: make the checkout path safer, see degradation sooner, and rehearse the decision path once.</a:t>
            </a:r>
          </a:p>
        </p:txBody>
      </p:sp>
    </p:spTree>
    <p:extLst>
      <p:ext uri="{BB962C8B-B14F-4D97-AF65-F5344CB8AC3E}">
        <p14:creationId xmlns:p14="http://schemas.microsoft.com/office/powerpoint/2010/main" val="502792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81158F5-EAF7-4A26-BCED-8B65A9F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Q3 DELIVERY TIMELINE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C6CE39-A9F1-432C-845F-0EF9FD7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3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Sequencing keeps safety controls ahead of the busiest transit windows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BCADABF-16E5-47CC-A08C-A96A8B73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623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8BABF-ED9A-47AC-AF0D-881CD3F5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D65708-5291-4911-BACA-CBB5A8AB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JULY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72A377-ED35-4EE7-9084-894C885A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48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Stabilize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2F0351-4DD8-4208-9FD4-483650B0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Tune retry guardrail and publish action 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347E5-871F-4621-B0A8-3546968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EAE691-C16E-42B5-98A9-8A3E9C08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AUG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AD6CBC-BEF2-43FB-9610-32DDC722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48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Exercise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96F913-3BB8-4B48-8155-302B650E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Run controlled recovery drill.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7802C-7232-48C0-AFA1-3E882B66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C66123C-3268-486B-A16C-555D6A62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SEP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F75592-194F-44F6-8F8B-888B3595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48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C3473F-5AFD-4B57-B709-6BF3EBE2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00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readiness and error-budget posture.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EF3A734-2BBE-4573-99E7-0C5B87E4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1441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1D06158-D160-4955-B246-9A386706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9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Each stage has one exit condition: control deployed, drill debrief closed, then quarterly evidence reviewed.</a:t>
            </a:r>
          </a:p>
        </p:txBody>
      </p:sp>
    </p:spTree>
    <p:extLst>
      <p:ext uri="{BB962C8B-B14F-4D97-AF65-F5344CB8AC3E}">
        <p14:creationId xmlns:p14="http://schemas.microsoft.com/office/powerpoint/2010/main" val="162358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C0599993-2AFB-4E7E-AA8B-863ACE5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58A22F-A6DA-4F5D-B77A-3F3F463B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 visible probe closes the gap between dependency stress and checkout impact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7742406-8E72-48D2-9D12-9B2D8322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23900" y="1666875"/>
          <a:ext xmlns:a="http://schemas.openxmlformats.org/drawingml/2006/main" cx="59531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dff84abde42c9"/>
          </a:graphicData>
        </a:graphic>
      </p:graphicFrame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4B4C3020-B89A-48E1-9640-98DEE71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D85D46-0145-4A04-874E-5460D1A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Success signal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D5A018-ABB8-48C0-B895-4BC6AEB3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probe detects checkout-path drift before customer retries accelerate.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17880B-2368-41D6-A391-58538E0D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Measure: median detection time</a:t>
            </a:r>
          </a:p>
        </p:txBody>
      </p:sp>
    </p:spTree>
    <p:extLst>
      <p:ext uri="{BB962C8B-B14F-4D97-AF65-F5344CB8AC3E}">
        <p14:creationId xmlns:p14="http://schemas.microsoft.com/office/powerpoint/2010/main" val="95178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1FB432EA-31A7-4323-A79C-F4B4048E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66F112-4E1A-453A-BC24-EBEEC39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65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The operating model assigns one accountable role to each reliability outcome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FC0774B-DAD2-4330-8553-EDBE2792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B6B79BA6-2A00-4E41-AADE-01DB2A55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D0CD44-10AD-480B-A730-95C34A6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Checkout guardrail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6CE18E-1E2D-418F-A6A5-AEE657D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Accountable role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FE509B-947D-4707-8667-A73BAA72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Checkout on-call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51329C0-94DD-4044-A1A4-5969D6E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ACT-17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1D28BCE-4EDC-4A70-9AF5-3C1F8C53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240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A6AAF7-5C84-45DD-B6BC-B728CE4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Synthetic probe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0BFA43F-3670-49ED-B29D-8BC31BC5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Accountable role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B3C1A1-FACB-4A10-A153-58D0134C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90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Observability lead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54711A-8C76-4FB1-A56A-7BD9167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ACT-18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1FEE58A7-75BD-47E6-81A5-835FE876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DE9C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26A2A2-7760-462D-BE83-11F9B10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Recovery drill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0F8D6F-323D-47E1-B6B0-9F1087BD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Accountable role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8F67623-E31D-4D59-8C0C-AD233FDE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Reliability manager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F5D2FC-DBD4-4E26-BEB4-32DCFB1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DEC-32</a:t>
            </a:r>
          </a:p>
        </p:txBody>
      </p:sp>
    </p:spTree>
    <p:extLst>
      <p:ext uri="{BB962C8B-B14F-4D97-AF65-F5344CB8AC3E}">
        <p14:creationId xmlns:p14="http://schemas.microsoft.com/office/powerpoint/2010/main" val="1185786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FE562DA6-89DB-47E8-9F0B-97D40E5F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PLANNING DECISION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C513E4-6E09-4E47-BBA0-32BBC173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7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Approve the July controls now; use September evidence to set the next planning cycle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DC6AEF4-B7CB-4663-8FC4-ECAC7FBC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7BB24D-FBF3-4029-8F02-376BC6F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requested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D7B8D8-AF05-4763-922D-F478A4E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Confirm the Q3 sequence and keep remaining error budget as a guardrail—not a forecast.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3614B10E-65CA-4E5A-A00F-3200C640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90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C294E8-BB9E-4979-ADE9-0CCB974B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Review condition: the monthly reliability review evaluates closed actions, drill learning, and the checkout-path evidence together.</a:t>
            </a:r>
          </a:p>
        </p:txBody>
      </p:sp>
    </p:spTree>
    <p:extLst>
      <p:ext uri="{BB962C8B-B14F-4D97-AF65-F5344CB8AC3E}">
        <p14:creationId xmlns:p14="http://schemas.microsoft.com/office/powerpoint/2010/main" val="1178712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2026-08-22T15:53:44.9060000Z</dcterms:created>
  <dcterms:modified xsi:type="dcterms:W3CDTF">2026-08-22T15:53:44.9060000Z</dcterms:modified>
</coreProperties>
</file>