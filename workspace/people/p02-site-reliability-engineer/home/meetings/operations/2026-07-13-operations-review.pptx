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6336c9b24f4c68" /><Relationship Type="http://schemas.openxmlformats.org/officeDocument/2006/relationships/extended-properties" Target="/docProps/app.xml" Id="R212653f2d2914dd7" /><Relationship Type="http://schemas.openxmlformats.org/officeDocument/2006/relationships/officeDocument" Target="/ppt/presentation.xml" Id="Rabb85cfafb4144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66107649694902"/>
  </p:sldMasterIdLst>
  <p:notesMasterIdLst>
    <p:notesMasterId xmlns:r="http://schemas.openxmlformats.org/officeDocument/2006/relationships" r:id="R9aaffcef939442f3"/>
  </p:notesMasterIdLst>
  <p:sldIdLst>
    <p:sldId xmlns:r="http://schemas.openxmlformats.org/officeDocument/2006/relationships" id="256" r:id="Raf0c6a03c3b34492"/>
    <p:sldId xmlns:r="http://schemas.openxmlformats.org/officeDocument/2006/relationships" id="257" r:id="Ra0f92f1b61ab401b"/>
    <p:sldId xmlns:r="http://schemas.openxmlformats.org/officeDocument/2006/relationships" id="258" r:id="R8466ed8946e44d04"/>
    <p:sldId xmlns:r="http://schemas.openxmlformats.org/officeDocument/2006/relationships" id="259" r:id="R7230079515424308"/>
    <p:sldId xmlns:r="http://schemas.openxmlformats.org/officeDocument/2006/relationships" id="260" r:id="Rd2799b2cbed547db"/>
    <p:sldId xmlns:r="http://schemas.openxmlformats.org/officeDocument/2006/relationships" id="261" r:id="R108d5c1f7f784d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9e57a2a7f4adb" /><Relationship Type="http://schemas.openxmlformats.org/officeDocument/2006/relationships/slideMaster" Target="/ppt/slideMasters/slideMaster1.xml" Id="R7d66107649694902" /><Relationship Type="http://schemas.openxmlformats.org/officeDocument/2006/relationships/notesMaster" Target="/ppt/notesMasters/notesMaster1.xml" Id="R9aaffcef939442f3" /><Relationship Type="http://schemas.openxmlformats.org/officeDocument/2006/relationships/presProps" Target="/ppt/presProps.xml" Id="R3b59e2b2f4ac4c6a" /><Relationship Type="http://schemas.openxmlformats.org/officeDocument/2006/relationships/tableStyles" Target="/ppt/tableStyles.xml" Id="R7bf7c7221a924d45" /><Relationship Type="http://schemas.openxmlformats.org/officeDocument/2006/relationships/slide" Target="/ppt/slides/slide1.xml" Id="Raf0c6a03c3b34492" /><Relationship Type="http://schemas.openxmlformats.org/officeDocument/2006/relationships/slide" Target="/ppt/slides/slide2.xml" Id="Ra0f92f1b61ab401b" /><Relationship Type="http://schemas.openxmlformats.org/officeDocument/2006/relationships/slide" Target="/ppt/slides/slide3.xml" Id="R8466ed8946e44d04" /><Relationship Type="http://schemas.openxmlformats.org/officeDocument/2006/relationships/slide" Target="/ppt/slides/slide4.xml" Id="R7230079515424308" /><Relationship Type="http://schemas.openxmlformats.org/officeDocument/2006/relationships/slide" Target="/ppt/slides/slide5.xml" Id="Rd2799b2cbed547db" /><Relationship Type="http://schemas.openxmlformats.org/officeDocument/2006/relationships/slide" Target="/ppt/slides/slide6.xml" Id="R108d5c1f7f784d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1402730a0144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422484a25e483b" /><Relationship Type="http://schemas.openxmlformats.org/officeDocument/2006/relationships/notesMaster" Target="/ppt/notesMasters/notesMaster1.xml" Id="R4fcdced3383b45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6da69b440d4774" /><Relationship Type="http://schemas.openxmlformats.org/officeDocument/2006/relationships/notesMaster" Target="/ppt/notesMasters/notesMaster1.xml" Id="Rf608fcde0e5540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7c97c297b340ad" /><Relationship Type="http://schemas.openxmlformats.org/officeDocument/2006/relationships/notesMaster" Target="/ppt/notesMasters/notesMaster1.xml" Id="R973c13081b4e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3a10a3558c4892" /><Relationship Type="http://schemas.openxmlformats.org/officeDocument/2006/relationships/notesMaster" Target="/ppt/notesMasters/notesMaster1.xml" Id="R267d12b9f47b46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87b7ef28e94838" /><Relationship Type="http://schemas.openxmlformats.org/officeDocument/2006/relationships/notesMaster" Target="/ppt/notesMasters/notesMaster1.xml" Id="Rf314a4a2185e4d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179dd69c2543e2" /><Relationship Type="http://schemas.openxmlformats.org/officeDocument/2006/relationships/notesMaster" Target="/ppt/notesMasters/notesMaster1.xml" Id="R7db0245ff4224b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e3fc36eea47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db30f944eb41d6" /><Relationship Type="http://schemas.openxmlformats.org/officeDocument/2006/relationships/slideLayout" Target="/ppt/slideLayouts/slideLayout1.xml" Id="R46d57408974244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d57408974244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3f7f6f86642ae" /><Relationship Type="http://schemas.openxmlformats.org/officeDocument/2006/relationships/notesSlide" Target="/ppt/notesSlides/notesSlide1.xml" Id="R8446457513db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e9900d8f24c47" /><Relationship Type="http://schemas.openxmlformats.org/officeDocument/2006/relationships/chart" Target="/ppt/slides/charts/chart1.xml" Id="R2ea5436a69f94b90" /><Relationship Type="http://schemas.openxmlformats.org/officeDocument/2006/relationships/notesSlide" Target="/ppt/notesSlides/notesSlide2.xml" Id="Rad79a37bb6cf4d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6bc6d3b764bd4" /><Relationship Type="http://schemas.openxmlformats.org/officeDocument/2006/relationships/notesSlide" Target="/ppt/notesSlides/notesSlide3.xml" Id="R43c9c1d2868647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1f47bba5848df" /><Relationship Type="http://schemas.openxmlformats.org/officeDocument/2006/relationships/notesSlide" Target="/ppt/notesSlides/notesSlide4.xml" Id="R03b90f11d80941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8fb0fba694a05" /><Relationship Type="http://schemas.openxmlformats.org/officeDocument/2006/relationships/notesSlide" Target="/ppt/notesSlides/notesSlide5.xml" Id="Rb84048a7f0b94d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3637914744062" /><Relationship Type="http://schemas.openxmlformats.org/officeDocument/2006/relationships/notesSlide" Target="/ppt/notesSlides/notesSlide6.xml" Id="R8ffd9c4a5053497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Checkout errors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Normal</c:v>
              </c:pt>
              <c:pt idx="1">
                <c:v>Peak</c:v>
              </c:pt>
              <c:pt idx="2">
                <c:v>Guardrail</c:v>
              </c:pt>
              <c:pt idx="3">
                <c:v>Recovered</c:v>
              </c:pt>
            </c:strLit>
          </c:cat>
          <c:val>
            <c:numLit>
              <c:formatCode>General</c:formatCode>
              <c:ptCount val="4"/>
              <c:pt idx="0">
                <c:v>0.3</c:v>
              </c:pt>
              <c:pt idx="1">
                <c:v>4.8</c:v>
              </c:pt>
              <c:pt idx="2">
                <c:v>1.6</c:v>
              </c:pt>
              <c:pt idx="3">
                <c:v>0.4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EE8DF9-0FAF-4615-9889-9146920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NORTHSTAR TRANSIT CLOUD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9AFFDAA-7814-4D39-BCA2-3AD587E4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Operations review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3C671BB-2672-4A55-AFC7-6C4DAF15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Checkout SVC-17 · 2026-07-13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8169B51-0F12-48FD-913D-DB20A34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INC-260713</a:t>
            </a:r>
          </a:p>
          <a:p xmlns:a="http://schemas.openxmlformats.org/drawingml/2006/main">
            <a:pPr algn="l">
              <a:defRPr sz="18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A focused incident review and Q3 handoff</a:t>
            </a:r>
          </a:p>
        </p:txBody>
      </p:sp>
      <p:sp>
        <p:nvSpPr>
          <p:cNvPr id="5" name="hero-field">
            <a:extLst xmlns:a="http://schemas.openxmlformats.org/drawingml/2006/main">
              <a:ext uri="{FF2B5EF4-FFF2-40B4-BE49-F238E27FC236}">
                <a16:creationId xmlns:a16="http://schemas.microsoft.com/office/drawing/2014/main" id="{71B773DB-C2BF-4C58-9A3E-83E710C2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857250"/>
            <a:ext cx="4095750" cy="4714875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318ABB-0BCC-4278-A247-22E72C99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66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2.4%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66E9A75-B220-4D66-9C37-7E900C2F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error budget 2.4% remaining</a:t>
            </a:r>
          </a:p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at review time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AA84AF-7651-4D31-93DF-BBAFE88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671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18 min</a:t>
            </a:r>
          </a:p>
          <a:p xmlns:a="http://schemas.openxmlformats.org/drawingml/2006/main">
            <a:pPr algn="l">
              <a:defRPr sz="18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elevated-error interval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E8CBAB-266D-4D4C-8214-F389F12F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10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Scenario metrics for internal operations planning</a:t>
            </a:r>
          </a:p>
        </p:txBody>
      </p:sp>
    </p:spTree>
    <p:extLst>
      <p:ext uri="{BB962C8B-B14F-4D97-AF65-F5344CB8AC3E}">
        <p14:creationId xmlns:p14="http://schemas.microsoft.com/office/powerpoint/2010/main" val="1583414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5ABEDC9E-84A4-4033-B679-FF5FCA35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INCIDENT SNAPSHOT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057821-ED5D-47D6-BFDF-89EC104A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2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The service recovered quickly; the exposure was concentrated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E253877-C2E9-4891-AA8D-0B1F0D49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42950" y="2143125"/>
          <a:ext xmlns:a="http://schemas.openxmlformats.org/drawingml/2006/main" cx="54292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a5436a69f94b90"/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CADF6E-7E71-4F0F-8385-A4BF949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Observed checkout error rate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5E0B2630-2F57-455A-833C-6F2B0ECF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40005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BDD657-541C-48E9-B168-B0112D4D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33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70D86E-ECE7-4235-AEE5-2313AA6C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62250"/>
            <a:ext cx="3190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Dependency timeouts amplified retry volume during the fare-load window. The edge guardrail reduced retries and stabilized the path.</a:t>
            </a:r>
          </a:p>
        </p:txBody>
      </p:sp>
      <p:sp>
        <p:nvSpPr>
          <p:cNvPr id="9" name="metric">
            <a:extLst xmlns:a="http://schemas.openxmlformats.org/drawingml/2006/main">
              <a:ext uri="{FF2B5EF4-FFF2-40B4-BE49-F238E27FC236}">
                <a16:creationId xmlns:a16="http://schemas.microsoft.com/office/drawing/2014/main" id="{B0735F05-53B3-4810-B91C-417EDBDF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9BF41D-971B-4BA9-9D98-6AAB1BA0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2.4%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2D5B504-BFEC-4443-8A96-442284F3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error budget remaining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5317DD-5CCC-4858-9F8C-A3BCE16B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after INC-260713</a:t>
            </a:r>
          </a:p>
        </p:txBody>
      </p:sp>
      <p:sp>
        <p:nvSpPr>
          <p:cNvPr id="13" name="metric">
            <a:extLst xmlns:a="http://schemas.openxmlformats.org/drawingml/2006/main">
              <a:ext uri="{FF2B5EF4-FFF2-40B4-BE49-F238E27FC236}">
                <a16:creationId xmlns:a16="http://schemas.microsoft.com/office/drawing/2014/main" id="{0A504E38-75E8-42FD-B898-A50010BC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243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89DB064-30BA-44D1-B45D-3BE359C6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14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6D9BAC2-5A43-42C5-A716-21F121A8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435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time to mitigation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38DFD76-5199-4CD9-8B2D-AEC89930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102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09:14 → 09:24 UTC</a:t>
            </a:r>
          </a:p>
        </p:txBody>
      </p:sp>
      <p:sp>
        <p:nvSpPr>
          <p:cNvPr id="17" name="metric">
            <a:extLst xmlns:a="http://schemas.openxmlformats.org/drawingml/2006/main">
              <a:ext uri="{FF2B5EF4-FFF2-40B4-BE49-F238E27FC236}">
                <a16:creationId xmlns:a16="http://schemas.microsoft.com/office/drawing/2014/main" id="{9450BD76-9A41-43C4-BE3C-81BB3795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DE9C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1811B8B-E1F6-4FB9-8A99-E34A5085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14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09:32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A823249-8AB6-4A83-BDDE-3CD6F5C1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435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recovery verified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FE0F1F0-A3FC-49E7-924D-AD29D925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102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below alert threshold</a:t>
            </a:r>
          </a:p>
        </p:txBody>
      </p:sp>
    </p:spTree>
    <p:extLst>
      <p:ext uri="{BB962C8B-B14F-4D97-AF65-F5344CB8AC3E}">
        <p14:creationId xmlns:p14="http://schemas.microsoft.com/office/powerpoint/2010/main" val="1903632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68D209BC-2E2A-4575-9758-66D32F6C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INCIDENT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2A517F-844D-4128-A1A6-8B546ED3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34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The response path was decisive once the dependency signal was confirmed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913F093-0EA1-4F87-9E8D-D0027AB5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238250" y="316230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403B1-425F-4478-9E07-6D273880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636A00-775F-45DC-9B04-5A9A6361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09:14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705D22-0B84-4439-8598-B5498ED9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Alert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00180C8-3777-490C-8892-46358588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Latency threshold opens on-call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E3BC4-5A67-4C42-A764-D0C44E38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7572D2-0F6A-410A-B073-988F7BB6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09:18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DCB9B35-3660-40C3-B1B8-54068EC9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99DA37-A40E-4D0B-AE60-89804802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Dependency timeout pattern isolated.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877C3-F072-4ABB-8A45-63AA4409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BCE4853-B553-4F2A-A3FA-71281CBB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09:24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783F1A3-6548-4749-AFAA-C0559DE1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Guardrail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55C192-4420-490B-B297-DFA8C5B2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005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Retry pressure reduced at 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38C18-79AA-46FA-BA7C-5CC5CCF3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BB53976-0BF1-499F-8F63-52F03A85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09:32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384CD28-E376-4FA0-9EB3-8FCC8619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515E1A1-99E6-4037-947D-57ACA05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Error rate returns below threshold.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51883CC-AD47-411B-BC59-71EF8ABA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14412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0AE34D2-BC4B-480B-8CE9-5A624042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8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Decision rule: protect completed checkout requests first, then restore normal retry behavior after the error signal holds.</a:t>
            </a:r>
          </a:p>
        </p:txBody>
      </p:sp>
    </p:spTree>
    <p:extLst>
      <p:ext uri="{BB962C8B-B14F-4D97-AF65-F5344CB8AC3E}">
        <p14:creationId xmlns:p14="http://schemas.microsoft.com/office/powerpoint/2010/main" val="1547303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2EC2C7E-8E9A-4AAD-953A-B116DDF1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FOLLOW-UP CONTROLS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7B92C0-DC97-460D-9C87-8B7A2D1E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9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Three controls turn the incident lesson into a repeatable operating habit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83F6CA8-E2D8-4566-939C-B7CB876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23813D82-8C87-4350-A463-38601471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F61075-E19D-4734-BC96-81ED64B4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B5A898-33C0-448C-B5E3-8A07141B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Guardrail tuning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60BC7F-3D65-4533-A6EB-7ECFC4A9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Cap retry amplification while the dependency budget is exceeded.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58283906-2A15-4437-B87C-ADEE65F5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52625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506E5A7-6A4D-46D0-A9CF-1C2763AA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565AF65-4372-4979-9BA9-3F63C193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Path probe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7FD78EC-4A68-4E35-982A-818C42D3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Run a synthetic checkout transaction before each peak window.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B13177A9-7C34-4F54-811A-AD62B531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52625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DE9C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FF45B75-DE1C-4665-969A-F1291790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B385EAD-45F1-4EAA-9829-65DE9B13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Weekly review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462AB3E-E619-41A5-8EC0-709B1779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Check action closure and error-budget posture together.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7B9D840-38F2-4FA1-9A2A-D24FA2B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Owners and dates are maintained in operations-review-action-log.txt.</a:t>
            </a:r>
          </a:p>
        </p:txBody>
      </p:sp>
    </p:spTree>
    <p:extLst>
      <p:ext uri="{BB962C8B-B14F-4D97-AF65-F5344CB8AC3E}">
        <p14:creationId xmlns:p14="http://schemas.microsoft.com/office/powerpoint/2010/main" val="1308823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F38D4D4F-2A81-4F5D-B8E8-96D96533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PLANNING BRIDGE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58D1B2-2B47-405F-8AFD-90DBCD15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Q3 starts with the controls that reduce repeat exposure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A0F7729-4D26-4AC1-BFC7-D31E2EE4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08C306E-1D5A-4995-A78F-49148F34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WHEN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64D2E5-5F08-4ECF-BAC4-AD05E480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43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F58D11-7443-4DD0-9DB3-A357C8C9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43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ACCOUNTABLE ROLE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9CDD368-4FBF-4A5B-9EB2-2679921A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LINK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85800" y="2990850"/>
            <a:ext cx="10144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6F3BA5A-8B56-4546-B249-3BDBC79F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July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20D876-EE53-4440-B329-B539E82F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24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Timeout guardrail tuning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6EE6DC1-EB34-46FD-AF4D-09A66DCA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24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Checkout on-call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4A8D24-410D-4B06-8E37-B80352FE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24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ACT-17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85800" y="3581400"/>
            <a:ext cx="10144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8CD51C3-90F9-425A-A022-15379A4E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July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06A3DF5-66F2-408C-B735-5FC8640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146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Checkout-path synthetic probe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695A4E5-E620-41FB-BDEC-2B0A14EF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14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Observability lead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C6B59BA-BD77-48D8-A9B5-CD0ABDA3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14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ACT-18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85800" y="4171950"/>
            <a:ext cx="10144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11D5B5F-7BCE-43ED-9938-D13F0410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August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81D1B23-36D2-47CD-9C95-2F55D32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052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Controlled recovery drill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A6B7AE0-9667-4256-A11A-A4C61E0D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05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Reliability manager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D0EBBDE-DCD0-46BB-8CED-D3E6F3FD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05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DEC-32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685800" y="4762500"/>
            <a:ext cx="10144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B8267D8-80C1-422D-8F7E-36931F9F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September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EF36856-0F94-410C-BB53-FE39E77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95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Quarterly reliability readout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1FB4E09-94F9-4247-92C1-CA6EF80B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957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834AB30-A791-4F86-9C51-8234374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95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DEC-33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7FFDD94-8015-4FDC-953A-4D6D90BD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Planning details: 2026-Q3-reliability-planning-notes.md and reliability-planning-decisions.txt</a:t>
            </a:r>
          </a:p>
        </p:txBody>
      </p:sp>
    </p:spTree>
    <p:extLst>
      <p:ext uri="{BB962C8B-B14F-4D97-AF65-F5344CB8AC3E}">
        <p14:creationId xmlns:p14="http://schemas.microsoft.com/office/powerpoint/2010/main" val="1443897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5AB7CDB3-259B-400A-8AAF-C66E86D8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992F6CD-38DF-49A0-A534-D30EAD8A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6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Close the actions, then use the next peak window as the readiness test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B050CEB-1414-4D6F-9CCD-E770E423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EB860B-4059-40BE-8718-844692EA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64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Northstar Transit Cloud can preserve customer-facing reliability by turning one contained checkout incident into three durable controls.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2C1C2AD0-18B0-47B2-B833-01D947CE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DA924D-B80D-4372-9D19-4D56A5F2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checkpoint · 2026-07-20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74F549-0CD6-44A9-9AAA-C26C8029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847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6"/>
                </a:solidFill>
                <a:latin typeface="Helvetica Neue"/>
                <a:ea typeface="Helvetica Neue"/>
                <a:cs typeface="Helvetica Neue"/>
              </a:rPr>
              <a:t>Confirm ACT-17 through ACT-19, review the 2.4% error-budget guardrail, and approve the drill window.</a:t>
            </a:r>
          </a:p>
        </p:txBody>
      </p:sp>
    </p:spTree>
    <p:extLst>
      <p:ext uri="{BB962C8B-B14F-4D97-AF65-F5344CB8AC3E}">
        <p14:creationId xmlns:p14="http://schemas.microsoft.com/office/powerpoint/2010/main" val="356830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2026-08-22T15:53:43.5860000Z</dcterms:created>
  <dcterms:modified xsi:type="dcterms:W3CDTF">2026-08-22T15:53:43.5860000Z</dcterms:modified>
</coreProperties>
</file>