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832935d9c9e4521" /><Relationship Type="http://schemas.openxmlformats.org/officeDocument/2006/relationships/extended-properties" Target="/docProps/app.xml" Id="Rf5f4fd251d0a41d7" /><Relationship Type="http://schemas.openxmlformats.org/officeDocument/2006/relationships/officeDocument" Target="/ppt/presentation.xml" Id="Rc22d67bde7b940a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98942deae1241ab"/>
  </p:sldMasterIdLst>
  <p:notesMasterIdLst>
    <p:notesMasterId xmlns:r="http://schemas.openxmlformats.org/officeDocument/2006/relationships" r:id="Rf85150c066fb400d"/>
  </p:notesMasterIdLst>
  <p:sldIdLst>
    <p:sldId xmlns:r="http://schemas.openxmlformats.org/officeDocument/2006/relationships" id="256" r:id="R3dbcffeb0ffb473c"/>
    <p:sldId xmlns:r="http://schemas.openxmlformats.org/officeDocument/2006/relationships" id="257" r:id="R6de1b6c0d53a463a"/>
    <p:sldId xmlns:r="http://schemas.openxmlformats.org/officeDocument/2006/relationships" id="258" r:id="R9ca8091a43d94a54"/>
    <p:sldId xmlns:r="http://schemas.openxmlformats.org/officeDocument/2006/relationships" id="259" r:id="Rad56b7d560df408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632aa8ac43644d6" /><Relationship Type="http://schemas.openxmlformats.org/officeDocument/2006/relationships/slideMaster" Target="/ppt/slideMasters/slideMaster1.xml" Id="R598942deae1241ab" /><Relationship Type="http://schemas.openxmlformats.org/officeDocument/2006/relationships/notesMaster" Target="/ppt/notesMasters/notesMaster1.xml" Id="Rf85150c066fb400d" /><Relationship Type="http://schemas.openxmlformats.org/officeDocument/2006/relationships/presProps" Target="/ppt/presProps.xml" Id="Ra06e46e8c7994dbd" /><Relationship Type="http://schemas.openxmlformats.org/officeDocument/2006/relationships/tableStyles" Target="/ppt/tableStyles.xml" Id="R6ffb09e0301449d1" /><Relationship Type="http://schemas.openxmlformats.org/officeDocument/2006/relationships/slide" Target="/ppt/slides/slide1.xml" Id="R3dbcffeb0ffb473c" /><Relationship Type="http://schemas.openxmlformats.org/officeDocument/2006/relationships/slide" Target="/ppt/slides/slide2.xml" Id="R6de1b6c0d53a463a" /><Relationship Type="http://schemas.openxmlformats.org/officeDocument/2006/relationships/slide" Target="/ppt/slides/slide3.xml" Id="R9ca8091a43d94a54" /><Relationship Type="http://schemas.openxmlformats.org/officeDocument/2006/relationships/slide" Target="/ppt/slides/slide4.xml" Id="Rad56b7d560df408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38b7f57d2bb491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354a098a54b4908" /><Relationship Type="http://schemas.openxmlformats.org/officeDocument/2006/relationships/notesMaster" Target="/ppt/notesMasters/notesMaster1.xml" Id="Reb897abfe482466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65c727130fe49ca" /><Relationship Type="http://schemas.openxmlformats.org/officeDocument/2006/relationships/notesMaster" Target="/ppt/notesMasters/notesMaster1.xml" Id="R5429adc64dfc4fa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09c082a79c046ee" /><Relationship Type="http://schemas.openxmlformats.org/officeDocument/2006/relationships/notesMaster" Target="/ppt/notesMasters/notesMaster1.xml" Id="Rc71ac25266fd43d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c4686c4d20840b6" /><Relationship Type="http://schemas.openxmlformats.org/officeDocument/2006/relationships/notesMaster" Target="/ppt/notesMasters/notesMaster1.xml" Id="R3fcb3b50add7479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documents/operations/runbooks/supporting-data/2026-07-13-reliability-runbook-database-failover-metrics-csv-s001785.csv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p02-full-001785, row:canonical-metric.</a:t>
            </a:r>
          </a:p>
          <a:p xmlns:a="http://schemas.openxmlformats.org/drawingml/2006/main">
            <a:r>
              <a:t>Artifact: p02-full-013655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documents/operations/runbooks/supporting-data/2026-07-13-reliability-runbook-database-failover-metrics-csv-s001785.csv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p02-full-001785, row:canonical-metric.</a:t>
            </a:r>
          </a:p>
          <a:p xmlns:a="http://schemas.openxmlformats.org/drawingml/2006/main">
            <a:r>
              <a:t>Artifact: p02-full-013655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documents/operations/runbooks/supporting-data/2026-07-13-reliability-runbook-database-failover-metrics-csv-s001785.csv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p02-full-001785, row:canonical-metric.</a:t>
            </a:r>
          </a:p>
          <a:p xmlns:a="http://schemas.openxmlformats.org/drawingml/2006/main">
            <a:r>
              <a:t>Artifact: p02-full-013655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documents/operations/runbooks/supporting-data/2026-07-13-reliability-runbook-database-failover-metrics-csv-s001785.csv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p02-full-001785, row:canonical-metric.</a:t>
            </a:r>
          </a:p>
          <a:p xmlns:a="http://schemas.openxmlformats.org/drawingml/2006/main">
            <a:r>
              <a:t>Artifact: p02-full-013655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278fd9a800b4f7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54820175d66418c" /><Relationship Type="http://schemas.openxmlformats.org/officeDocument/2006/relationships/slideLayout" Target="/ppt/slideLayouts/slideLayout1.xml" Id="Rf105a2db513348e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105a2db513348e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d7717404574c10" /><Relationship Type="http://schemas.openxmlformats.org/officeDocument/2006/relationships/notesSlide" Target="/ppt/notesSlides/notesSlide1.xml" Id="R89df0a60a4a44f4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53f12010664a49" /><Relationship Type="http://schemas.openxmlformats.org/officeDocument/2006/relationships/notesSlide" Target="/ppt/notesSlides/notesSlide2.xml" Id="R69942cf6e0884e7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410628a2c3417d" /><Relationship Type="http://schemas.openxmlformats.org/officeDocument/2006/relationships/notesSlide" Target="/ppt/notesSlides/notesSlide3.xml" Id="Rc2e83a6240bd49e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5cbb8bc64b49fa" /><Relationship Type="http://schemas.openxmlformats.org/officeDocument/2006/relationships/chart" Target="/ppt/slides/charts/chart1.xml" Id="R9bda306d2f104d04" /><Relationship Type="http://schemas.openxmlformats.org/officeDocument/2006/relationships/notesSlide" Target="/ppt/notesSlides/notesSlide4.xml" Id="R1084d5897ae743bc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Platform Reliability Q-07 jobs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3"/>
              <c:pt idx="0">
                <c:v>Warning threshold · 09:42</c:v>
              </c:pt>
              <c:pt idx="1">
                <c:v>Critical threshold</c:v>
              </c:pt>
              <c:pt idx="2">
                <c:v>Maximum observed</c:v>
              </c:pt>
            </c:strLit>
          </c:cat>
          <c:val>
            <c:numLit>
              <c:formatCode>General</c:formatCode>
              <c:ptCount val="3"/>
              <c:pt idx="0">
                <c:v>12000</c:v>
              </c:pt>
              <c:pt idx="1">
                <c:v>24000</c:v>
              </c:pt>
              <c:pt idx="2">
                <c:v>38420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4200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jobs</a:t>
                </a:r>
              </a:p>
            </c:rich>
          </c:tx>
          <c:overlay val="0"/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</a:defRPr>
            </a:pPr>
          </a:p>
        </c:txPr>
        <c:crossAx val="48650112"/>
        <c:crossBetween val="between"/>
        <c:majorUnit val="12000"/>
      </c:valAx>
      <c:spPr>
        <a:noFill xmlns:a="http://schemas.openxmlformats.org/drawingml/2006/main"/>
      </c:spPr>
    </c:plotArea>
    <c:plotVisOnly val="1"/>
  </c:chart>
  <c:spPr>
    <a:solidFill xmlns:a="http://schemas.openxmlformats.org/drawingml/2006/main">
      <a:srgbClr val="FFFFFF"/>
    </a:solidFill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grid01-eyebrow">
            <a:extLst xmlns:a="http://schemas.openxmlformats.org/drawingml/2006/main">
              <a:ext uri="{FF2B5EF4-FFF2-40B4-BE49-F238E27FC236}">
                <a16:creationId xmlns:a16="http://schemas.microsoft.com/office/drawing/2014/main" id="{9366F9E0-98E7-4FF5-8C8F-DCA4E268B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90525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NORTHSTAR TRANSIT CLOUD · RELIABILITY REVIEW</a:t>
            </a:r>
          </a:p>
        </p:txBody>
      </p:sp>
      <p:sp>
        <p:nvSpPr>
          <p:cNvPr id="2" name="grid01-title">
            <a:extLst xmlns:a="http://schemas.openxmlformats.org/drawingml/2006/main">
              <a:ext uri="{FF2B5EF4-FFF2-40B4-BE49-F238E27FC236}">
                <a16:creationId xmlns:a16="http://schemas.microsoft.com/office/drawing/2014/main" id="{629FADB8-38F0-4B84-8009-5E673D095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743075"/>
            <a:ext cx="1066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Reliability decision brief</a:t>
            </a:r>
          </a:p>
          <a:p xmlns:a="http://schemas.openxmlformats.org/drawingml/2006/main">
            <a:pPr>
              <a:def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p02-full-013655</a:t>
            </a:r>
          </a:p>
        </p:txBody>
      </p:sp>
      <p:sp>
        <p:nvSpPr>
          <p:cNvPr id="3" name="grid01-subtitle">
            <a:extLst xmlns:a="http://schemas.openxmlformats.org/drawingml/2006/main">
              <a:ext uri="{FF2B5EF4-FFF2-40B4-BE49-F238E27FC236}">
                <a16:creationId xmlns:a16="http://schemas.microsoft.com/office/drawing/2014/main" id="{ADB76ECC-28C6-42CB-8FF5-1B0516005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7434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2026-07-13 · documents/operations/runbooks · Platform Reliability · control p02-full-013655 · 2026 07 13 Reliability Runbook Disaster Recovery Operations Briefing Pptx · Checkout availability SLO 99.95%</a:t>
            </a:r>
          </a:p>
        </p:txBody>
      </p:sp>
      <p:sp>
        <p:nvSpPr>
          <p:cNvPr id="4" name="grid01-anchor-strip">
            <a:extLst xmlns:a="http://schemas.openxmlformats.org/drawingml/2006/main">
              <a:ext uri="{FF2B5EF4-FFF2-40B4-BE49-F238E27FC236}">
                <a16:creationId xmlns:a16="http://schemas.microsoft.com/office/drawing/2014/main" id="{F79E951A-053A-4A54-B378-FF9CDA9DB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876925"/>
            <a:ext cx="1133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Canonical corpus anchors: Northstar Transit Cloud | Checkout SVC-17 | 2026-07-13 | error budget 2.4% | INC-260713</a:t>
            </a:r>
          </a:p>
        </p:txBody>
      </p:sp>
    </p:spTree>
    <p:extLst>
      <p:ext uri="{BB962C8B-B14F-4D97-AF65-F5344CB8AC3E}">
        <p14:creationId xmlns:p14="http://schemas.microsoft.com/office/powerpoint/2010/main" val="124230245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grid17-title">
            <a:extLst xmlns:a="http://schemas.openxmlformats.org/drawingml/2006/main">
              <a:ext uri="{FF2B5EF4-FFF2-40B4-BE49-F238E27FC236}">
                <a16:creationId xmlns:a16="http://schemas.microsoft.com/office/drawing/2014/main" id="{106F687A-7E8F-4E13-9DFA-2BC71C457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13 Reliability Runbook Disaster Recovery Operations Briefing Pptx: controls and recipients</a:t>
            </a:r>
          </a:p>
        </p:txBody>
      </p:sp>
      <p:cxnSp>
        <p:nvCxnSpPr>
          <p:cNvPr id="19" name="grid17-timeline-rule"/>
          <p:cNvCxnSpPr/>
          <p:nvPr/>
        </p:nvCxnSpPr>
        <p:spPr>
          <a:xfrm xmlns:a="http://schemas.openxmlformats.org/drawingml/2006/main">
            <a:off x="333375" y="3371850"/>
            <a:ext cx="114300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3" name="grid17-dot-09:42">
            <a:extLst xmlns:a="http://schemas.openxmlformats.org/drawingml/2006/main">
              <a:ext uri="{FF2B5EF4-FFF2-40B4-BE49-F238E27FC236}">
                <a16:creationId xmlns:a16="http://schemas.microsoft.com/office/drawing/2014/main" id="{62E2F7BC-92B8-4871-994F-46191EAEE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grid17-label-09:42">
            <a:extLst xmlns:a="http://schemas.openxmlformats.org/drawingml/2006/main">
              <a:ext uri="{FF2B5EF4-FFF2-40B4-BE49-F238E27FC236}">
                <a16:creationId xmlns:a16="http://schemas.microsoft.com/office/drawing/2014/main" id="{4774095F-D8E2-4148-939C-13C606794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09:42</a:t>
            </a:r>
          </a:p>
        </p:txBody>
      </p:sp>
      <p:sp>
        <p:nvSpPr>
          <p:cNvPr id="5" name="grid17-header-09:42">
            <a:extLst xmlns:a="http://schemas.openxmlformats.org/drawingml/2006/main">
              <a:ext uri="{FF2B5EF4-FFF2-40B4-BE49-F238E27FC236}">
                <a16:creationId xmlns:a16="http://schemas.microsoft.com/office/drawing/2014/main" id="{5DDD1AE7-72AD-4517-A3F5-4E1FAF673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Warning</a:t>
            </a:r>
          </a:p>
        </p:txBody>
      </p:sp>
      <p:sp>
        <p:nvSpPr>
          <p:cNvPr id="6" name="grid17-body-09:42">
            <a:extLst xmlns:a="http://schemas.openxmlformats.org/drawingml/2006/main">
              <a:ext uri="{FF2B5EF4-FFF2-40B4-BE49-F238E27FC236}">
                <a16:creationId xmlns:a16="http://schemas.microsoft.com/office/drawing/2014/main" id="{766A9FEE-3836-4CB6-9643-7F33F3F13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crossed 12,000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13 reliability runbook database failover metrics csv</a:t>
            </a:r>
          </a:p>
        </p:txBody>
      </p:sp>
      <p:sp>
        <p:nvSpPr>
          <p:cNvPr id="7" name="grid17-dot-10:02">
            <a:extLst xmlns:a="http://schemas.openxmlformats.org/drawingml/2006/main">
              <a:ext uri="{FF2B5EF4-FFF2-40B4-BE49-F238E27FC236}">
                <a16:creationId xmlns:a16="http://schemas.microsoft.com/office/drawing/2014/main" id="{BEC99EE6-5CE6-4256-9886-67D881786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grid17-label-10:02">
            <a:extLst xmlns:a="http://schemas.openxmlformats.org/drawingml/2006/main">
              <a:ext uri="{FF2B5EF4-FFF2-40B4-BE49-F238E27FC236}">
                <a16:creationId xmlns:a16="http://schemas.microsoft.com/office/drawing/2014/main" id="{3588C5E8-4964-45D8-AEDA-2AD820301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10:02</a:t>
            </a:r>
          </a:p>
        </p:txBody>
      </p:sp>
      <p:sp>
        <p:nvSpPr>
          <p:cNvPr id="9" name="grid17-header-10:02">
            <a:extLst xmlns:a="http://schemas.openxmlformats.org/drawingml/2006/main">
              <a:ext uri="{FF2B5EF4-FFF2-40B4-BE49-F238E27FC236}">
                <a16:creationId xmlns:a16="http://schemas.microsoft.com/office/drawing/2014/main" id="{643B6AF0-412E-4438-92F9-4F9F0BAF4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Rollback</a:t>
            </a:r>
          </a:p>
        </p:txBody>
      </p:sp>
      <p:sp>
        <p:nvSpPr>
          <p:cNvPr id="10" name="grid17-body-10:02">
            <a:extLst xmlns:a="http://schemas.openxmlformats.org/drawingml/2006/main">
              <a:ext uri="{FF2B5EF4-FFF2-40B4-BE49-F238E27FC236}">
                <a16:creationId xmlns:a16="http://schemas.microsoft.com/office/drawing/2014/main" id="{5D8C653D-0684-47F4-9DFD-262605DBD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Approval recorded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Recipient: Platform Reliability</a:t>
            </a:r>
          </a:p>
        </p:txBody>
      </p:sp>
      <p:sp>
        <p:nvSpPr>
          <p:cNvPr id="11" name="grid17-dot-10:24">
            <a:extLst xmlns:a="http://schemas.openxmlformats.org/drawingml/2006/main">
              <a:ext uri="{FF2B5EF4-FFF2-40B4-BE49-F238E27FC236}">
                <a16:creationId xmlns:a16="http://schemas.microsoft.com/office/drawing/2014/main" id="{E9DF5A35-9D18-4A9A-95BB-9E7172188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2" name="grid17-label-10:24">
            <a:extLst xmlns:a="http://schemas.openxmlformats.org/drawingml/2006/main">
              <a:ext uri="{FF2B5EF4-FFF2-40B4-BE49-F238E27FC236}">
                <a16:creationId xmlns:a16="http://schemas.microsoft.com/office/drawing/2014/main" id="{DF1F0352-2CA6-436F-9AB8-98F6CD48C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10:24</a:t>
            </a:r>
          </a:p>
        </p:txBody>
      </p:sp>
      <p:sp>
        <p:nvSpPr>
          <p:cNvPr id="13" name="grid17-header-10:24">
            <a:extLst xmlns:a="http://schemas.openxmlformats.org/drawingml/2006/main">
              <a:ext uri="{FF2B5EF4-FFF2-40B4-BE49-F238E27FC236}">
                <a16:creationId xmlns:a16="http://schemas.microsoft.com/office/drawing/2014/main" id="{B720A052-CCF6-4F5B-8C70-54B384F2F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Recovery</a:t>
            </a:r>
          </a:p>
        </p:txBody>
      </p:sp>
      <p:sp>
        <p:nvSpPr>
          <p:cNvPr id="14" name="grid17-body-10:24">
            <a:extLst xmlns:a="http://schemas.openxmlformats.org/drawingml/2006/main">
              <a:ext uri="{FF2B5EF4-FFF2-40B4-BE49-F238E27FC236}">
                <a16:creationId xmlns:a16="http://schemas.microsoft.com/office/drawing/2014/main" id="{15662BB8-5E19-4F21-880C-426F60988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below 8,000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2026-07-13 review</a:t>
            </a:r>
          </a:p>
        </p:txBody>
      </p:sp>
      <p:sp>
        <p:nvSpPr>
          <p:cNvPr id="15" name="grid17-no-kio-claim">
            <a:extLst xmlns:a="http://schemas.openxmlformats.org/drawingml/2006/main">
              <a:ext uri="{FF2B5EF4-FFF2-40B4-BE49-F238E27FC236}">
                <a16:creationId xmlns:a16="http://schemas.microsoft.com/office/drawing/2014/main" id="{E8734884-00CC-4361-BDD2-A05D743F6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58165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Corpus production and QA do not establish Kio indexing, history, chunks, search quality, or performance.</a:t>
            </a:r>
          </a:p>
        </p:txBody>
      </p:sp>
      <p:sp>
        <p:nvSpPr>
          <p:cNvPr id="16" name="grid17-control">
            <a:extLst xmlns:a="http://schemas.openxmlformats.org/drawingml/2006/main">
              <a:ext uri="{FF2B5EF4-FFF2-40B4-BE49-F238E27FC236}">
                <a16:creationId xmlns:a16="http://schemas.microsoft.com/office/drawing/2014/main" id="{DAF9878C-2DAA-4766-BEE4-852292D9B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912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Control p02-full-013655</a:t>
            </a:r>
          </a:p>
        </p:txBody>
      </p:sp>
      <p:sp>
        <p:nvSpPr>
          <p:cNvPr id="17" name="grid17-footer">
            <a:extLst xmlns:a="http://schemas.openxmlformats.org/drawingml/2006/main">
              <a:ext uri="{FF2B5EF4-FFF2-40B4-BE49-F238E27FC236}">
                <a16:creationId xmlns:a16="http://schemas.microsoft.com/office/drawing/2014/main" id="{5FEC48F9-4F05-4E8D-9537-0E75A80C5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783982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grid19-title">
            <a:extLst xmlns:a="http://schemas.openxmlformats.org/drawingml/2006/main">
              <a:ext uri="{FF2B5EF4-FFF2-40B4-BE49-F238E27FC236}">
                <a16:creationId xmlns:a16="http://schemas.microsoft.com/office/drawing/2014/main" id="{0429058B-7CD5-4096-BBF5-549FDB274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Decision metrics · p02-full-013655</a:t>
            </a:r>
          </a:p>
        </p:txBody>
      </p:sp>
      <p:sp>
        <p:nvSpPr>
          <p:cNvPr id="2" name="grid19-context">
            <a:extLst xmlns:a="http://schemas.openxmlformats.org/drawingml/2006/main">
              <a:ext uri="{FF2B5EF4-FFF2-40B4-BE49-F238E27FC236}">
                <a16:creationId xmlns:a16="http://schemas.microsoft.com/office/drawing/2014/main" id="{1AF6862B-A807-4DA2-9D31-D80D68FC0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33350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Recipients: Platform Reliability. org.ntc · term.mitigation · rel.inc260713.timeline · date.2026-07-13. Error budget 2.4% is a request-error allowance, not downtime. Checkout latency SLO: 99.0% below 400 ms.</a:t>
            </a:r>
          </a:p>
        </p:txBody>
      </p:sp>
      <p:sp>
        <p:nvSpPr>
          <p:cNvPr id="3" name="grid13-column-0">
            <a:extLst xmlns:a="http://schemas.openxmlformats.org/drawingml/2006/main">
              <a:ext uri="{FF2B5EF4-FFF2-40B4-BE49-F238E27FC236}">
                <a16:creationId xmlns:a16="http://schemas.microsoft.com/office/drawing/2014/main" id="{5303F095-8FB8-4897-93FE-049C791D0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grid13-kicker-0">
            <a:extLst xmlns:a="http://schemas.openxmlformats.org/drawingml/2006/main">
              <a:ext uri="{FF2B5EF4-FFF2-40B4-BE49-F238E27FC236}">
                <a16:creationId xmlns:a16="http://schemas.microsoft.com/office/drawing/2014/main" id="{6904B40C-604A-48C0-AE69-61E0C5465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01</a:t>
            </a:r>
          </a:p>
        </p:txBody>
      </p:sp>
      <p:sp>
        <p:nvSpPr>
          <p:cNvPr id="5" name="grid13-value-0">
            <a:extLst xmlns:a="http://schemas.openxmlformats.org/drawingml/2006/main">
              <a:ext uri="{FF2B5EF4-FFF2-40B4-BE49-F238E27FC236}">
                <a16:creationId xmlns:a16="http://schemas.microsoft.com/office/drawing/2014/main" id="{8CE1ABE8-FD55-414E-9487-78495E70B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99.95%</a:t>
            </a:r>
          </a:p>
        </p:txBody>
      </p:sp>
      <p:sp>
        <p:nvSpPr>
          <p:cNvPr id="6" name="grid13-header-0">
            <a:extLst xmlns:a="http://schemas.openxmlformats.org/drawingml/2006/main">
              <a:ext uri="{FF2B5EF4-FFF2-40B4-BE49-F238E27FC236}">
                <a16:creationId xmlns:a16="http://schemas.microsoft.com/office/drawing/2014/main" id="{666328C5-DF91-4A63-B17F-500FED1F6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Checkout availability SLO</a:t>
            </a:r>
          </a:p>
        </p:txBody>
      </p:sp>
      <p:sp>
        <p:nvSpPr>
          <p:cNvPr id="7" name="grid13-column-1">
            <a:extLst xmlns:a="http://schemas.openxmlformats.org/drawingml/2006/main">
              <a:ext uri="{FF2B5EF4-FFF2-40B4-BE49-F238E27FC236}">
                <a16:creationId xmlns:a16="http://schemas.microsoft.com/office/drawing/2014/main" id="{5C7B0621-56D4-4BD8-BCA5-3C6A06E47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8" name="grid13-field-1">
            <a:extLst xmlns:a="http://schemas.openxmlformats.org/drawingml/2006/main">
              <a:ext uri="{FF2B5EF4-FFF2-40B4-BE49-F238E27FC236}">
                <a16:creationId xmlns:a16="http://schemas.microsoft.com/office/drawing/2014/main" id="{22A41A5F-9862-4DAC-BDFC-19EA3AEFF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4095750"/>
            <a:ext cx="31623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0">
            <a:solidFill>
              <a:srgbClr val="EAF4FF"/>
            </a:solidFill>
            <a:prstDash val="solid"/>
          </a:ln>
        </p:spPr>
      </p:sp>
      <p:sp>
        <p:nvSpPr>
          <p:cNvPr id="9" name="grid13-kicker-1">
            <a:extLst xmlns:a="http://schemas.openxmlformats.org/drawingml/2006/main">
              <a:ext uri="{FF2B5EF4-FFF2-40B4-BE49-F238E27FC236}">
                <a16:creationId xmlns:a16="http://schemas.microsoft.com/office/drawing/2014/main" id="{32503642-48F5-4666-AC8E-B27AF4F96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02</a:t>
            </a:r>
          </a:p>
        </p:txBody>
      </p:sp>
      <p:sp>
        <p:nvSpPr>
          <p:cNvPr id="10" name="grid13-value-1">
            <a:extLst xmlns:a="http://schemas.openxmlformats.org/drawingml/2006/main">
              <a:ext uri="{FF2B5EF4-FFF2-40B4-BE49-F238E27FC236}">
                <a16:creationId xmlns:a16="http://schemas.microsoft.com/office/drawing/2014/main" id="{B84D47F3-AE2C-4D8A-836D-EE717CD77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1.84 s</a:t>
            </a:r>
          </a:p>
        </p:txBody>
      </p:sp>
      <p:sp>
        <p:nvSpPr>
          <p:cNvPr id="11" name="grid13-header-1">
            <a:extLst xmlns:a="http://schemas.openxmlformats.org/drawingml/2006/main">
              <a:ext uri="{FF2B5EF4-FFF2-40B4-BE49-F238E27FC236}">
                <a16:creationId xmlns:a16="http://schemas.microsoft.com/office/drawing/2014/main" id="{34E0C618-8D2C-4739-8F4D-F9B0BB45F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Peak p95</a:t>
            </a:r>
          </a:p>
        </p:txBody>
      </p:sp>
      <p:sp>
        <p:nvSpPr>
          <p:cNvPr id="12" name="grid13-column-2">
            <a:extLst xmlns:a="http://schemas.openxmlformats.org/drawingml/2006/main">
              <a:ext uri="{FF2B5EF4-FFF2-40B4-BE49-F238E27FC236}">
                <a16:creationId xmlns:a16="http://schemas.microsoft.com/office/drawing/2014/main" id="{8042D098-4391-4446-9C07-876F1F69E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3" name="grid13-field-2">
            <a:extLst xmlns:a="http://schemas.openxmlformats.org/drawingml/2006/main">
              <a:ext uri="{FF2B5EF4-FFF2-40B4-BE49-F238E27FC236}">
                <a16:creationId xmlns:a16="http://schemas.microsoft.com/office/drawing/2014/main" id="{D40573AE-4B42-479F-883D-1D8932362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095750"/>
            <a:ext cx="31623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14" name="grid13-kicker-2">
            <a:extLst xmlns:a="http://schemas.openxmlformats.org/drawingml/2006/main">
              <a:ext uri="{FF2B5EF4-FFF2-40B4-BE49-F238E27FC236}">
                <a16:creationId xmlns:a16="http://schemas.microsoft.com/office/drawing/2014/main" id="{1C84B163-FC4C-432D-B785-61B270699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03</a:t>
            </a:r>
          </a:p>
        </p:txBody>
      </p:sp>
      <p:sp>
        <p:nvSpPr>
          <p:cNvPr id="15" name="grid13-value-2">
            <a:extLst xmlns:a="http://schemas.openxmlformats.org/drawingml/2006/main">
              <a:ext uri="{FF2B5EF4-FFF2-40B4-BE49-F238E27FC236}">
                <a16:creationId xmlns:a16="http://schemas.microsoft.com/office/drawing/2014/main" id="{79953A7B-D08E-4FAB-BBC6-736E9BE0B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38,420</a:t>
            </a:r>
          </a:p>
        </p:txBody>
      </p:sp>
      <p:sp>
        <p:nvSpPr>
          <p:cNvPr id="16" name="grid13-header-2">
            <a:extLst xmlns:a="http://schemas.openxmlformats.org/drawingml/2006/main">
              <a:ext uri="{FF2B5EF4-FFF2-40B4-BE49-F238E27FC236}">
                <a16:creationId xmlns:a16="http://schemas.microsoft.com/office/drawing/2014/main" id="{F85E7368-DFCE-45EE-BFDB-97486EE30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maximum</a:t>
            </a:r>
          </a:p>
        </p:txBody>
      </p:sp>
      <p:sp>
        <p:nvSpPr>
          <p:cNvPr id="17" name="grid13-body-2">
            <a:extLst xmlns:a="http://schemas.openxmlformats.org/drawingml/2006/main">
              <a:ext uri="{FF2B5EF4-FFF2-40B4-BE49-F238E27FC236}">
                <a16:creationId xmlns:a16="http://schemas.microsoft.com/office/drawing/2014/main" id="{67A0FE93-E0CB-4EC1-B4F2-75F0B19C4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71487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jobs</a:t>
            </a:r>
          </a:p>
        </p:txBody>
      </p:sp>
      <p:sp>
        <p:nvSpPr>
          <p:cNvPr id="18" name="grid19-control">
            <a:extLst xmlns:a="http://schemas.openxmlformats.org/drawingml/2006/main">
              <a:ext uri="{FF2B5EF4-FFF2-40B4-BE49-F238E27FC236}">
                <a16:creationId xmlns:a16="http://schemas.microsoft.com/office/drawing/2014/main" id="{492A0D10-5633-4654-B722-EAD2EAF83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912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Control p02-full-013655</a:t>
            </a:r>
          </a:p>
        </p:txBody>
      </p:sp>
      <p:sp>
        <p:nvSpPr>
          <p:cNvPr id="19" name="grid19-footer">
            <a:extLst xmlns:a="http://schemas.openxmlformats.org/drawingml/2006/main">
              <a:ext uri="{FF2B5EF4-FFF2-40B4-BE49-F238E27FC236}">
                <a16:creationId xmlns:a16="http://schemas.microsoft.com/office/drawing/2014/main" id="{66384257-2B78-420B-8543-EB089CFD6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8917701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rid20-title">
            <a:extLst xmlns:a="http://schemas.openxmlformats.org/drawingml/2006/main">
              <a:ext uri="{FF2B5EF4-FFF2-40B4-BE49-F238E27FC236}">
                <a16:creationId xmlns:a16="http://schemas.microsoft.com/office/drawing/2014/main" id="{AAD75DCA-7691-422C-97A2-A94C62163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threshold decision</a:t>
            </a:r>
          </a:p>
        </p:txBody>
      </p:sp>
      <p:sp>
        <p:nvSpPr>
          <p:cNvPr id="2" name="grid20-context">
            <a:extLst xmlns:a="http://schemas.openxmlformats.org/drawingml/2006/main">
              <a:ext uri="{FF2B5EF4-FFF2-40B4-BE49-F238E27FC236}">
                <a16:creationId xmlns:a16="http://schemas.microsoft.com/office/drawing/2014/main" id="{E284E75D-2D4E-492C-BF9E-EFE6C55DF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990600"/>
            <a:ext cx="1095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13 Reliability Runbook Disaster Recovery Operations Briefing Pptx: Q-07 threshold evidence · p02-full-013655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409575" y="1619250"/>
          <a:ext xmlns:a="http://schemas.openxmlformats.org/drawingml/2006/main" cx="5124450" cy="45339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bda306d2f104d04"/>
          </a:graphicData>
        </a:graphic>
      </p:graphicFrame>
      <p:sp>
        <p:nvSpPr>
          <p:cNvPr id="4" name="grid20-queue-value-0">
            <a:extLst xmlns:a="http://schemas.openxmlformats.org/drawingml/2006/main">
              <a:ext uri="{FF2B5EF4-FFF2-40B4-BE49-F238E27FC236}">
                <a16:creationId xmlns:a16="http://schemas.microsoft.com/office/drawing/2014/main" id="{3D278B23-4051-41A7-8EC0-885616665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4514850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12,000</a:t>
            </a:r>
          </a:p>
        </p:txBody>
      </p:sp>
      <p:sp>
        <p:nvSpPr>
          <p:cNvPr id="5" name="grid20-queue-value-1">
            <a:extLst xmlns:a="http://schemas.openxmlformats.org/drawingml/2006/main">
              <a:ext uri="{FF2B5EF4-FFF2-40B4-BE49-F238E27FC236}">
                <a16:creationId xmlns:a16="http://schemas.microsoft.com/office/drawing/2014/main" id="{E109FAA9-9EC3-4D31-BCA9-9A115187A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3219450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24,000</a:t>
            </a:r>
          </a:p>
        </p:txBody>
      </p:sp>
      <p:sp>
        <p:nvSpPr>
          <p:cNvPr id="6" name="grid20-queue-value-2">
            <a:extLst xmlns:a="http://schemas.openxmlformats.org/drawingml/2006/main">
              <a:ext uri="{FF2B5EF4-FFF2-40B4-BE49-F238E27FC236}">
                <a16:creationId xmlns:a16="http://schemas.microsoft.com/office/drawing/2014/main" id="{AB8CB5CE-4909-4FDD-9C7A-315BC7D92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1685925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38,420</a:t>
            </a:r>
          </a:p>
        </p:txBody>
      </p:sp>
      <p:sp>
        <p:nvSpPr>
          <p:cNvPr id="7" name="grid20-rule-0">
            <a:extLst xmlns:a="http://schemas.openxmlformats.org/drawingml/2006/main">
              <a:ext uri="{FF2B5EF4-FFF2-40B4-BE49-F238E27FC236}">
                <a16:creationId xmlns:a16="http://schemas.microsoft.com/office/drawing/2014/main" id="{2EEFE546-4317-48DE-947C-7D13B8C92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61925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grid20-header-0">
            <a:extLst xmlns:a="http://schemas.openxmlformats.org/drawingml/2006/main">
              <a:ext uri="{FF2B5EF4-FFF2-40B4-BE49-F238E27FC236}">
                <a16:creationId xmlns:a16="http://schemas.microsoft.com/office/drawing/2014/main" id="{AD569708-3E65-4B9F-9E7E-C1431FB98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8478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Mitigation action</a:t>
            </a:r>
          </a:p>
        </p:txBody>
      </p:sp>
      <p:sp>
        <p:nvSpPr>
          <p:cNvPr id="9" name="grid20-body-0">
            <a:extLst xmlns:a="http://schemas.openxmlformats.org/drawingml/2006/main">
              <a:ext uri="{FF2B5EF4-FFF2-40B4-BE49-F238E27FC236}">
                <a16:creationId xmlns:a16="http://schemas.microsoft.com/office/drawing/2014/main" id="{0BBB32F0-5075-413C-8024-09FE54542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3431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09:54 rate limit + 10:11 concurrency increase reduced Checkout impact</a:t>
            </a:r>
          </a:p>
        </p:txBody>
      </p:sp>
      <p:sp>
        <p:nvSpPr>
          <p:cNvPr id="10" name="grid20-rule-1">
            <a:extLst xmlns:a="http://schemas.openxmlformats.org/drawingml/2006/main">
              <a:ext uri="{FF2B5EF4-FFF2-40B4-BE49-F238E27FC236}">
                <a16:creationId xmlns:a16="http://schemas.microsoft.com/office/drawing/2014/main" id="{E40795E5-C1E0-4800-8E6C-E9E5A1614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20040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1" name="grid20-header-1">
            <a:extLst xmlns:a="http://schemas.openxmlformats.org/drawingml/2006/main">
              <a:ext uri="{FF2B5EF4-FFF2-40B4-BE49-F238E27FC236}">
                <a16:creationId xmlns:a16="http://schemas.microsoft.com/office/drawing/2014/main" id="{7569E96F-C041-46E4-9AF5-F79745EF4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42900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Root-cause boundary</a:t>
            </a:r>
          </a:p>
        </p:txBody>
      </p:sp>
      <p:sp>
        <p:nvSpPr>
          <p:cNvPr id="12" name="grid20-body-1">
            <a:extLst xmlns:a="http://schemas.openxmlformats.org/drawingml/2006/main">
              <a:ext uri="{FF2B5EF4-FFF2-40B4-BE49-F238E27FC236}">
                <a16:creationId xmlns:a16="http://schemas.microsoft.com/office/drawing/2014/main" id="{D83D2CA9-FA9E-4B61-B996-6FD7007F6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2430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Mitigation did not necessarily remove the root cause</a:t>
            </a:r>
          </a:p>
        </p:txBody>
      </p:sp>
      <p:sp>
        <p:nvSpPr>
          <p:cNvPr id="13" name="grid20-rule-2">
            <a:extLst xmlns:a="http://schemas.openxmlformats.org/drawingml/2006/main">
              <a:ext uri="{FF2B5EF4-FFF2-40B4-BE49-F238E27FC236}">
                <a16:creationId xmlns:a16="http://schemas.microsoft.com/office/drawing/2014/main" id="{CB385825-8FB2-4CC6-B048-CEDC97F42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78155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4" name="grid20-header-2">
            <a:extLst xmlns:a="http://schemas.openxmlformats.org/drawingml/2006/main">
              <a:ext uri="{FF2B5EF4-FFF2-40B4-BE49-F238E27FC236}">
                <a16:creationId xmlns:a16="http://schemas.microsoft.com/office/drawing/2014/main" id="{48A8B569-8CCC-4F74-B297-BDDD25C08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0101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Root cause retained</a:t>
            </a:r>
          </a:p>
        </p:txBody>
      </p:sp>
      <p:sp>
        <p:nvSpPr>
          <p:cNvPr id="15" name="grid20-body-2">
            <a:extLst xmlns:a="http://schemas.openxmlformats.org/drawingml/2006/main">
              <a:ext uri="{FF2B5EF4-FFF2-40B4-BE49-F238E27FC236}">
                <a16:creationId xmlns:a16="http://schemas.microsoft.com/office/drawing/2014/main" id="{C6A41AC5-48D3-4996-AED4-7449579BB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5054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Removed queue-pressure guardrail</a:t>
            </a:r>
          </a:p>
        </p:txBody>
      </p:sp>
      <p:sp>
        <p:nvSpPr>
          <p:cNvPr id="16" name="grid20-footer">
            <a:extLst xmlns:a="http://schemas.openxmlformats.org/drawingml/2006/main">
              <a:ext uri="{FF2B5EF4-FFF2-40B4-BE49-F238E27FC236}">
                <a16:creationId xmlns:a16="http://schemas.microsoft.com/office/drawing/2014/main" id="{BC3C0907-3D07-47BA-A4AE-48A7F0A31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032912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2026-08-24T17:17:09.3670000Z</dcterms:created>
  <dcterms:modified xsi:type="dcterms:W3CDTF">2026-08-24T17:17:09.3670000Z</dcterms:modified>
</coreProperties>
</file>