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7241ab8ac2440a3" /><Relationship Type="http://schemas.openxmlformats.org/officeDocument/2006/relationships/extended-properties" Target="/docProps/app.xml" Id="R521f70d21bab431f" /><Relationship Type="http://schemas.openxmlformats.org/officeDocument/2006/relationships/officeDocument" Target="/ppt/presentation.xml" Id="R29d8c7f587ad476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b38a42ad8bd4db3"/>
  </p:sldMasterIdLst>
  <p:notesMasterIdLst>
    <p:notesMasterId xmlns:r="http://schemas.openxmlformats.org/officeDocument/2006/relationships" r:id="R109dec140f9e453d"/>
  </p:notesMasterIdLst>
  <p:sldIdLst>
    <p:sldId xmlns:r="http://schemas.openxmlformats.org/officeDocument/2006/relationships" id="256" r:id="Rea3a876a0e724584"/>
    <p:sldId xmlns:r="http://schemas.openxmlformats.org/officeDocument/2006/relationships" id="257" r:id="R1c71ac7724464d95"/>
    <p:sldId xmlns:r="http://schemas.openxmlformats.org/officeDocument/2006/relationships" id="258" r:id="R6ba6db1c787547de"/>
    <p:sldId xmlns:r="http://schemas.openxmlformats.org/officeDocument/2006/relationships" id="259" r:id="R955c2fbb93e34320"/>
    <p:sldId xmlns:r="http://schemas.openxmlformats.org/officeDocument/2006/relationships" id="260" r:id="R4370b8b8f40a46c7"/>
    <p:sldId xmlns:r="http://schemas.openxmlformats.org/officeDocument/2006/relationships" id="261" r:id="R6b3cca5a6106418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ccbf406e6fa48ae" /><Relationship Type="http://schemas.openxmlformats.org/officeDocument/2006/relationships/slideMaster" Target="/ppt/slideMasters/slideMaster1.xml" Id="R7b38a42ad8bd4db3" /><Relationship Type="http://schemas.openxmlformats.org/officeDocument/2006/relationships/notesMaster" Target="/ppt/notesMasters/notesMaster1.xml" Id="R109dec140f9e453d" /><Relationship Type="http://schemas.openxmlformats.org/officeDocument/2006/relationships/presProps" Target="/ppt/presProps.xml" Id="Rfc9b1f8e96b4460f" /><Relationship Type="http://schemas.openxmlformats.org/officeDocument/2006/relationships/tableStyles" Target="/ppt/tableStyles.xml" Id="Ra9521acdd0234464" /><Relationship Type="http://schemas.openxmlformats.org/officeDocument/2006/relationships/slide" Target="/ppt/slides/slide1.xml" Id="Rea3a876a0e724584" /><Relationship Type="http://schemas.openxmlformats.org/officeDocument/2006/relationships/slide" Target="/ppt/slides/slide2.xml" Id="R1c71ac7724464d95" /><Relationship Type="http://schemas.openxmlformats.org/officeDocument/2006/relationships/slide" Target="/ppt/slides/slide3.xml" Id="R6ba6db1c787547de" /><Relationship Type="http://schemas.openxmlformats.org/officeDocument/2006/relationships/slide" Target="/ppt/slides/slide4.xml" Id="R955c2fbb93e34320" /><Relationship Type="http://schemas.openxmlformats.org/officeDocument/2006/relationships/slide" Target="/ppt/slides/slide5.xml" Id="R4370b8b8f40a46c7" /><Relationship Type="http://schemas.openxmlformats.org/officeDocument/2006/relationships/slide" Target="/ppt/slides/slide6.xml" Id="R6b3cca5a6106418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e31ce693e8248f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855d18d9ff24e84" /><Relationship Type="http://schemas.openxmlformats.org/officeDocument/2006/relationships/notesMaster" Target="/ppt/notesMasters/notesMaster1.xml" Id="Re8560fd1b93f4c4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5861beb78f04005" /><Relationship Type="http://schemas.openxmlformats.org/officeDocument/2006/relationships/notesMaster" Target="/ppt/notesMasters/notesMaster1.xml" Id="Rb990cddafe6447a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480650a221c4c83" /><Relationship Type="http://schemas.openxmlformats.org/officeDocument/2006/relationships/notesMaster" Target="/ppt/notesMasters/notesMaster1.xml" Id="R29097e36777e47b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648df407411495f" /><Relationship Type="http://schemas.openxmlformats.org/officeDocument/2006/relationships/notesMaster" Target="/ppt/notesMasters/notesMaster1.xml" Id="R9460711b40af4e1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9c28fd289ed4cd1" /><Relationship Type="http://schemas.openxmlformats.org/officeDocument/2006/relationships/notesMaster" Target="/ppt/notesMasters/notesMaster1.xml" Id="Rc838de96a61946f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b17441171c74336" /><Relationship Type="http://schemas.openxmlformats.org/officeDocument/2006/relationships/notesMaster" Target="/ppt/notesMasters/notesMaster1.xml" Id="R75c5045b0e3e412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d324f534e3477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c0701477ca34fcb" /><Relationship Type="http://schemas.openxmlformats.org/officeDocument/2006/relationships/slideLayout" Target="/ppt/slideLayouts/slideLayout1.xml" Id="R93ee960fcf5446c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3ee960fcf5446c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077344464b440a" /><Relationship Type="http://schemas.openxmlformats.org/officeDocument/2006/relationships/notesSlide" Target="/ppt/notesSlides/notesSlide1.xml" Id="R9fc380afec26452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6028ea2db54405" /><Relationship Type="http://schemas.openxmlformats.org/officeDocument/2006/relationships/notesSlide" Target="/ppt/notesSlides/notesSlide2.xml" Id="R4f491329d85a47d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675ace92eb4cfa" /><Relationship Type="http://schemas.openxmlformats.org/officeDocument/2006/relationships/notesSlide" Target="/ppt/notesSlides/notesSlide3.xml" Id="R7b804a6f08cf4da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09fbed9f244021" /><Relationship Type="http://schemas.openxmlformats.org/officeDocument/2006/relationships/notesSlide" Target="/ppt/notesSlides/notesSlide4.xml" Id="Rbcaa5982d45541d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38612fe2804c8f" /><Relationship Type="http://schemas.openxmlformats.org/officeDocument/2006/relationships/notesSlide" Target="/ppt/notesSlides/notesSlide5.xml" Id="R06d8acb397b3416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966adce8344764" /><Relationship Type="http://schemas.openxmlformats.org/officeDocument/2006/relationships/notesSlide" Target="/ppt/notesSlides/notesSlide6.xml" Id="Rb2781525c8c4497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425069-2B08-44FD-B354-431282394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ADR-042 design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620A75-28C4-4B78-8DEB-F627C2ED8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8204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Approve a durable async release gate that makes the release decision recoverable and observable.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652B2B-490C-4FA1-96F0-FD604DAF4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8204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314158"/>
                </a:solidFill>
              </a:defRPr>
            </a:pPr>
            <a:r>
              <a:rPr sz="900" b="0">
                <a:solidFill>
                  <a:srgbClr val="314158"/>
                </a:solidFill>
              </a:rPr>
              <a:t>Aster Loop 株式会社 | Product Alpha R7 | 2026-07-13 | p95 184 ms | ADR-042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3295B0-94C7-43A1-A11C-C85FDD3F0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5608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A9A4F2-91FE-44A3-8C36-045AD01D2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6082"/>
                </a:solidFill>
              </a:defRPr>
            </a:pPr>
            <a:r>
              <a:rPr sz="1200" b="1">
                <a:solidFill>
                  <a:srgbClr val="156082"/>
                </a:solidFill>
              </a:rPr>
              <a:t>DECISION REQUEST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D96DCC-A1EC-452F-AF43-AB41565D0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67125"/>
            <a:ext cx="857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E2841"/>
                </a:solidFill>
              </a:defRPr>
            </a:pPr>
            <a:r>
              <a:rPr sz="1800" b="1">
                <a:solidFill>
                  <a:srgbClr val="0E2841"/>
                </a:solidFill>
              </a:rPr>
              <a:t>Approve ADR-042: persist the admission decision before publishing release events.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3A1FB7-BA99-4A1D-9F7F-35FAAF706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48577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8F1F5"/>
          </a:solidFill>
          <a:ln xmlns:a="http://schemas.openxmlformats.org/drawingml/2006/main" w="14288">
            <a:solidFill>
              <a:srgbClr val="15608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2841"/>
                </a:solidFill>
              </a:defRPr>
            </a:pPr>
            <a:r>
              <a:rPr sz="1350" b="1">
                <a:solidFill>
                  <a:srgbClr val="0E2841"/>
                </a:solidFill>
              </a:rPr>
              <a:t>Outcome: recoverable release approval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30E691-A22C-45F1-8C02-4327189D6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457700"/>
            <a:ext cx="28575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0E6"/>
          </a:solidFill>
          <a:ln xmlns:a="http://schemas.openxmlformats.org/drawingml/2006/main" w="14288">
            <a:solidFill>
              <a:srgbClr val="E9713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2841"/>
                </a:solidFill>
              </a:defRPr>
            </a:pPr>
            <a:r>
              <a:rPr sz="1350" b="1">
                <a:solidFill>
                  <a:srgbClr val="0E2841"/>
                </a:solidFill>
              </a:rPr>
              <a:t>Target: p95 184 ms</a:t>
            </a:r>
          </a:p>
        </p:txBody>
      </p:sp>
    </p:spTree>
    <p:extLst>
      <p:ext uri="{BB962C8B-B14F-4D97-AF65-F5344CB8AC3E}">
        <p14:creationId xmlns:p14="http://schemas.microsoft.com/office/powerpoint/2010/main" val="130630367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25FCA2-9A71-4042-AC83-663CC3A8A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Durable admission is the approval boundary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9661DB-7EE4-45D3-9677-AF63F0DAE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8204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A release is approved only after Decision Store admission; downstream publication cannot create approval.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DB0459-304A-40E9-B314-8FC1321BE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8204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314158"/>
                </a:solidFill>
              </a:defRPr>
            </a:pPr>
            <a:r>
              <a:rPr sz="900" b="0">
                <a:solidFill>
                  <a:srgbClr val="314158"/>
                </a:solidFill>
              </a:rPr>
              <a:t>Aster Loop 株式会社 | Product Alpha R7 | 2026-07-13 | p95 184 ms | ADR-042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E3F4D7-D386-4545-A4F8-60304B545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895725"/>
            <a:ext cx="4953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AB8C7"/>
          </a:solidFill>
          <a:ln xmlns:a="http://schemas.openxmlformats.org/drawingml/2006/main" w="0">
            <a:solidFill>
              <a:srgbClr val="9AB8C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AB635F-C7DF-44BD-BC0A-D29C8A704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895725"/>
            <a:ext cx="4953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AB8C7"/>
          </a:solidFill>
          <a:ln xmlns:a="http://schemas.openxmlformats.org/drawingml/2006/main" w="0">
            <a:solidFill>
              <a:srgbClr val="9AB8C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8B919C-790B-4FC5-991F-4583678EF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895725"/>
            <a:ext cx="4953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AB8C7"/>
          </a:solidFill>
          <a:ln xmlns:a="http://schemas.openxmlformats.org/drawingml/2006/main" w="0">
            <a:solidFill>
              <a:srgbClr val="9AB8C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629D7F-E04C-4416-A222-F848AF686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400550"/>
            <a:ext cx="0" cy="704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AB8C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190E79-8524-4668-AD32-D0D3B03A4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762500"/>
            <a:ext cx="285750" cy="3238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9AB8C7"/>
          </a:solidFill>
          <a:ln xmlns:a="http://schemas.openxmlformats.org/drawingml/2006/main" w="0">
            <a:solidFill>
              <a:srgbClr val="9AB8C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171909-3783-44E6-B6DF-3CC00EAA5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16954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8F1F5"/>
          </a:solidFill>
          <a:ln xmlns:a="http://schemas.openxmlformats.org/drawingml/2006/main" w="14288">
            <a:solidFill>
              <a:srgbClr val="15608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2841"/>
                </a:solidFill>
              </a:defRPr>
            </a:pPr>
            <a:r>
              <a:rPr sz="1350" b="1">
                <a:solidFill>
                  <a:srgbClr val="0E2841"/>
                </a:solidFill>
              </a:rPr>
              <a:t>Edge API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A432DB-2F40-4914-943D-C1B51ED1D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714750"/>
            <a:ext cx="16954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8F1F5"/>
          </a:solidFill>
          <a:ln xmlns:a="http://schemas.openxmlformats.org/drawingml/2006/main" w="14288">
            <a:solidFill>
              <a:srgbClr val="15608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2841"/>
                </a:solidFill>
              </a:defRPr>
            </a:pPr>
            <a:r>
              <a:rPr sz="1350" b="1">
                <a:solidFill>
                  <a:srgbClr val="0E2841"/>
                </a:solidFill>
              </a:rPr>
              <a:t>Release</a:t>
            </a:r>
          </a:p>
          <a:p xmlns:a="http://schemas.openxmlformats.org/drawingml/2006/main">
            <a:pPr algn="ctr">
              <a:defRPr sz="1350" b="1">
                <a:solidFill>
                  <a:srgbClr val="0E2841"/>
                </a:solidFill>
              </a:defRPr>
            </a:pPr>
            <a:r>
              <a:rPr sz="1350" b="1">
                <a:solidFill>
                  <a:srgbClr val="0E2841"/>
                </a:solidFill>
              </a:rPr>
              <a:t>Coordinator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1BD267-034D-41F9-8FF2-9BD8CA8CC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714750"/>
            <a:ext cx="16954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DF7EF"/>
          </a:solidFill>
          <a:ln xmlns:a="http://schemas.openxmlformats.org/drawingml/2006/main" w="14288">
            <a:solidFill>
              <a:srgbClr val="196B2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2841"/>
                </a:solidFill>
              </a:defRPr>
            </a:pPr>
            <a:r>
              <a:rPr sz="1350" b="1">
                <a:solidFill>
                  <a:srgbClr val="0E2841"/>
                </a:solidFill>
              </a:rPr>
              <a:t>Event Bus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97E760-86C9-406E-8C2F-225F17955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714750"/>
            <a:ext cx="16954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7FC"/>
          </a:solidFill>
          <a:ln xmlns:a="http://schemas.openxmlformats.org/drawingml/2006/main" w="14288">
            <a:solidFill>
              <a:srgbClr val="0F9ED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2841"/>
                </a:solidFill>
              </a:defRPr>
            </a:pPr>
            <a:r>
              <a:rPr sz="1350" b="1">
                <a:solidFill>
                  <a:srgbClr val="0E2841"/>
                </a:solidFill>
              </a:rPr>
              <a:t>Observability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74482F-BAD3-42F6-8120-11D4E1E0A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105400"/>
            <a:ext cx="169545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0E6"/>
          </a:solidFill>
          <a:ln xmlns:a="http://schemas.openxmlformats.org/drawingml/2006/main" w="14288">
            <a:solidFill>
              <a:srgbClr val="E9713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2841"/>
                </a:solidFill>
              </a:defRPr>
            </a:pPr>
            <a:r>
              <a:rPr sz="1350" b="1">
                <a:solidFill>
                  <a:srgbClr val="0E2841"/>
                </a:solidFill>
              </a:rPr>
              <a:t>Decision Store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45E283-EF31-4410-A29D-5F4BF2038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333750"/>
            <a:ext cx="2667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97132"/>
            </a:solidFill>
            <a:prstDash val="dash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D2985A-A407-49A5-A5C1-302D48EDA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02895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97132"/>
                </a:solidFill>
              </a:defRPr>
            </a:pPr>
            <a:r>
              <a:rPr sz="1200" b="1">
                <a:solidFill>
                  <a:srgbClr val="E97132"/>
                </a:solidFill>
              </a:rPr>
              <a:t>ADR-042 approval boundary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FECF9B-AEEE-448C-8DFF-24F6654A6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105400"/>
            <a:ext cx="3524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14158"/>
                </a:solidFill>
              </a:defRPr>
            </a:pPr>
            <a:r>
              <a:rPr sz="1200" b="0">
                <a:solidFill>
                  <a:srgbClr val="314158"/>
                </a:solidFill>
              </a:rPr>
              <a:t>Only durable admission returns APPROVED</a:t>
            </a:r>
          </a:p>
        </p:txBody>
      </p:sp>
    </p:spTree>
    <p:extLst>
      <p:ext uri="{BB962C8B-B14F-4D97-AF65-F5344CB8AC3E}">
        <p14:creationId xmlns:p14="http://schemas.microsoft.com/office/powerpoint/2010/main" val="109814927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96B6E6-5B11-4D3B-BB34-8828E1638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The p95 budget closes at 184 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AFEF29-F7E9-4F04-BA99-631BA6EB7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8204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The path protects 36 ms of reserve while keeping the approval boundary inside the target.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58F7B6-69AD-49A5-B5FA-BBFD14109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8204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314158"/>
                </a:solidFill>
              </a:defRPr>
            </a:pPr>
            <a:r>
              <a:rPr sz="900" b="0">
                <a:solidFill>
                  <a:srgbClr val="314158"/>
                </a:solidFill>
              </a:rPr>
              <a:t>Aster Loop 株式会社 | Product Alpha R7 | 2026-07-13 | p95 184 ms | ADR-042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8DA420-C3E5-4B9F-857D-4A43A1F5A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1333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608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28 ms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F548F5-4B55-4770-942B-133755B94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005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E2841"/>
                </a:solidFill>
              </a:defRPr>
            </a:pPr>
            <a:r>
              <a:rPr sz="1200" b="0">
                <a:solidFill>
                  <a:srgbClr val="0E2841"/>
                </a:solidFill>
              </a:rPr>
              <a:t>Edge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D52F7A-CA36-4DA6-ADF8-73D8918D7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714750"/>
            <a:ext cx="152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ED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32 ms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6FDFBA-4F80-4FBC-8592-D764C31F8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4005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E2841"/>
                </a:solidFill>
              </a:defRPr>
            </a:pPr>
            <a:r>
              <a:rPr sz="1200" b="0">
                <a:solidFill>
                  <a:srgbClr val="0E2841"/>
                </a:solidFill>
              </a:rPr>
              <a:t>Validation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4E03C5-7CD1-4747-B664-6DBE51127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714750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713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46 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78C65A-EAF5-4DE5-84E8-3601FE7C0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4005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E2841"/>
                </a:solidFill>
              </a:defRPr>
            </a:pPr>
            <a:r>
              <a:rPr sz="1200" b="0">
                <a:solidFill>
                  <a:srgbClr val="0E2841"/>
                </a:solidFill>
              </a:rPr>
              <a:t>Durable</a:t>
            </a:r>
          </a:p>
          <a:p xmlns:a="http://schemas.openxmlformats.org/drawingml/2006/main">
            <a:pPr algn="ctr">
              <a:defRPr sz="1200" b="0">
                <a:solidFill>
                  <a:srgbClr val="0E2841"/>
                </a:solidFill>
              </a:defRPr>
            </a:pPr>
            <a:r>
              <a:rPr sz="1200" b="0">
                <a:solidFill>
                  <a:srgbClr val="0E2841"/>
                </a:solidFill>
              </a:rPr>
              <a:t>admission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5AAE2F-2023-474C-99C9-241C4F2EC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714750"/>
            <a:ext cx="1143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6B24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24 ms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F2B41E-B66E-42BB-92E5-A04CC9B39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4005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E2841"/>
                </a:solidFill>
              </a:defRPr>
            </a:pPr>
            <a:r>
              <a:rPr sz="1200" b="0">
                <a:solidFill>
                  <a:srgbClr val="0E2841"/>
                </a:solidFill>
              </a:rPr>
              <a:t>Event</a:t>
            </a:r>
          </a:p>
          <a:p xmlns:a="http://schemas.openxmlformats.org/drawingml/2006/main">
            <a:pPr algn="ctr">
              <a:defRPr sz="1200" b="0">
                <a:solidFill>
                  <a:srgbClr val="0E2841"/>
                </a:solidFill>
              </a:defRPr>
            </a:pPr>
            <a:r>
              <a:rPr sz="1200" b="0">
                <a:solidFill>
                  <a:srgbClr val="0E2841"/>
                </a:solidFill>
              </a:rPr>
              <a:t>publish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ECEA12-B3AC-47B7-85C2-5BE6E2A7C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714750"/>
            <a:ext cx="857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02B93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18 ms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7C8205-D9A0-458F-8017-3CC321B16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8577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E2841"/>
                </a:solidFill>
              </a:defRPr>
            </a:pPr>
            <a:r>
              <a:rPr sz="1200" b="0">
                <a:solidFill>
                  <a:srgbClr val="0E2841"/>
                </a:solidFill>
              </a:rPr>
              <a:t>Observability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F536C8-4FDC-4227-B32A-67B6FEB41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714750"/>
            <a:ext cx="171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A6B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36 ms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DB6FA3-E9B3-4601-AFAF-FF245A471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4005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E2841"/>
                </a:solidFill>
              </a:defRPr>
            </a:pPr>
            <a:r>
              <a:rPr sz="1200" b="0">
                <a:solidFill>
                  <a:srgbClr val="0E2841"/>
                </a:solidFill>
              </a:rPr>
              <a:t>Reserve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E07A74-988D-4417-9176-7B4FC4F7A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528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14158"/>
                </a:solidFill>
              </a:defRPr>
            </a:pPr>
            <a:r>
              <a:rPr sz="1200" b="0">
                <a:solidFill>
                  <a:srgbClr val="314158"/>
                </a:solidFill>
              </a:rPr>
              <a:t>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1A9AF7-7FD3-4459-B652-A101FCE8E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3528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156082"/>
                </a:solidFill>
              </a:defRPr>
            </a:pPr>
            <a:r>
              <a:rPr sz="1800" b="1">
                <a:solidFill>
                  <a:srgbClr val="156082"/>
                </a:solidFill>
              </a:rPr>
              <a:t>p95 184 ms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0450E0-390E-4BD7-BFF2-131371CC4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05400"/>
            <a:ext cx="876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AB8C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987B27-0C94-426A-A00B-56B30F209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14950"/>
            <a:ext cx="876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14158"/>
                </a:solidFill>
              </a:defRPr>
            </a:pPr>
            <a:r>
              <a:rPr sz="1200" b="0">
                <a:solidFill>
                  <a:srgbClr val="314158"/>
                </a:solidFill>
              </a:rPr>
              <a:t>Each segment is allocated; reserve absorbs variance without moving the approval boundary.</a:t>
            </a:r>
          </a:p>
        </p:txBody>
      </p:sp>
    </p:spTree>
    <p:extLst>
      <p:ext uri="{BB962C8B-B14F-4D97-AF65-F5344CB8AC3E}">
        <p14:creationId xmlns:p14="http://schemas.microsoft.com/office/powerpoint/2010/main" val="24339533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D24197-4E79-42D3-AA21-E822E4540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Choose durable admission over fragile shortcuts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BA30F0-2656-4578-899A-B7E9E392C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8204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ADR-042 preserves replay safety, idempotency, and an explicit approval record.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6E0E00-8556-49B7-BF3E-AB55CA73B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8204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314158"/>
                </a:solidFill>
              </a:defRPr>
            </a:pPr>
            <a:r>
              <a:rPr sz="900" b="0">
                <a:solidFill>
                  <a:srgbClr val="314158"/>
                </a:solidFill>
              </a:rPr>
              <a:t>Aster Loop 株式会社 | Product Alpha R7 | 2026-07-13 | p95 184 ms | ADR-042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80C427-28C1-4B00-8DEC-54E6DDBCD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71850"/>
            <a:ext cx="0" cy="2019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AB8C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A526D2-970F-4B87-B3EF-D3D6CCE09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371850"/>
            <a:ext cx="0" cy="2019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AB8C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289B86-3E77-4BDE-928C-95650EAB5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371850"/>
            <a:ext cx="0" cy="2019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AB8C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C30AD1-4F0E-4E45-A316-4748C8425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480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14158"/>
                </a:solidFill>
              </a:defRPr>
            </a:pPr>
            <a:r>
              <a:rPr sz="1200" b="1">
                <a:solidFill>
                  <a:srgbClr val="314158"/>
                </a:solidFill>
              </a:rPr>
              <a:t>OPTION 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660AD9-C56F-4650-B521-B5B3F9930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0480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14158"/>
                </a:solidFill>
              </a:defRPr>
            </a:pPr>
            <a:r>
              <a:rPr sz="1200" b="1">
                <a:solidFill>
                  <a:srgbClr val="314158"/>
                </a:solidFill>
              </a:rPr>
              <a:t>OPTION 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952C6E-58F3-4277-AC2E-FF049F732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480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97132"/>
                </a:solidFill>
              </a:defRPr>
            </a:pPr>
            <a:r>
              <a:rPr sz="1200" b="1">
                <a:solidFill>
                  <a:srgbClr val="E97132"/>
                </a:solidFill>
              </a:rPr>
              <a:t>ADR-042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95BEE6-697E-44FE-9A94-7582E1EE1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480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E2841"/>
                </a:solidFill>
              </a:defRPr>
            </a:pPr>
            <a:r>
              <a:rPr sz="1800" b="1">
                <a:solidFill>
                  <a:srgbClr val="0E2841"/>
                </a:solidFill>
              </a:rPr>
              <a:t>Publish-first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9056AA-8B70-4099-B0E1-D5301D892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4480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E2841"/>
                </a:solidFill>
              </a:defRPr>
            </a:pPr>
            <a:r>
              <a:rPr sz="1800" b="1">
                <a:solidFill>
                  <a:srgbClr val="0E2841"/>
                </a:solidFill>
              </a:rPr>
              <a:t>In-memory gate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7966CE-26D1-46FF-B600-39A3BF422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44805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E2841"/>
                </a:solidFill>
              </a:defRPr>
            </a:pPr>
            <a:r>
              <a:rPr sz="1800" b="1">
                <a:solidFill>
                  <a:srgbClr val="0E2841"/>
                </a:solidFill>
              </a:rPr>
              <a:t>Durable admission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6B0369-7A8D-440D-AF88-3CF217152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62400"/>
            <a:ext cx="266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14158"/>
                </a:solidFill>
              </a:defRPr>
            </a:pPr>
            <a:r>
              <a:rPr sz="1200" b="0">
                <a:solidFill>
                  <a:srgbClr val="314158"/>
                </a:solidFill>
              </a:rPr>
              <a:t>Fast, but a replay can blur the approval record.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17EB4B-D336-42E2-B66F-96A498936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962400"/>
            <a:ext cx="266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14158"/>
                </a:solidFill>
              </a:defRPr>
            </a:pPr>
            <a:r>
              <a:rPr sz="1200" b="0">
                <a:solidFill>
                  <a:srgbClr val="314158"/>
                </a:solidFill>
              </a:rPr>
              <a:t>Simple, but process loss can lose the decision.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9FCD71-822D-49A4-B601-50B9EF1E1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62400"/>
            <a:ext cx="276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14158"/>
                </a:solidFill>
              </a:defRPr>
            </a:pPr>
            <a:r>
              <a:rPr sz="1200" b="0">
                <a:solidFill>
                  <a:srgbClr val="314158"/>
                </a:solidFill>
              </a:rPr>
              <a:t>Persist decision, then publish; replay returns the original ticket.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790F58-04E6-4280-8288-DB14EB747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57750"/>
            <a:ext cx="15240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7E8E8"/>
          </a:solidFill>
          <a:ln xmlns:a="http://schemas.openxmlformats.org/drawingml/2006/main" w="14288">
            <a:solidFill>
              <a:srgbClr val="B8545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E2841"/>
                </a:solidFill>
              </a:defRPr>
            </a:pPr>
            <a:r>
              <a:rPr sz="1200" b="1">
                <a:solidFill>
                  <a:srgbClr val="0E2841"/>
                </a:solidFill>
              </a:rPr>
              <a:t>Reject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6EB1F4-714B-4C80-8F61-C32B03074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857750"/>
            <a:ext cx="15240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7E8E8"/>
          </a:solidFill>
          <a:ln xmlns:a="http://schemas.openxmlformats.org/drawingml/2006/main" w="14288">
            <a:solidFill>
              <a:srgbClr val="B8545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E2841"/>
                </a:solidFill>
              </a:defRPr>
            </a:pPr>
            <a:r>
              <a:rPr sz="1200" b="1">
                <a:solidFill>
                  <a:srgbClr val="0E2841"/>
                </a:solidFill>
              </a:rPr>
              <a:t>Reject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B32296-C0EA-44F4-993E-F23E79B5F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857750"/>
            <a:ext cx="17145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0E6"/>
          </a:solidFill>
          <a:ln xmlns:a="http://schemas.openxmlformats.org/drawingml/2006/main" w="14288">
            <a:solidFill>
              <a:srgbClr val="E9713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E2841"/>
                </a:solidFill>
              </a:defRPr>
            </a:pPr>
            <a:r>
              <a:rPr sz="1200" b="1">
                <a:solidFill>
                  <a:srgbClr val="0E2841"/>
                </a:solidFill>
              </a:rPr>
              <a:t>APPROVE</a:t>
            </a:r>
          </a:p>
        </p:txBody>
      </p:sp>
    </p:spTree>
    <p:extLst>
      <p:ext uri="{BB962C8B-B14F-4D97-AF65-F5344CB8AC3E}">
        <p14:creationId xmlns:p14="http://schemas.microsoft.com/office/powerpoint/2010/main" val="125482727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0B8BD3-7ECE-4410-8EA1-DC78D6D58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Roll out through measurable gates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242615-7F84-45E9-A398-1C7715510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8204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Advance only when latency, error rate, and schema checks stay inside the operating envelope.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7F7C55-EB73-49B4-8382-481EF7661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8204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314158"/>
                </a:solidFill>
              </a:defRPr>
            </a:pPr>
            <a:r>
              <a:rPr sz="900" b="0">
                <a:solidFill>
                  <a:srgbClr val="314158"/>
                </a:solidFill>
              </a:rPr>
              <a:t>Aster Loop 株式会社 | Product Alpha R7 | 2026-07-13 | p95 184 ms | ADR-042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83D57F-87D9-4270-B9CD-B37B437D5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95750"/>
            <a:ext cx="714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9AB8C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1DAA72-FA34-4628-AD8C-330B377F5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85762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6082"/>
          </a:solidFill>
          <a:ln xmlns:a="http://schemas.openxmlformats.org/drawingml/2006/main" w="19050">
            <a:solidFill>
              <a:srgbClr val="15608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FA25A3-DCED-4193-B59A-41E5A6F9D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9580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2841"/>
                </a:solidFill>
              </a:defRPr>
            </a:pPr>
            <a:r>
              <a:rPr sz="1350" b="1">
                <a:solidFill>
                  <a:srgbClr val="0E2841"/>
                </a:solidFill>
              </a:rPr>
              <a:t>Shadow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C613AC-3EDA-4CE5-9C98-B5D9DF6A8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85762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1F5"/>
          </a:solidFill>
          <a:ln xmlns:a="http://schemas.openxmlformats.org/drawingml/2006/main" w="19050">
            <a:solidFill>
              <a:srgbClr val="15608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56082"/>
                </a:solidFill>
              </a:defRPr>
            </a:pPr>
            <a:r>
              <a:rPr sz="1200" b="1">
                <a:solidFill>
                  <a:srgbClr val="156082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45B03A-7EC5-4C6C-8914-145091FA4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49580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2841"/>
                </a:solidFill>
              </a:defRPr>
            </a:pPr>
            <a:r>
              <a:rPr sz="1350" b="1">
                <a:solidFill>
                  <a:srgbClr val="0E2841"/>
                </a:solidFill>
              </a:rPr>
              <a:t>10%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C46914-03AC-4493-8085-38CD00E34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85762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1F5"/>
          </a:solidFill>
          <a:ln xmlns:a="http://schemas.openxmlformats.org/drawingml/2006/main" w="19050">
            <a:solidFill>
              <a:srgbClr val="15608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56082"/>
                </a:solidFill>
              </a:defRPr>
            </a:pPr>
            <a:r>
              <a:rPr sz="1200" b="1">
                <a:solidFill>
                  <a:srgbClr val="156082"/>
                </a:solidFill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374098-0E05-40A8-9A39-918E4B392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49580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2841"/>
                </a:solidFill>
              </a:defRPr>
            </a:pPr>
            <a:r>
              <a:rPr sz="1350" b="1">
                <a:solidFill>
                  <a:srgbClr val="0E2841"/>
                </a:solidFill>
              </a:rPr>
              <a:t>50%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F05327-F05D-4AEA-B6B7-0E20D6496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85762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1F5"/>
          </a:solidFill>
          <a:ln xmlns:a="http://schemas.openxmlformats.org/drawingml/2006/main" w="19050">
            <a:solidFill>
              <a:srgbClr val="15608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56082"/>
                </a:solidFill>
              </a:defRPr>
            </a:pPr>
            <a:r>
              <a:rPr sz="1200" b="1">
                <a:solidFill>
                  <a:srgbClr val="156082"/>
                </a:solidFill>
              </a:rPr>
              <a:t>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8BA218-2D9E-435D-8319-6FAC62EB7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49580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2841"/>
                </a:solidFill>
              </a:defRPr>
            </a:pPr>
            <a:r>
              <a:rPr sz="1350" b="1">
                <a:solidFill>
                  <a:srgbClr val="0E2841"/>
                </a:solidFill>
              </a:rPr>
              <a:t>100%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69015C-70A7-4C24-A516-6168A87A6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718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6082"/>
                </a:solidFill>
              </a:defRPr>
            </a:pPr>
            <a:r>
              <a:rPr sz="1200" b="1">
                <a:solidFill>
                  <a:srgbClr val="156082"/>
                </a:solidFill>
              </a:rPr>
              <a:t>Advance gate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EE9780-6476-45F0-868E-3E108E2EC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876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14158"/>
                </a:solidFill>
              </a:defRPr>
            </a:pPr>
            <a:r>
              <a:rPr sz="1200" b="0">
                <a:solidFill>
                  <a:srgbClr val="314158"/>
                </a:solidFill>
              </a:rPr>
              <a:t>p95 ≤ 184 ms  •  errors ≤ 0.2%  •  schema mismatch = 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12DD94-8639-4564-BF83-D40313231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86350"/>
            <a:ext cx="295275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7E8E8"/>
          </a:solidFill>
          <a:ln xmlns:a="http://schemas.openxmlformats.org/drawingml/2006/main" w="14288">
            <a:solidFill>
              <a:srgbClr val="B8545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E2841"/>
                </a:solidFill>
              </a:defRPr>
            </a:pPr>
            <a:r>
              <a:rPr sz="1200" b="1">
                <a:solidFill>
                  <a:srgbClr val="0E2841"/>
                </a:solidFill>
              </a:rPr>
              <a:t>Stop / rollback on any breach</a:t>
            </a:r>
          </a:p>
        </p:txBody>
      </p:sp>
    </p:spTree>
    <p:extLst>
      <p:ext uri="{BB962C8B-B14F-4D97-AF65-F5344CB8AC3E}">
        <p14:creationId xmlns:p14="http://schemas.microsoft.com/office/powerpoint/2010/main" val="80732951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B914EA-EAB1-4C76-B15F-DB82DA692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Actions make the decision executable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67022B-17A3-4B60-9557-A23A1294F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8204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Each owner supplies the evidence needed to move Product Alpha R7 from canary to full release.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11D8BF-7EB0-48B9-8D52-321F4EF9E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8204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314158"/>
                </a:solidFill>
              </a:defRPr>
            </a:pPr>
            <a:r>
              <a:rPr sz="900" b="0">
                <a:solidFill>
                  <a:srgbClr val="314158"/>
                </a:solidFill>
              </a:rPr>
              <a:t>Aster Loop 株式会社 | Product Alpha R7 | 2026-07-13 | p95 184 ms | ADR-042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281EE9-C192-45CB-9CCB-D1C8E98C9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886200"/>
            <a:ext cx="59055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AB8C7"/>
          </a:solidFill>
          <a:ln xmlns:a="http://schemas.openxmlformats.org/drawingml/2006/main" w="0">
            <a:solidFill>
              <a:srgbClr val="9AB8C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19528D-B22F-4355-9136-0D6AE1DA1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886200"/>
            <a:ext cx="59055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AB8C7"/>
          </a:solidFill>
          <a:ln xmlns:a="http://schemas.openxmlformats.org/drawingml/2006/main" w="0">
            <a:solidFill>
              <a:srgbClr val="9AB8C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94A108-335E-4B05-8D17-ED8D1CCB8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05200"/>
            <a:ext cx="24765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8FBFC"/>
          </a:solidFill>
          <a:ln xmlns:a="http://schemas.openxmlformats.org/drawingml/2006/main" w="14288">
            <a:solidFill>
              <a:srgbClr val="15608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2841"/>
                </a:solidFill>
              </a:defRPr>
            </a:pPr>
            <a:r>
              <a:rPr sz="1350" b="1">
                <a:solidFill>
                  <a:srgbClr val="0E2841"/>
                </a:solidFill>
              </a:rPr>
              <a:t>Software Engineering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B1EFDF-047D-4778-BFBF-FC00E6985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57700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314158"/>
                </a:solidFill>
              </a:defRPr>
            </a:pPr>
            <a:r>
              <a:rPr sz="1200" b="0">
                <a:solidFill>
                  <a:srgbClr val="314158"/>
                </a:solidFill>
              </a:rPr>
              <a:t>Contract + replay tests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9E5E2B-2A3E-475E-A681-62508A943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505200"/>
            <a:ext cx="24765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8FBFC"/>
          </a:solidFill>
          <a:ln xmlns:a="http://schemas.openxmlformats.org/drawingml/2006/main" w="14288">
            <a:solidFill>
              <a:srgbClr val="0F9ED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2841"/>
                </a:solidFill>
              </a:defRPr>
            </a:pPr>
            <a:r>
              <a:rPr sz="1350" b="1">
                <a:solidFill>
                  <a:srgbClr val="0E2841"/>
                </a:solidFill>
              </a:rPr>
              <a:t>Platform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1F56A0-8915-4240-ADF0-BF82623EC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457700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314158"/>
                </a:solidFill>
              </a:defRPr>
            </a:pPr>
            <a:r>
              <a:rPr sz="1200" b="0">
                <a:solidFill>
                  <a:srgbClr val="314158"/>
                </a:solidFill>
              </a:rPr>
              <a:t>Schema guard + dashboards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D755A8-E6A4-43AE-8024-152938A4A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505200"/>
            <a:ext cx="24765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8FBFC"/>
          </a:solidFill>
          <a:ln xmlns:a="http://schemas.openxmlformats.org/drawingml/2006/main" w="14288">
            <a:solidFill>
              <a:srgbClr val="E9713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2841"/>
                </a:solidFill>
              </a:defRPr>
            </a:pPr>
            <a:r>
              <a:rPr sz="1350" b="1">
                <a:solidFill>
                  <a:srgbClr val="0E2841"/>
                </a:solidFill>
              </a:rPr>
              <a:t>Release Engineering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65674C-7FC6-4F86-85D8-3A75F8393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457700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314158"/>
                </a:solidFill>
              </a:defRPr>
            </a:pPr>
            <a:r>
              <a:rPr sz="1200" b="0">
                <a:solidFill>
                  <a:srgbClr val="314158"/>
                </a:solidFill>
              </a:rPr>
              <a:t>Canary evidence + sign-off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D4F0F5-7F12-4641-BBED-E0ECBB44A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14158"/>
                </a:solidFill>
              </a:defRPr>
            </a:pPr>
            <a:r>
              <a:rPr sz="1200" b="0">
                <a:solidFill>
                  <a:srgbClr val="314158"/>
                </a:solidFill>
              </a:rPr>
              <a:t>Done when: owner evidence is attached to the ADR-042 rollout record.</a:t>
            </a:r>
          </a:p>
        </p:txBody>
      </p:sp>
    </p:spTree>
    <p:extLst>
      <p:ext uri="{BB962C8B-B14F-4D97-AF65-F5344CB8AC3E}">
        <p14:creationId xmlns:p14="http://schemas.microsoft.com/office/powerpoint/2010/main" val="23108273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2026-08-22T14:09:52.8780000Z</dcterms:created>
  <dcterms:modified xsi:type="dcterms:W3CDTF">2026-08-22T14:09:52.8780000Z</dcterms:modified>
</coreProperties>
</file>