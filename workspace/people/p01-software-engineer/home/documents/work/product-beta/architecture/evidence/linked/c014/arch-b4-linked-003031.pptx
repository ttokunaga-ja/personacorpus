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0b9e8b7cbf48af" /><Relationship Type="http://schemas.openxmlformats.org/officeDocument/2006/relationships/extended-properties" Target="/docProps/app.xml" Id="R3a4d9421e9ef47fc" /><Relationship Type="http://schemas.openxmlformats.org/officeDocument/2006/relationships/officeDocument" Target="/ppt/presentation.xml" Id="R441579bacbd24b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e2cb876bd84aeb"/>
  </p:sldMasterIdLst>
  <p:notesMasterIdLst>
    <p:notesMasterId xmlns:r="http://schemas.openxmlformats.org/officeDocument/2006/relationships" r:id="R889170f151de4de9"/>
  </p:notesMasterIdLst>
  <p:sldIdLst>
    <p:sldId xmlns:r="http://schemas.openxmlformats.org/officeDocument/2006/relationships" id="256" r:id="Rde410e1d843048a0"/>
    <p:sldId xmlns:r="http://schemas.openxmlformats.org/officeDocument/2006/relationships" id="257" r:id="R3f965df61bfa4c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a2037e417e4b07" /><Relationship Type="http://schemas.openxmlformats.org/officeDocument/2006/relationships/slideMaster" Target="/ppt/slideMasters/slideMaster1.xml" Id="R35e2cb876bd84aeb" /><Relationship Type="http://schemas.openxmlformats.org/officeDocument/2006/relationships/notesMaster" Target="/ppt/notesMasters/notesMaster1.xml" Id="R889170f151de4de9" /><Relationship Type="http://schemas.openxmlformats.org/officeDocument/2006/relationships/presProps" Target="/ppt/presProps.xml" Id="R81ffa5f3728a4354" /><Relationship Type="http://schemas.openxmlformats.org/officeDocument/2006/relationships/tableStyles" Target="/ppt/tableStyles.xml" Id="R5d09a08eb16048f2" /><Relationship Type="http://schemas.openxmlformats.org/officeDocument/2006/relationships/slide" Target="/ppt/slides/slide1.xml" Id="Rde410e1d843048a0" /><Relationship Type="http://schemas.openxmlformats.org/officeDocument/2006/relationships/slide" Target="/ppt/slides/slide2.xml" Id="R3f965df61bfa4c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4913b251124b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e8aedf5c92491b" /><Relationship Type="http://schemas.openxmlformats.org/officeDocument/2006/relationships/notesMaster" Target="/ppt/notesMasters/notesMaster1.xml" Id="Rd0c5162689844c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fdc56dfe684f25" /><Relationship Type="http://schemas.openxmlformats.org/officeDocument/2006/relationships/notesMaster" Target="/ppt/notesMasters/notesMaster1.xml" Id="Re79cf92a3ca145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b689e1b14541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449f70851d4823" /><Relationship Type="http://schemas.openxmlformats.org/officeDocument/2006/relationships/slideLayout" Target="/ppt/slideLayouts/slideLayout1.xml" Id="R5b4e5c3e29b946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4e5c3e29b946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fd0db0ae1497a" /><Relationship Type="http://schemas.openxmlformats.org/officeDocument/2006/relationships/notesSlide" Target="/ppt/notesSlides/notesSlide1.xml" Id="R101a607e817444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5ef1d77a542fe" /><Relationship Type="http://schemas.openxmlformats.org/officeDocument/2006/relationships/notesSlide" Target="/ppt/notesSlides/notesSlide2.xml" Id="R4de2dfcc6ddc4d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0FA5E9-293F-4395-80C9-28A37569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6AA0"/>
                </a:solidFill>
              </a:defRPr>
            </a:pPr>
            <a:r>
              <a:rPr sz="1350" b="1">
                <a:solidFill>
                  <a:srgbClr val="2D6AA0"/>
                </a:solidFill>
              </a:rPr>
              <a:t>PRODUCT BETA R4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5851AA-B67E-4C90-BA73-D827A4F2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33C"/>
                </a:solidFill>
              </a:defRPr>
            </a:pPr>
            <a:r>
              <a:rPr sz="3150" b="1">
                <a:solidFill>
                  <a:srgbClr val="17233C"/>
                </a:solidFill>
              </a:rPr>
              <a:t>Architecture review keeps the design path inside the 225 ms budget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7C2CEF-88F5-4919-9031-E5B8A0E3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57A"/>
                </a:solidFill>
              </a:defRPr>
            </a:pPr>
            <a:r>
              <a:rPr sz="1500" b="0">
                <a:solidFill>
                  <a:srgbClr val="52657A"/>
                </a:solidFill>
              </a:rPr>
              <a:t>Aster Loop株式会社 (synthetic) · Review date: 2026-08-17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F6A18A-4937-4158-9083-6450427B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31242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9F2FB"/>
          </a:solidFill>
          <a:ln xmlns:a="http://schemas.openxmlformats.org/drawingml/2006/main" w="9525">
            <a:solidFill>
              <a:srgbClr val="A7BB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0FDF9B-7588-417C-9081-A735FB93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4A73"/>
                </a:solidFill>
              </a:defRPr>
            </a:pPr>
            <a:r>
              <a:rPr sz="1500" b="1">
                <a:solidFill>
                  <a:srgbClr val="214A73"/>
                </a:solidFill>
              </a:rPr>
              <a:t>Artifact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F87B8A-B69D-423F-BA6F-B7036493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p01-full-003031</a:t>
            </a:r>
          </a:p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p01-src-003031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9DBDDC-2B39-4C10-B41F-343FA600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05100"/>
            <a:ext cx="31242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6F2"/>
          </a:solidFill>
          <a:ln xmlns:a="http://schemas.openxmlformats.org/drawingml/2006/main" w="9525">
            <a:solidFill>
              <a:srgbClr val="A7BB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C6F1C5-DC5B-46FC-B2E5-EB08C8DE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575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4A73"/>
                </a:solidFill>
              </a:defRPr>
            </a:pPr>
            <a:r>
              <a:rPr sz="1500" b="1">
                <a:solidFill>
                  <a:srgbClr val="214A73"/>
                </a:solidFill>
              </a:rPr>
              <a:t>Reusable 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F2154D-25C4-47F5-9FF5-6C815DCC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28975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csv_tsv</a:t>
            </a:r>
          </a:p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beta-r4-architecture-csv-src-008834.csv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CABD3A-698C-4A52-869E-2551AF98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05100"/>
            <a:ext cx="31242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A7BB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B67AF7-06BF-41A2-B37B-2760D0B2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575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4A73"/>
                </a:solidFill>
              </a:defRPr>
            </a:pPr>
            <a:r>
              <a:rPr sz="1500" b="1">
                <a:solidFill>
                  <a:srgbClr val="214A73"/>
                </a:solidFill>
              </a:rPr>
              <a:t>Design boundary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0C9FAB-0F1D-4913-BD6E-F17F5DD4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28975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p95 budget: 225 ms</a:t>
            </a:r>
          </a:p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Review state: planned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AC929D-6E73-41E3-A958-36DBF6C4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A61"/>
                </a:solidFill>
              </a:defRPr>
            </a:pPr>
            <a:r>
              <a:rPr sz="1650" b="0">
                <a:solidFill>
                  <a:srgbClr val="334A61"/>
                </a:solidFill>
              </a:rPr>
              <a:t>The assigned structured input remains the traceable basis for review; it does not represent a measured production outcome.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8AF8AB-27AC-43BC-9917-43BEA499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7D8C"/>
                </a:solidFill>
              </a:defRPr>
            </a:pPr>
            <a:r>
              <a:rPr sz="1050" b="0">
                <a:solidFill>
                  <a:srgbClr val="6D7D8C"/>
                </a:solidFill>
              </a:rPr>
              <a:t>Product Engineering · Architecture evidence</a:t>
            </a:r>
          </a:p>
        </p:txBody>
      </p:sp>
    </p:spTree>
    <p:extLst>
      <p:ext uri="{BB962C8B-B14F-4D97-AF65-F5344CB8AC3E}">
        <p14:creationId xmlns:p14="http://schemas.microsoft.com/office/powerpoint/2010/main" val="3265549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3926B1-3EB7-44A6-8B49-A5E63320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33C"/>
                </a:solidFill>
              </a:defRPr>
            </a:pPr>
            <a:r>
              <a:rPr sz="2700" b="1">
                <a:solidFill>
                  <a:srgbClr val="17233C"/>
                </a:solidFill>
              </a:rPr>
              <a:t>Review flow connects evidence to an explicit design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BDC19A-D20E-4F80-93B3-E39A07CA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57A"/>
                </a:solidFill>
              </a:defRPr>
            </a:pPr>
            <a:r>
              <a:rPr sz="1425" b="0">
                <a:solidFill>
                  <a:srgbClr val="52657A"/>
                </a:solidFill>
              </a:rPr>
              <a:t>Product Beta R4 · 2026-08-17 · Architecture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3C86D7-6FAA-441E-9C82-689647E6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14668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8AA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B7843C-820A-411F-B8B3-22ACD0F3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A73"/>
                </a:solidFill>
              </a:defRPr>
            </a:pPr>
            <a:r>
              <a:rPr sz="1350" b="1">
                <a:solidFill>
                  <a:srgbClr val="214A73"/>
                </a:solidFill>
              </a:rPr>
              <a:t>Typed dependency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D1E037-4A4A-48AD-BD90-E6CEB5EE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A61"/>
                </a:solidFill>
              </a:defRPr>
            </a:pPr>
            <a:r>
              <a:rPr sz="1125" b="0">
                <a:solidFill>
                  <a:srgbClr val="334A61"/>
                </a:solidFill>
              </a:rPr>
              <a:t>beta-r4-architecture-csv-src-008834.csv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0CD355-E728-4748-A570-F503D6F0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480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D6AA0"/>
                </a:solidFill>
              </a:defRPr>
            </a:pPr>
            <a:r>
              <a:rPr sz="2850" b="1">
                <a:solidFill>
                  <a:srgbClr val="2D6AA0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EDC238-1646-4D01-A5B9-BD1BB404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647950"/>
            <a:ext cx="14668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8AA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BF48B2-DDD9-46C8-B6E2-CD645B0A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857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A73"/>
                </a:solidFill>
              </a:defRPr>
            </a:pPr>
            <a:r>
              <a:rPr sz="1350" b="1">
                <a:solidFill>
                  <a:srgbClr val="214A73"/>
                </a:solidFill>
              </a:rPr>
              <a:t>Architecture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E46E37-D809-462F-A6C0-A02C3B9F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A61"/>
                </a:solidFill>
              </a:defRPr>
            </a:pPr>
            <a:r>
              <a:rPr sz="1125" b="0">
                <a:solidFill>
                  <a:srgbClr val="334A61"/>
                </a:solidFill>
              </a:rPr>
              <a:t>Trace source ID and service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4DC49C-43F2-4354-9514-2817FFC9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0480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D6AA0"/>
                </a:solidFill>
              </a:defRPr>
            </a:pPr>
            <a:r>
              <a:rPr sz="2850" b="1">
                <a:solidFill>
                  <a:srgbClr val="2D6AA0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A6B5D6-B0D8-4F6A-8C50-F293C532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47950"/>
            <a:ext cx="14668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8AA7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22495E-6A89-4AE8-87A3-DB80A823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57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A73"/>
                </a:solidFill>
              </a:defRPr>
            </a:pPr>
            <a:r>
              <a:rPr sz="1350" b="1">
                <a:solidFill>
                  <a:srgbClr val="214A73"/>
                </a:solidFill>
              </a:rPr>
              <a:t>225 ms boundary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11D581-3466-4B2B-839D-230124FB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A61"/>
                </a:solidFill>
              </a:defRPr>
            </a:pPr>
            <a:r>
              <a:rPr sz="1125" b="0">
                <a:solidFill>
                  <a:srgbClr val="334A61"/>
                </a:solidFill>
              </a:rPr>
              <a:t>Compare proposed p95 with budget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97CD74-FC7E-4351-A884-89568564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D6AA0"/>
                </a:solidFill>
              </a:defRPr>
            </a:pPr>
            <a:r>
              <a:rPr sz="2850" b="1">
                <a:solidFill>
                  <a:srgbClr val="2D6AA0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ECCC1C-C8A1-4CDD-93B6-BEDE3959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647950"/>
            <a:ext cx="14668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8AA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8D058F-D239-427A-BD19-A793351A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857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A73"/>
                </a:solidFill>
              </a:defRPr>
            </a:pPr>
            <a:r>
              <a:rPr sz="1350" b="1">
                <a:solidFill>
                  <a:srgbClr val="214A73"/>
                </a:solidFill>
              </a:rPr>
              <a:t>Review 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917687-0FAA-4F9A-89CB-1464DCC5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A61"/>
                </a:solidFill>
              </a:defRPr>
            </a:pPr>
            <a:r>
              <a:rPr sz="1125" b="0">
                <a:solidFill>
                  <a:srgbClr val="334A61"/>
                </a:solidFill>
              </a:rPr>
              <a:t>Record p01-full-003031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182A35-608F-4D89-AB6A-94F93DAB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D6AA0"/>
                </a:solidFill>
              </a:defRPr>
            </a:pPr>
            <a:r>
              <a:rPr sz="1650" b="1">
                <a:solidFill>
                  <a:srgbClr val="2D6AA0"/>
                </a:solidFill>
              </a:rPr>
              <a:t>Decision posture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8C192A-AF6B-4A75-A148-7112F7F8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33C"/>
                </a:solidFill>
              </a:defRPr>
            </a:pPr>
            <a:r>
              <a:rPr sz="1800" b="0">
                <a:solidFill>
                  <a:srgbClr val="17233C"/>
                </a:solidFill>
              </a:rPr>
              <a:t>Keep the proposed path only when its review evidence is traceable to the assigned dependency and its design estimate remains at or below 225 ms.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3D5A8B-81A4-4AEA-B562-6F22980D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828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7D8C"/>
                </a:solidFill>
              </a:defRPr>
            </a:pPr>
            <a:r>
              <a:rPr sz="1050" b="0">
                <a:solidFill>
                  <a:srgbClr val="6D7D8C"/>
                </a:solidFill>
              </a:rPr>
              <a:t>Synthetic planning material — no credentials, personal data, or live-production claim</a:t>
            </a:r>
          </a:p>
        </p:txBody>
      </p:sp>
    </p:spTree>
    <p:extLst>
      <p:ext uri="{BB962C8B-B14F-4D97-AF65-F5344CB8AC3E}">
        <p14:creationId xmlns:p14="http://schemas.microsoft.com/office/powerpoint/2010/main" val="10082838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2026-08-24T02:28:38.7400000Z</dcterms:created>
  <dcterms:modified xsi:type="dcterms:W3CDTF">2026-08-24T02:28:38.7400000Z</dcterms:modified>
</coreProperties>
</file>