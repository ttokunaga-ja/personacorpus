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27a6a871e3864e24" /><Relationship Type="http://schemas.openxmlformats.org/officeDocument/2006/relationships/extended-properties" Target="/docProps/app.xml" Id="Rc77c6998e7eb4525" /><Relationship Type="http://schemas.openxmlformats.org/officeDocument/2006/relationships/officeDocument" Target="/ppt/presentation.xml" Id="R88a6c7548dad4d19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a1f289cb962d48a3"/>
  </p:sldMasterIdLst>
  <p:notesMasterIdLst>
    <p:notesMasterId xmlns:r="http://schemas.openxmlformats.org/officeDocument/2006/relationships" r:id="R227964f63de249ae"/>
  </p:notesMasterIdLst>
  <p:sldIdLst>
    <p:sldId xmlns:r="http://schemas.openxmlformats.org/officeDocument/2006/relationships" id="256" r:id="R1158f00ad1e64030"/>
    <p:sldId xmlns:r="http://schemas.openxmlformats.org/officeDocument/2006/relationships" id="257" r:id="R796f8ba5b6744910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8f8cfaffa728421a" /><Relationship Type="http://schemas.openxmlformats.org/officeDocument/2006/relationships/slideMaster" Target="/ppt/slideMasters/slideMaster1.xml" Id="Ra1f289cb962d48a3" /><Relationship Type="http://schemas.openxmlformats.org/officeDocument/2006/relationships/notesMaster" Target="/ppt/notesMasters/notesMaster1.xml" Id="R227964f63de249ae" /><Relationship Type="http://schemas.openxmlformats.org/officeDocument/2006/relationships/presProps" Target="/ppt/presProps.xml" Id="R2f9a17325fac4d93" /><Relationship Type="http://schemas.openxmlformats.org/officeDocument/2006/relationships/tableStyles" Target="/ppt/tableStyles.xml" Id="Rdba97449903b43b1" /><Relationship Type="http://schemas.openxmlformats.org/officeDocument/2006/relationships/slide" Target="/ppt/slides/slide1.xml" Id="R1158f00ad1e64030" /><Relationship Type="http://schemas.openxmlformats.org/officeDocument/2006/relationships/slide" Target="/ppt/slides/slide2.xml" Id="R796f8ba5b6744910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1a4f5798b78f4346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0c6b5e43d44b4f59" /><Relationship Type="http://schemas.openxmlformats.org/officeDocument/2006/relationships/notesMaster" Target="/ppt/notesMasters/notesMaster1.xml" Id="R4ee86988174e4d52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05257b0417ec4815" /><Relationship Type="http://schemas.openxmlformats.org/officeDocument/2006/relationships/notesMaster" Target="/ppt/notesMasters/notesMaster1.xml" Id="R2912371141214a45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0f8ecde4ec340cc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c39d5c1ee7244d07" /><Relationship Type="http://schemas.openxmlformats.org/officeDocument/2006/relationships/slideLayout" Target="/ppt/slideLayouts/slideLayout1.xml" Id="Re8674b6b585d4ea0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e8674b6b585d4ea0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bfe3ecd97cd444a" /><Relationship Type="http://schemas.openxmlformats.org/officeDocument/2006/relationships/notesSlide" Target="/ppt/notesSlides/notesSlide1.xml" Id="Rd845c724eda048dc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82084120dc1466f" /><Relationship Type="http://schemas.openxmlformats.org/officeDocument/2006/relationships/notesSlide" Target="/ppt/notesSlides/notesSlide2.xml" Id="R6886c39c98d845b1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42CC6D7-49F7-4AB2-824D-A9D8F2E1C5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38150"/>
            <a:ext cx="666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4F6475"/>
                </a:solidFill>
              </a:defRPr>
            </a:pPr>
            <a:r>
              <a:rPr sz="1200">
                <a:solidFill>
                  <a:srgbClr val="4F6475"/>
                </a:solidFill>
              </a:rPr>
              <a:t>Aster Loop | Product Alpha R7 | Contract assurance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31E81CA-6350-44EE-BF89-BB94AE6441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952500"/>
            <a:ext cx="104775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3000">
                <a:solidFill>
                  <a:srgbClr val="102E58"/>
                </a:solidFill>
              </a:defRPr>
            </a:pPr>
            <a:r>
              <a:rPr sz="3000">
                <a:solidFill>
                  <a:srgbClr val="102E58"/>
                </a:solidFill>
              </a:rPr>
              <a:t>API-A7-4375 keeps the asynchronous release gate observable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B13E0D1-9936-4923-B7A9-448BFE5E50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76400"/>
            <a:ext cx="9525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4F6475"/>
                </a:solidFill>
              </a:defRPr>
            </a:pPr>
            <a:r>
              <a:rPr sz="1350">
                <a:solidFill>
                  <a:srgbClr val="4F6475"/>
                </a:solidFill>
              </a:rPr>
              <a:t>Reviewed 2026-07-20 | Artifact p01-full-004375 | Source p01-src-004375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5E1FF98-28DC-4F4C-9F0A-4BC8EB520A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952750"/>
            <a:ext cx="2095500" cy="952500"/>
          </a:xfrm>
          <a:prstGeom xmlns:a="http://schemas.openxmlformats.org/drawingml/2006/main" prst="roundRect">
            <a:avLst>
              <a:gd name="adj" fmla="val 12000"/>
            </a:avLst>
          </a:prstGeom>
          <a:solidFill xmlns:a="http://schemas.openxmlformats.org/drawingml/2006/main">
            <a:srgbClr val="E8EEF5"/>
          </a:solidFill>
          <a:ln xmlns:a="http://schemas.openxmlformats.org/drawingml/2006/main" w="9525">
            <a:solidFill>
              <a:srgbClr val="B8C5D1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102E58"/>
                </a:solidFill>
              </a:defRPr>
            </a:pPr>
            <a:r>
              <a:rPr sz="1800" b="1">
                <a:solidFill>
                  <a:srgbClr val="102E58"/>
                </a:solidFill>
              </a:rPr>
              <a:t>Request intake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83E27E2-A6FC-4EFC-ADE8-6A1C448944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2952750"/>
            <a:ext cx="2095500" cy="952500"/>
          </a:xfrm>
          <a:prstGeom xmlns:a="http://schemas.openxmlformats.org/drawingml/2006/main" prst="roundRect">
            <a:avLst>
              <a:gd name="adj" fmla="val 12000"/>
            </a:avLst>
          </a:prstGeom>
          <a:solidFill xmlns:a="http://schemas.openxmlformats.org/drawingml/2006/main">
            <a:srgbClr val="FFF4D6"/>
          </a:solidFill>
          <a:ln xmlns:a="http://schemas.openxmlformats.org/drawingml/2006/main" w="9525">
            <a:solidFill>
              <a:srgbClr val="B8C5D1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102E58"/>
                </a:solidFill>
              </a:defRPr>
            </a:pPr>
            <a:r>
              <a:rPr sz="1800" b="1">
                <a:solidFill>
                  <a:srgbClr val="102E58"/>
                </a:solidFill>
              </a:rPr>
              <a:t>Decision gate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7A757B9-0460-4CBF-99B5-66455BA4A3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2952750"/>
            <a:ext cx="2095500" cy="952500"/>
          </a:xfrm>
          <a:prstGeom xmlns:a="http://schemas.openxmlformats.org/drawingml/2006/main" prst="roundRect">
            <a:avLst>
              <a:gd name="adj" fmla="val 12000"/>
            </a:avLst>
          </a:prstGeom>
          <a:solidFill xmlns:a="http://schemas.openxmlformats.org/drawingml/2006/main">
            <a:srgbClr val="E6F7F5"/>
          </a:solidFill>
          <a:ln xmlns:a="http://schemas.openxmlformats.org/drawingml/2006/main" w="9525">
            <a:solidFill>
              <a:srgbClr val="B8C5D1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102E58"/>
                </a:solidFill>
              </a:defRPr>
            </a:pPr>
            <a:r>
              <a:rPr sz="1800" b="1">
                <a:solidFill>
                  <a:srgbClr val="102E58"/>
                </a:solidFill>
              </a:rPr>
              <a:t>Event delivery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9BD35D3-5A17-4ECA-B1DB-FE9C9FE3B5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2952750"/>
            <a:ext cx="1619250" cy="952500"/>
          </a:xfrm>
          <a:prstGeom xmlns:a="http://schemas.openxmlformats.org/drawingml/2006/main" prst="roundRect">
            <a:avLst>
              <a:gd name="adj" fmla="val 12000"/>
            </a:avLst>
          </a:prstGeom>
          <a:solidFill xmlns:a="http://schemas.openxmlformats.org/drawingml/2006/main">
            <a:srgbClr val="E8EEF5"/>
          </a:solidFill>
          <a:ln xmlns:a="http://schemas.openxmlformats.org/drawingml/2006/main" w="9525">
            <a:solidFill>
              <a:srgbClr val="B8C5D1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102E58"/>
                </a:solidFill>
              </a:defRPr>
            </a:pPr>
            <a:r>
              <a:rPr sz="1800" b="1">
                <a:solidFill>
                  <a:srgbClr val="102E58"/>
                </a:solidFill>
              </a:rPr>
              <a:t>Evidence capture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2068C21-B8C2-426A-A5C8-BBD03D3103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3209925"/>
            <a:ext cx="762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2400">
                <a:solidFill>
                  <a:srgbClr val="007F82"/>
                </a:solidFill>
              </a:defRPr>
            </a:pPr>
            <a:r>
              <a:rPr sz="2400">
                <a:solidFill>
                  <a:srgbClr val="007F82"/>
                </a:solidFill>
              </a:rPr>
              <a:t>-&gt;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A84A3CD-7297-4320-8125-E019B2E2E7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3209925"/>
            <a:ext cx="762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2400">
                <a:solidFill>
                  <a:srgbClr val="007F82"/>
                </a:solidFill>
              </a:defRPr>
            </a:pPr>
            <a:r>
              <a:rPr sz="2400">
                <a:solidFill>
                  <a:srgbClr val="007F82"/>
                </a:solidFill>
              </a:rPr>
              <a:t>-&gt;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535B4D9-4783-45F0-8FBD-FACA8B01E8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3209925"/>
            <a:ext cx="476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2400">
                <a:solidFill>
                  <a:srgbClr val="007F82"/>
                </a:solidFill>
              </a:defRPr>
            </a:pPr>
            <a:r>
              <a:rPr sz="2400">
                <a:solidFill>
                  <a:srgbClr val="007F82"/>
                </a:solidFill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175C4F0-06D3-4868-82B2-D4B4A8F795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667250"/>
            <a:ext cx="98107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800">
                <a:solidFill>
                  <a:srgbClr val="334E68"/>
                </a:solidFill>
              </a:defRPr>
            </a:pPr>
            <a:r>
              <a:rPr sz="1800">
                <a:solidFill>
                  <a:srgbClr val="334E68"/>
                </a:solidFill>
              </a:rPr>
              <a:t>ADR-042 preserves the approval boundary; 200 ms p95 is the target and 184 ms is the accepted reference.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206D6E6-A325-49C3-B448-F16826162D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191250"/>
            <a:ext cx="8096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125">
                <a:solidFill>
                  <a:srgbClr val="4F6475"/>
                </a:solidFill>
              </a:defRPr>
            </a:pPr>
            <a:r>
              <a:rPr sz="1125">
                <a:solidFill>
                  <a:srgbClr val="4F6475"/>
                </a:solidFill>
              </a:rPr>
              <a:t>Synthetic engineering evidence only; no customer or production data.</a:t>
            </a:r>
          </a:p>
        </p:txBody>
      </p:sp>
    </p:spTree>
    <p:extLst>
      <p:ext uri="{BB962C8B-B14F-4D97-AF65-F5344CB8AC3E}">
        <p14:creationId xmlns:p14="http://schemas.microsoft.com/office/powerpoint/2010/main" val="359049443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763991B-5708-455F-8382-242EDB7AB6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7700"/>
            <a:ext cx="10572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2700">
                <a:solidFill>
                  <a:srgbClr val="102E58"/>
                </a:solidFill>
              </a:defRPr>
            </a:pPr>
            <a:r>
              <a:rPr sz="2700">
                <a:solidFill>
                  <a:srgbClr val="102E58"/>
                </a:solidFill>
              </a:rPr>
              <a:t>API-A7-4375: contract evidence is reconciled to its scope-local input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D098CEF-2408-4118-8B8E-159AFABE69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04950"/>
            <a:ext cx="2476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800">
                <a:solidFill>
                  <a:srgbClr val="007F82"/>
                </a:solidFill>
              </a:defRPr>
            </a:pPr>
            <a:r>
              <a:rPr sz="1800">
                <a:solidFill>
                  <a:srgbClr val="007F82"/>
                </a:solidFill>
              </a:rPr>
              <a:t>Evidence table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DEB41FD-C836-4350-9D84-8F9B5917AD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952625"/>
            <a:ext cx="2381250" cy="457200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102E58"/>
          </a:solidFill>
          <a:ln xmlns:a="http://schemas.openxmlformats.org/drawingml/2006/main" w="9525">
            <a:solidFill>
              <a:srgbClr val="B8C5D1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02E58"/>
                </a:solidFill>
              </a:defRPr>
            </a:pPr>
            <a:r>
              <a:rPr sz="1500" b="1">
                <a:solidFill>
                  <a:srgbClr val="102E58"/>
                </a:solidFill>
              </a:rPr>
              <a:t>Field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0E86522-0D36-4058-8D8E-BC6A9634E3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1952625"/>
            <a:ext cx="4857750" cy="457200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102E58"/>
          </a:solidFill>
          <a:ln xmlns:a="http://schemas.openxmlformats.org/drawingml/2006/main" w="9525">
            <a:solidFill>
              <a:srgbClr val="B8C5D1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02E58"/>
                </a:solidFill>
              </a:defRPr>
            </a:pPr>
            <a:r>
              <a:rPr sz="1500" b="1">
                <a:solidFill>
                  <a:srgbClr val="102E58"/>
                </a:solidFill>
              </a:rPr>
              <a:t>Value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A22450E-2080-4531-91E3-78277CCC3B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447925"/>
            <a:ext cx="2381250" cy="457200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E8EEF5"/>
          </a:solidFill>
          <a:ln xmlns:a="http://schemas.openxmlformats.org/drawingml/2006/main" w="9525">
            <a:solidFill>
              <a:srgbClr val="B8C5D1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02E58"/>
                </a:solidFill>
              </a:defRPr>
            </a:pPr>
            <a:r>
              <a:rPr sz="1350" b="1">
                <a:solidFill>
                  <a:srgbClr val="102E58"/>
                </a:solidFill>
              </a:rPr>
              <a:t>Dependency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EC5075F-1C7E-415B-9D1A-056B1067D2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2447925"/>
            <a:ext cx="4857750" cy="457200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C5D1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02E58"/>
                </a:solidFill>
              </a:defRPr>
            </a:pPr>
            <a:r>
              <a:rPr sz="1350" b="1">
                <a:solidFill>
                  <a:srgbClr val="102E58"/>
                </a:solidFill>
              </a:rPr>
              <a:t>p01-full-008741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0E51B3D-E3B8-40B0-96BE-95DB18AFB8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943225"/>
            <a:ext cx="2381250" cy="457200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E8EEF5"/>
          </a:solidFill>
          <a:ln xmlns:a="http://schemas.openxmlformats.org/drawingml/2006/main" w="9525">
            <a:solidFill>
              <a:srgbClr val="B8C5D1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02E58"/>
                </a:solidFill>
              </a:defRPr>
            </a:pPr>
            <a:r>
              <a:rPr sz="1350" b="1">
                <a:solidFill>
                  <a:srgbClr val="102E58"/>
                </a:solidFill>
              </a:rPr>
              <a:t>Release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9F91F58-B6D1-4829-9C92-6AD2E87451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2943225"/>
            <a:ext cx="4857750" cy="457200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C5D1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02E58"/>
                </a:solidFill>
              </a:defRPr>
            </a:pPr>
            <a:r>
              <a:rPr sz="1350" b="1">
                <a:solidFill>
                  <a:srgbClr val="102E58"/>
                </a:solidFill>
              </a:rPr>
              <a:t>Product Alpha R7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C4EB155-2BB0-4730-9905-D3CF038463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438525"/>
            <a:ext cx="2381250" cy="457200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E8EEF5"/>
          </a:solidFill>
          <a:ln xmlns:a="http://schemas.openxmlformats.org/drawingml/2006/main" w="9525">
            <a:solidFill>
              <a:srgbClr val="B8C5D1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02E58"/>
                </a:solidFill>
              </a:defRPr>
            </a:pPr>
            <a:r>
              <a:rPr sz="1350" b="1">
                <a:solidFill>
                  <a:srgbClr val="102E58"/>
                </a:solidFill>
              </a:rPr>
              <a:t>Review date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6377120-BF73-446A-AF6C-EC51BD1D0F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3438525"/>
            <a:ext cx="4857750" cy="457200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C5D1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02E58"/>
                </a:solidFill>
              </a:defRPr>
            </a:pPr>
            <a:r>
              <a:rPr sz="1350" b="1">
                <a:solidFill>
                  <a:srgbClr val="102E58"/>
                </a:solidFill>
              </a:rPr>
              <a:t>2026-07-20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C9666BB-EB9F-4BA3-B089-004C6F9F88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933825"/>
            <a:ext cx="2381250" cy="457200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E8EEF5"/>
          </a:solidFill>
          <a:ln xmlns:a="http://schemas.openxmlformats.org/drawingml/2006/main" w="9525">
            <a:solidFill>
              <a:srgbClr val="B8C5D1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02E58"/>
                </a:solidFill>
              </a:defRPr>
            </a:pPr>
            <a:r>
              <a:rPr sz="1350" b="1">
                <a:solidFill>
                  <a:srgbClr val="102E58"/>
                </a:solidFill>
              </a:rPr>
              <a:t>Target p95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A24D920-711E-4542-9F2F-624605C6AF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3933825"/>
            <a:ext cx="4857750" cy="457200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C5D1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02E58"/>
                </a:solidFill>
              </a:defRPr>
            </a:pPr>
            <a:r>
              <a:rPr sz="1350" b="1">
                <a:solidFill>
                  <a:srgbClr val="102E58"/>
                </a:solidFill>
              </a:rPr>
              <a:t>200 ms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5123D01-2FC4-4099-93F0-075D918E54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429125"/>
            <a:ext cx="2381250" cy="457200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E8EEF5"/>
          </a:solidFill>
          <a:ln xmlns:a="http://schemas.openxmlformats.org/drawingml/2006/main" w="9525">
            <a:solidFill>
              <a:srgbClr val="B8C5D1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02E58"/>
                </a:solidFill>
              </a:defRPr>
            </a:pPr>
            <a:r>
              <a:rPr sz="1350" b="1">
                <a:solidFill>
                  <a:srgbClr val="102E58"/>
                </a:solidFill>
              </a:rPr>
              <a:t>Reference p95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661B37D-3E0B-44DD-8364-987EED0A68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4429125"/>
            <a:ext cx="4857750" cy="457200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C5D1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02E58"/>
                </a:solidFill>
              </a:defRPr>
            </a:pPr>
            <a:r>
              <a:rPr sz="1350" b="1">
                <a:solidFill>
                  <a:srgbClr val="102E58"/>
                </a:solidFill>
              </a:rPr>
              <a:t>184 ms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179C953-ADA7-4F5B-9DA4-61FD51881C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924425"/>
            <a:ext cx="2381250" cy="457200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E8EEF5"/>
          </a:solidFill>
          <a:ln xmlns:a="http://schemas.openxmlformats.org/drawingml/2006/main" w="9525">
            <a:solidFill>
              <a:srgbClr val="B8C5D1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02E58"/>
                </a:solidFill>
              </a:defRPr>
            </a:pPr>
            <a:r>
              <a:rPr sz="1350" b="1">
                <a:solidFill>
                  <a:srgbClr val="102E58"/>
                </a:solidFill>
              </a:rPr>
              <a:t>Lifecycle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5314B8E-6F55-4B7F-B7D1-C3403F4B35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4924425"/>
            <a:ext cx="4857750" cy="457200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C5D1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02E58"/>
                </a:solidFill>
              </a:defRPr>
            </a:pPr>
            <a:r>
              <a:rPr sz="1350" b="1">
                <a:solidFill>
                  <a:srgbClr val="102E58"/>
                </a:solidFill>
              </a:rPr>
              <a:t>reviewed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8417C3A-692D-47A5-BE44-D39C28B4EE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1952625"/>
            <a:ext cx="2095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800">
                <a:solidFill>
                  <a:srgbClr val="007F82"/>
                </a:solidFill>
              </a:defRPr>
            </a:pPr>
            <a:r>
              <a:rPr sz="1800">
                <a:solidFill>
                  <a:srgbClr val="007F82"/>
                </a:solidFill>
              </a:rPr>
              <a:t>Interpretation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3896E6E-DB23-4FD3-9A3E-2B87B12EF0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2428875"/>
            <a:ext cx="2381250" cy="2000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650">
                <a:solidFill>
                  <a:srgbClr val="334E68"/>
                </a:solidFill>
              </a:defRPr>
            </a:pPr>
            <a:r>
              <a:rPr sz="1650">
                <a:solidFill>
                  <a:srgbClr val="334E68"/>
                </a:solidFill>
              </a:rPr>
              <a:t>The contract supports additive-before-removal compatibility. The evidence input and release-gate reference remain aligned without changing ADR-042.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37A39E3-C7CA-4E5E-941D-010FA68756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191250"/>
            <a:ext cx="9525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>
              <a:defRPr sz="1125">
                <a:solidFill>
                  <a:srgbClr val="4F6475"/>
                </a:solidFill>
              </a:defRPr>
            </a:pPr>
            <a:r>
              <a:rPr sz="1125">
                <a:solidFill>
                  <a:srgbClr val="4F6475"/>
                </a:solidFill>
              </a:rPr>
              <a:t>Artifact p01-full-004375 | Source p01-src-004375 | synthetic Aster Loop record</a:t>
            </a:r>
          </a:p>
        </p:txBody>
      </p:sp>
    </p:spTree>
    <p:extLst>
      <p:ext uri="{BB962C8B-B14F-4D97-AF65-F5344CB8AC3E}">
        <p14:creationId xmlns:p14="http://schemas.microsoft.com/office/powerpoint/2010/main" val="1250833267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2026-08-24T02:21:32.2300000Z</dcterms:created>
  <dcterms:modified xsi:type="dcterms:W3CDTF">2026-08-24T02:21:32.2300000Z</dcterms:modified>
</coreProperties>
</file>