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7293a506c49a0" /><Relationship Type="http://schemas.openxmlformats.org/officeDocument/2006/relationships/extended-properties" Target="/docProps/app.xml" Id="R7e0c5b51cea14fc8" /><Relationship Type="http://schemas.openxmlformats.org/officeDocument/2006/relationships/officeDocument" Target="/ppt/presentation.xml" Id="R10692c497dc7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e720d9de7143d6"/>
  </p:sldMasterIdLst>
  <p:notesMasterIdLst>
    <p:notesMasterId xmlns:r="http://schemas.openxmlformats.org/officeDocument/2006/relationships" r:id="R2120d24eada64e04"/>
  </p:notesMasterIdLst>
  <p:sldIdLst>
    <p:sldId xmlns:r="http://schemas.openxmlformats.org/officeDocument/2006/relationships" id="256" r:id="R5e295c7b506e4786"/>
    <p:sldId xmlns:r="http://schemas.openxmlformats.org/officeDocument/2006/relationships" id="257" r:id="Rcb3655ef53f84d8d"/>
    <p:sldId xmlns:r="http://schemas.openxmlformats.org/officeDocument/2006/relationships" id="258" r:id="R5b1e6cbe2d0a425a"/>
    <p:sldId xmlns:r="http://schemas.openxmlformats.org/officeDocument/2006/relationships" id="259" r:id="R24d7f3efb9de42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1e05831cf44424" /><Relationship Type="http://schemas.openxmlformats.org/officeDocument/2006/relationships/slideMaster" Target="/ppt/slideMasters/slideMaster1.xml" Id="Re8e720d9de7143d6" /><Relationship Type="http://schemas.openxmlformats.org/officeDocument/2006/relationships/notesMaster" Target="/ppt/notesMasters/notesMaster1.xml" Id="R2120d24eada64e04" /><Relationship Type="http://schemas.openxmlformats.org/officeDocument/2006/relationships/presProps" Target="/ppt/presProps.xml" Id="Rdbd2e581342c4fe2" /><Relationship Type="http://schemas.openxmlformats.org/officeDocument/2006/relationships/tableStyles" Target="/ppt/tableStyles.xml" Id="R647621947fc24791" /><Relationship Type="http://schemas.openxmlformats.org/officeDocument/2006/relationships/slide" Target="/ppt/slides/slide1.xml" Id="R5e295c7b506e4786" /><Relationship Type="http://schemas.openxmlformats.org/officeDocument/2006/relationships/slide" Target="/ppt/slides/slide2.xml" Id="Rcb3655ef53f84d8d" /><Relationship Type="http://schemas.openxmlformats.org/officeDocument/2006/relationships/slide" Target="/ppt/slides/slide3.xml" Id="R5b1e6cbe2d0a425a" /><Relationship Type="http://schemas.openxmlformats.org/officeDocument/2006/relationships/slide" Target="/ppt/slides/slide4.xml" Id="R24d7f3efb9de42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bc27a6e143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d754f17a624642" /><Relationship Type="http://schemas.openxmlformats.org/officeDocument/2006/relationships/notesMaster" Target="/ppt/notesMasters/notesMaster1.xml" Id="R0a0e4f5345af49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8c9da8b904a78" /><Relationship Type="http://schemas.openxmlformats.org/officeDocument/2006/relationships/notesMaster" Target="/ppt/notesMasters/notesMaster1.xml" Id="Re35bc6d09333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7622361914d9f" /><Relationship Type="http://schemas.openxmlformats.org/officeDocument/2006/relationships/notesMaster" Target="/ppt/notesMasters/notesMaster1.xml" Id="Re9b6996dff0c43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a2efd2e10149bd" /><Relationship Type="http://schemas.openxmlformats.org/officeDocument/2006/relationships/notesMaster" Target="/ppt/notesMasters/notesMaster1.xml" Id="Rc32ca153f30c43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44523e304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e22d8d39124cd6" /><Relationship Type="http://schemas.openxmlformats.org/officeDocument/2006/relationships/slideLayout" Target="/ppt/slideLayouts/slideLayout1.xml" Id="R0382e07ed4a6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82e07ed4a6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51d8b938b4ddf" /><Relationship Type="http://schemas.openxmlformats.org/officeDocument/2006/relationships/notesSlide" Target="/ppt/notesSlides/notesSlide1.xml" Id="Rb15ef6812e8d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7996f9a1f4e20" /><Relationship Type="http://schemas.openxmlformats.org/officeDocument/2006/relationships/notesSlide" Target="/ppt/notesSlides/notesSlide2.xml" Id="Rae7f0cd694ea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b3c5e318044f8" /><Relationship Type="http://schemas.openxmlformats.org/officeDocument/2006/relationships/notesSlide" Target="/ppt/notesSlides/notesSlide3.xml" Id="R0c60035ddd00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6127b3dfa4ed7" /><Relationship Type="http://schemas.openxmlformats.org/officeDocument/2006/relationships/notesSlide" Target="/ppt/notesSlides/notesSlide4.xml" Id="Re4fb1822e538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5BF77-1016-41FA-99B9-A0FDCEE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B546E-CA52-4702-8FA3-51EB130A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ACCOUNT ALPHA | RENEWAL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924DA-76DE-4262-A847-BD762369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AE263-292E-4F16-95D0-89FD0DEC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32055-C286-4567-8DC9-E29A0F2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0D973-B6F3-428B-9E37-0C61028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Deal desk review: retain the approved renewal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1FB66-4002-4D47-8CF1-66369512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Internal review • Account Alpha • pricing and terms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A3149-F974-402B-83D6-B7DAB0B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6C7D8-FA0C-43AF-8AB9-22831A95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APPROVED RENEWAL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FBD66-2E9C-4FCA-BD68-47F7F35B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F6BFF"/>
                </a:solidFill>
              </a:defRPr>
            </a:pPr>
            <a:r>
              <a:rPr sz="2250" b="1">
                <a:solidFill>
                  <a:srgbClr val="2F6BFF"/>
                </a:solidFill>
              </a:rPr>
              <a:t>USD 248,000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87D90-B7C0-4789-8DF1-5023D4BA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5EDDE-7544-4922-AC93-8A80198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3590D-D1B7-44C1-9FE4-704C1C4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A999"/>
                </a:solidFill>
              </a:defRPr>
            </a:pPr>
            <a:r>
              <a:rPr sz="2250" b="1">
                <a:solidFill>
                  <a:srgbClr val="18A999"/>
                </a:solidFill>
              </a:rPr>
              <a:t>18 Jul 2026 — 17 Jul 2027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FC90F-2162-4997-B744-05D14791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C2AE-A75D-4BEA-AA81-BDC8538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NEXT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8E4DA-AC5F-4AC8-9B48-E18DACB6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Signature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09BB0-13EB-4F5F-9290-0946914C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033"/>
                </a:solidFill>
              </a:defRPr>
            </a:pPr>
            <a:r>
              <a:rPr sz="1275" b="0">
                <a:solidFill>
                  <a:srgbClr val="112033"/>
                </a:solidFill>
              </a:rPr>
              <a:t>Approval decision date: 17 Jul 2026 • Term end: 17 Jul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86954-9867-4C47-9EAF-AB7B935C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FDB63-4B3E-4027-B8DB-893EA643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C7E6"/>
                </a:solidFill>
              </a:defRPr>
            </a:pPr>
            <a:r>
              <a:rPr sz="1125" b="1">
                <a:solidFill>
                  <a:srgbClr val="B8C7E6"/>
                </a:solidFill>
              </a:rPr>
              <a:t>Commercial composition: USD 210,000 platform + USD 24,000 services + USD 14,000 expansion.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D7CB9-AFA0-4135-A0E1-7E2E095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Ask: validate the USD 248,000 package, term alignment, and exception-free paper path.</a:t>
            </a:r>
          </a:p>
        </p:txBody>
      </p:sp>
    </p:spTree>
    <p:extLst>
      <p:ext uri="{BB962C8B-B14F-4D97-AF65-F5344CB8AC3E}">
        <p14:creationId xmlns:p14="http://schemas.microsoft.com/office/powerpoint/2010/main" val="922246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1E6B4-B686-48AD-B4DD-35C7D94E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ECB97-DBF1-4A24-8A93-3784A6DE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COMMERCIAL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C27A0-CA71-4328-B535-27564A2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5BD7F-9F0F-4D19-967B-492BFFDE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BC0CC-CEF2-49FA-9AF9-D79A6327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76FB7-15BD-4599-B941-AB43380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The approved total ties cleanly to three line items.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6E0C3-1954-4436-A03B-1EC7796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No discretionary discount is proposed in this working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BA0DF-9E8A-44FE-BF23-1A533C0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D2388-3AF7-4307-BD9F-AE677C2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EA00A-065C-4E8C-83C4-382DD128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USD 210,000</a:t>
            </a:r>
          </a:p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Core Northstar Cloud platform subscription.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B3F4A-74D8-4B26-9A5B-A1501764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D10D3-884C-4EA0-AB01-C1CC2BC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2F105-7EEB-4730-AC8A-D9BDB02E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USD 24,000</a:t>
            </a:r>
          </a:p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Adoption and delivery services package.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C2307-70C7-4050-A297-43DD059E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15314-F045-49C7-972F-88B5035E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Expansion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FF1BB-E23B-49E4-9060-5EB586F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USD 14,000</a:t>
            </a:r>
          </a:p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Approved expansion capacity.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C0049-275C-4147-AE8E-6104592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Check: USD 210,000 + USD 24,000 + USD 14,000 = USD 248,000.</a:t>
            </a:r>
          </a:p>
        </p:txBody>
      </p:sp>
    </p:spTree>
    <p:extLst>
      <p:ext uri="{BB962C8B-B14F-4D97-AF65-F5344CB8AC3E}">
        <p14:creationId xmlns:p14="http://schemas.microsoft.com/office/powerpoint/2010/main" val="1021376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A99C9-3D0C-48C4-AE54-6FA49000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E3A6E-747C-41BF-BB28-BA6A254A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TERM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5DEFE-CCD1-4E3E-A8DC-066619CD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F4F68-1BA5-48F9-B4FB-D9F024A2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FCA5A-FE7A-46A0-998C-854A6340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5B38A-AC23-4472-9041-E5386AD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Commercial dates must match the operating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EF626-8298-48D5-9A0B-451035B0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agreement should run continuously from the renewal start.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427D7-3EE6-4070-AFA3-A0B6B576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BD415-8953-4284-9A1F-727917B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48C50-195A-4264-A474-40BA8CE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18 Jul 2026</a:t>
            </a:r>
          </a:p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Start of renewed term.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2AA61-4389-4322-9B51-BC7C49A6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911A0-7C0D-4568-98B0-3339AC61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70B10-CE56-47CC-8CF4-3E557CEB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17 Jul 2027</a:t>
            </a:r>
          </a:p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End of twelve-month term.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717AA-C358-4E09-B588-6CFEF388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BBFC2-8BA8-41FB-9F7D-D9D2B8C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Planning horizon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696B3-0F68-45E3-B8DE-A3B99CA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Account Beta: 30 Sep 2026</a:t>
            </a:r>
          </a:p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Planning only; separate opportunity.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52532-CF9B-44F4-B5D6-6E19018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Do not blend Account Beta planning amount (USD 186,000) into Alpha renewal approval.</a:t>
            </a:r>
          </a:p>
        </p:txBody>
      </p:sp>
    </p:spTree>
    <p:extLst>
      <p:ext uri="{BB962C8B-B14F-4D97-AF65-F5344CB8AC3E}">
        <p14:creationId xmlns:p14="http://schemas.microsoft.com/office/powerpoint/2010/main" val="315384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63CC9-EB0E-42BA-8449-53E4985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23EEC-423D-41ED-A593-6A5421A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DESK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7DB40-4426-4FF5-BD72-693260F3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57846-A806-4469-A662-C92E516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2864B-9238-4013-838D-7A5E2F6A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075D0-93EF-4EA1-BEE4-2D547A9A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Approve as drafted if paper preserves the commercial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F6459-72FF-4BAC-B798-2D7EAE21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Escalate only for changes to price, scope, or the renewal term.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536C0-D2C4-4CDF-BA7C-31DB09B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D0958-6375-4F58-BE36-868D825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97185-2F96-4B06-B844-38519DF3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Amounts and term match approved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783A2-3AEA-4DAD-A373-F153D75D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86C49-BF96-47EF-97C3-EAD58AC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DB3FA-1BB5-4464-85EC-EE110392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Confirm governing attachment and services exhibit.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A8298-DC87-4747-BDF5-2FFB592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61889-8A8C-4E01-B63E-20A2A149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13EB5-BC35-4436-AA2A-AD7C023F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Any request to reprice, split term, or remove expansion.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FF659-BE28-4F19-8515-D89071F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Review audience: Deal Desk, Legal, Services Operations.</a:t>
            </a:r>
          </a:p>
        </p:txBody>
      </p:sp>
    </p:spTree>
    <p:extLst>
      <p:ext uri="{BB962C8B-B14F-4D97-AF65-F5344CB8AC3E}">
        <p14:creationId xmlns:p14="http://schemas.microsoft.com/office/powerpoint/2010/main" val="103441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2026-08-23T17:11:51.3600000Z</dcterms:created>
  <dcterms:modified xsi:type="dcterms:W3CDTF">2026-08-23T17:11:51.3600000Z</dcterms:modified>
</coreProperties>
</file>