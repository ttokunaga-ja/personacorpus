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420662b4514f75" /><Relationship Type="http://schemas.openxmlformats.org/officeDocument/2006/relationships/extended-properties" Target="/docProps/app.xml" Id="R18dc183d7d5b410a" /><Relationship Type="http://schemas.openxmlformats.org/officeDocument/2006/relationships/officeDocument" Target="/ppt/presentation.xml" Id="Rea60638ff59c46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32275223d14f2b"/>
  </p:sldMasterIdLst>
  <p:notesMasterIdLst>
    <p:notesMasterId xmlns:r="http://schemas.openxmlformats.org/officeDocument/2006/relationships" r:id="R4a962c0307ea4f3d"/>
  </p:notesMasterIdLst>
  <p:sldIdLst>
    <p:sldId xmlns:r="http://schemas.openxmlformats.org/officeDocument/2006/relationships" id="256" r:id="R2666092fffb648d3"/>
    <p:sldId xmlns:r="http://schemas.openxmlformats.org/officeDocument/2006/relationships" id="257" r:id="R7d1eeb7fb75d406d"/>
    <p:sldId xmlns:r="http://schemas.openxmlformats.org/officeDocument/2006/relationships" id="258" r:id="Rd17324bc108c47d1"/>
    <p:sldId xmlns:r="http://schemas.openxmlformats.org/officeDocument/2006/relationships" id="259" r:id="Rf7c32a7716304272"/>
    <p:sldId xmlns:r="http://schemas.openxmlformats.org/officeDocument/2006/relationships" id="260" r:id="R42b2b445827349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eac557c5ed4477" /><Relationship Type="http://schemas.openxmlformats.org/officeDocument/2006/relationships/slideMaster" Target="/ppt/slideMasters/slideMaster1.xml" Id="R6532275223d14f2b" /><Relationship Type="http://schemas.openxmlformats.org/officeDocument/2006/relationships/notesMaster" Target="/ppt/notesMasters/notesMaster1.xml" Id="R4a962c0307ea4f3d" /><Relationship Type="http://schemas.openxmlformats.org/officeDocument/2006/relationships/presProps" Target="/ppt/presProps.xml" Id="Rcc71965df65b43c5" /><Relationship Type="http://schemas.openxmlformats.org/officeDocument/2006/relationships/tableStyles" Target="/ppt/tableStyles.xml" Id="R31da30deab374bb4" /><Relationship Type="http://schemas.openxmlformats.org/officeDocument/2006/relationships/slide" Target="/ppt/slides/slide1.xml" Id="R2666092fffb648d3" /><Relationship Type="http://schemas.openxmlformats.org/officeDocument/2006/relationships/slide" Target="/ppt/slides/slide2.xml" Id="R7d1eeb7fb75d406d" /><Relationship Type="http://schemas.openxmlformats.org/officeDocument/2006/relationships/slide" Target="/ppt/slides/slide3.xml" Id="Rd17324bc108c47d1" /><Relationship Type="http://schemas.openxmlformats.org/officeDocument/2006/relationships/slide" Target="/ppt/slides/slide4.xml" Id="Rf7c32a7716304272" /><Relationship Type="http://schemas.openxmlformats.org/officeDocument/2006/relationships/slide" Target="/ppt/slides/slide5.xml" Id="R42b2b445827349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5fc7c8388b4f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e5ef119c334866" /><Relationship Type="http://schemas.openxmlformats.org/officeDocument/2006/relationships/notesMaster" Target="/ppt/notesMasters/notesMaster1.xml" Id="R4a6b1cdd8adf43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199d995f7643ad" /><Relationship Type="http://schemas.openxmlformats.org/officeDocument/2006/relationships/notesMaster" Target="/ppt/notesMasters/notesMaster1.xml" Id="R930a6baa6e7b44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3f1c0016aa43c5" /><Relationship Type="http://schemas.openxmlformats.org/officeDocument/2006/relationships/notesMaster" Target="/ppt/notesMasters/notesMaster1.xml" Id="Rfc2e1df2dfdd49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7ca9d2ddee478c" /><Relationship Type="http://schemas.openxmlformats.org/officeDocument/2006/relationships/notesMaster" Target="/ppt/notesMasters/notesMaster1.xml" Id="R44eeab966ce441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b5864aa5264b10" /><Relationship Type="http://schemas.openxmlformats.org/officeDocument/2006/relationships/notesMaster" Target="/ppt/notesMasters/notesMaster1.xml" Id="R437ef144260c4f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a3705dbb2447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ac68d561c8480a" /><Relationship Type="http://schemas.openxmlformats.org/officeDocument/2006/relationships/slideLayout" Target="/ppt/slideLayouts/slideLayout1.xml" Id="R1c42ccd598cf4f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42ccd598cf4f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f834c8cb8445a2" /><Relationship Type="http://schemas.openxmlformats.org/officeDocument/2006/relationships/notesSlide" Target="/ppt/notesSlides/notesSlide1.xml" Id="R3a8e24c1f7c849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ede26b749b491b" /><Relationship Type="http://schemas.openxmlformats.org/officeDocument/2006/relationships/notesSlide" Target="/ppt/notesSlides/notesSlide2.xml" Id="Rc0058d2ec46644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0ead18fccf44bd" /><Relationship Type="http://schemas.openxmlformats.org/officeDocument/2006/relationships/notesSlide" Target="/ppt/notesSlides/notesSlide3.xml" Id="R648b70c875f84d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db29614f24efb" /><Relationship Type="http://schemas.openxmlformats.org/officeDocument/2006/relationships/notesSlide" Target="/ppt/notesSlides/notesSlide4.xml" Id="R0ad44894233345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4d2c2e3c494622" /><Relationship Type="http://schemas.openxmlformats.org/officeDocument/2006/relationships/notesSlide" Target="/ppt/notesSlides/notesSlide5.xml" Id="Rcda04964d7a44d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43B5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8DCAB0-1CB6-41BD-8A6F-3825FFB6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8A8"/>
          </a:solidFill>
          <a:ln xmlns:a="http://schemas.openxmlformats.org/drawingml/2006/main" w="0">
            <a:solidFill>
              <a:srgbClr val="3E78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A7FE28-602C-407E-8AD5-5D29908B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57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C5E8"/>
                </a:solidFill>
              </a:defRPr>
            </a:pPr>
            <a:r>
              <a:rPr sz="1200" b="1">
                <a:solidFill>
                  <a:srgbClr val="9FC5E8"/>
                </a:solidFill>
              </a:rPr>
              <a:t>ACCOUNT ALPHA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8F45F0-4B14-4959-9109-93C8D538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857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Procurement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53FFD-C545-4282-951E-C9117BF7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66975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9E2EC"/>
                </a:solidFill>
              </a:defRPr>
            </a:pPr>
            <a:r>
              <a:rPr sz="2025" b="0">
                <a:solidFill>
                  <a:srgbClr val="D9E2EC"/>
                </a:solidFill>
              </a:rPr>
              <a:t>Customer-supplied meeting agenda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891072-B599-46C7-AAE6-96DE8A81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476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8A8"/>
          </a:solidFill>
          <a:ln xmlns:a="http://schemas.openxmlformats.org/drawingml/2006/main" w="0">
            <a:solidFill>
              <a:srgbClr val="3E78A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5D91C8-7DE2-4455-B11F-14052707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C5E8"/>
                </a:solidFill>
              </a:defRPr>
            </a:pPr>
            <a:r>
              <a:rPr sz="1125" b="1">
                <a:solidFill>
                  <a:srgbClr val="9FC5E8"/>
                </a:solidFill>
              </a:rPr>
              <a:t>17 JULY 2026  |  NORTHSTAR CLOUD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03102D-4EE9-4DD7-A920-AA6B0D65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Working total: USD 248,000</a:t>
            </a:r>
          </a:p>
        </p:txBody>
      </p:sp>
    </p:spTree>
    <p:extLst>
      <p:ext uri="{BB962C8B-B14F-4D97-AF65-F5344CB8AC3E}">
        <p14:creationId xmlns:p14="http://schemas.microsoft.com/office/powerpoint/2010/main" val="15850772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817862-92B8-4656-A5EA-291D7570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8A8"/>
          </a:solidFill>
          <a:ln xmlns:a="http://schemas.openxmlformats.org/drawingml/2006/main" w="0">
            <a:solidFill>
              <a:srgbClr val="3E78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67AB3-CAB8-4617-AD4E-AE08EBB3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78A8"/>
                </a:solidFill>
              </a:defRPr>
            </a:pPr>
            <a:r>
              <a:rPr sz="1050" b="1">
                <a:solidFill>
                  <a:srgbClr val="3E78A8"/>
                </a:solidFill>
              </a:rPr>
              <a:t>ACCOUNT ALPHA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3AF5C-BE7F-4F34-BA5A-D0F02958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3B53"/>
                </a:solidFill>
              </a:defRPr>
            </a:pPr>
            <a:r>
              <a:rPr sz="2700" b="1">
                <a:solidFill>
                  <a:srgbClr val="243B53"/>
                </a:solidFill>
              </a:rPr>
              <a:t>Meeting objectives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F7E7CD-4A5D-4503-BF04-6E4B8837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</a:defRPr>
            </a:pPr>
            <a:r>
              <a:rPr sz="975" b="0">
                <a:solidFill>
                  <a:srgbClr val="52606D"/>
                </a:solidFill>
              </a:rPr>
              <a:t>Customer-supplied agenda | 17 July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72BD1B-366C-41F1-B36D-5F763890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06D"/>
                </a:solidFill>
              </a:defRPr>
            </a:pPr>
            <a:r>
              <a:rPr sz="1050" b="1">
                <a:solidFill>
                  <a:srgbClr val="52606D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B4893A-B1E3-4490-AC1C-01EFE9E6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3E78A8"/>
          </a:solidFill>
          <a:ln xmlns:a="http://schemas.openxmlformats.org/drawingml/2006/main" w="0">
            <a:solidFill>
              <a:srgbClr val="3E78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E4D594-2322-498C-A5A5-8062D897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D78612-6281-4E86-8618-476ED4C8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6383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B53"/>
                </a:solidFill>
              </a:defRPr>
            </a:pPr>
            <a:r>
              <a:rPr sz="1875" b="1">
                <a:solidFill>
                  <a:srgbClr val="243B53"/>
                </a:solidFill>
              </a:rPr>
              <a:t>Align the commercial package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2175F2-BC17-48FD-9563-CB08EECE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193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Confirm the approved USD 248,000 working total.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2CC199-C638-4482-BE14-BFE16DC8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1460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DFABEA-1E0E-48CC-AC27-EE20BF87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3E78A8"/>
          </a:solidFill>
          <a:ln xmlns:a="http://schemas.openxmlformats.org/drawingml/2006/main" w="0">
            <a:solidFill>
              <a:srgbClr val="3E78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C46205-096C-4DE4-ABA9-2730A58D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FC9F85-E47C-48C6-9E8B-93D27D59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718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B53"/>
                </a:solidFill>
              </a:defRPr>
            </a:pPr>
            <a:r>
              <a:rPr sz="1875" b="1">
                <a:solidFill>
                  <a:srgbClr val="243B53"/>
                </a:solidFill>
              </a:rPr>
              <a:t>Close clarification items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D7B82B-B28D-48E1-A1AF-028500A3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528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Resolve scope and procurement-routing questions.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913EF2-5DBF-4DE4-B128-31C8C62B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4810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898A84-4631-4C4B-9CF5-577E53AF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3E78A8"/>
          </a:solidFill>
          <a:ln xmlns:a="http://schemas.openxmlformats.org/drawingml/2006/main" w="0">
            <a:solidFill>
              <a:srgbClr val="3E78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6B40D4-B4C9-422F-AA12-1542D6EB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6EC6E6-E81C-4538-A02D-294DD60B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053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B53"/>
                </a:solidFill>
              </a:defRPr>
            </a:pPr>
            <a:r>
              <a:rPr sz="1875" b="1">
                <a:solidFill>
                  <a:srgbClr val="243B53"/>
                </a:solidFill>
              </a:rPr>
              <a:t>Set the legal review path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ACB88F-A911-4CD0-97A9-8B91136A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863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Confirm standard redline review and next owners.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8D5983-E32C-40F1-B434-5CE8AF27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18160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772439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FBEC6B-16C0-4121-854B-5D589C4B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8A8"/>
          </a:solidFill>
          <a:ln xmlns:a="http://schemas.openxmlformats.org/drawingml/2006/main" w="0">
            <a:solidFill>
              <a:srgbClr val="3E78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2A4985-98C3-4891-8944-CF778083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78A8"/>
                </a:solidFill>
              </a:defRPr>
            </a:pPr>
            <a:r>
              <a:rPr sz="1050" b="1">
                <a:solidFill>
                  <a:srgbClr val="3E78A8"/>
                </a:solidFill>
              </a:rPr>
              <a:t>ACCOUNT ALPHA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265314-F97F-4551-A422-0CA108E4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3B53"/>
                </a:solidFill>
              </a:defRPr>
            </a:pPr>
            <a:r>
              <a:rPr sz="2700" b="1">
                <a:solidFill>
                  <a:srgbClr val="243B53"/>
                </a:solidFill>
              </a:rPr>
              <a:t>Discussion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B9E33B-F2F4-4815-BE38-C6D68CE8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</a:defRPr>
            </a:pPr>
            <a:r>
              <a:rPr sz="975" b="0">
                <a:solidFill>
                  <a:srgbClr val="52606D"/>
                </a:solidFill>
              </a:rPr>
              <a:t>Customer-supplied agenda | 17 July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F6B65-5558-49FD-B8D7-F2F27E51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06D"/>
                </a:solidFill>
              </a:defRPr>
            </a:pPr>
            <a:r>
              <a:rPr sz="1050" b="1">
                <a:solidFill>
                  <a:srgbClr val="52606D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DE0835-780C-4C0E-9530-CCCB67BF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7162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E78A8"/>
                </a:solidFill>
              </a:defRPr>
            </a:pPr>
            <a:r>
              <a:rPr sz="1800" b="1">
                <a:solidFill>
                  <a:srgbClr val="3E78A8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16E969-CA37-42BB-B4E1-65290F8E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57162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B53"/>
                </a:solidFill>
              </a:defRPr>
            </a:pPr>
            <a:r>
              <a:rPr sz="1875" b="1">
                <a:solidFill>
                  <a:srgbClr val="243B53"/>
                </a:solidFill>
              </a:rPr>
              <a:t>Commercial 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6547B7-A6D9-4E8F-B64B-0BAC10B7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097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10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99788B-4D4F-4BB0-B641-8D698754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095500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8AA665-3AFB-4A72-B481-50CA16FD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8602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E78A8"/>
                </a:solidFill>
              </a:defRPr>
            </a:pPr>
            <a:r>
              <a:rPr sz="1800" b="1">
                <a:solidFill>
                  <a:srgbClr val="3E78A8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85132E-1A1E-4626-8BB1-C285391B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8602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B53"/>
                </a:solidFill>
              </a:defRPr>
            </a:pPr>
            <a:r>
              <a:rPr sz="1875" b="1">
                <a:solidFill>
                  <a:srgbClr val="243B53"/>
                </a:solidFill>
              </a:rPr>
              <a:t>RFP clarification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6410E3-3C48-47EA-9F40-85CEC2C5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241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15 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C0A962-E170-4A56-AF1B-67203231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009900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5777FA-666E-465C-B7A8-F21D3672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042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E78A8"/>
                </a:solidFill>
              </a:defRPr>
            </a:pPr>
            <a:r>
              <a:rPr sz="1800" b="1">
                <a:solidFill>
                  <a:srgbClr val="3E78A8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D618C8-0E4B-4E34-825A-D330B1C6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40042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B53"/>
                </a:solidFill>
              </a:defRPr>
            </a:pPr>
            <a:r>
              <a:rPr sz="1875" b="1">
                <a:solidFill>
                  <a:srgbClr val="243B53"/>
                </a:solidFill>
              </a:rPr>
              <a:t>Legal comments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081A12-AD10-41A4-B20F-85539513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385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15 min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52D83A-4DE9-4689-94D8-03C17AC2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924300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5D7001-8C29-4E2D-9BE2-15E754B2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1482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E78A8"/>
                </a:solidFill>
              </a:defRPr>
            </a:pPr>
            <a:r>
              <a:rPr sz="1800" b="1">
                <a:solidFill>
                  <a:srgbClr val="3E78A8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B949DB-33B9-482A-B5B4-C43776AD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1482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B53"/>
                </a:solidFill>
              </a:defRPr>
            </a:pPr>
            <a:r>
              <a:rPr sz="1875" b="1">
                <a:solidFill>
                  <a:srgbClr val="243B53"/>
                </a:solidFill>
              </a:rPr>
              <a:t>Decisions and owners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1F03A9-C007-4612-AEC7-61CCDBA1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529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10 min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CC68D5-705C-49A9-89D3-AB53447F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38700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5B7BCF-E50F-400A-9B33-70FF51CD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E78A8"/>
                </a:solidFill>
              </a:defRPr>
            </a:pPr>
            <a:r>
              <a:rPr sz="1575" b="1">
                <a:solidFill>
                  <a:srgbClr val="3E78A8"/>
                </a:solidFill>
              </a:rPr>
              <a:t>Target decision date: 24 July 2026</a:t>
            </a:r>
          </a:p>
        </p:txBody>
      </p:sp>
    </p:spTree>
    <p:extLst>
      <p:ext uri="{BB962C8B-B14F-4D97-AF65-F5344CB8AC3E}">
        <p14:creationId xmlns:p14="http://schemas.microsoft.com/office/powerpoint/2010/main" val="1725256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9E487E-274A-457D-9A99-F2039B13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8A8"/>
          </a:solidFill>
          <a:ln xmlns:a="http://schemas.openxmlformats.org/drawingml/2006/main" w="0">
            <a:solidFill>
              <a:srgbClr val="3E78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F4DBD-F6F1-4C52-829E-F8682A12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78A8"/>
                </a:solidFill>
              </a:defRPr>
            </a:pPr>
            <a:r>
              <a:rPr sz="1050" b="1">
                <a:solidFill>
                  <a:srgbClr val="3E78A8"/>
                </a:solidFill>
              </a:rPr>
              <a:t>ACCOUNT ALPHA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30B825-22A9-4CFB-AFFB-76B981EC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3B53"/>
                </a:solidFill>
              </a:defRPr>
            </a:pPr>
            <a:r>
              <a:rPr sz="2700" b="1">
                <a:solidFill>
                  <a:srgbClr val="243B53"/>
                </a:solidFill>
              </a:rPr>
              <a:t>Commercial package for confirmation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DC253A-B945-45A3-B571-FD899864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</a:defRPr>
            </a:pPr>
            <a:r>
              <a:rPr sz="975" b="0">
                <a:solidFill>
                  <a:srgbClr val="52606D"/>
                </a:solidFill>
              </a:rPr>
              <a:t>Customer-supplied agenda | 17 July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060109-2599-4543-A805-695684DC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06D"/>
                </a:solidFill>
              </a:defRPr>
            </a:pPr>
            <a:r>
              <a:rPr sz="1050" b="1">
                <a:solidFill>
                  <a:srgbClr val="52606D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18BAC0-78C2-4A0C-B889-A1A51025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06D"/>
                </a:solidFill>
              </a:defRPr>
            </a:pPr>
            <a:r>
              <a:rPr sz="1800" b="0">
                <a:solidFill>
                  <a:srgbClr val="52606D"/>
                </a:solidFill>
              </a:rPr>
              <a:t>Approved working total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644F8A-84C9-4C81-A899-CBCC5B9D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43B53"/>
                </a:solidFill>
              </a:defRPr>
            </a:pPr>
            <a:r>
              <a:rPr sz="3750" b="1">
                <a:solidFill>
                  <a:srgbClr val="243B53"/>
                </a:solidFill>
              </a:rPr>
              <a:t>USD 248,000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75F3EF-9DE2-4E04-94C4-EC6D00F6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Subscription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9C016E-55C9-4A25-9454-6DA04190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333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243B53"/>
                </a:solidFill>
              </a:defRPr>
            </a:pPr>
            <a:r>
              <a:rPr sz="1575" b="1">
                <a:solidFill>
                  <a:srgbClr val="243B53"/>
                </a:solidFill>
              </a:rPr>
              <a:t>USD 210,000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7CF719-6845-44BB-9DE4-7D0402A3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985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C1458B-2D1E-4A09-91EB-C8B3ECA4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Implementation support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C53DBC-E1F1-4FA4-9E83-A87DDCFE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9433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243B53"/>
                </a:solidFill>
              </a:defRPr>
            </a:pPr>
            <a:r>
              <a:rPr sz="1575" b="1">
                <a:solidFill>
                  <a:srgbClr val="243B53"/>
                </a:solidFill>
              </a:rPr>
              <a:t>USD 24,000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61967E-8C9B-4E2C-8A49-00A2158C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985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DC5B1B-FF78-4A40-9AAC-F6DFF176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Enablement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849AC1-EEF8-4C26-9D2A-505B49CE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5529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243B53"/>
                </a:solidFill>
              </a:defRPr>
            </a:pPr>
            <a:r>
              <a:rPr sz="1575" b="1">
                <a:solidFill>
                  <a:srgbClr val="243B53"/>
                </a:solidFill>
              </a:rPr>
              <a:t>USD 14,000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16312B-9479-4BF8-87D4-5DC89D62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985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686906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F5582E-D708-4E33-B21C-5C7972AE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8A8"/>
          </a:solidFill>
          <a:ln xmlns:a="http://schemas.openxmlformats.org/drawingml/2006/main" w="0">
            <a:solidFill>
              <a:srgbClr val="3E78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C54D0-B73D-4FD3-908D-AB9961BF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78A8"/>
                </a:solidFill>
              </a:defRPr>
            </a:pPr>
            <a:r>
              <a:rPr sz="1050" b="1">
                <a:solidFill>
                  <a:srgbClr val="3E78A8"/>
                </a:solidFill>
              </a:rPr>
              <a:t>ACCOUNT ALPHA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1A59EA-18A2-43A4-BA32-EACD554D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3B53"/>
                </a:solidFill>
              </a:defRPr>
            </a:pPr>
            <a:r>
              <a:rPr sz="2700" b="1">
                <a:solidFill>
                  <a:srgbClr val="243B53"/>
                </a:solidFill>
              </a:rPr>
              <a:t>Decisions and next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7156F2-E58A-4FC0-A260-08AA07C0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</a:defRPr>
            </a:pPr>
            <a:r>
              <a:rPr sz="975" b="0">
                <a:solidFill>
                  <a:srgbClr val="52606D"/>
                </a:solidFill>
              </a:rPr>
              <a:t>Customer-supplied agenda | 17 July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0EFECC-FF91-42C2-9E00-4421D052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06D"/>
                </a:solidFill>
              </a:defRPr>
            </a:pPr>
            <a:r>
              <a:rPr sz="1050" b="1">
                <a:solidFill>
                  <a:srgbClr val="52606D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48E33-ADF4-4BDF-BEC2-9C90441F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B53"/>
                </a:solidFill>
              </a:defRPr>
            </a:pPr>
            <a:r>
              <a:rPr sz="1875" b="1">
                <a:solidFill>
                  <a:srgbClr val="243B53"/>
                </a:solidFill>
              </a:rPr>
              <a:t>Before the meeting closes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0025CB-B0EF-4F13-91C8-F05BA4E7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562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0">
            <a:solidFill>
              <a:srgbClr val="EDF3F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FA86FE-F69B-4484-A014-FFE16CA6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7172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E78A8"/>
                </a:solidFill>
              </a:defRPr>
            </a:pPr>
            <a:r>
              <a:rPr sz="1275" b="1">
                <a:solidFill>
                  <a:srgbClr val="3E78A8"/>
                </a:solidFill>
              </a:rPr>
              <a:t>Confirm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8182DE-4265-41DE-A429-55AAAC59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35267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</a:defRPr>
            </a:pPr>
            <a:r>
              <a:rPr sz="1500" b="0">
                <a:solidFill>
                  <a:srgbClr val="52606D"/>
                </a:solidFill>
              </a:rPr>
              <a:t>Clarification response is complete and ready to route.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2EA453-C5FE-4A2E-ACCA-397BD2E8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562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0">
            <a:solidFill>
              <a:srgbClr val="EDF3F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51068F-A228-4F81-9751-CA02A95A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2422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E78A8"/>
                </a:solidFill>
              </a:defRPr>
            </a:pPr>
            <a:r>
              <a:rPr sz="1275" b="1">
                <a:solidFill>
                  <a:srgbClr val="3E78A8"/>
                </a:solidFill>
              </a:rPr>
              <a:t>Assign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90A400-6E8D-49D4-B2FA-26DABE8E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0517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</a:defRPr>
            </a:pPr>
            <a:r>
              <a:rPr sz="1500" b="0">
                <a:solidFill>
                  <a:srgbClr val="52606D"/>
                </a:solidFill>
              </a:rPr>
              <a:t>Legal redline owner and customer follow-up.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23800-8D23-48B8-AAE6-34A5810C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562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0">
            <a:solidFill>
              <a:srgbClr val="EDF3F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BDFC71-0A6C-480A-BA7C-1683C75E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7672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E78A8"/>
                </a:solidFill>
              </a:defRPr>
            </a:pPr>
            <a:r>
              <a:rPr sz="1275" b="1">
                <a:solidFill>
                  <a:srgbClr val="3E78A8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2A191D-F551-4237-9CE5-4684D1FB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25767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</a:defRPr>
            </a:pPr>
            <a:r>
              <a:rPr sz="1500" b="0">
                <a:solidFill>
                  <a:srgbClr val="52606D"/>
                </a:solidFill>
              </a:rPr>
              <a:t>Decision date and any remaining conditions.</a:t>
            </a:r>
          </a:p>
        </p:txBody>
      </p:sp>
    </p:spTree>
    <p:extLst>
      <p:ext uri="{BB962C8B-B14F-4D97-AF65-F5344CB8AC3E}">
        <p14:creationId xmlns:p14="http://schemas.microsoft.com/office/powerpoint/2010/main" val="2087503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2026-08-23T17:10:32.7720000Z</dcterms:created>
  <dcterms:modified xsi:type="dcterms:W3CDTF">2026-08-23T17:10:32.7720000Z</dcterms:modified>
</coreProperties>
</file>