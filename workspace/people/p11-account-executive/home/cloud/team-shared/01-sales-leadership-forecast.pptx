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269e1b8f9d418b" /><Relationship Type="http://schemas.openxmlformats.org/officeDocument/2006/relationships/extended-properties" Target="/docProps/app.xml" Id="R3d18a8f02ec94056" /><Relationship Type="http://schemas.openxmlformats.org/officeDocument/2006/relationships/officeDocument" Target="/ppt/presentation.xml" Id="Rdf4fb89715f24e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a4d2f2a5fc480e"/>
  </p:sldMasterIdLst>
  <p:notesMasterIdLst>
    <p:notesMasterId xmlns:r="http://schemas.openxmlformats.org/officeDocument/2006/relationships" r:id="Re8d42c28246f4ded"/>
  </p:notesMasterIdLst>
  <p:sldIdLst>
    <p:sldId xmlns:r="http://schemas.openxmlformats.org/officeDocument/2006/relationships" id="256" r:id="R21d17637cac046b2"/>
    <p:sldId xmlns:r="http://schemas.openxmlformats.org/officeDocument/2006/relationships" id="257" r:id="R9fda0ea999154664"/>
    <p:sldId xmlns:r="http://schemas.openxmlformats.org/officeDocument/2006/relationships" id="258" r:id="R6991d87ddfc946d1"/>
    <p:sldId xmlns:r="http://schemas.openxmlformats.org/officeDocument/2006/relationships" id="259" r:id="Ref2dabb6d37d4f22"/>
    <p:sldId xmlns:r="http://schemas.openxmlformats.org/officeDocument/2006/relationships" id="260" r:id="Rde82ea7eb1c24f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c546d515fa4a5f" /><Relationship Type="http://schemas.openxmlformats.org/officeDocument/2006/relationships/slideMaster" Target="/ppt/slideMasters/slideMaster1.xml" Id="R70a4d2f2a5fc480e" /><Relationship Type="http://schemas.openxmlformats.org/officeDocument/2006/relationships/notesMaster" Target="/ppt/notesMasters/notesMaster1.xml" Id="Re8d42c28246f4ded" /><Relationship Type="http://schemas.openxmlformats.org/officeDocument/2006/relationships/presProps" Target="/ppt/presProps.xml" Id="R82e37904422b4422" /><Relationship Type="http://schemas.openxmlformats.org/officeDocument/2006/relationships/tableStyles" Target="/ppt/tableStyles.xml" Id="Rba0bd446e74741b3" /><Relationship Type="http://schemas.openxmlformats.org/officeDocument/2006/relationships/slide" Target="/ppt/slides/slide1.xml" Id="R21d17637cac046b2" /><Relationship Type="http://schemas.openxmlformats.org/officeDocument/2006/relationships/slide" Target="/ppt/slides/slide2.xml" Id="R9fda0ea999154664" /><Relationship Type="http://schemas.openxmlformats.org/officeDocument/2006/relationships/slide" Target="/ppt/slides/slide3.xml" Id="R6991d87ddfc946d1" /><Relationship Type="http://schemas.openxmlformats.org/officeDocument/2006/relationships/slide" Target="/ppt/slides/slide4.xml" Id="Ref2dabb6d37d4f22" /><Relationship Type="http://schemas.openxmlformats.org/officeDocument/2006/relationships/slide" Target="/ppt/slides/slide5.xml" Id="Rde82ea7eb1c2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3991708c6d48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1accb50de14c84" /><Relationship Type="http://schemas.openxmlformats.org/officeDocument/2006/relationships/notesMaster" Target="/ppt/notesMasters/notesMaster1.xml" Id="Rd58c3d7462364b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2a12604182483d" /><Relationship Type="http://schemas.openxmlformats.org/officeDocument/2006/relationships/notesMaster" Target="/ppt/notesMasters/notesMaster1.xml" Id="Rac3cc632e80a4f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12ff1f55e243dd" /><Relationship Type="http://schemas.openxmlformats.org/officeDocument/2006/relationships/notesMaster" Target="/ppt/notesMasters/notesMaster1.xml" Id="Re8adcbb2b0e548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2bf78150e2447b" /><Relationship Type="http://schemas.openxmlformats.org/officeDocument/2006/relationships/notesMaster" Target="/ppt/notesMasters/notesMaster1.xml" Id="R3958670614284b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63f55232e14d7c" /><Relationship Type="http://schemas.openxmlformats.org/officeDocument/2006/relationships/notesMaster" Target="/ppt/notesMasters/notesMaster1.xml" Id="Ra9d62372538342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48f866d5a41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b208d64b3a4ca4" /><Relationship Type="http://schemas.openxmlformats.org/officeDocument/2006/relationships/slideLayout" Target="/ppt/slideLayouts/slideLayout1.xml" Id="Rd2177d116cea4b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177d116cea4b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a7ce2a59c4d58" /><Relationship Type="http://schemas.openxmlformats.org/officeDocument/2006/relationships/notesSlide" Target="/ppt/notesSlides/notesSlide1.xml" Id="R039d4a4781314b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2641a977046e4" /><Relationship Type="http://schemas.openxmlformats.org/officeDocument/2006/relationships/notesSlide" Target="/ppt/notesSlides/notesSlide2.xml" Id="Rd48d50373bff46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21ef0f4c8454e" /><Relationship Type="http://schemas.openxmlformats.org/officeDocument/2006/relationships/chart" Target="/ppt/slides/charts/chart1.xml" Id="R2cf41d5f34ec4048" /><Relationship Type="http://schemas.openxmlformats.org/officeDocument/2006/relationships/notesSlide" Target="/ppt/notesSlides/notesSlide3.xml" Id="Raef1d00998cb4d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d1061ec0b4c71" /><Relationship Type="http://schemas.openxmlformats.org/officeDocument/2006/relationships/notesSlide" Target="/ppt/notesSlides/notesSlide4.xml" Id="R2c403fd4e1bc40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81f6e93f3433a" /><Relationship Type="http://schemas.openxmlformats.org/officeDocument/2006/relationships/notesSlide" Target="/ppt/notesSlides/notesSlide5.xml" Id="R509db55d2e4d4db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Committed</c:v>
          </c:tx>
          <c:spPr>
            <a:solidFill xmlns:a="http://schemas.openxmlformats.org/drawingml/2006/main">
              <a:srgbClr val="18A999"/>
            </a:solidFill>
          </c:spPr>
          <c:cat>
            <c:strLit>
              <c:ptCount val="1"/>
              <c:pt idx="0">
                <c:v>Q3</c:v>
              </c:pt>
            </c:strLit>
          </c:cat>
          <c:val>
            <c:numLit>
              <c:formatCode>$0K</c:formatCode>
              <c:ptCount val="1"/>
              <c:pt idx="0">
                <c:v>248</c:v>
              </c:pt>
            </c:numLit>
          </c:val>
        </c:ser>
        <c:ser>
          <c:idx val="1"/>
          <c:order val="1"/>
          <c:tx>
            <c:v>Planning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1"/>
              <c:pt idx="0">
                <c:v>Q3</c:v>
              </c:pt>
            </c:strLit>
          </c:cat>
          <c:val>
            <c:numLit>
              <c:formatCode>$0K</c:formatCode>
              <c:ptCount val="1"/>
              <c:pt idx="0">
                <c:v>186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1F3A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2B4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A"/>
              </a:solidFill>
              <a:prstDash val="solid"/>
            </a:ln>
          </c:spPr>
        </c:majorGridlines>
        <c:numFmt formatCode="$0K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00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24493-D278-4834-AA2B-CD1B62CB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E4A95-6D81-4765-A910-A0BC6497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A999"/>
                </a:solidFill>
              </a:defRPr>
            </a:pPr>
            <a:r>
              <a:rPr sz="1050" b="1">
                <a:solidFill>
                  <a:srgbClr val="18A999"/>
                </a:solidFill>
              </a:rPr>
              <a:t>NORTHSTAR 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1516D-5273-4DD6-BAF2-D202F56F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Sales leadership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D4367-4F89-401C-9BFD-B09DFEF2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4F4"/>
                </a:solidFill>
              </a:defRPr>
            </a:pPr>
            <a:r>
              <a:rPr sz="1800" b="0">
                <a:solidFill>
                  <a:srgbClr val="D8E4F4"/>
                </a:solidFill>
              </a:rPr>
              <a:t>A single, reconciled view of committed renewal value and planning coverage.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20987-3E6B-4388-AD0D-CB1734C4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FC4DF"/>
                </a:solidFill>
              </a:defRPr>
            </a:pPr>
            <a:r>
              <a:rPr sz="900" b="0">
                <a:solidFill>
                  <a:srgbClr val="AFC4DF"/>
                </a:solidFill>
              </a:rPr>
              <a:t>FY26 • Internal leadership review</a:t>
            </a:r>
          </a:p>
        </p:txBody>
      </p:sp>
    </p:spTree>
    <p:extLst>
      <p:ext uri="{BB962C8B-B14F-4D97-AF65-F5344CB8AC3E}">
        <p14:creationId xmlns:p14="http://schemas.microsoft.com/office/powerpoint/2010/main" val="182161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B8B8A-ACE3-46E0-84D8-F0F9E8BF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FORECAST HEADLINE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12EAE-1884-4FE1-9757-E209A768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Committed value is $248K; total renewal view is $434K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57663-0BBA-4BBB-AD67-7B578121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C84"/>
                </a:solidFill>
              </a:defRPr>
            </a:pPr>
            <a:r>
              <a:rPr sz="825" b="1">
                <a:solidFill>
                  <a:srgbClr val="5E6C84"/>
                </a:solidFill>
              </a:rPr>
              <a:t>NORTHSTAR CLOUD  •  FY26  •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ACF5E-0AE7-46ED-AEAD-BCF41C6B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7691A-B15B-47FB-967B-3C5761F2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257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9157D-D97A-4DF4-8CAF-B0694F89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8B5FB-9B9A-4946-BA14-250F5E7D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C84"/>
                </a:solidFill>
              </a:defRPr>
            </a:pPr>
            <a:r>
              <a:rPr sz="900" b="1">
                <a:solidFill>
                  <a:srgbClr val="5E6C84"/>
                </a:solidFill>
              </a:rPr>
              <a:t>COMMITTED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EDF61-57DE-4108-95E0-D80D5A97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A"/>
                </a:solidFill>
              </a:defRPr>
            </a:pPr>
            <a:r>
              <a:rPr sz="2325" b="1">
                <a:solidFill>
                  <a:srgbClr val="0B1F3A"/>
                </a:solidFill>
              </a:rPr>
              <a:t>$248K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50E18-8248-442D-8A93-E1F3F018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84"/>
                </a:solidFill>
              </a:defRPr>
            </a:pPr>
            <a:r>
              <a:rPr sz="1050" b="0">
                <a:solidFill>
                  <a:srgbClr val="5E6C84"/>
                </a:solidFill>
              </a:rPr>
              <a:t>Alpha approved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49324-1193-461A-BF0C-D37E260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57350"/>
            <a:ext cx="3257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CABFB-FFBB-45F2-84BF-668CC63D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573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7915C-F4EC-4120-87A4-5898CC2D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288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C84"/>
                </a:solidFill>
              </a:defRPr>
            </a:pPr>
            <a:r>
              <a:rPr sz="900" b="1">
                <a:solidFill>
                  <a:srgbClr val="5E6C84"/>
                </a:solidFill>
              </a:rPr>
              <a:t>PLANNING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08769-DE11-4F40-BD54-72D151CE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76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A"/>
                </a:solidFill>
              </a:defRPr>
            </a:pPr>
            <a:r>
              <a:rPr sz="2325" b="1">
                <a:solidFill>
                  <a:srgbClr val="0B1F3A"/>
                </a:solidFill>
              </a:rPr>
              <a:t>$186K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8C16B-FFB7-4A4E-9BD0-7476F8B9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527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84"/>
                </a:solidFill>
              </a:defRPr>
            </a:pPr>
            <a:r>
              <a:rPr sz="1050" b="0">
                <a:solidFill>
                  <a:srgbClr val="5E6C84"/>
                </a:solidFill>
              </a:rPr>
              <a:t>Beta planning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14A4C-D30D-4CC5-9E7D-51A38101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3257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42844-0C05-4B60-9621-96D1064B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76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EC5E7-0A35-4EEE-937A-947063A8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C84"/>
                </a:solidFill>
              </a:defRPr>
            </a:pPr>
            <a:r>
              <a:rPr sz="900" b="1">
                <a:solidFill>
                  <a:srgbClr val="5E6C84"/>
                </a:solidFill>
              </a:rPr>
              <a:t>TOTAL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9F217-1235-4475-899D-9CA9849E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A"/>
                </a:solidFill>
              </a:defRPr>
            </a:pPr>
            <a:r>
              <a:rPr sz="2325" b="1">
                <a:solidFill>
                  <a:srgbClr val="0B1F3A"/>
                </a:solidFill>
              </a:rPr>
              <a:t>$434K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2C3A0-51AF-4B2B-9192-D05EC65A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C84"/>
                </a:solidFill>
              </a:defRPr>
            </a:pPr>
            <a:r>
              <a:rPr sz="1050" b="0">
                <a:solidFill>
                  <a:srgbClr val="5E6C84"/>
                </a:solidFill>
              </a:rPr>
              <a:t>Committed + 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5F0E6-E15C-4040-9FF1-A7A9633C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Forecast posture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AF401-E3B0-4E47-81B5-66F0F222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4D"/>
                </a:solidFill>
              </a:defRPr>
            </a:pPr>
            <a:r>
              <a:rPr sz="1575" b="0">
                <a:solidFill>
                  <a:srgbClr val="172B4D"/>
                </a:solidFill>
              </a:rPr>
              <a:t>The committed number contains Alpha only. Beta remains visible as planning coverage until stakeholder and timing evidence is confirmed.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60FCB-EDEF-4A9C-8D88-269BA6EB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84"/>
                </a:solidFill>
              </a:defRPr>
            </a:pPr>
            <a:r>
              <a:rPr sz="750" b="0">
                <a:solidFill>
                  <a:srgbClr val="5E6C84"/>
                </a:solidFill>
              </a:rPr>
              <a:t>Synthetic internal planning artifact • Northstar Cloud</a:t>
            </a:r>
          </a:p>
        </p:txBody>
      </p:sp>
    </p:spTree>
    <p:extLst>
      <p:ext uri="{BB962C8B-B14F-4D97-AF65-F5344CB8AC3E}">
        <p14:creationId xmlns:p14="http://schemas.microsoft.com/office/powerpoint/2010/main" val="1232446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E54EB-6F67-4464-A037-F95C4E06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COVERAGE BY QUARTER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9A226-6C1B-438B-8302-D28C44F3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The renewal plan concentrates value in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0F988-81EF-473E-A571-2E2EB24E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C84"/>
                </a:solidFill>
              </a:defRPr>
            </a:pPr>
            <a:r>
              <a:rPr sz="825" b="1">
                <a:solidFill>
                  <a:srgbClr val="5E6C84"/>
                </a:solidFill>
              </a:rPr>
              <a:t>NORTHSTAR CLOUD  •  FY26  •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C63D1-AA4A-422C-AA34-8D35C738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76300" y="177165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f41d5f34ec404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796D6-6603-426E-9806-E0348ED4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85950"/>
            <a:ext cx="2381250" cy="26860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D4D14-6DAF-41BD-B2EA-968F0486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09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Q3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79A3B-C222-4DCA-A624-B2C6B087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Alpha</a:t>
            </a:r>
          </a:p>
          <a:p xmlns:a="http://schemas.openxmlformats.org/drawingml/2006/main">
            <a:pPr algn="l"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$248K</a:t>
            </a:r>
          </a:p>
          <a:p xmlns:a="http://schemas.openxmlformats.org/drawingml/2006/main">
            <a:pPr algn="l">
              <a:defRPr sz="1500" b="1">
                <a:solidFill>
                  <a:srgbClr val="18A999"/>
                </a:solidFill>
              </a:defRPr>
            </a:pPr>
            <a:r>
              <a:rPr sz="1500" b="1">
                <a:solidFill>
                  <a:srgbClr val="18A999"/>
                </a:solidFill>
              </a:rPr>
              <a:t>Approved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8CAB9-4934-45E8-B0D7-6CA4FABC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528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Beta</a:t>
            </a:r>
          </a:p>
          <a:p xmlns:a="http://schemas.openxmlformats.org/drawingml/2006/main">
            <a:pPr algn="l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$186K</a:t>
            </a:r>
          </a:p>
          <a:p xmlns:a="http://schemas.openxmlformats.org/drawingml/2006/main">
            <a:pPr algn="l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837FE-1915-4E40-966A-AD628EAD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84"/>
                </a:solidFill>
              </a:defRPr>
            </a:pPr>
            <a:r>
              <a:rPr sz="750" b="0">
                <a:solidFill>
                  <a:srgbClr val="5E6C84"/>
                </a:solidFill>
              </a:rPr>
              <a:t>Synthetic internal planning artifact • Northstar Cloud</a:t>
            </a:r>
          </a:p>
        </p:txBody>
      </p:sp>
    </p:spTree>
    <p:extLst>
      <p:ext uri="{BB962C8B-B14F-4D97-AF65-F5344CB8AC3E}">
        <p14:creationId xmlns:p14="http://schemas.microsoft.com/office/powerpoint/2010/main" val="1901119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F4612-6F99-4651-B2B8-59707E92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FORECAST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809B9-5253-4C56-958D-DC6F452B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Owner actions convert planning into forecast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72FAA-D025-409F-BF7B-CDF7CB66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C84"/>
                </a:solidFill>
              </a:defRPr>
            </a:pPr>
            <a:r>
              <a:rPr sz="825" b="1">
                <a:solidFill>
                  <a:srgbClr val="5E6C84"/>
                </a:solidFill>
              </a:rPr>
              <a:t>NORTHSTAR CLOUD  •  FY26  •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CAC86-DA76-40D0-B736-7CA47E64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 firstRow="1" lastRow="1" bandRow="1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Account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Classification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Next evidence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$248,000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Committed</a:t>
                      </a:r>
                    </a:p>
                  </a:txBody>
                  <a:tcPr marL="91440" marR="91440" marT="45720" marB="45720">
                    <a:solidFill>
                      <a:srgbClr val="E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 Jul 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Finance handoff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Beta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$186,000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Planning</a:t>
                      </a:r>
                    </a:p>
                  </a:txBody>
                  <a:tcPr marL="91440" marR="91440" marT="45720" marB="45720"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 Sep 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Stakeholder MAP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t>Total renewal 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$434,000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Committed + planning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FY26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Reconcile weekly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FD648-E1B0-4ABC-B2B1-471FE493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Cadence: Elliot Park reviews Beta evidence weekly with Rowan Mercer and Priya Noland.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E011A-4073-4EA8-BA38-752D7F12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84"/>
                </a:solidFill>
              </a:defRPr>
            </a:pPr>
            <a:r>
              <a:rPr sz="750" b="0">
                <a:solidFill>
                  <a:srgbClr val="5E6C84"/>
                </a:solidFill>
              </a:rPr>
              <a:t>Synthetic internal planning artifact • Northstar Cloud</a:t>
            </a:r>
          </a:p>
        </p:txBody>
      </p:sp>
    </p:spTree>
    <p:extLst>
      <p:ext uri="{BB962C8B-B14F-4D97-AF65-F5344CB8AC3E}">
        <p14:creationId xmlns:p14="http://schemas.microsoft.com/office/powerpoint/2010/main" val="1997049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484F4-30A8-466E-9F93-9418B5FE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LEADERSHIP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FF503-1094-408C-B405-5BB3B692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</a:defRPr>
            </a:pPr>
            <a:r>
              <a:rPr sz="2850" b="1">
                <a:solidFill>
                  <a:srgbClr val="0B1F3A"/>
                </a:solidFill>
              </a:rPr>
              <a:t>Protect Alpha and elevate the Beta dependency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45D68-3FFE-4EDD-980A-492BAD24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C84"/>
                </a:solidFill>
              </a:defRPr>
            </a:pPr>
            <a:r>
              <a:rPr sz="825" b="1">
                <a:solidFill>
                  <a:srgbClr val="5E6C84"/>
                </a:solidFill>
              </a:rPr>
              <a:t>NORTHSTAR CLOUD  •  FY26  •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48ADC-B28A-4ADE-B864-04567427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  <a:ln xmlns:a="http://schemas.openxmlformats.org/drawingml/2006/main" w="0">
            <a:solidFill>
              <a:srgbClr val="D9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6957D-A351-4959-A6A3-CCBAB9ED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F8F4"/>
          </a:solidFill>
          <a:ln xmlns:a="http://schemas.openxmlformats.org/drawingml/2006/main" w="0">
            <a:solidFill>
              <a:srgbClr val="E7F8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121B1-C6D4-47DD-B0A4-B8FB934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A999"/>
                </a:solidFill>
              </a:defRPr>
            </a:pPr>
            <a:r>
              <a:rPr sz="2100" b="1">
                <a:solidFill>
                  <a:srgbClr val="18A999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1557E-B058-4050-B449-5849A8E7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09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Keep Alpha committed at $248K through finance handoff.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36928-123F-4AA4-8778-91DAE89E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solidFill>
              <a:srgbClr val="EAF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EFE82-F51D-4F4F-89D0-90A94A2F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BFF"/>
                </a:solidFill>
              </a:defRPr>
            </a:pPr>
            <a:r>
              <a:rPr sz="2100" b="1">
                <a:solidFill>
                  <a:srgbClr val="2F6B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F424B-A0C5-41D0-812C-AB9091B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Secure Beta executive sponsor coverage before the September forecast lock.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76C50-0BE4-4762-80D9-D97C7730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E6C84"/>
                </a:solidFill>
              </a:defRPr>
            </a:pPr>
            <a:r>
              <a:rPr sz="1500" b="1">
                <a:solidFill>
                  <a:srgbClr val="5E6C84"/>
                </a:solidFill>
              </a:rPr>
              <a:t>Forecast guardrail: do not reclassify Beta without dated stakeholder and scope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C5047-BDDA-4A8B-8D7D-7B4D0E1C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C84"/>
                </a:solidFill>
              </a:defRPr>
            </a:pPr>
            <a:r>
              <a:rPr sz="750" b="0">
                <a:solidFill>
                  <a:srgbClr val="5E6C84"/>
                </a:solidFill>
              </a:rPr>
              <a:t>Synthetic internal planning artifact • Northstar Cloud</a:t>
            </a:r>
          </a:p>
        </p:txBody>
      </p:sp>
    </p:spTree>
    <p:extLst>
      <p:ext uri="{BB962C8B-B14F-4D97-AF65-F5344CB8AC3E}">
        <p14:creationId xmlns:p14="http://schemas.microsoft.com/office/powerpoint/2010/main" val="1829254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2026-08-23T17:04:38.3060000Z</dcterms:created>
  <dcterms:modified xsi:type="dcterms:W3CDTF">2026-08-23T17:04:38.3060000Z</dcterms:modified>
</coreProperties>
</file>