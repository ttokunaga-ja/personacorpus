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827e21a184430" /><Relationship Type="http://schemas.openxmlformats.org/officeDocument/2006/relationships/extended-properties" Target="/docProps/app.xml" Id="R9e0701f2dfc64ee5" /><Relationship Type="http://schemas.openxmlformats.org/officeDocument/2006/relationships/officeDocument" Target="/ppt/presentation.xml" Id="R8f34c7926aa8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d2ae00cb284228"/>
  </p:sldMasterIdLst>
  <p:notesMasterIdLst>
    <p:notesMasterId xmlns:r="http://schemas.openxmlformats.org/officeDocument/2006/relationships" r:id="Rc49c187baa034d8c"/>
  </p:notesMasterIdLst>
  <p:sldIdLst>
    <p:sldId xmlns:r="http://schemas.openxmlformats.org/officeDocument/2006/relationships" id="256" r:id="R7702cda22d9f4945"/>
    <p:sldId xmlns:r="http://schemas.openxmlformats.org/officeDocument/2006/relationships" id="257" r:id="Rfaf588147ffe4a3f"/>
    <p:sldId xmlns:r="http://schemas.openxmlformats.org/officeDocument/2006/relationships" id="258" r:id="Re1c0998c1d974d2a"/>
    <p:sldId xmlns:r="http://schemas.openxmlformats.org/officeDocument/2006/relationships" id="259" r:id="Raadf97ea02664271"/>
    <p:sldId xmlns:r="http://schemas.openxmlformats.org/officeDocument/2006/relationships" id="260" r:id="Rc12c50e85d3e4b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037a788624ed2" /><Relationship Type="http://schemas.openxmlformats.org/officeDocument/2006/relationships/slideMaster" Target="/ppt/slideMasters/slideMaster1.xml" Id="Rdfd2ae00cb284228" /><Relationship Type="http://schemas.openxmlformats.org/officeDocument/2006/relationships/notesMaster" Target="/ppt/notesMasters/notesMaster1.xml" Id="Rc49c187baa034d8c" /><Relationship Type="http://schemas.openxmlformats.org/officeDocument/2006/relationships/presProps" Target="/ppt/presProps.xml" Id="Rd9df264b5ee34162" /><Relationship Type="http://schemas.openxmlformats.org/officeDocument/2006/relationships/tableStyles" Target="/ppt/tableStyles.xml" Id="Rc5dada41da2949d0" /><Relationship Type="http://schemas.openxmlformats.org/officeDocument/2006/relationships/slide" Target="/ppt/slides/slide1.xml" Id="R7702cda22d9f4945" /><Relationship Type="http://schemas.openxmlformats.org/officeDocument/2006/relationships/slide" Target="/ppt/slides/slide2.xml" Id="Rfaf588147ffe4a3f" /><Relationship Type="http://schemas.openxmlformats.org/officeDocument/2006/relationships/slide" Target="/ppt/slides/slide3.xml" Id="Re1c0998c1d974d2a" /><Relationship Type="http://schemas.openxmlformats.org/officeDocument/2006/relationships/slide" Target="/ppt/slides/slide4.xml" Id="Raadf97ea02664271" /><Relationship Type="http://schemas.openxmlformats.org/officeDocument/2006/relationships/slide" Target="/ppt/slides/slide5.xml" Id="Rc12c50e85d3e4b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a93c41514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a664bab0e4377" /><Relationship Type="http://schemas.openxmlformats.org/officeDocument/2006/relationships/notesMaster" Target="/ppt/notesMasters/notesMaster1.xml" Id="Rc5a71799aa58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3787f4c6b4d24" /><Relationship Type="http://schemas.openxmlformats.org/officeDocument/2006/relationships/notesMaster" Target="/ppt/notesMasters/notesMaster1.xml" Id="R80e1f3ba018e4a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5dfb1c0984fbe" /><Relationship Type="http://schemas.openxmlformats.org/officeDocument/2006/relationships/notesMaster" Target="/ppt/notesMasters/notesMaster1.xml" Id="R7999f2a3725d4d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5bcd4f3cc54640" /><Relationship Type="http://schemas.openxmlformats.org/officeDocument/2006/relationships/notesMaster" Target="/ppt/notesMasters/notesMaster1.xml" Id="R25dc0f677e8a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18bf9dfa0c4898" /><Relationship Type="http://schemas.openxmlformats.org/officeDocument/2006/relationships/notesMaster" Target="/ppt/notesMasters/notesMaster1.xml" Id="R981febd79cbc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aff21a01446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de1cfdf824d63" /><Relationship Type="http://schemas.openxmlformats.org/officeDocument/2006/relationships/slideLayout" Target="/ppt/slideLayouts/slideLayout1.xml" Id="R1304eca7ca34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4eca7ca34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ceb37415e46c3" /><Relationship Type="http://schemas.openxmlformats.org/officeDocument/2006/relationships/notesSlide" Target="/ppt/notesSlides/notesSlide1.xml" Id="R89d11fafd9d444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431488bd34782" /><Relationship Type="http://schemas.openxmlformats.org/officeDocument/2006/relationships/notesSlide" Target="/ppt/notesSlides/notesSlide2.xml" Id="R48632e44b9594d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c9c9255f94bab" /><Relationship Type="http://schemas.openxmlformats.org/officeDocument/2006/relationships/chart" Target="/ppt/slides/charts/chart1.xml" Id="Rd272c7afc95e4c15" /><Relationship Type="http://schemas.openxmlformats.org/officeDocument/2006/relationships/notesSlide" Target="/ppt/notesSlides/notesSlide3.xml" Id="R73c83b679734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6079ef0174359" /><Relationship Type="http://schemas.openxmlformats.org/officeDocument/2006/relationships/notesSlide" Target="/ppt/notesSlides/notesSlide4.xml" Id="R5edc52520eaf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e80ca85514df1" /><Relationship Type="http://schemas.openxmlformats.org/officeDocument/2006/relationships/notesSlide" Target="/ppt/notesSlides/notesSlide5.xml" Id="R2b89cda929af481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 thousands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Core platform</c:v>
              </c:pt>
              <c:pt idx="1">
                <c:v>Expansion seats</c:v>
              </c:pt>
              <c:pt idx="2">
                <c:v>Premium support</c:v>
              </c:pt>
            </c:strLit>
          </c:cat>
          <c:val>
            <c:numLit>
              <c:formatCode>General</c:formatCode>
              <c:ptCount val="3"/>
              <c:pt idx="0">
                <c:v>210</c:v>
              </c:pt>
              <c:pt idx="1">
                <c:v>24</c:v>
              </c:pt>
              <c:pt idx="2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B4D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7327B-6959-456A-9117-E03C6E49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7B894-49E9-4045-AA75-B4E0DC2C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3078C-FA2B-4ECD-8542-D4680F60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Regional renewal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2D5F-CC46-4EBA-A257-FE212BA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4"/>
                </a:solidFill>
              </a:defRPr>
            </a:pPr>
            <a:r>
              <a:rPr sz="1800" b="0">
                <a:solidFill>
                  <a:srgbClr val="D8E4F4"/>
                </a:solidFill>
              </a:rPr>
              <a:t>Decision-ready view of committed renewal value, timing, and next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56D3-AFDB-4E8C-BC9B-6093C66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00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15A"/>
          </a:solidFill>
          <a:ln xmlns:a="http://schemas.openxmlformats.org/drawingml/2006/main" w="0">
            <a:solidFill>
              <a:srgbClr val="1231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F715A-E520-40E0-B606-44EF670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Primary anchor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D0EB8-BCC8-4A98-85FD-F4F25DFF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Account Alpha • 17 Jul 2026 • $248,000 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5EB6A-9F28-493B-B3F7-D8B75E72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</a:defRPr>
            </a:pPr>
            <a:r>
              <a:rPr sz="900" b="0">
                <a:solidFill>
                  <a:srgbClr val="AFC4DF"/>
                </a:solidFill>
              </a:rPr>
              <a:t>Regional leadership • FY26</a:t>
            </a:r>
          </a:p>
        </p:txBody>
      </p:sp>
    </p:spTree>
    <p:extLst>
      <p:ext uri="{BB962C8B-B14F-4D97-AF65-F5344CB8AC3E}">
        <p14:creationId xmlns:p14="http://schemas.microsoft.com/office/powerpoint/2010/main" val="1467374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CCE60-9741-480D-B8A3-C7D15847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55386-48AF-4060-ADCD-176EB506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The approved Alpha renewal anchors the regional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D6D0A-C4D6-4C0B-8007-FBDB7AEE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1170E-0205-479E-85C9-D7CF8B28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6816C-7CFB-42EE-9519-9753A64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257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460B0-7C50-47AA-8247-CE5F2DB9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00A3A-C56B-4C6F-94A2-D29E9411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C84"/>
                </a:solidFill>
              </a:defRPr>
            </a:pPr>
            <a:r>
              <a:rPr sz="900" b="1">
                <a:solidFill>
                  <a:srgbClr val="5E6C84"/>
                </a:solidFill>
              </a:rPr>
              <a:t>APPROVED RENEWAL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BC4D9-575F-43D7-BD93-898EB36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$248K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45D6C-5F2F-4B20-8933-8A977738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84"/>
                </a:solidFill>
              </a:defRPr>
            </a:pPr>
            <a:r>
              <a:rPr sz="1050" b="0">
                <a:solidFill>
                  <a:srgbClr val="5E6C84"/>
                </a:solidFill>
              </a:rPr>
              <a:t>Alpha • 17 Jul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F4427-A616-4D4A-BFC6-23392F56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3257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C9C2-C193-4A0F-A693-00C022C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B59F3-F664-4B93-B83D-511318B2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28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C84"/>
                </a:solidFill>
              </a:defRPr>
            </a:pPr>
            <a:r>
              <a:rPr sz="900" b="1">
                <a:solidFill>
                  <a:srgbClr val="5E6C84"/>
                </a:solidFill>
              </a:rPr>
              <a:t>PLANNING RENEWAL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CFC39-5558-4FBB-B067-2898FB8C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$186K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ED178-F258-46A4-98D1-C75306CA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52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84"/>
                </a:solidFill>
              </a:defRPr>
            </a:pPr>
            <a:r>
              <a:rPr sz="1050" b="0">
                <a:solidFill>
                  <a:srgbClr val="5E6C84"/>
                </a:solidFill>
              </a:rPr>
              <a:t>Beta • 30 Sep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73FE8-CC5F-4643-910F-7048009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257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AC235-9C92-4C83-81A8-D5DDDA6F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39053-92DB-4FDB-9B1D-F6FDA6E4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C84"/>
                </a:solidFill>
              </a:defRPr>
            </a:pPr>
            <a:r>
              <a:rPr sz="900" b="1">
                <a:solidFill>
                  <a:srgbClr val="5E6C84"/>
                </a:solidFill>
              </a:rPr>
              <a:t>KNOWN RENEWAL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D41DA-2981-477C-8A79-96DA6788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$434K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B23FA-9926-45AF-B3C9-95BC7EA6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84"/>
                </a:solidFill>
              </a:defRPr>
            </a:pPr>
            <a:r>
              <a:rPr sz="1050" b="0">
                <a:solidFill>
                  <a:srgbClr val="5E6C84"/>
                </a:solidFill>
              </a:rPr>
              <a:t>Approved + 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AEB50-7FD9-4516-9D11-F27D7F47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Leadership 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7248B-01BA-4054-8270-87BDDD7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Protect the approved Alpha close and convert Beta planning into a dated mutual action plan before the September forecast lock.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95819-2631-433D-A53B-6E51141A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solidFill>
              <a:srgbClr val="E7F8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291BC-3752-4D3B-A55F-44E95E0F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Decision requested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C4E41-544B-4C36-9FBA-AA066930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Confirm Beta executive sponsor coverage and retain Alpha as committed through finance handoff.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850D5-A787-4538-A0C2-03C67AD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834460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DDCE4-C8C2-4340-B355-D6FFB54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COMMERCIAL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116D3-CD4E-46A0-8D65-8F89D5F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Alpha’s approved $248K is fully reconciled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0CA6D-2DAE-419D-8F0F-8F1C3183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BCF82-6EDA-487E-9124-B0C8ED66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62000" y="1752600"/>
          <a:ext xmlns:a="http://schemas.openxmlformats.org/drawingml/2006/main" cx="581025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72c7afc95e4c1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5708B-BB1F-44E6-99D9-5D20F62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34671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D05AC-6B00-4809-847B-54298188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Approval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58653-74F4-4CBD-A068-0C7FA758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C84"/>
                </a:solidFill>
              </a:defRPr>
            </a:pPr>
            <a:r>
              <a:rPr sz="1050" b="1">
                <a:solidFill>
                  <a:srgbClr val="5E6C84"/>
                </a:solidFill>
              </a:rPr>
              <a:t>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4A98D-1C69-4EE5-9231-5696D55F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EC62C-0CF1-4FDB-8D27-8C334588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C84"/>
                </a:solidFill>
              </a:defRPr>
            </a:pPr>
            <a:r>
              <a:rPr sz="1050" b="1">
                <a:solidFill>
                  <a:srgbClr val="5E6C84"/>
                </a:solidFill>
              </a:rPr>
              <a:t>Approved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0ADB1-40C7-41F2-B46A-A70D521B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4D"/>
                </a:solidFill>
              </a:defRPr>
            </a:pPr>
            <a:r>
              <a:rPr sz="1350" b="1">
                <a:solidFill>
                  <a:srgbClr val="172B4D"/>
                </a:solidFill>
              </a:rPr>
              <a:t>17 Jul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2D796-8A35-4F28-810C-35E751D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C84"/>
                </a:solidFill>
              </a:defRPr>
            </a:pPr>
            <a:r>
              <a:rPr sz="1050" b="1">
                <a:solidFill>
                  <a:srgbClr val="5E6C84"/>
                </a:solidFill>
              </a:rPr>
              <a:t>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A4A25-B464-4C59-BA68-52FB7EC1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86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$248,000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B2A1B-2657-4173-A7EF-FD65CCB9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C84"/>
                </a:solidFill>
              </a:defRPr>
            </a:pPr>
            <a:r>
              <a:rPr sz="1050" b="1">
                <a:solidFill>
                  <a:srgbClr val="5E6C84"/>
                </a:solidFill>
              </a:rPr>
              <a:t>Math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A1B17-9E9E-4F0B-A942-D975404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$210K + $24K + $14K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B7545-1FD7-4CED-BF7D-BB4B446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C84"/>
                </a:solidFill>
              </a:defRPr>
            </a:pPr>
            <a:r>
              <a:rPr sz="975" b="0">
                <a:solidFill>
                  <a:srgbClr val="5E6C84"/>
                </a:solidFill>
              </a:rPr>
              <a:t>All values are synthetic planning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7DD18-465E-487A-B078-F0BFAC3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2106180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5E2FF-E52E-4DC5-99D0-14386EB3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RENEWAL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58558-200D-4AC5-A089-E656D25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Beta is the only material planning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FE584-51F8-4F05-BB14-015E6736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9C52E-2EF6-4938-94D4-E2080881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019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673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Account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Close / renewal date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 Jul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$248,000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</a:t>
                      </a:r>
                    </a:p>
                  </a:txBody>
                  <a:tcPr marL="91440" marR="91440" marT="45720" marB="45720">
                    <a:solidFill>
                      <a:srgbClr val="E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Rowan Mercer</a:t>
                      </a:r>
                    </a:p>
                  </a:txBody>
                  <a:tcPr marL="91440" marR="91440" marT="45720" marB="45720"/>
                </a:tc>
              </a:tr>
              <a:tr h="67310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30 Sep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$186,000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Planning</a:t>
                      </a:r>
                    </a:p>
                  </a:txBody>
                  <a:tcPr marL="91440" marR="91440" marT="45720" marB="45720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Priya Noland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4C77D-85B2-4847-948D-AA575100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78AEE-C308-4FD6-8302-98537D4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Next 30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9E727-C2AF-4639-B3C7-409CDCA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Priya Noland confirms Beta stakeholders and milestone dates; Elliot Park prepares the executive forecast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B4187-6ED2-4FE0-A3BD-206A9762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283435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5162B-3E59-441B-A0EE-D2229D49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LEADERSHIP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16227-0A04-4132-9B6F-CCA4668E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One approved close, one focused conversion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B1AC-173E-48AD-A9C7-56CFEC8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D73D5-B74B-4FA5-B282-A735491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4FD47-A826-4C66-B49D-23D5FF0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9709-D123-42E8-918A-6E1127ED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Maintain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D6B0E-DFC6-4D6A-9915-09F0C308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Keep the $248K approval intact through finance handoff and delivery transition.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1FA8D-1BC8-4E23-97DF-CE8C78A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Owner: Rowan Mercer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2F79D-D164-4DD3-B493-9851AC3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2FCB-463E-41A8-B558-A1A82D5D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Convert Beta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F566D-2946-4D13-AED7-D7809D52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Replace planning assumptions with named stakeholders, dates, and commercial scope.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00555-A77F-4C26-A05E-D3C0116C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Owner: Priya Noland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BBA61-87AF-4B59-8C07-EBC5B291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Leadership ask: remove executive-access friction for Beta before September forecast 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04BBA-C740-4F45-8CAE-C02DDCC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407357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2026-08-23T17:04:37.8670000Z</dcterms:created>
  <dcterms:modified xsi:type="dcterms:W3CDTF">2026-08-23T17:04:37.8680000Z</dcterms:modified>
</coreProperties>
</file>