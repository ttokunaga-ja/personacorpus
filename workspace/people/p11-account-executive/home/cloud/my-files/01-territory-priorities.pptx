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6400bd20242b5" /><Relationship Type="http://schemas.openxmlformats.org/officeDocument/2006/relationships/extended-properties" Target="/docProps/app.xml" Id="Ra321f2a7516f4167" /><Relationship Type="http://schemas.openxmlformats.org/officeDocument/2006/relationships/officeDocument" Target="/ppt/presentation.xml" Id="R5c242acdfd3e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09d6e62094967"/>
  </p:sldMasterIdLst>
  <p:notesMasterIdLst>
    <p:notesMasterId xmlns:r="http://schemas.openxmlformats.org/officeDocument/2006/relationships" r:id="R728d56ceb94b4e5f"/>
  </p:notesMasterIdLst>
  <p:sldIdLst>
    <p:sldId xmlns:r="http://schemas.openxmlformats.org/officeDocument/2006/relationships" id="256" r:id="Re81ee4200ec740ff"/>
    <p:sldId xmlns:r="http://schemas.openxmlformats.org/officeDocument/2006/relationships" id="257" r:id="R5dd41bd7b8834e79"/>
    <p:sldId xmlns:r="http://schemas.openxmlformats.org/officeDocument/2006/relationships" id="258" r:id="R2736f3d205cd44c9"/>
    <p:sldId xmlns:r="http://schemas.openxmlformats.org/officeDocument/2006/relationships" id="259" r:id="Rd3db5861fe704b81"/>
    <p:sldId xmlns:r="http://schemas.openxmlformats.org/officeDocument/2006/relationships" id="260" r:id="R9429c196e84f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5c4f687324378" /><Relationship Type="http://schemas.openxmlformats.org/officeDocument/2006/relationships/slideMaster" Target="/ppt/slideMasters/slideMaster1.xml" Id="R27f09d6e62094967" /><Relationship Type="http://schemas.openxmlformats.org/officeDocument/2006/relationships/notesMaster" Target="/ppt/notesMasters/notesMaster1.xml" Id="R728d56ceb94b4e5f" /><Relationship Type="http://schemas.openxmlformats.org/officeDocument/2006/relationships/presProps" Target="/ppt/presProps.xml" Id="Re30099ebda6d4daf" /><Relationship Type="http://schemas.openxmlformats.org/officeDocument/2006/relationships/tableStyles" Target="/ppt/tableStyles.xml" Id="Rdeab9d9e88b241a5" /><Relationship Type="http://schemas.openxmlformats.org/officeDocument/2006/relationships/slide" Target="/ppt/slides/slide1.xml" Id="Re81ee4200ec740ff" /><Relationship Type="http://schemas.openxmlformats.org/officeDocument/2006/relationships/slide" Target="/ppt/slides/slide2.xml" Id="R5dd41bd7b8834e79" /><Relationship Type="http://schemas.openxmlformats.org/officeDocument/2006/relationships/slide" Target="/ppt/slides/slide3.xml" Id="R2736f3d205cd44c9" /><Relationship Type="http://schemas.openxmlformats.org/officeDocument/2006/relationships/slide" Target="/ppt/slides/slide4.xml" Id="Rd3db5861fe704b81" /><Relationship Type="http://schemas.openxmlformats.org/officeDocument/2006/relationships/slide" Target="/ppt/slides/slide5.xml" Id="R9429c196e84f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700dc786246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822f677f440b1" /><Relationship Type="http://schemas.openxmlformats.org/officeDocument/2006/relationships/notesMaster" Target="/ppt/notesMasters/notesMaster1.xml" Id="R9587756690d8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ebfc20d224c69" /><Relationship Type="http://schemas.openxmlformats.org/officeDocument/2006/relationships/notesMaster" Target="/ppt/notesMasters/notesMaster1.xml" Id="Rf7140b4dc4f048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4f08af968a417a" /><Relationship Type="http://schemas.openxmlformats.org/officeDocument/2006/relationships/notesMaster" Target="/ppt/notesMasters/notesMaster1.xml" Id="R9239b586e5b446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2c964d521841b3" /><Relationship Type="http://schemas.openxmlformats.org/officeDocument/2006/relationships/notesMaster" Target="/ppt/notesMasters/notesMaster1.xml" Id="Rf693b39841d948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2fc7c5680f4fac" /><Relationship Type="http://schemas.openxmlformats.org/officeDocument/2006/relationships/notesMaster" Target="/ppt/notesMasters/notesMaster1.xml" Id="Rb508a2ab783c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5cda6ca1c48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b53465536642ae" /><Relationship Type="http://schemas.openxmlformats.org/officeDocument/2006/relationships/slideLayout" Target="/ppt/slideLayouts/slideLayout1.xml" Id="Rfe8fdb1a1eba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fdb1a1eba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4420c399c49f5" /><Relationship Type="http://schemas.openxmlformats.org/officeDocument/2006/relationships/notesSlide" Target="/ppt/notesSlides/notesSlide1.xml" Id="Rcec1e0980b8445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5f42c0024ff8" /><Relationship Type="http://schemas.openxmlformats.org/officeDocument/2006/relationships/notesSlide" Target="/ppt/notesSlides/notesSlide2.xml" Id="Rc10d23a45d4c48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251a368d4767" /><Relationship Type="http://schemas.openxmlformats.org/officeDocument/2006/relationships/notesSlide" Target="/ppt/notesSlides/notesSlide3.xml" Id="R5772bc1a5e9744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c0d0db604619" /><Relationship Type="http://schemas.openxmlformats.org/officeDocument/2006/relationships/notesSlide" Target="/ppt/notesSlides/notesSlide4.xml" Id="Reb1f9959f8804f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9abe1d09a4fa4" /><Relationship Type="http://schemas.openxmlformats.org/officeDocument/2006/relationships/notesSlide" Target="/ppt/notesSlides/notesSlide5.xml" Id="R9e6b7da046d8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BBF6D-00E5-431F-B0FF-FB17DFD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B1FF"/>
                </a:solidFill>
              </a:defRPr>
            </a:pPr>
            <a:r>
              <a:rPr sz="1200" b="1">
                <a:solidFill>
                  <a:srgbClr val="8FB1FF"/>
                </a:solidFill>
              </a:rPr>
              <a:t>TERRITORY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A7F93-BB49-4786-85DB-3627E562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23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Focus the field time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on two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90841-F6EE-479C-887D-E014B53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D4F8"/>
                </a:solidFill>
              </a:defRPr>
            </a:pPr>
            <a:r>
              <a:rPr sz="1500" b="0">
                <a:solidFill>
                  <a:srgbClr val="C2D4F8"/>
                </a:solidFill>
              </a:rPr>
              <a:t>Rowan Mercer  |  July-September 2026 planning</a:t>
            </a:r>
          </a:p>
          <a:p xmlns:a="http://schemas.openxmlformats.org/drawingml/2006/main">
            <a:pPr algn="l">
              <a:defRPr sz="1500" b="0">
                <a:solidFill>
                  <a:srgbClr val="C2D4F8"/>
                </a:solidFill>
              </a:defRPr>
            </a:pPr>
            <a:r>
              <a:rPr sz="1500" b="0">
                <a:solidFill>
                  <a:srgbClr val="C2D4F8"/>
                </a:solidFill>
              </a:rPr>
              <a:t>Fictional territory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07A51-DD6C-40BE-8632-23F6AB2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D4F8"/>
                </a:solidFill>
              </a:defRPr>
            </a:pPr>
            <a:r>
              <a:rPr sz="1275" b="1">
                <a:solidFill>
                  <a:srgbClr val="C2D4F8"/>
                </a:solidFill>
              </a:rPr>
              <a:t>Account Alpha | approved 17 Jul 2026 | USD 248,000</a:t>
            </a:r>
          </a:p>
          <a:p xmlns:a="http://schemas.openxmlformats.org/drawingml/2006/main">
            <a:pPr algn="l">
              <a:defRPr sz="1275" b="1">
                <a:solidFill>
                  <a:srgbClr val="C2D4F8"/>
                </a:solidFill>
              </a:defRPr>
            </a:pPr>
            <a:r>
              <a:rPr sz="1275" b="1">
                <a:solidFill>
                  <a:srgbClr val="C2D4F8"/>
                </a:solidFill>
              </a:rPr>
              <a:t>Account Beta | planning USD 186,000 | 30 Sep 2026</a:t>
            </a:r>
          </a:p>
        </p:txBody>
      </p:sp>
    </p:spTree>
    <p:extLst>
      <p:ext uri="{BB962C8B-B14F-4D97-AF65-F5344CB8AC3E}">
        <p14:creationId xmlns:p14="http://schemas.microsoft.com/office/powerpoint/2010/main" val="344339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8AAD6-B0F3-4742-B655-E2779D1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42A63-951C-48D4-ADA0-C64BB40F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Alpha protects the close; Beta earns the next investment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1DD1C-51B8-4612-B499-8F0937E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Territory values are scenario amounts for planning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D0B11-EA32-4CAF-9807-C5E8E99B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3A63D-63B8-4138-8DEA-592953F3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1000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B4597-FFA5-4967-AC0F-61196560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1E149-85D3-4A3F-B9D4-E215C9C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Approved /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06FD3-FFC4-47BD-B1EE-7A71B6F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669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E51D8-AACD-481E-A2EA-9D4DD32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33600"/>
            <a:ext cx="4095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4A36B-1FF4-409B-8856-EBA6756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33600"/>
            <a:ext cx="390671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5CC52-504E-413D-A47A-685AD0D7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47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$248,000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E33F3-B289-45BC-8248-59A643D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000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E3B49-DF60-4C10-A01D-BBFFECB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Beta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C1374-3A0D-49DD-B54A-6790885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Planning / 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3E64A-770D-45B8-9E59-016EF53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2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CF803-8F63-4B8C-A1FF-96848268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4095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B537D-5146-4B95-B2E1-48B6F790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93003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03E43-8AEB-42AE-943F-401F48C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$186,000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3723C-E902-40D2-8D70-4AEEE35D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00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4A16F-1CEB-40B2-B96E-D3A45083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Gamma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7B464-61A9-401A-9CFC-4FDFBC2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861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D2F71-BEF1-4D71-82E9-AE0D01C7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6CE5B-DF99-426E-B080-09F21146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48100"/>
            <a:ext cx="4095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4E658-C3AD-45F1-976E-933D0E7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48100"/>
            <a:ext cx="151227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92AF"/>
          </a:solidFill>
          <a:ln xmlns:a="http://schemas.openxmlformats.org/drawingml/2006/main" w="0">
            <a:solidFill>
              <a:srgbClr val="7E92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EF322-0BBE-4DBE-9028-B927E4B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62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$96,000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DF66CD-121E-427B-BFEF-66A2A9F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000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A95B01-0256-4AC8-98C3-4BE85D37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Delta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D72B1-2F1D-4800-BBD6-DEB53C17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434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Discovery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9336B-F31B-486F-BB77-E301572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386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95FF7-DD61-427B-9DF3-9275CF7C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05350"/>
            <a:ext cx="4095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922F0-E28A-4BAF-8246-B7946FB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05350"/>
            <a:ext cx="113420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B2C7"/>
          </a:solidFill>
          <a:ln xmlns:a="http://schemas.openxmlformats.org/drawingml/2006/main" w="0">
            <a:solidFill>
              <a:srgbClr val="A3B2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909D9-9E2B-4E6C-8C57-2D10FFE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19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7"/>
                </a:solidFill>
              </a:defRPr>
            </a:pPr>
            <a:r>
              <a:rPr sz="1050" b="1">
                <a:solidFill>
                  <a:srgbClr val="607087"/>
                </a:solidFill>
              </a:rPr>
              <a:t>$72,000</a:t>
            </a:r>
          </a:p>
        </p:txBody>
      </p:sp>
    </p:spTree>
    <p:extLst>
      <p:ext uri="{BB962C8B-B14F-4D97-AF65-F5344CB8AC3E}">
        <p14:creationId xmlns:p14="http://schemas.microsoft.com/office/powerpoint/2010/main" val="821242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F17A2-550B-439D-9951-9B28A389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BETA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5B477-E75C-4495-91EA-B4FEE21D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Three proof points define a credible September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8B33-C127-4891-8CC6-715AC5E6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Scenario: $186,000 planning value with a 30 Sep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95F34-4713-4F56-8EFF-B96625E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C22A3-D3E9-4F65-8275-622BEF30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F1BFD-0496-4D10-9F38-A43693B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94B8-4227-42D7-9220-7117D8E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Executive alignment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5C773-F56E-49D6-B299-B743D7E6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Clarify the business case and sponsor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8EC68-D24E-433E-998C-71CDB7D0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1A8AD-5670-42D6-9372-465309EF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AF1EE-BAC6-41CD-9A17-8D7C654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Solution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9B538-768B-49A3-9D3A-0821CE4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Validate the implementation sequence.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D3600-F275-48F9-80EF-4AA7533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43125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85A65-E381-44E9-850B-492D265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72154-8F8F-4C8B-9EE4-E1D264A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Commercial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55047-CB7F-4B3D-A4A5-5A8BA4F0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Choose a package that matches the timeline.</a:t>
            </a:r>
          </a:p>
        </p:txBody>
      </p:sp>
    </p:spTree>
    <p:extLst>
      <p:ext uri="{BB962C8B-B14F-4D97-AF65-F5344CB8AC3E}">
        <p14:creationId xmlns:p14="http://schemas.microsoft.com/office/powerpoint/2010/main" val="2074432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5F069-03D7-490D-8900-549C828A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FIELD RHYTHM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00CD1-BC72-4465-A2FC-22BE1B5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Schedule time where it changes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08557-E0DF-448F-911D-0A406958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The cadence separates approved work from exploratory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2934C-AE68-4F34-BFFB-E34BE92C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F8CCD-70BF-49D5-BDC7-7B19FC4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6C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FE738-7CD9-4D1A-B8D3-84BFF63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041AC-42C7-436D-8B24-CBB91BD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17 Jul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4D39D-17E6-4F6B-AE40-F9B1B3FB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Alpha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E778-E5A1-4749-8FE8-EC1D282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Close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632F-9249-4BA4-AF87-D7589C7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6C3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D934B-760E-4377-B15B-994FA452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AF43C-C8FF-472A-93D2-A400863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28 Jul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66830-4E6E-4C31-9C2B-2378AEBD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Beta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FABBD-02C8-4909-B427-3F18415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33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Sponsor alignment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E44C1-8E72-4359-B493-512E67F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6C3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A1101-85EE-4536-B48A-6516BB2C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C3F51-A80B-4DBA-9EEE-B882B17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11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3DDED-DCB3-417B-8278-5C0BB0F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Beta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2CA73-1FDD-4F2D-8E76-1830D66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33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Solution 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06123-B218-411D-8158-C4117BC5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6C3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45EA1-6849-44A5-AED9-C218BDD2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A1814-D0B6-4881-A9FC-72FDEBB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02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8FAE5-5239-4558-9494-651F6F4D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Beta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3D3BB-A064-46FF-A1D1-B841DF5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Commercial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39A11-3123-4977-A410-F761CC3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2095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6C3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6B9E5-A6A8-4342-B332-1A0A748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39316-05FB-4A9B-A2AA-74C7773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90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30 Sep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5CBC9-E587-426C-B8B1-19F40470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04F"/>
                </a:solidFill>
              </a:defRPr>
            </a:pPr>
            <a:r>
              <a:rPr sz="1425" b="1">
                <a:solidFill>
                  <a:srgbClr val="16304F"/>
                </a:solidFill>
              </a:rPr>
              <a:t>Beta planning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8B319-D15C-4C45-9C90-80DDB13B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Decision target</a:t>
            </a:r>
          </a:p>
        </p:txBody>
      </p:sp>
    </p:spTree>
    <p:extLst>
      <p:ext uri="{BB962C8B-B14F-4D97-AF65-F5344CB8AC3E}">
        <p14:creationId xmlns:p14="http://schemas.microsoft.com/office/powerpoint/2010/main" val="1391238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A5421-661D-4337-8E15-C37F6A59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MANAGER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DF225-ED03-4638-BFD4-14C802B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The territory is ready for a focused sponsorship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44F74-7689-402D-AD27-173096D6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Recommended: prioritize Beta executive alignment and retain Gamma/Delta as discovery scenarios.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0EAA9-9696-40D9-BC62-B209E6F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09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7"/>
                </a:solidFill>
              </a:defRPr>
            </a:pPr>
            <a:r>
              <a:rPr sz="750" b="1">
                <a:solidFill>
                  <a:srgbClr val="607087"/>
                </a:solidFill>
              </a:rPr>
              <a:t>NORTHSTAR CLOUD  |  ROWAN MERCER  |  SYNTHETIC PLANNING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DABE8-9752-4117-8AF3-BDA5B5E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971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A8656-E166-4CD7-A2C8-33C2E3E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Decision requested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05E6D-AA28-4DE3-8066-07955AF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0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Approve an August executive alignment meeting for Beta.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5E20D-CF83-47D5-8AAF-1309E230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Keep Gamma ($96K) and Delta ($72K) in discovery; do not elevate them to forecast status.</a:t>
            </a:r>
          </a:p>
        </p:txBody>
      </p:sp>
    </p:spTree>
    <p:extLst>
      <p:ext uri="{BB962C8B-B14F-4D97-AF65-F5344CB8AC3E}">
        <p14:creationId xmlns:p14="http://schemas.microsoft.com/office/powerpoint/2010/main" val="1283636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2026-08-23T17:10:06.2120000Z</dcterms:created>
  <dcterms:modified xsi:type="dcterms:W3CDTF">2026-08-23T17:10:06.2120000Z</dcterms:modified>
</coreProperties>
</file>