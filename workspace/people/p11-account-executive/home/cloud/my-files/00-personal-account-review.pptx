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41ac6fe0c7c45fc" /><Relationship Type="http://schemas.openxmlformats.org/officeDocument/2006/relationships/extended-properties" Target="/docProps/app.xml" Id="Rbf0cac1291d74904" /><Relationship Type="http://schemas.openxmlformats.org/officeDocument/2006/relationships/officeDocument" Target="/ppt/presentation.xml" Id="R68a943610a244e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fd716f25d94b29"/>
  </p:sldMasterIdLst>
  <p:notesMasterIdLst>
    <p:notesMasterId xmlns:r="http://schemas.openxmlformats.org/officeDocument/2006/relationships" r:id="R9c2a71afd5eb427b"/>
  </p:notesMasterIdLst>
  <p:sldIdLst>
    <p:sldId xmlns:r="http://schemas.openxmlformats.org/officeDocument/2006/relationships" id="256" r:id="Rad1a6e8a486f40ea"/>
    <p:sldId xmlns:r="http://schemas.openxmlformats.org/officeDocument/2006/relationships" id="257" r:id="R79dd8d387a2745d1"/>
    <p:sldId xmlns:r="http://schemas.openxmlformats.org/officeDocument/2006/relationships" id="258" r:id="R76f1a781245c4b8d"/>
    <p:sldId xmlns:r="http://schemas.openxmlformats.org/officeDocument/2006/relationships" id="259" r:id="Ree85c051dd254c70"/>
    <p:sldId xmlns:r="http://schemas.openxmlformats.org/officeDocument/2006/relationships" id="260" r:id="R30db1d4ec3f54da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35b3438a0e48ee" /><Relationship Type="http://schemas.openxmlformats.org/officeDocument/2006/relationships/slideMaster" Target="/ppt/slideMasters/slideMaster1.xml" Id="R6bfd716f25d94b29" /><Relationship Type="http://schemas.openxmlformats.org/officeDocument/2006/relationships/notesMaster" Target="/ppt/notesMasters/notesMaster1.xml" Id="R9c2a71afd5eb427b" /><Relationship Type="http://schemas.openxmlformats.org/officeDocument/2006/relationships/presProps" Target="/ppt/presProps.xml" Id="R20af67bcec544f35" /><Relationship Type="http://schemas.openxmlformats.org/officeDocument/2006/relationships/tableStyles" Target="/ppt/tableStyles.xml" Id="R1439926a11ec4cd1" /><Relationship Type="http://schemas.openxmlformats.org/officeDocument/2006/relationships/slide" Target="/ppt/slides/slide1.xml" Id="Rad1a6e8a486f40ea" /><Relationship Type="http://schemas.openxmlformats.org/officeDocument/2006/relationships/slide" Target="/ppt/slides/slide2.xml" Id="R79dd8d387a2745d1" /><Relationship Type="http://schemas.openxmlformats.org/officeDocument/2006/relationships/slide" Target="/ppt/slides/slide3.xml" Id="R76f1a781245c4b8d" /><Relationship Type="http://schemas.openxmlformats.org/officeDocument/2006/relationships/slide" Target="/ppt/slides/slide4.xml" Id="Ree85c051dd254c70" /><Relationship Type="http://schemas.openxmlformats.org/officeDocument/2006/relationships/slide" Target="/ppt/slides/slide5.xml" Id="R30db1d4ec3f54d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675524514c5449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a14c393bee41f9" /><Relationship Type="http://schemas.openxmlformats.org/officeDocument/2006/relationships/notesMaster" Target="/ppt/notesMasters/notesMaster1.xml" Id="R6e5e7691b4644dc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94b064ae92640f7" /><Relationship Type="http://schemas.openxmlformats.org/officeDocument/2006/relationships/notesMaster" Target="/ppt/notesMasters/notesMaster1.xml" Id="Rff55e6e3a56d46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4a387cb150a43ef" /><Relationship Type="http://schemas.openxmlformats.org/officeDocument/2006/relationships/notesMaster" Target="/ppt/notesMasters/notesMaster1.xml" Id="Red6deed996344c9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2d8067439446ae" /><Relationship Type="http://schemas.openxmlformats.org/officeDocument/2006/relationships/notesMaster" Target="/ppt/notesMasters/notesMaster1.xml" Id="Rb8da3be686d441e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73db584be0c4f5e" /><Relationship Type="http://schemas.openxmlformats.org/officeDocument/2006/relationships/notesMaster" Target="/ppt/notesMasters/notesMaster1.xml" Id="R2dc45c2c9b274f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32ec9565554ae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5f6b18bb7ca4160" /><Relationship Type="http://schemas.openxmlformats.org/officeDocument/2006/relationships/slideLayout" Target="/ppt/slideLayouts/slideLayout1.xml" Id="R93f884bd69dd4d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f884bd69dd4d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7966b558fd4be3" /><Relationship Type="http://schemas.openxmlformats.org/officeDocument/2006/relationships/notesSlide" Target="/ppt/notesSlides/notesSlide1.xml" Id="Re62b96e996a24df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a0da7515db481e" /><Relationship Type="http://schemas.openxmlformats.org/officeDocument/2006/relationships/notesSlide" Target="/ppt/notesSlides/notesSlide2.xml" Id="R3c667d75cffc48e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1191b426a74d26" /><Relationship Type="http://schemas.openxmlformats.org/officeDocument/2006/relationships/notesSlide" Target="/ppt/notesSlides/notesSlide3.xml" Id="R0000c21bb5d5477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9e198162654d8e" /><Relationship Type="http://schemas.openxmlformats.org/officeDocument/2006/relationships/notesSlide" Target="/ppt/notesSlides/notesSlide4.xml" Id="Rb1803ed5b95f41d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3be4c980084ec2" /><Relationship Type="http://schemas.openxmlformats.org/officeDocument/2006/relationships/notesSlide" Target="/ppt/notesSlides/notesSlide5.xml" Id="Rd0e3efa290fc40c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64534F-9395-45CF-ABA8-5AAD246D5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FB1FF"/>
                </a:solidFill>
              </a:defRPr>
            </a:pPr>
            <a:r>
              <a:rPr sz="1125" b="1">
                <a:solidFill>
                  <a:srgbClr val="8FB1FF"/>
                </a:solidFill>
              </a:rPr>
              <a:t>PERSONAL ACCOUNT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6AF9B2-366D-465A-9352-037E9103B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7239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A focused close plan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for a clean July finish.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B09B2E-C231-4EAF-8802-28A7EE1D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9E5FF"/>
                </a:solidFill>
              </a:defRPr>
            </a:pPr>
            <a:r>
              <a:rPr sz="1500" b="0">
                <a:solidFill>
                  <a:srgbClr val="D9E5FF"/>
                </a:solidFill>
              </a:rPr>
              <a:t>Rowan Mercer  |  Account Executive</a:t>
            </a:r>
          </a:p>
          <a:p xmlns:a="http://schemas.openxmlformats.org/drawingml/2006/main">
            <a:pPr algn="l">
              <a:defRPr sz="1500" b="0">
                <a:solidFill>
                  <a:srgbClr val="D9E5FF"/>
                </a:solidFill>
              </a:defRPr>
            </a:pPr>
            <a:r>
              <a:rPr sz="1500" b="0">
                <a:solidFill>
                  <a:srgbClr val="D9E5FF"/>
                </a:solidFill>
              </a:rPr>
              <a:t>Working review - fictional planning data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A4EB5F-47EB-4FBB-A2A7-DB737FAE8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104900"/>
            <a:ext cx="2762250" cy="361950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102B50"/>
          </a:solidFill>
          <a:ln xmlns:a="http://schemas.openxmlformats.org/drawingml/2006/main" w="0">
            <a:solidFill>
              <a:srgbClr val="102B5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FEB8F2-B4E3-46E4-8416-B046F4FC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4668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FB1FF"/>
                </a:solidFill>
              </a:defRPr>
            </a:pPr>
            <a:r>
              <a:rPr sz="1125" b="1">
                <a:solidFill>
                  <a:srgbClr val="8FB1FF"/>
                </a:solidFill>
              </a:rPr>
              <a:t>JULY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A2B55B-BF4E-4FCE-B86B-4FE620E8C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000250"/>
            <a:ext cx="209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$248K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912BED-A1CE-43D6-9D13-35C49B963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7241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BD1FF"/>
                </a:solidFill>
              </a:defRPr>
            </a:pPr>
            <a:r>
              <a:rPr sz="1425" b="1">
                <a:solidFill>
                  <a:srgbClr val="BBD1FF"/>
                </a:solidFill>
              </a:rPr>
              <a:t>Alpha approved</a:t>
            </a:r>
          </a:p>
          <a:p xmlns:a="http://schemas.openxmlformats.org/drawingml/2006/main">
            <a:pPr algn="l">
              <a:defRPr sz="1425" b="1">
                <a:solidFill>
                  <a:srgbClr val="BBD1FF"/>
                </a:solidFill>
              </a:defRPr>
            </a:pPr>
            <a:r>
              <a:rPr sz="1425" b="1">
                <a:solidFill>
                  <a:srgbClr val="BBD1FF"/>
                </a:solidFill>
              </a:rPr>
              <a:t>17 Jul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BB2EF2-AB76-4FD0-88A5-DE0D2B2E9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290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BD1FF"/>
                </a:solidFill>
              </a:defRPr>
            </a:pPr>
            <a:r>
              <a:rPr sz="1200" b="0">
                <a:solidFill>
                  <a:srgbClr val="BBD1FF"/>
                </a:solidFill>
              </a:rPr>
              <a:t>Next: document implementation handoff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63B57A-5AA0-4842-A0A8-F8C31E8E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BD1FF"/>
                </a:solidFill>
              </a:defRPr>
            </a:pPr>
            <a:r>
              <a:rPr sz="1275" b="1">
                <a:solidFill>
                  <a:srgbClr val="BBD1FF"/>
                </a:solidFill>
              </a:rPr>
              <a:t>Account Alpha approved 17 Jul 2026 | USD 248,000</a:t>
            </a:r>
          </a:p>
          <a:p xmlns:a="http://schemas.openxmlformats.org/drawingml/2006/main">
            <a:pPr algn="l">
              <a:defRPr sz="1275" b="1">
                <a:solidFill>
                  <a:srgbClr val="BBD1FF"/>
                </a:solidFill>
              </a:defRPr>
            </a:pPr>
            <a:r>
              <a:rPr sz="1275" b="1">
                <a:solidFill>
                  <a:srgbClr val="BBD1FF"/>
                </a:solidFill>
              </a:rPr>
              <a:t>Account Beta planning USD 186,000 | 30 Sep 2026</a:t>
            </a:r>
          </a:p>
        </p:txBody>
      </p:sp>
    </p:spTree>
    <p:extLst>
      <p:ext uri="{BB962C8B-B14F-4D97-AF65-F5344CB8AC3E}">
        <p14:creationId xmlns:p14="http://schemas.microsoft.com/office/powerpoint/2010/main" val="21460384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CEC9BC-4ED2-4AB2-82EB-3EC37358F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BFF"/>
                </a:solidFill>
              </a:defRPr>
            </a:pPr>
            <a:r>
              <a:rPr sz="900" b="1">
                <a:solidFill>
                  <a:srgbClr val="2F6BFF"/>
                </a:solidFill>
              </a:rPr>
              <a:t>PORTFOLIO 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6D665C-75F9-4371-B5F6-174515702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One approved anchor, one planned expansion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3A087D-B456-47AE-9D62-7975E5731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087"/>
                </a:solidFill>
              </a:defRPr>
            </a:pPr>
            <a:r>
              <a:rPr sz="1275" b="0">
                <a:solidFill>
                  <a:srgbClr val="607087"/>
                </a:solidFill>
              </a:rPr>
              <a:t>Pipeline positions are fictional planning scenarios, not reported performance.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F82B17-C789-4CE9-9C1B-7C09F5007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8096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07087"/>
                </a:solidFill>
              </a:defRPr>
            </a:pPr>
            <a:r>
              <a:rPr sz="750" b="1">
                <a:solidFill>
                  <a:srgbClr val="607087"/>
                </a:solidFill>
              </a:rPr>
              <a:t>NORTHSTAR CLOUD  |  ROWAN MERCER  |  SYNTHETIC PLANNING FILE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6206E8-AFE8-4382-A324-976893F4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31432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35BEB4-AD4D-4EFC-B711-9AC704822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81200"/>
            <a:ext cx="2724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087"/>
                </a:solidFill>
              </a:defRPr>
            </a:pPr>
            <a:r>
              <a:rPr sz="825" b="1">
                <a:solidFill>
                  <a:srgbClr val="607087"/>
                </a:solidFill>
              </a:rPr>
              <a:t>APPROVED - ALPHA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E53ABA-1308-46AA-A815-4709F436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57425"/>
            <a:ext cx="2724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F3A"/>
                </a:solidFill>
              </a:defRPr>
            </a:pPr>
            <a:r>
              <a:rPr sz="2250" b="1">
                <a:solidFill>
                  <a:srgbClr val="0B1F3A"/>
                </a:solidFill>
              </a:rPr>
              <a:t>$248,000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773EEF-195A-4435-BBFE-8C3B749A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6667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solidFill>
              <a:srgbClr val="18A99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2A707F-72EA-4C69-8F51-28DA061C1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790700"/>
            <a:ext cx="31432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0AFD02-FE05-4A3C-9A76-2C4D468A8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81200"/>
            <a:ext cx="2724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087"/>
                </a:solidFill>
              </a:defRPr>
            </a:pPr>
            <a:r>
              <a:rPr sz="825" b="1">
                <a:solidFill>
                  <a:srgbClr val="607087"/>
                </a:solidFill>
              </a:rPr>
              <a:t>PLANNING - BETA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2EAB0E-EFCB-4744-A6BE-3CC1D8AD5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57425"/>
            <a:ext cx="2724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F3A"/>
                </a:solidFill>
              </a:defRPr>
            </a:pPr>
            <a:r>
              <a:rPr sz="2250" b="1">
                <a:solidFill>
                  <a:srgbClr val="0B1F3A"/>
                </a:solidFill>
              </a:rPr>
              <a:t>$186,000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A3A261-C4DE-4A7F-9293-591A85BC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790700"/>
            <a:ext cx="6667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82E20E-48A9-4EBE-82E8-7E4493C77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790700"/>
            <a:ext cx="31432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5ADB17-7650-40E4-B2C4-2B0BEFC67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981200"/>
            <a:ext cx="2724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087"/>
                </a:solidFill>
              </a:defRPr>
            </a:pPr>
            <a:r>
              <a:rPr sz="825" b="1">
                <a:solidFill>
                  <a:srgbClr val="607087"/>
                </a:solidFill>
              </a:rPr>
              <a:t>SCENARIO COVERAGE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7333D7-E280-40E0-B314-1EE1DEB5C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257425"/>
            <a:ext cx="2724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F3A"/>
                </a:solidFill>
              </a:defRPr>
            </a:pPr>
            <a:r>
              <a:rPr sz="2250" b="1">
                <a:solidFill>
                  <a:srgbClr val="0B1F3A"/>
                </a:solidFill>
              </a:rPr>
              <a:t>$602,000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BFCDF2-96C6-43C9-9E6D-7ABC4A467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790700"/>
            <a:ext cx="6667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solidFill>
              <a:srgbClr val="0B1F3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2A1B88-AE44-465B-957B-51E8C77B9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304F"/>
                </a:solidFill>
              </a:defRPr>
            </a:pPr>
            <a:r>
              <a:rPr sz="1125" b="1">
                <a:solidFill>
                  <a:srgbClr val="16304F"/>
                </a:solidFill>
              </a:rPr>
              <a:t>Alpha | approved 17 Jul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FB4F40-0E3B-4287-9F36-921B1196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85725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3EC"/>
          </a:solidFill>
          <a:ln xmlns:a="http://schemas.openxmlformats.org/drawingml/2006/main" w="0">
            <a:solidFill>
              <a:srgbClr val="DCE3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77569F-691B-4DC7-A5B9-87D6B25C3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8176846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A999"/>
          </a:solidFill>
          <a:ln xmlns:a="http://schemas.openxmlformats.org/drawingml/2006/main" w="0">
            <a:solidFill>
              <a:srgbClr val="18A99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C25A2D-E89B-47E3-9EAB-EB4A4441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6957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07087"/>
                </a:solidFill>
              </a:defRPr>
            </a:pPr>
            <a:r>
              <a:rPr sz="1050" b="1">
                <a:solidFill>
                  <a:srgbClr val="607087"/>
                </a:solidFill>
              </a:rPr>
              <a:t>$248,000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9C8734-1723-480E-B189-1B58D2FFF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304F"/>
                </a:solidFill>
              </a:defRPr>
            </a:pPr>
            <a:r>
              <a:rPr sz="1125" b="1">
                <a:solidFill>
                  <a:srgbClr val="16304F"/>
                </a:solidFill>
              </a:rPr>
              <a:t>Beta | planning 30 Sep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08FB49-715A-48A5-A8BE-B371BFC6A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85725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3EC"/>
          </a:solidFill>
          <a:ln xmlns:a="http://schemas.openxmlformats.org/drawingml/2006/main" w="0">
            <a:solidFill>
              <a:srgbClr val="DCE3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BC7EFA-EDA1-492B-BCED-F98A0E1F2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6132635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A38A11-5547-441F-8EB3-51F54D59A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815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07087"/>
                </a:solidFill>
              </a:defRPr>
            </a:pPr>
            <a:r>
              <a:rPr sz="1050" b="1">
                <a:solidFill>
                  <a:srgbClr val="607087"/>
                </a:solidFill>
              </a:rPr>
              <a:t>$186,000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45ED86-AFA9-489A-A90D-C1DA51E0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304F"/>
                </a:solidFill>
              </a:defRPr>
            </a:pPr>
            <a:r>
              <a:rPr sz="1125" b="1">
                <a:solidFill>
                  <a:srgbClr val="16304F"/>
                </a:solidFill>
              </a:rPr>
              <a:t>Gamma + Delta | discovery scenarios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55111A-B2CC-4D0C-8C5E-B8F18870B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85725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3EC"/>
          </a:solidFill>
          <a:ln xmlns:a="http://schemas.openxmlformats.org/drawingml/2006/main" w="0">
            <a:solidFill>
              <a:srgbClr val="DCE3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09400C-996C-469F-AEA8-79499240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5539154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AA1BE"/>
          </a:solidFill>
          <a:ln xmlns:a="http://schemas.openxmlformats.org/drawingml/2006/main" w="0">
            <a:solidFill>
              <a:srgbClr val="8AA1B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B58C58-F594-4AAB-8CBD-E85BE1DD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0673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07087"/>
                </a:solidFill>
              </a:defRPr>
            </a:pPr>
            <a:r>
              <a:rPr sz="1050" b="1">
                <a:solidFill>
                  <a:srgbClr val="607087"/>
                </a:solidFill>
              </a:rPr>
              <a:t>$168,000</a:t>
            </a:r>
          </a:p>
        </p:txBody>
      </p:sp>
    </p:spTree>
    <p:extLst>
      <p:ext uri="{BB962C8B-B14F-4D97-AF65-F5344CB8AC3E}">
        <p14:creationId xmlns:p14="http://schemas.microsoft.com/office/powerpoint/2010/main" val="20986790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63C1E2-F072-46E8-8374-1612E9A33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BFF"/>
                </a:solidFill>
              </a:defRPr>
            </a:pPr>
            <a:r>
              <a:rPr sz="900" b="1">
                <a:solidFill>
                  <a:srgbClr val="2F6BFF"/>
                </a:solidFill>
              </a:rPr>
              <a:t>ALPHA CLOSE RECORD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A70DF2-710C-43B6-A211-EE8D2F209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Approved scope is reconciled to $248,000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98DA56-E6AB-406A-B3B0-19CE6DAF0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087"/>
                </a:solidFill>
              </a:defRPr>
            </a:pPr>
            <a:r>
              <a:rPr sz="1275" b="0">
                <a:solidFill>
                  <a:srgbClr val="607087"/>
                </a:solidFill>
              </a:rPr>
              <a:t>Commercial components prepared for handoff.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69CAEF-E863-49F7-9630-CCB9C512A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8096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07087"/>
                </a:solidFill>
              </a:defRPr>
            </a:pPr>
            <a:r>
              <a:rPr sz="750" b="1">
                <a:solidFill>
                  <a:srgbClr val="607087"/>
                </a:solidFill>
              </a:rPr>
              <a:t>NORTHSTAR CLOUD  |  ROWAN MERCER  |  SYNTHETIC PLANNING FILE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514E16-9B2C-4F6E-8E85-C57E1458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8191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56A819-2A59-48D9-AF4E-25C2AEE34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304F"/>
                </a:solidFill>
              </a:defRPr>
            </a:pPr>
            <a:r>
              <a:rPr sz="1425" b="1">
                <a:solidFill>
                  <a:srgbClr val="16304F"/>
                </a:solidFill>
              </a:rPr>
              <a:t>Platform subscription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AA4591-3AE5-4ACF-AC61-73F795C89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955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0B1F3A"/>
                </a:solidFill>
              </a:defRPr>
            </a:pPr>
            <a:r>
              <a:rPr sz="1425" b="1">
                <a:solidFill>
                  <a:srgbClr val="0B1F3A"/>
                </a:solidFill>
              </a:rPr>
              <a:t>$210,000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8A3F0B-C650-405E-9402-F248A1F43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8191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AE2838-CE36-456E-BB41-B3D069557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146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304F"/>
                </a:solidFill>
              </a:defRPr>
            </a:pPr>
            <a:r>
              <a:rPr sz="1425" b="1">
                <a:solidFill>
                  <a:srgbClr val="16304F"/>
                </a:solidFill>
              </a:rPr>
              <a:t>Enablement package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E0BA7E-A408-479B-98C3-B845B987B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146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0B1F3A"/>
                </a:solidFill>
              </a:defRPr>
            </a:pPr>
            <a:r>
              <a:rPr sz="1425" b="1">
                <a:solidFill>
                  <a:srgbClr val="0B1F3A"/>
                </a:solidFill>
              </a:rPr>
              <a:t>$24,000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FE1D78-CA8F-4AF2-AE63-E6CC3649E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62350"/>
            <a:ext cx="8191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E04753-157E-41D3-8251-834DCF10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338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304F"/>
                </a:solidFill>
              </a:defRPr>
            </a:pPr>
            <a:r>
              <a:rPr sz="1425" b="1">
                <a:solidFill>
                  <a:srgbClr val="16304F"/>
                </a:solidFill>
              </a:rPr>
              <a:t>Premium support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765A28-E93C-4E8B-B3A1-6E444D86C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338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0B1F3A"/>
                </a:solidFill>
              </a:defRPr>
            </a:pPr>
            <a:r>
              <a:rPr sz="1425" b="1">
                <a:solidFill>
                  <a:srgbClr val="0B1F3A"/>
                </a:solidFill>
              </a:rPr>
              <a:t>$14,000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F409A6-BBA8-46CA-B61C-2D33B7E0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0"/>
            <a:ext cx="8191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solidFill>
              <a:srgbClr val="0B1F3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E04165-34E5-47D0-8251-A301588F2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2917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Approved total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6F9062-00BC-4DA0-98F0-BF7760CC9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8291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$248,000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1096D4-885E-4132-AF30-AB74C99C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924050"/>
            <a:ext cx="1809750" cy="342900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4F7F2"/>
          </a:solidFill>
          <a:ln xmlns:a="http://schemas.openxmlformats.org/drawingml/2006/main" w="0">
            <a:solidFill>
              <a:srgbClr val="E4F7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FD3B92-8180-411C-82BD-0B1CB550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2098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8A999"/>
                </a:solidFill>
              </a:defRPr>
            </a:pPr>
            <a:r>
              <a:rPr sz="900" b="1">
                <a:solidFill>
                  <a:srgbClr val="18A999"/>
                </a:solidFill>
              </a:rPr>
              <a:t>CLOSE CHECK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0B7918-337C-43FB-AB8F-F5F564F10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686050"/>
            <a:ext cx="1333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Approved</a:t>
            </a:r>
          </a:p>
          <a:p xmlns:a="http://schemas.openxmlformats.org/drawingml/2006/main">
            <a:pPr algn="l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17 Jul 2026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93C174-46E9-42D3-B88D-C69713F32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714750"/>
            <a:ext cx="1333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304F"/>
                </a:solidFill>
              </a:defRPr>
            </a:pPr>
            <a:r>
              <a:rPr sz="1200" b="0">
                <a:solidFill>
                  <a:srgbClr val="16304F"/>
                </a:solidFill>
              </a:rPr>
              <a:t>Handoff</a:t>
            </a:r>
          </a:p>
          <a:p xmlns:a="http://schemas.openxmlformats.org/drawingml/2006/main">
            <a:pPr algn="l">
              <a:defRPr sz="1200" b="0">
                <a:solidFill>
                  <a:srgbClr val="16304F"/>
                </a:solidFill>
              </a:defRPr>
            </a:pPr>
            <a:r>
              <a:rPr sz="1200" b="0">
                <a:solidFill>
                  <a:srgbClr val="16304F"/>
                </a:solidFill>
              </a:rPr>
              <a:t>Document owners</a:t>
            </a:r>
          </a:p>
          <a:p xmlns:a="http://schemas.openxmlformats.org/drawingml/2006/main">
            <a:pPr algn="l">
              <a:defRPr sz="1200" b="0">
                <a:solidFill>
                  <a:srgbClr val="16304F"/>
                </a:solidFill>
              </a:defRPr>
            </a:pPr>
            <a:r>
              <a:rPr sz="1200" b="0">
                <a:solidFill>
                  <a:srgbClr val="16304F"/>
                </a:solidFill>
              </a:rPr>
              <a:t>and adoption path</a:t>
            </a:r>
          </a:p>
        </p:txBody>
      </p:sp>
    </p:spTree>
    <p:extLst>
      <p:ext uri="{BB962C8B-B14F-4D97-AF65-F5344CB8AC3E}">
        <p14:creationId xmlns:p14="http://schemas.microsoft.com/office/powerpoint/2010/main" val="9864958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8F912E-86E9-4AED-877E-5EF83DE58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BFF"/>
                </a:solidFill>
              </a:defRPr>
            </a:pPr>
            <a:r>
              <a:rPr sz="900" b="1">
                <a:solidFill>
                  <a:srgbClr val="2F6BFF"/>
                </a:solidFill>
              </a:rPr>
              <a:t>NEXT ACTIONS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C7BA26-EEBE-455C-AD86-B1F26D721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Beta planning needs a decision path before September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858773-6632-4EFD-9CAD-BB711252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087"/>
                </a:solidFill>
              </a:defRPr>
            </a:pPr>
            <a:r>
              <a:rPr sz="1275" b="0">
                <a:solidFill>
                  <a:srgbClr val="607087"/>
                </a:solidFill>
              </a:rPr>
              <a:t>Keep the next cycle narrow: validate sponsor, scope, and timing.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12C196-0C64-4CAF-9EA4-67071382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8096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07087"/>
                </a:solidFill>
              </a:defRPr>
            </a:pPr>
            <a:r>
              <a:rPr sz="750" b="1">
                <a:solidFill>
                  <a:srgbClr val="607087"/>
                </a:solidFill>
              </a:rPr>
              <a:t>NORTHSTAR CLOUD  |  ROWAN MERCER  |  SYNTHETIC PLANNING FILE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FE4882-73A9-4BFA-AAF6-AA01BD852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05000"/>
            <a:ext cx="9239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961395-18A0-4A23-AFCD-0F67AC53D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057400"/>
            <a:ext cx="476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93F318-E7C1-4674-A72C-4A8894C8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621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A8AE76-9F43-4D7C-B71E-D46E57A22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85975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Confirm Beta stakeholder map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BBF24C-38F1-4391-80B8-C93EC77B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352675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087"/>
                </a:solidFill>
              </a:defRPr>
            </a:pPr>
            <a:r>
              <a:rPr sz="1125" b="0">
                <a:solidFill>
                  <a:srgbClr val="607087"/>
                </a:solidFill>
              </a:rPr>
              <a:t>28 Jul  |  Rowan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60BCCB-8263-4857-B849-C38BE2D98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71800"/>
            <a:ext cx="9239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C1D3A1-7505-40E7-AC8C-7BDAEBC4B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24200"/>
            <a:ext cx="476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02D43A-FFEC-470E-803E-A2641AC99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289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DAE471-583E-4803-A356-848D65A49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152775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Run solution design checkpoint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0F87E9-900A-4B0F-B829-07A8CBE31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419475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087"/>
                </a:solidFill>
              </a:defRPr>
            </a:pPr>
            <a:r>
              <a:rPr sz="1125" b="0">
                <a:solidFill>
                  <a:srgbClr val="607087"/>
                </a:solidFill>
              </a:rPr>
              <a:t>11 Aug  |  Rowan + 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5D73DB-C705-4032-B821-91E161A71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38600"/>
            <a:ext cx="9239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978DC8-4EA2-4AE1-87C7-06B0AFE66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91000"/>
            <a:ext cx="476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CCF53D-DF73-4550-95BF-FD9AD4106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957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2F56AB-3804-4F73-879F-85FCF0AE5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219575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Review commercial options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3B4670-9513-493B-BA23-59EB19ABC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486275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087"/>
                </a:solidFill>
              </a:defRPr>
            </a:pPr>
            <a:r>
              <a:rPr sz="1125" b="0">
                <a:solidFill>
                  <a:srgbClr val="607087"/>
                </a:solidFill>
              </a:rPr>
              <a:t>02 Sep  |  Beta sponsor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9E63FE-7C69-4FDD-A09C-8729DC43A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197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7"/>
                </a:solidFill>
              </a:defRPr>
            </a:pPr>
            <a:r>
              <a:rPr sz="1350" b="0">
                <a:solidFill>
                  <a:srgbClr val="607087"/>
                </a:solidFill>
              </a:rPr>
              <a:t>Planning intent: maintain pace while avoiding an implied forecast.</a:t>
            </a:r>
          </a:p>
        </p:txBody>
      </p:sp>
    </p:spTree>
    <p:extLst>
      <p:ext uri="{BB962C8B-B14F-4D97-AF65-F5344CB8AC3E}">
        <p14:creationId xmlns:p14="http://schemas.microsoft.com/office/powerpoint/2010/main" val="2671189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2E1A59-F1E6-4829-9223-073697ACA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BFF"/>
                </a:solidFill>
              </a:defRPr>
            </a:pPr>
            <a:r>
              <a:rPr sz="900" b="1">
                <a:solidFill>
                  <a:srgbClr val="2F6BFF"/>
                </a:solidFill>
              </a:rPr>
              <a:t>MANAGER ASK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B7B19A-FABB-496C-9FAE-75A0ACC7F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Align on Beta sponsorship and travel timing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230E2A-468F-447F-8133-3583C9201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087"/>
                </a:solidFill>
              </a:defRPr>
            </a:pPr>
            <a:r>
              <a:rPr sz="1275" b="0">
                <a:solidFill>
                  <a:srgbClr val="607087"/>
                </a:solidFill>
              </a:rPr>
              <a:t>A short decision would protect the September planning window.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C3DDFF-C888-4CD9-B48A-38E7EE53F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8096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07087"/>
                </a:solidFill>
              </a:defRPr>
            </a:pPr>
            <a:r>
              <a:rPr sz="750" b="1">
                <a:solidFill>
                  <a:srgbClr val="607087"/>
                </a:solidFill>
              </a:rPr>
              <a:t>NORTHSTAR CLOUD  |  ROWAN MERCER  |  SYNTHETIC PLANNING FILE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14BF08-A3A9-4180-A80B-BC0C234C9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65722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09C37F-BA4A-4CAA-BE5B-5BAF6FBDC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479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6BFF"/>
                </a:solidFill>
              </a:defRPr>
            </a:pPr>
            <a:r>
              <a:rPr sz="1350" b="1">
                <a:solidFill>
                  <a:srgbClr val="2F6BFF"/>
                </a:solidFill>
              </a:rPr>
              <a:t>Request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5D6642-0287-43D3-954B-46989E85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67000"/>
            <a:ext cx="571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F3A"/>
                </a:solidFill>
              </a:defRPr>
            </a:pPr>
            <a:r>
              <a:rPr sz="2025" b="1">
                <a:solidFill>
                  <a:srgbClr val="0B1F3A"/>
                </a:solidFill>
              </a:rPr>
              <a:t>Confirm whether an August executive alignment</a:t>
            </a:r>
          </a:p>
          <a:p xmlns:a="http://schemas.openxmlformats.org/drawingml/2006/main">
            <a:pPr algn="l">
              <a:defRPr sz="2025" b="1">
                <a:solidFill>
                  <a:srgbClr val="0B1F3A"/>
                </a:solidFill>
              </a:defRPr>
            </a:pPr>
            <a:r>
              <a:rPr sz="2025" b="1">
                <a:solidFill>
                  <a:srgbClr val="0B1F3A"/>
                </a:solidFill>
              </a:rPr>
              <a:t>meeting is the right next step for Beta.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F321A2-2D11-4B8C-86D2-1EF72B62A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76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087"/>
                </a:solidFill>
              </a:defRPr>
            </a:pPr>
            <a:r>
              <a:rPr sz="1275" b="0">
                <a:solidFill>
                  <a:srgbClr val="607087"/>
                </a:solidFill>
              </a:rPr>
              <a:t>Recommended owner: Priya Noland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EFB2D0-F1BD-4557-8296-3AF719A60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52625"/>
            <a:ext cx="31432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4F7F2"/>
          </a:solidFill>
          <a:ln xmlns:a="http://schemas.openxmlformats.org/drawingml/2006/main" w="0">
            <a:solidFill>
              <a:srgbClr val="E4F7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8E00BD-D259-4C00-84FE-9D6CE7A91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669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A999"/>
                </a:solidFill>
              </a:defRPr>
            </a:pPr>
            <a:r>
              <a:rPr sz="975" b="1">
                <a:solidFill>
                  <a:srgbClr val="18A999"/>
                </a:solidFill>
              </a:rPr>
              <a:t>WHY NOW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E1EBC9-A3E4-48CA-8F09-DE840F33F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86050"/>
            <a:ext cx="238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A"/>
                </a:solidFill>
              </a:defRPr>
            </a:pPr>
            <a:r>
              <a:rPr sz="2325" b="1">
                <a:solidFill>
                  <a:srgbClr val="0B1F3A"/>
                </a:solidFill>
              </a:rPr>
              <a:t>Beta planning</a:t>
            </a:r>
          </a:p>
          <a:p xmlns:a="http://schemas.openxmlformats.org/drawingml/2006/main">
            <a:pPr algn="l">
              <a:defRPr sz="2325" b="1">
                <a:solidFill>
                  <a:srgbClr val="0B1F3A"/>
                </a:solidFill>
              </a:defRPr>
            </a:pPr>
            <a:r>
              <a:rPr sz="2325" b="1">
                <a:solidFill>
                  <a:srgbClr val="0B1F3A"/>
                </a:solidFill>
              </a:rPr>
              <a:t>$186,000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A1748D-B27B-4B63-BF00-0AC0D859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1950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304F"/>
                </a:solidFill>
              </a:defRPr>
            </a:pPr>
            <a:r>
              <a:rPr sz="1275" b="1">
                <a:solidFill>
                  <a:srgbClr val="16304F"/>
                </a:solidFill>
              </a:rPr>
              <a:t>Target planning date</a:t>
            </a:r>
          </a:p>
          <a:p xmlns:a="http://schemas.openxmlformats.org/drawingml/2006/main">
            <a:pPr algn="l">
              <a:defRPr sz="1275" b="1">
                <a:solidFill>
                  <a:srgbClr val="16304F"/>
                </a:solidFill>
              </a:defRPr>
            </a:pPr>
            <a:r>
              <a:rPr sz="1275" b="1">
                <a:solidFill>
                  <a:srgbClr val="16304F"/>
                </a:solidFill>
              </a:rPr>
              <a:t>30 Sep 2026</a:t>
            </a:r>
          </a:p>
        </p:txBody>
      </p:sp>
    </p:spTree>
    <p:extLst>
      <p:ext uri="{BB962C8B-B14F-4D97-AF65-F5344CB8AC3E}">
        <p14:creationId xmlns:p14="http://schemas.microsoft.com/office/powerpoint/2010/main" val="20754474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2026-08-23T17:10:05.9010000Z</dcterms:created>
  <dcterms:modified xsi:type="dcterms:W3CDTF">2026-08-23T17:10:05.9010000Z</dcterms:modified>
</coreProperties>
</file>