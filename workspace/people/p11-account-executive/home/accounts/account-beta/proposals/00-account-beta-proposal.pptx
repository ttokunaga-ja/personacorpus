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20d74cd33e4b2b" /><Relationship Type="http://schemas.openxmlformats.org/officeDocument/2006/relationships/extended-properties" Target="/docProps/app.xml" Id="Rf7b799fb6b3c4c41" /><Relationship Type="http://schemas.openxmlformats.org/officeDocument/2006/relationships/officeDocument" Target="/ppt/presentation.xml" Id="Rcfa5e309414a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674e2a86d1424b"/>
  </p:sldMasterIdLst>
  <p:notesMasterIdLst>
    <p:notesMasterId xmlns:r="http://schemas.openxmlformats.org/officeDocument/2006/relationships" r:id="Re5a1f58076874335"/>
  </p:notesMasterIdLst>
  <p:sldIdLst>
    <p:sldId xmlns:r="http://schemas.openxmlformats.org/officeDocument/2006/relationships" id="256" r:id="R456823c53541444c"/>
    <p:sldId xmlns:r="http://schemas.openxmlformats.org/officeDocument/2006/relationships" id="257" r:id="R1b99e1de974047a0"/>
    <p:sldId xmlns:r="http://schemas.openxmlformats.org/officeDocument/2006/relationships" id="258" r:id="R9a6d7ae018e94a96"/>
    <p:sldId xmlns:r="http://schemas.openxmlformats.org/officeDocument/2006/relationships" id="259" r:id="Rb3882b97f76547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ff8063bac74641" /><Relationship Type="http://schemas.openxmlformats.org/officeDocument/2006/relationships/slideMaster" Target="/ppt/slideMasters/slideMaster1.xml" Id="R52674e2a86d1424b" /><Relationship Type="http://schemas.openxmlformats.org/officeDocument/2006/relationships/notesMaster" Target="/ppt/notesMasters/notesMaster1.xml" Id="Re5a1f58076874335" /><Relationship Type="http://schemas.openxmlformats.org/officeDocument/2006/relationships/presProps" Target="/ppt/presProps.xml" Id="Rd880b00228704e0a" /><Relationship Type="http://schemas.openxmlformats.org/officeDocument/2006/relationships/tableStyles" Target="/ppt/tableStyles.xml" Id="Rcd2d2278723140d0" /><Relationship Type="http://schemas.openxmlformats.org/officeDocument/2006/relationships/slide" Target="/ppt/slides/slide1.xml" Id="R456823c53541444c" /><Relationship Type="http://schemas.openxmlformats.org/officeDocument/2006/relationships/slide" Target="/ppt/slides/slide2.xml" Id="R1b99e1de974047a0" /><Relationship Type="http://schemas.openxmlformats.org/officeDocument/2006/relationships/slide" Target="/ppt/slides/slide3.xml" Id="R9a6d7ae018e94a96" /><Relationship Type="http://schemas.openxmlformats.org/officeDocument/2006/relationships/slide" Target="/ppt/slides/slide4.xml" Id="Rb3882b97f76547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207dfb3892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416427d4c248c7" /><Relationship Type="http://schemas.openxmlformats.org/officeDocument/2006/relationships/notesMaster" Target="/ppt/notesMasters/notesMaster1.xml" Id="Rc5c1e6498fff4c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c5ede4bb5843cc" /><Relationship Type="http://schemas.openxmlformats.org/officeDocument/2006/relationships/notesMaster" Target="/ppt/notesMasters/notesMaster1.xml" Id="Rf45a302ece834d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266928c154289" /><Relationship Type="http://schemas.openxmlformats.org/officeDocument/2006/relationships/notesMaster" Target="/ppt/notesMasters/notesMaster1.xml" Id="R3b8878c29b274b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227861bc754aa8" /><Relationship Type="http://schemas.openxmlformats.org/officeDocument/2006/relationships/notesMaster" Target="/ppt/notesMasters/notesMaster1.xml" Id="R6bb7ac7b8d80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b9404351148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7bb8f8522f4843" /><Relationship Type="http://schemas.openxmlformats.org/officeDocument/2006/relationships/slideLayout" Target="/ppt/slideLayouts/slideLayout1.xml" Id="Rbc6b9e805a86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6b9e805a86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8c600b81648ae" /><Relationship Type="http://schemas.openxmlformats.org/officeDocument/2006/relationships/notesSlide" Target="/ppt/notesSlides/notesSlide1.xml" Id="R85dd49dcf3a84f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f75805b144f17" /><Relationship Type="http://schemas.openxmlformats.org/officeDocument/2006/relationships/notesSlide" Target="/ppt/notesSlides/notesSlide2.xml" Id="R27abc5a944e04a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dca5a10a246bc" /><Relationship Type="http://schemas.openxmlformats.org/officeDocument/2006/relationships/notesSlide" Target="/ppt/notesSlides/notesSlide3.xml" Id="R89a2438bbb684e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6b75064694c8a" /><Relationship Type="http://schemas.openxmlformats.org/officeDocument/2006/relationships/notesSlide" Target="/ppt/notesSlides/notesSlide4.xml" Id="R193c892fa20440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6BCBA-E72E-4F20-AC35-DF7E8857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A1454-29D0-474C-AF11-052695B0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2857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35D92-61C6-4E6D-B29B-AD332E87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B52"/>
          </a:solidFill>
          <a:ln xmlns:a="http://schemas.openxmlformats.org/drawingml/2006/main" w="0">
            <a:solidFill>
              <a:srgbClr val="102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A8561-3DE9-4A68-A4F4-5CD7FEE3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295E8-D6AD-4812-B482-6E594AB5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decision-ready path to operational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C3FD8-9878-45AE-828F-22D34FBD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D8E7"/>
                </a:solidFill>
              </a:defRPr>
            </a:pPr>
            <a:r>
              <a:rPr sz="1800" b="0">
                <a:solidFill>
                  <a:srgbClr val="CFD8E7"/>
                </a:solidFill>
              </a:rPr>
              <a:t>Prepared for Dana Quill, VP Operations</a:t>
            </a:r>
          </a:p>
          <a:p xmlns:a="http://schemas.openxmlformats.org/drawingml/2006/main">
            <a:pPr algn="l">
              <a:defRPr sz="1800" b="0">
                <a:solidFill>
                  <a:srgbClr val="CFD8E7"/>
                </a:solidFill>
              </a:defRPr>
            </a:pPr>
            <a:r>
              <a:rPr sz="1800" b="0">
                <a:solidFill>
                  <a:srgbClr val="CFD8E7"/>
                </a:solidFill>
              </a:rPr>
              <a:t>Planning target: 30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96C6D-7479-4F07-93D0-600FD8FE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8E7"/>
                </a:solidFill>
              </a:defRPr>
            </a:pPr>
            <a:r>
              <a:rPr sz="1050" b="0">
                <a:solidFill>
                  <a:srgbClr val="CFD8E7"/>
                </a:solidFill>
              </a:rPr>
              <a:t>Proposal seed | Synthetic internal scenario</a:t>
            </a:r>
          </a:p>
        </p:txBody>
      </p:sp>
    </p:spTree>
    <p:extLst>
      <p:ext uri="{BB962C8B-B14F-4D97-AF65-F5344CB8AC3E}">
        <p14:creationId xmlns:p14="http://schemas.microsoft.com/office/powerpoint/2010/main" val="1009080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F8169-2DF9-4AC9-A4CF-4BE8808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F9C7E-A13F-4C84-AA45-CA98F8EA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The proposal is designed around three decision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335A5-8308-4BCF-9A28-3D33E941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84F2F-9658-4B2F-AE82-EE4BCAAE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Operational baseline | 25% workflow-reduction hypothesis | 10-week onboarding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CF3A4-EDAA-4B5E-A7A2-640F8B09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1061A-BC03-4318-AB23-360AA14E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All figures are planning estimates; approval pending.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FF75A-565D-4774-9D70-C03E1A01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5376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18DE1-E619-40A9-A8A9-0EF2E13A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5FF42-2EC1-4425-9881-163BAAB5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A single operating rhythm connects discovery to measurable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9B898-18EC-4BDA-B8C1-F8829F64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F0F7-45AD-48BD-89B4-DC95F8D8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Discover → design → enable → measure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85F22-C6CD-4756-B420-273CBA5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1B10A-1535-4E96-98FB-849E207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Northstar Cloud | Account 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7328F-D282-4EB0-8526-2BA31A70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2136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E81D9-A8C5-414B-A9B0-7108318B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4869B-208A-4D09-92DA-E0F50E34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Recommended next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0CEA-EAFC-4435-93F8-74DC81CE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26E14-4810-4516-B8D8-8519C6CD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Confirm workshop sponsors, validate baseline, and select a commercial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2EE6A-E129-4352-B6D3-A2793673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7E229-6938-4C75-B613-6234C8F9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For discussion only | no external claims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DABA4-068C-4714-B849-6CFF60EF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1504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2026-08-23T16:52:28.3280000Z</dcterms:created>
  <dcterms:modified xsi:type="dcterms:W3CDTF">2026-08-23T16:52:28.3280000Z</dcterms:modified>
</coreProperties>
</file>