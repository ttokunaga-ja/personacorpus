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f48f28b4b74cc2" /><Relationship Type="http://schemas.openxmlformats.org/officeDocument/2006/relationships/extended-properties" Target="/docProps/app.xml" Id="R048dc2c6d8b5412d" /><Relationship Type="http://schemas.openxmlformats.org/officeDocument/2006/relationships/officeDocument" Target="/ppt/presentation.xml" Id="R03c2ce9ee86548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a45cf5527e4144"/>
  </p:sldMasterIdLst>
  <p:notesMasterIdLst>
    <p:notesMasterId xmlns:r="http://schemas.openxmlformats.org/officeDocument/2006/relationships" r:id="R58e9180237b943b4"/>
  </p:notesMasterIdLst>
  <p:sldIdLst>
    <p:sldId xmlns:r="http://schemas.openxmlformats.org/officeDocument/2006/relationships" id="256" r:id="Rf92dc76df8d64b29"/>
    <p:sldId xmlns:r="http://schemas.openxmlformats.org/officeDocument/2006/relationships" id="257" r:id="Rc28df8710b1c4c9a"/>
    <p:sldId xmlns:r="http://schemas.openxmlformats.org/officeDocument/2006/relationships" id="258" r:id="R1a70dcfef8154ab1"/>
    <p:sldId xmlns:r="http://schemas.openxmlformats.org/officeDocument/2006/relationships" id="259" r:id="Rb18cadec2f3d41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56e24e971b4b38" /><Relationship Type="http://schemas.openxmlformats.org/officeDocument/2006/relationships/slideMaster" Target="/ppt/slideMasters/slideMaster1.xml" Id="Rd2a45cf5527e4144" /><Relationship Type="http://schemas.openxmlformats.org/officeDocument/2006/relationships/notesMaster" Target="/ppt/notesMasters/notesMaster1.xml" Id="R58e9180237b943b4" /><Relationship Type="http://schemas.openxmlformats.org/officeDocument/2006/relationships/presProps" Target="/ppt/presProps.xml" Id="R96931b51d98e4b79" /><Relationship Type="http://schemas.openxmlformats.org/officeDocument/2006/relationships/tableStyles" Target="/ppt/tableStyles.xml" Id="R678b6288bba64aa6" /><Relationship Type="http://schemas.openxmlformats.org/officeDocument/2006/relationships/slide" Target="/ppt/slides/slide1.xml" Id="Rf92dc76df8d64b29" /><Relationship Type="http://schemas.openxmlformats.org/officeDocument/2006/relationships/slide" Target="/ppt/slides/slide2.xml" Id="Rc28df8710b1c4c9a" /><Relationship Type="http://schemas.openxmlformats.org/officeDocument/2006/relationships/slide" Target="/ppt/slides/slide3.xml" Id="R1a70dcfef8154ab1" /><Relationship Type="http://schemas.openxmlformats.org/officeDocument/2006/relationships/slide" Target="/ppt/slides/slide4.xml" Id="Rb18cadec2f3d41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3aaa6e601045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a737c326644223" /><Relationship Type="http://schemas.openxmlformats.org/officeDocument/2006/relationships/notesMaster" Target="/ppt/notesMasters/notesMaster1.xml" Id="Rac5ab9031fc045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5b0bff3d31451f" /><Relationship Type="http://schemas.openxmlformats.org/officeDocument/2006/relationships/notesMaster" Target="/ppt/notesMasters/notesMaster1.xml" Id="R4e7ec5004b9245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141e6ef9594d92" /><Relationship Type="http://schemas.openxmlformats.org/officeDocument/2006/relationships/notesMaster" Target="/ppt/notesMasters/notesMaster1.xml" Id="Raf91be75315a42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4984d6f0fe4528" /><Relationship Type="http://schemas.openxmlformats.org/officeDocument/2006/relationships/notesMaster" Target="/ppt/notesMasters/notesMaster1.xml" Id="R0a0de12a917d44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e37cd6dd847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58f0550438459b" /><Relationship Type="http://schemas.openxmlformats.org/officeDocument/2006/relationships/slideLayout" Target="/ppt/slideLayouts/slideLayout1.xml" Id="R9b174b90ff8a47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174b90ff8a47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b6111236f48b8" /><Relationship Type="http://schemas.openxmlformats.org/officeDocument/2006/relationships/notesSlide" Target="/ppt/notesSlides/notesSlide1.xml" Id="Rd5854f378e3042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c859ddedf4eb5" /><Relationship Type="http://schemas.openxmlformats.org/officeDocument/2006/relationships/notesSlide" Target="/ppt/notesSlides/notesSlide2.xml" Id="R8da6825e81fa4b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b13da12f14bf5" /><Relationship Type="http://schemas.openxmlformats.org/officeDocument/2006/relationships/notesSlide" Target="/ppt/notesSlides/notesSlide3.xml" Id="R08b46abb251c4f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3b32378d4952" /><Relationship Type="http://schemas.openxmlformats.org/officeDocument/2006/relationships/notesSlide" Target="/ppt/notesSlides/notesSlide4.xml" Id="R594ea18ca5d141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07BF1-2A19-4021-9A55-CAB62B50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11083-E3B0-4654-A559-738E014F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52500"/>
            <a:ext cx="2857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solidFill>
              <a:srgbClr val="18A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1EFEA-E53E-43B2-9F2B-D1E1DD52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3429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B52"/>
          </a:solidFill>
          <a:ln xmlns:a="http://schemas.openxmlformats.org/drawingml/2006/main" w="0">
            <a:solidFill>
              <a:srgbClr val="102B5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78252-AE22-4A77-8F52-0230C770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NORTHSTAR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ADD9B-B551-4486-986B-121A59CB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focused workflow program can create capacity before the planning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C9154-D150-41E4-ACED-CD0B6C74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D8E7"/>
                </a:solidFill>
              </a:defRPr>
            </a:pPr>
            <a:r>
              <a:rPr sz="1800" b="0">
                <a:solidFill>
                  <a:srgbClr val="CFD8E7"/>
                </a:solidFill>
              </a:rPr>
              <a:t>Synthetic internal scenario for Account Beta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7DEE5-9584-4949-8309-00E119B0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FD8E7"/>
                </a:solidFill>
              </a:defRPr>
            </a:pPr>
            <a:r>
              <a:rPr sz="1050" b="0">
                <a:solidFill>
                  <a:srgbClr val="CFD8E7"/>
                </a:solidFill>
              </a:rPr>
              <a:t>Target decision: 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80914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CF4C6-B623-4008-90DF-1EFD2795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43054-6935-486B-B5E9-AF9A1812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The working hypothesis: reduce handoff friction by 25%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26D85-5159-4A4C-A3A1-ADF7B563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FC5B8-86A2-436D-9F27-4C9A82BF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Current-state effort index 100 | streamlined-state index 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F0738-F2A8-4706-B001-C2289F53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B03AF-A6A3-42A3-9B9E-B4EEDD81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Illustrative estimate; validate during discovery.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B1F81-126D-4AC8-9EF8-C97E008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4061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4C40D-4843-46A0-897F-40A0AE6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9E766-1C8B-4204-94D1-CCD4C93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Value comes from fewer transfers, clearer ownership, and faster exception resolution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64F2D-E784-4E07-9E82-DB2FD897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64F45-832C-4AA8-948D-087E488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Map the top three workflows | remove duplicate review steps | establish accountable escalation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3BDAD-6EC8-4F93-BF0D-9DB183DE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C06E2-D448-4EA9-971C-35ACBE9C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Designed for Dana Quill’s operating priorities.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4584B-5B53-4CC9-93F0-893EF9CD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8652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4757E-C212-401C-ABFE-E0695059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NORTHSTAR CLOUD  /  ACCOUNT BETA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493F8-5A89-44AD-B39D-937BB74E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53A"/>
                </a:solidFill>
              </a:defRPr>
            </a:pPr>
            <a:r>
              <a:rPr sz="2775" b="1">
                <a:solidFill>
                  <a:srgbClr val="18253A"/>
                </a:solidFill>
              </a:rPr>
              <a:t>A 10-week onboarding sequence makes the change manageable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04626-3ED7-4E77-98A8-052573F8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solidFill>
              <a:srgbClr val="F4F6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DC499-6CA0-431D-8A3B-6DA73E81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24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53A"/>
                </a:solidFill>
              </a:defRPr>
            </a:pPr>
            <a:r>
              <a:rPr sz="2175" b="1">
                <a:solidFill>
                  <a:srgbClr val="18253A"/>
                </a:solidFill>
              </a:rPr>
              <a:t>Weeks 1–2 align | 3–5 configure | 6–8 pilot | 9–10 enable &amp; measure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6B650-75A6-4B65-AFB2-1A6B209C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solidFill>
              <a:srgbClr val="EAF7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CDB3-E191-464F-B0C3-D4F29D84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579"/>
                </a:solidFill>
              </a:defRPr>
            </a:pPr>
            <a:r>
              <a:rPr sz="1350" b="0">
                <a:solidFill>
                  <a:srgbClr val="566579"/>
                </a:solidFill>
              </a:rPr>
              <a:t>Synthetic internal scenario; no external 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971BA-BCB2-4E63-B29D-DEF638C2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79"/>
                </a:solidFill>
              </a:defRPr>
            </a:pPr>
            <a:r>
              <a:rPr sz="1050" b="0">
                <a:solidFill>
                  <a:srgbClr val="566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7997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2026-08-23T16:52:28.6330000Z</dcterms:created>
  <dcterms:modified xsi:type="dcterms:W3CDTF">2026-08-23T16:52:28.6330000Z</dcterms:modified>
</coreProperties>
</file>