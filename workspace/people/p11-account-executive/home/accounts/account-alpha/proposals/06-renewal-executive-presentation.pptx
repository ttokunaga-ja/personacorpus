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82aa6d74954a3b" /><Relationship Type="http://schemas.openxmlformats.org/officeDocument/2006/relationships/extended-properties" Target="/docProps/app.xml" Id="Rf0482c2f94964730" /><Relationship Type="http://schemas.openxmlformats.org/officeDocument/2006/relationships/officeDocument" Target="/ppt/presentation.xml" Id="R5c05cfcfb3de4d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d1309903b948e0"/>
  </p:sldMasterIdLst>
  <p:notesMasterIdLst>
    <p:notesMasterId xmlns:r="http://schemas.openxmlformats.org/officeDocument/2006/relationships" r:id="Rc1745ecedb6f41fa"/>
  </p:notesMasterIdLst>
  <p:sldIdLst>
    <p:sldId xmlns:r="http://schemas.openxmlformats.org/officeDocument/2006/relationships" id="256" r:id="R0ffc16c6f0364ec5"/>
    <p:sldId xmlns:r="http://schemas.openxmlformats.org/officeDocument/2006/relationships" id="257" r:id="Ra73202a45a9e4e43"/>
    <p:sldId xmlns:r="http://schemas.openxmlformats.org/officeDocument/2006/relationships" id="258" r:id="R65252899c62d4d4c"/>
    <p:sldId xmlns:r="http://schemas.openxmlformats.org/officeDocument/2006/relationships" id="259" r:id="R527c1436b18a46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2363b5893e4e36" /><Relationship Type="http://schemas.openxmlformats.org/officeDocument/2006/relationships/slideMaster" Target="/ppt/slideMasters/slideMaster1.xml" Id="Rd0d1309903b948e0" /><Relationship Type="http://schemas.openxmlformats.org/officeDocument/2006/relationships/notesMaster" Target="/ppt/notesMasters/notesMaster1.xml" Id="Rc1745ecedb6f41fa" /><Relationship Type="http://schemas.openxmlformats.org/officeDocument/2006/relationships/presProps" Target="/ppt/presProps.xml" Id="R41fb58173d61462a" /><Relationship Type="http://schemas.openxmlformats.org/officeDocument/2006/relationships/tableStyles" Target="/ppt/tableStyles.xml" Id="Rb891e86bbefb4c2b" /><Relationship Type="http://schemas.openxmlformats.org/officeDocument/2006/relationships/slide" Target="/ppt/slides/slide1.xml" Id="R0ffc16c6f0364ec5" /><Relationship Type="http://schemas.openxmlformats.org/officeDocument/2006/relationships/slide" Target="/ppt/slides/slide2.xml" Id="Ra73202a45a9e4e43" /><Relationship Type="http://schemas.openxmlformats.org/officeDocument/2006/relationships/slide" Target="/ppt/slides/slide3.xml" Id="R65252899c62d4d4c" /><Relationship Type="http://schemas.openxmlformats.org/officeDocument/2006/relationships/slide" Target="/ppt/slides/slide4.xml" Id="R527c1436b18a46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f87833876e47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f18a9a5862453a" /><Relationship Type="http://schemas.openxmlformats.org/officeDocument/2006/relationships/notesMaster" Target="/ppt/notesMasters/notesMaster1.xml" Id="R70284e757ab144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91e85fd4d0423a" /><Relationship Type="http://schemas.openxmlformats.org/officeDocument/2006/relationships/notesMaster" Target="/ppt/notesMasters/notesMaster1.xml" Id="R38ff44d0e9dc48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6bcf4a621149b6" /><Relationship Type="http://schemas.openxmlformats.org/officeDocument/2006/relationships/notesMaster" Target="/ppt/notesMasters/notesMaster1.xml" Id="R949306dbfd7548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0a14c7f0d846a3" /><Relationship Type="http://schemas.openxmlformats.org/officeDocument/2006/relationships/notesMaster" Target="/ppt/notesMasters/notesMaster1.xml" Id="R777217a82d3940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7160dd3784a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d35e448c5f4350" /><Relationship Type="http://schemas.openxmlformats.org/officeDocument/2006/relationships/slideLayout" Target="/ppt/slideLayouts/slideLayout1.xml" Id="R652fc9a47cb748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2fc9a47cb748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4884ddcad459b" /><Relationship Type="http://schemas.openxmlformats.org/officeDocument/2006/relationships/notesSlide" Target="/ppt/notesSlides/notesSlide1.xml" Id="R8b81608594124c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c367c1e3044d0" /><Relationship Type="http://schemas.openxmlformats.org/officeDocument/2006/relationships/chart" Target="/ppt/slides/charts/chart1.xml" Id="R43ddbd2ebc324df9" /><Relationship Type="http://schemas.openxmlformats.org/officeDocument/2006/relationships/notesSlide" Target="/ppt/notesSlides/notesSlide2.xml" Id="Rda81158111e746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6351af7c24e0b" /><Relationship Type="http://schemas.openxmlformats.org/officeDocument/2006/relationships/notesSlide" Target="/ppt/notesSlides/notesSlide3.xml" Id="R0e832457e79e4d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3301a9a2e4d12" /><Relationship Type="http://schemas.openxmlformats.org/officeDocument/2006/relationships/notesSlide" Target="/ppt/notesSlides/notesSlide4.xml" Id="Rdf860cbea2384e8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Scenario signal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3"/>
              <c:pt idx="0">
                <c:v>Reporting speed</c:v>
              </c:pt>
              <c:pt idx="1">
                <c:v>Enablement</c:v>
              </c:pt>
              <c:pt idx="2">
                <c:v>Service objective</c:v>
              </c:pt>
            </c:strLit>
          </c:cat>
          <c:val>
            <c:numLit>
              <c:formatCode>General</c:formatCode>
              <c:ptCount val="3"/>
              <c:pt idx="0">
                <c:v>37</c:v>
              </c:pt>
              <c:pt idx="1">
                <c:v>12</c:v>
              </c:pt>
              <c:pt idx="2">
                <c:v>99.95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3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2FF66-178B-42CE-BEA1-B383BCE8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86672-D57A-4416-B626-F5A6523D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14300" cy="3238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8138F-3A01-4289-8FD5-543E562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43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A999"/>
                </a:solidFill>
              </a:defRPr>
            </a:pPr>
            <a:r>
              <a:rPr sz="1200" b="1">
                <a:solidFill>
                  <a:srgbClr val="18A999"/>
                </a:solidFill>
              </a:rPr>
              <a:t>NORTHSTAR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26519-896A-41EC-AA66-AEB5E158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Account Alpha | renewal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A1359-6FC1-46F7-97F5-07AEE211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4FF"/>
                </a:solidFill>
              </a:defRPr>
            </a:pPr>
            <a:r>
              <a:rPr sz="1800" b="0">
                <a:solidFill>
                  <a:srgbClr val="D8E4FF"/>
                </a:solidFill>
              </a:rPr>
              <a:t>Approve USD 248,000 by 17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EBD35-A49B-4A42-8F1D-E4C84F7A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483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Rowan Mercer  |  Renewal decision 2026-07-17</a:t>
            </a:r>
          </a:p>
        </p:txBody>
      </p:sp>
    </p:spTree>
    <p:extLst>
      <p:ext uri="{BB962C8B-B14F-4D97-AF65-F5344CB8AC3E}">
        <p14:creationId xmlns:p14="http://schemas.microsoft.com/office/powerpoint/2010/main" val="16908571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86CE6-BBB9-4760-95AB-0FD4CB7D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5FD2A-53C7-43EF-BAFF-E3EC7C08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E1D03-9DD0-44CA-B4B4-A944BA1E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 /  ACCOUNT 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CB46B-BD8E-4AEC-A221-861F7850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8E4FF"/>
                </a:solidFill>
              </a:defRPr>
            </a:pPr>
            <a:r>
              <a:rPr sz="900" b="0">
                <a:solidFill>
                  <a:srgbClr val="D8E4FF"/>
                </a:solidFill>
              </a:rPr>
              <a:t>Account Alpha | renewal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848C7-5570-4494-8F94-1C7D7201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Synthetic internal scenario; no external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5C3CD-44B0-4F51-834D-82387581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1D6AD-2612-4C32-A0E4-DC49E35E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The integrated plan aligns platform, adoption, and data connectivity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D4FB5-9BC1-4071-A3C9-286C8AA2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4FF"/>
                </a:solidFill>
              </a:defRPr>
            </a:pPr>
            <a:r>
              <a:rPr sz="1425" b="0">
                <a:solidFill>
                  <a:srgbClr val="D8E4FF"/>
                </a:solidFill>
              </a:rPr>
              <a:t>Scenario planning signals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810250" y="1676400"/>
          <a:ext xmlns:a="http://schemas.openxmlformats.org/drawingml/2006/main" cx="5048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ddbd2ebc324df9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850A6-4D6D-4946-98E7-4D82A35B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19100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F7E50-3542-44C3-AAE1-1B42555A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Planning estimate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67D0E-63CC-4954-B061-B499F0B7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37% faster quarterly reporting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12-week enablement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99.95% service objective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39F25-102C-41FC-B5F0-3EDF0C42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4FF"/>
                </a:solidFill>
              </a:defRPr>
            </a:pPr>
            <a:r>
              <a:rPr sz="1200" b="0">
                <a:solidFill>
                  <a:srgbClr val="D8E4FF"/>
                </a:solidFill>
              </a:rPr>
              <a:t>These values are synthetic internal scenario estimates, not external facts or guarantees.</a:t>
            </a:r>
          </a:p>
        </p:txBody>
      </p:sp>
    </p:spTree>
    <p:extLst>
      <p:ext uri="{BB962C8B-B14F-4D97-AF65-F5344CB8AC3E}">
        <p14:creationId xmlns:p14="http://schemas.microsoft.com/office/powerpoint/2010/main" val="2274324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2BBCD-095E-461B-842A-B72355F1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FDA32-6890-4BBA-832B-D071749E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6A5D5-5F2F-4A71-AE2A-03E4BC61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 /  ACCOUNT 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00BD9-3CDF-4616-9B1D-DCD5DBBD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8E4FF"/>
                </a:solidFill>
              </a:defRPr>
            </a:pPr>
            <a:r>
              <a:rPr sz="900" b="0">
                <a:solidFill>
                  <a:srgbClr val="D8E4FF"/>
                </a:solidFill>
              </a:rPr>
              <a:t>Account Alpha | renewal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84CA5-B7F3-4250-8AE6-45510926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Synthetic internal scenario; no external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F19FB-347C-4094-91C1-EB9C846E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90F85-A1CC-465C-A326-FFA34E86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12 weeks to establish a shared reporting rhythm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39E96-F734-40B1-865D-968B38A4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933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D61E5-3AD5-47A4-B230-5D23AE20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717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ALIGN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74C26-C21B-4245-841D-CFE71A51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431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Confirm owners and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0EB82-C55A-4783-8647-375AF394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933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942C2-146E-4DFC-BBCC-E7E5770D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623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ENABLE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4564C-DD1D-4AC8-BEBE-1302B7F6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337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Configure platform, Success Plus, and Data Connect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CD732-03EF-41B5-933C-540991FB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933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EEB25-B6E3-4284-8E6B-0BE65FAB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6F260-784C-4465-AEB0-312E1577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243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Rehearse reporting and confirm acceptance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D2B8B4-79A7-4952-BE3E-8659627F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4FF"/>
                </a:solidFill>
              </a:defRPr>
            </a:pPr>
            <a:r>
              <a:rPr sz="1050" b="0">
                <a:solidFill>
                  <a:srgbClr val="D8E4FF"/>
                </a:solidFill>
              </a:rPr>
              <a:t>Weeks 1-2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46DF0-C289-4089-B71A-55130AF1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4FF"/>
                </a:solidFill>
              </a:defRPr>
            </a:pPr>
            <a:r>
              <a:rPr sz="1050" b="0">
                <a:solidFill>
                  <a:srgbClr val="D8E4FF"/>
                </a:solidFill>
              </a:rPr>
              <a:t>Weeks 3-8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EC578-4B53-46E3-BB96-7F75BAE8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4FF"/>
                </a:solidFill>
              </a:defRPr>
            </a:pPr>
            <a:r>
              <a:rPr sz="1050" b="0">
                <a:solidFill>
                  <a:srgbClr val="D8E4FF"/>
                </a:solidFill>
              </a:rPr>
              <a:t>Weeks 9-12</a:t>
            </a:r>
          </a:p>
        </p:txBody>
      </p:sp>
    </p:spTree>
    <p:extLst>
      <p:ext uri="{BB962C8B-B14F-4D97-AF65-F5344CB8AC3E}">
        <p14:creationId xmlns:p14="http://schemas.microsoft.com/office/powerpoint/2010/main" val="17906055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422D3-6EE7-4B1C-9BAB-3339705B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C660B-623C-48AD-A834-0BC1D194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1BA99-20F9-475C-9920-8B1838D6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 /  ACCOUNT 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A65ED-4BC1-44A6-A857-E7737780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8E4FF"/>
                </a:solidFill>
              </a:defRPr>
            </a:pPr>
            <a:r>
              <a:rPr sz="900" b="0">
                <a:solidFill>
                  <a:srgbClr val="D8E4FF"/>
                </a:solidFill>
              </a:rPr>
              <a:t>Account Alpha | renewal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C6309-D227-4661-809D-2A5A4459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Synthetic internal scenario; no external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552EB-3314-4D47-80E6-52AF1D80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3EBED-83B0-44B4-ADE4-0B05D22B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Decision: approve the 2026-07-18 to 2027-07-17 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4A64D-404C-4D1C-A702-85C79FBD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8AC48-5D89-41E1-B4D4-B7B7D3D3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A999"/>
                </a:solidFill>
              </a:defRPr>
            </a:pPr>
            <a:r>
              <a:rPr sz="1650" b="1">
                <a:solidFill>
                  <a:srgbClr val="18A999"/>
                </a:solidFill>
              </a:rPr>
              <a:t>Recommended configuration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7978E-BDBC-4ED7-A293-E53554AD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24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Enterprise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91ED4-34DF-4AB3-884F-1D06F74B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24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USD 210,000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DE4FE-7484-4478-820D-1E7001C2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Success Plus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B815E-EE60-4277-A77C-3A6D45AB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USD 24,000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32A71-0FE0-4FE7-8836-588F4DB1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Data Connect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64B73-3379-43F2-B183-17498990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33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USD 14,000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1AD21-3059-4980-A82F-24B91E88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Approved annual total: USD 248,000  |  Term: 2026-07-18 to 2027-07-17</a:t>
            </a:r>
          </a:p>
        </p:txBody>
      </p:sp>
    </p:spTree>
    <p:extLst>
      <p:ext uri="{BB962C8B-B14F-4D97-AF65-F5344CB8AC3E}">
        <p14:creationId xmlns:p14="http://schemas.microsoft.com/office/powerpoint/2010/main" val="1099830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2026-08-23T17:28:07.2200000Z</dcterms:created>
  <dcterms:modified xsi:type="dcterms:W3CDTF">2026-08-23T17:28:07.2200000Z</dcterms:modified>
</coreProperties>
</file>