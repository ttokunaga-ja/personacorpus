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e1857ab88748fe" /><Relationship Type="http://schemas.openxmlformats.org/officeDocument/2006/relationships/extended-properties" Target="/docProps/app.xml" Id="Raa7e8f77b6984adf" /><Relationship Type="http://schemas.openxmlformats.org/officeDocument/2006/relationships/officeDocument" Target="/ppt/presentation.xml" Id="R1125831c25a545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ef535df2e54d40"/>
  </p:sldMasterIdLst>
  <p:notesMasterIdLst>
    <p:notesMasterId xmlns:r="http://schemas.openxmlformats.org/officeDocument/2006/relationships" r:id="R5e1e1962e9844390"/>
  </p:notesMasterIdLst>
  <p:sldIdLst>
    <p:sldId xmlns:r="http://schemas.openxmlformats.org/officeDocument/2006/relationships" id="256" r:id="R2e20f8b764704a04"/>
    <p:sldId xmlns:r="http://schemas.openxmlformats.org/officeDocument/2006/relationships" id="257" r:id="R7831a19646a54721"/>
    <p:sldId xmlns:r="http://schemas.openxmlformats.org/officeDocument/2006/relationships" id="258" r:id="Rb31200e7383a4b8f"/>
    <p:sldId xmlns:r="http://schemas.openxmlformats.org/officeDocument/2006/relationships" id="259" r:id="Ra29c8379f64041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73e94503624873" /><Relationship Type="http://schemas.openxmlformats.org/officeDocument/2006/relationships/slideMaster" Target="/ppt/slideMasters/slideMaster1.xml" Id="Re6ef535df2e54d40" /><Relationship Type="http://schemas.openxmlformats.org/officeDocument/2006/relationships/notesMaster" Target="/ppt/notesMasters/notesMaster1.xml" Id="R5e1e1962e9844390" /><Relationship Type="http://schemas.openxmlformats.org/officeDocument/2006/relationships/presProps" Target="/ppt/presProps.xml" Id="Rf16abf67f3464232" /><Relationship Type="http://schemas.openxmlformats.org/officeDocument/2006/relationships/tableStyles" Target="/ppt/tableStyles.xml" Id="R6277342ee4264273" /><Relationship Type="http://schemas.openxmlformats.org/officeDocument/2006/relationships/slide" Target="/ppt/slides/slide1.xml" Id="R2e20f8b764704a04" /><Relationship Type="http://schemas.openxmlformats.org/officeDocument/2006/relationships/slide" Target="/ppt/slides/slide2.xml" Id="R7831a19646a54721" /><Relationship Type="http://schemas.openxmlformats.org/officeDocument/2006/relationships/slide" Target="/ppt/slides/slide3.xml" Id="Rb31200e7383a4b8f" /><Relationship Type="http://schemas.openxmlformats.org/officeDocument/2006/relationships/slide" Target="/ppt/slides/slide4.xml" Id="Ra29c8379f64041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8fd48136d547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c5c67a0d124f7a" /><Relationship Type="http://schemas.openxmlformats.org/officeDocument/2006/relationships/notesMaster" Target="/ppt/notesMasters/notesMaster1.xml" Id="Rac0937d187b241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750f48e5594285" /><Relationship Type="http://schemas.openxmlformats.org/officeDocument/2006/relationships/notesMaster" Target="/ppt/notesMasters/notesMaster1.xml" Id="R414326ccb3ba46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61dacf1ad44bb3" /><Relationship Type="http://schemas.openxmlformats.org/officeDocument/2006/relationships/notesMaster" Target="/ppt/notesMasters/notesMaster1.xml" Id="R340f195812a84a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e0943008c945fd" /><Relationship Type="http://schemas.openxmlformats.org/officeDocument/2006/relationships/notesMaster" Target="/ppt/notesMasters/notesMaster1.xml" Id="Rd1168ce3c96a4d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928ed5000a42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047a55fa464d43" /><Relationship Type="http://schemas.openxmlformats.org/officeDocument/2006/relationships/slideLayout" Target="/ppt/slideLayouts/slideLayout1.xml" Id="R4498cedcd7274d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98cedcd7274d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2b9398ed94d0c" /><Relationship Type="http://schemas.openxmlformats.org/officeDocument/2006/relationships/notesSlide" Target="/ppt/notesSlides/notesSlide1.xml" Id="R2ae4e39f8ba647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4f7b0fe9a414d" /><Relationship Type="http://schemas.openxmlformats.org/officeDocument/2006/relationships/chart" Target="/ppt/slides/charts/chart1.xml" Id="Rb78e6d61ad5b4436" /><Relationship Type="http://schemas.openxmlformats.org/officeDocument/2006/relationships/notesSlide" Target="/ppt/notesSlides/notesSlide2.xml" Id="Rb5cd39b7157e42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2dc8358794c82" /><Relationship Type="http://schemas.openxmlformats.org/officeDocument/2006/relationships/notesSlide" Target="/ppt/notesSlides/notesSlide3.xml" Id="Re8fcaa4065fa41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0a3ee4a664535" /><Relationship Type="http://schemas.openxmlformats.org/officeDocument/2006/relationships/notesSlide" Target="/ppt/notesSlides/notesSlide4.xml" Id="R26a4795cafe24e0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Scenario signal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3"/>
              <c:pt idx="0">
                <c:v>Reporting speed</c:v>
              </c:pt>
              <c:pt idx="1">
                <c:v>Enablement</c:v>
              </c:pt>
              <c:pt idx="2">
                <c:v>Service objective</c:v>
              </c:pt>
            </c:strLit>
          </c:cat>
          <c:val>
            <c:numLit>
              <c:formatCode>General</c:formatCode>
              <c:ptCount val="3"/>
              <c:pt idx="0">
                <c:v>37</c:v>
              </c:pt>
              <c:pt idx="1">
                <c:v>12</c:v>
              </c:pt>
              <c:pt idx="2">
                <c:v>99.95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3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B3F6FE-4572-401E-B129-5623BA60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538F4-A2FC-432A-9036-1FAB6095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14300" cy="3238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411FC-222F-47CD-8FBD-5353BBB3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43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A999"/>
                </a:solidFill>
              </a:defRPr>
            </a:pPr>
            <a:r>
              <a:rPr sz="1200" b="1">
                <a:solidFill>
                  <a:srgbClr val="18A999"/>
                </a:solidFill>
              </a:rPr>
              <a:t>NORTHSTAR 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3C194-9025-4E8C-B0D3-F38E4981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Account Alpha |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stakeholder workshop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702DE-5F79-45F6-BB34-B509D79B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4FF"/>
                </a:solidFill>
              </a:defRPr>
            </a:pPr>
            <a:r>
              <a:rPr sz="1800" b="0">
                <a:solidFill>
                  <a:srgbClr val="D8E4FF"/>
                </a:solidFill>
              </a:rPr>
              <a:t>A working session to align owners, evidence, and next 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901CA-E6FF-4DDA-9875-F18D2230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483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Rowan Mercer  |  Renewal decision 2026-07-17</a:t>
            </a:r>
          </a:p>
        </p:txBody>
      </p:sp>
    </p:spTree>
    <p:extLst>
      <p:ext uri="{BB962C8B-B14F-4D97-AF65-F5344CB8AC3E}">
        <p14:creationId xmlns:p14="http://schemas.microsoft.com/office/powerpoint/2010/main" val="9882469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612954-0D02-4A7A-BB55-2DE15C47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E8F5F-B980-4FDF-85AD-272FB28F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2E195-A3C6-4216-9B37-456C6356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NORTHSTAR CLOUD  /  ACCOUNT ALPHA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B57D7-7B33-42A3-BBDC-14E15B9D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19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8E4FF"/>
                </a:solidFill>
              </a:defRPr>
            </a:pPr>
            <a:r>
              <a:rPr sz="900" b="0">
                <a:solidFill>
                  <a:srgbClr val="D8E4FF"/>
                </a:solidFill>
              </a:rPr>
              <a:t>Account Alpha | stakeholder workshop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0F6E5-CD99-43B2-A4F8-B72D9524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E4FF"/>
                </a:solidFill>
              </a:defRPr>
            </a:pPr>
            <a:r>
              <a:rPr sz="825" b="0">
                <a:solidFill>
                  <a:srgbClr val="D8E4FF"/>
                </a:solidFill>
              </a:rPr>
              <a:t>Synthetic internal scenario; no external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0E7A9-3029-4927-A522-75A175FC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8E4FF"/>
                </a:solidFill>
              </a:defRPr>
            </a:pPr>
            <a:r>
              <a:rPr sz="825" b="0">
                <a:solidFill>
                  <a:srgbClr val="D8E4FF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E03F2-8332-4ECC-884B-BABF1E81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Map the current reporting handoffs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FB319-7D7C-4C89-8B42-0946B05D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4FF"/>
                </a:solidFill>
              </a:defRPr>
            </a:pPr>
            <a:r>
              <a:rPr sz="1425" b="0">
                <a:solidFill>
                  <a:srgbClr val="D8E4FF"/>
                </a:solidFill>
              </a:rPr>
              <a:t>Scenario planning signals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810250" y="1676400"/>
          <a:ext xmlns:a="http://schemas.openxmlformats.org/drawingml/2006/main" cx="5048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8e6d61ad5b4436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A58AB-D055-490C-BBB5-58EC8F47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19100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2837E-CDEB-4EEF-AE87-CF7A749A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Planning estimate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B49294-536A-4CA5-96FD-9E3E2810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37% faster quarterly reporting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12-week enablement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99.95% service objective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38CC9C-A122-4774-B30D-A8756D49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4FF"/>
                </a:solidFill>
              </a:defRPr>
            </a:pPr>
            <a:r>
              <a:rPr sz="1200" b="0">
                <a:solidFill>
                  <a:srgbClr val="D8E4FF"/>
                </a:solidFill>
              </a:rPr>
              <a:t>These values are synthetic internal scenario estimates, not external facts or guarantees.</a:t>
            </a:r>
          </a:p>
        </p:txBody>
      </p:sp>
    </p:spTree>
    <p:extLst>
      <p:ext uri="{BB962C8B-B14F-4D97-AF65-F5344CB8AC3E}">
        <p14:creationId xmlns:p14="http://schemas.microsoft.com/office/powerpoint/2010/main" val="13544559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4C6654-41C7-46B6-B6C7-3881B9F2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65115-03CF-4B94-ADF5-68AE4352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A1507-37F6-4435-91B4-49FB8009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NORTHSTAR CLOUD  /  ACCOUNT ALPHA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6968D-2875-4028-8862-0CC77738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19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8E4FF"/>
                </a:solidFill>
              </a:defRPr>
            </a:pPr>
            <a:r>
              <a:rPr sz="900" b="0">
                <a:solidFill>
                  <a:srgbClr val="D8E4FF"/>
                </a:solidFill>
              </a:rPr>
              <a:t>Account Alpha | stakeholder workshop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30D05-173A-4DBF-B80D-2C7F1208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E4FF"/>
                </a:solidFill>
              </a:defRPr>
            </a:pPr>
            <a:r>
              <a:rPr sz="825" b="0">
                <a:solidFill>
                  <a:srgbClr val="D8E4FF"/>
                </a:solidFill>
              </a:rPr>
              <a:t>Synthetic internal scenario; no external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5DB27-F598-4912-8A85-829BDF29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8E4FF"/>
                </a:solidFill>
              </a:defRPr>
            </a:pPr>
            <a:r>
              <a:rPr sz="825" b="0">
                <a:solidFill>
                  <a:srgbClr val="D8E4FF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12DA0-9277-4EE1-9C45-671606A7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Choose the evidence that proves readiness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9C511-78E8-4A33-86F4-0312BA15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933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4345F-4C43-4CE1-AA0C-A0B78FB6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717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ALIGN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1134F-FDD6-4FA7-8A8B-9C4BF2DC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4312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Confirm owners and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9F8A70-D08E-4616-92B3-B94DFB21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933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0FA52C-80F2-4D6F-A23D-896795D3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623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ENABLE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B1A6B5-F688-4465-B237-B734FE27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337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Configure platform, Success Plus, and Data Connect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0520B6-7B8D-4441-B6E1-8CEEB633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33875"/>
            <a:ext cx="933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D0514-AE53-45F4-918E-A41CFAAF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529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PROVE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A284B8-1599-4552-9A2B-D2AD0B9A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2437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Rehearse reporting and confirm acceptance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B48DA6-1EDD-48A9-9D42-304792E0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955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8E4FF"/>
                </a:solidFill>
              </a:defRPr>
            </a:pPr>
            <a:r>
              <a:rPr sz="1050" b="0">
                <a:solidFill>
                  <a:srgbClr val="D8E4FF"/>
                </a:solidFill>
              </a:rPr>
              <a:t>Weeks 1-2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6F4F47-1F88-4BAE-8CC2-3172DF2F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861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8E4FF"/>
                </a:solidFill>
              </a:defRPr>
            </a:pPr>
            <a:r>
              <a:rPr sz="1050" b="0">
                <a:solidFill>
                  <a:srgbClr val="D8E4FF"/>
                </a:solidFill>
              </a:rPr>
              <a:t>Weeks 3-8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C50C05-41F8-4B54-B2BD-173D46BD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767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8E4FF"/>
                </a:solidFill>
              </a:defRPr>
            </a:pPr>
            <a:r>
              <a:rPr sz="1050" b="0">
                <a:solidFill>
                  <a:srgbClr val="D8E4FF"/>
                </a:solidFill>
              </a:rPr>
              <a:t>Weeks 9-12</a:t>
            </a:r>
          </a:p>
        </p:txBody>
      </p:sp>
    </p:spTree>
    <p:extLst>
      <p:ext uri="{BB962C8B-B14F-4D97-AF65-F5344CB8AC3E}">
        <p14:creationId xmlns:p14="http://schemas.microsoft.com/office/powerpoint/2010/main" val="15823714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B59DEE-261E-41CE-A55D-14695320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ADB3A-9571-472F-A50A-9D79DF1E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CDEA8-30A5-4FED-8FB0-AFC2827C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NORTHSTAR CLOUD  /  ACCOUNT ALPHA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488E99-67C4-4739-B455-2D600DC5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19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8E4FF"/>
                </a:solidFill>
              </a:defRPr>
            </a:pPr>
            <a:r>
              <a:rPr sz="900" b="0">
                <a:solidFill>
                  <a:srgbClr val="D8E4FF"/>
                </a:solidFill>
              </a:rPr>
              <a:t>Account Alpha | stakeholder workshop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CFFBD-1763-44B8-995E-88DB83A7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E4FF"/>
                </a:solidFill>
              </a:defRPr>
            </a:pPr>
            <a:r>
              <a:rPr sz="825" b="0">
                <a:solidFill>
                  <a:srgbClr val="D8E4FF"/>
                </a:solidFill>
              </a:rPr>
              <a:t>Synthetic internal scenario; no external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EA890-CC01-4DD3-B728-C093B70A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8E4FF"/>
                </a:solidFill>
              </a:defRPr>
            </a:pPr>
            <a:r>
              <a:rPr sz="825" b="0">
                <a:solidFill>
                  <a:srgbClr val="D8E4FF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4FF4EF-65AC-4970-8DC4-75DB7C3F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Leave with owners, checkpoints, and a 12-week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FA5CD3-4F52-410D-AB5B-8F0D7294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09B84-681D-4286-97C8-3D5526C0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193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A999"/>
                </a:solidFill>
              </a:defRPr>
            </a:pPr>
            <a:r>
              <a:rPr sz="1650" b="1">
                <a:solidFill>
                  <a:srgbClr val="18A999"/>
                </a:solidFill>
              </a:rPr>
              <a:t>Recommended configuration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4F5A4-E33C-4C87-8C18-557D16A4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24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Enterprise 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290B5D-6EFE-49C5-B64F-42351D1E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241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USD 210,000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F3EA5-80D0-42A9-A721-F7C72E7E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Success Plus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FB397B-0FC9-47FF-8A1D-65BE9F08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USD 24,000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0B42F1-FF5F-45C8-A666-27886B38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337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Data Connect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42B8F1-94F2-4DD7-B5D2-BE352BAA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337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USD 14,000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934416-89D2-430A-BA6F-48F32BC1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Approved annual total: USD 248,000  |  Term: 2026-07-18 to 2027-07-17</a:t>
            </a:r>
          </a:p>
        </p:txBody>
      </p:sp>
    </p:spTree>
    <p:extLst>
      <p:ext uri="{BB962C8B-B14F-4D97-AF65-F5344CB8AC3E}">
        <p14:creationId xmlns:p14="http://schemas.microsoft.com/office/powerpoint/2010/main" val="20723724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2026-08-23T17:28:07.6090000Z</dcterms:created>
  <dcterms:modified xsi:type="dcterms:W3CDTF">2026-08-23T17:28:07.6090000Z</dcterms:modified>
</coreProperties>
</file>