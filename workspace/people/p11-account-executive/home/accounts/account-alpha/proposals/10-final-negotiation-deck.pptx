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5b200f26c1b4921" /><Relationship Type="http://schemas.openxmlformats.org/officeDocument/2006/relationships/extended-properties" Target="/docProps/app.xml" Id="R01c30b3a22474029" /><Relationship Type="http://schemas.openxmlformats.org/officeDocument/2006/relationships/officeDocument" Target="/ppt/presentation.xml" Id="R2d93d6dcd5a742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e1b76016b541db"/>
  </p:sldMasterIdLst>
  <p:notesMasterIdLst>
    <p:notesMasterId xmlns:r="http://schemas.openxmlformats.org/officeDocument/2006/relationships" r:id="R13cded2594c94633"/>
  </p:notesMasterIdLst>
  <p:sldIdLst>
    <p:sldId xmlns:r="http://schemas.openxmlformats.org/officeDocument/2006/relationships" id="256" r:id="R0da726d0e6fd437c"/>
    <p:sldId xmlns:r="http://schemas.openxmlformats.org/officeDocument/2006/relationships" id="257" r:id="R5c2d9da9caea4020"/>
    <p:sldId xmlns:r="http://schemas.openxmlformats.org/officeDocument/2006/relationships" id="258" r:id="Rb7be2f325697481a"/>
    <p:sldId xmlns:r="http://schemas.openxmlformats.org/officeDocument/2006/relationships" id="259" r:id="R5df4c1785f684bc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93fc2c09ad34c31" /><Relationship Type="http://schemas.openxmlformats.org/officeDocument/2006/relationships/slideMaster" Target="/ppt/slideMasters/slideMaster1.xml" Id="Rade1b76016b541db" /><Relationship Type="http://schemas.openxmlformats.org/officeDocument/2006/relationships/notesMaster" Target="/ppt/notesMasters/notesMaster1.xml" Id="R13cded2594c94633" /><Relationship Type="http://schemas.openxmlformats.org/officeDocument/2006/relationships/presProps" Target="/ppt/presProps.xml" Id="R8ef4fe8ec0a04507" /><Relationship Type="http://schemas.openxmlformats.org/officeDocument/2006/relationships/tableStyles" Target="/ppt/tableStyles.xml" Id="R9ce9c0248c0d43d2" /><Relationship Type="http://schemas.openxmlformats.org/officeDocument/2006/relationships/slide" Target="/ppt/slides/slide1.xml" Id="R0da726d0e6fd437c" /><Relationship Type="http://schemas.openxmlformats.org/officeDocument/2006/relationships/slide" Target="/ppt/slides/slide2.xml" Id="R5c2d9da9caea4020" /><Relationship Type="http://schemas.openxmlformats.org/officeDocument/2006/relationships/slide" Target="/ppt/slides/slide3.xml" Id="Rb7be2f325697481a" /><Relationship Type="http://schemas.openxmlformats.org/officeDocument/2006/relationships/slide" Target="/ppt/slides/slide4.xml" Id="R5df4c1785f684b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4d2d927060646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a0ea66921d4a02" /><Relationship Type="http://schemas.openxmlformats.org/officeDocument/2006/relationships/notesMaster" Target="/ppt/notesMasters/notesMaster1.xml" Id="Rd9bcf0d1b95941e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b65aa91f71465e" /><Relationship Type="http://schemas.openxmlformats.org/officeDocument/2006/relationships/notesMaster" Target="/ppt/notesMasters/notesMaster1.xml" Id="Rf54bc19680fb45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89312b71364659" /><Relationship Type="http://schemas.openxmlformats.org/officeDocument/2006/relationships/notesMaster" Target="/ppt/notesMasters/notesMaster1.xml" Id="Rb2e2400994204ec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95ea5c44394655" /><Relationship Type="http://schemas.openxmlformats.org/officeDocument/2006/relationships/notesMaster" Target="/ppt/notesMasters/notesMaster1.xml" Id="Rad59e6bc6c184e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cba6076107479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225610d8db4a62" /><Relationship Type="http://schemas.openxmlformats.org/officeDocument/2006/relationships/slideLayout" Target="/ppt/slideLayouts/slideLayout1.xml" Id="Rb36fd5eea99b46e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6fd5eea99b46e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1ac7be74514aeb" /><Relationship Type="http://schemas.openxmlformats.org/officeDocument/2006/relationships/notesSlide" Target="/ppt/notesSlides/notesSlide1.xml" Id="Ra5f3dfa15c9c4e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4c8d533d484f4e" /><Relationship Type="http://schemas.openxmlformats.org/officeDocument/2006/relationships/chart" Target="/ppt/slides/charts/chart1.xml" Id="R343f6910bee04892" /><Relationship Type="http://schemas.openxmlformats.org/officeDocument/2006/relationships/notesSlide" Target="/ppt/notesSlides/notesSlide2.xml" Id="R3725a93669a3411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0a2b025249487e" /><Relationship Type="http://schemas.openxmlformats.org/officeDocument/2006/relationships/notesSlide" Target="/ppt/notesSlides/notesSlide3.xml" Id="Rb069191ea80545a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049166bedd415c" /><Relationship Type="http://schemas.openxmlformats.org/officeDocument/2006/relationships/notesSlide" Target="/ppt/notesSlides/notesSlide4.xml" Id="R7b4611c3b9b74fbf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Scenario signal</c:v>
          </c:tx>
          <c:spPr>
            <a:solidFill xmlns:a="http://schemas.openxmlformats.org/drawingml/2006/main">
              <a:srgbClr val="2F6BFF"/>
            </a:solidFill>
          </c:spPr>
          <c:cat>
            <c:strLit>
              <c:ptCount val="3"/>
              <c:pt idx="0">
                <c:v>Reporting speed</c:v>
              </c:pt>
              <c:pt idx="1">
                <c:v>Enablement</c:v>
              </c:pt>
              <c:pt idx="2">
                <c:v>Service objective</c:v>
              </c:pt>
            </c:strLit>
          </c:cat>
          <c:val>
            <c:numLit>
              <c:formatCode>General</c:formatCode>
              <c:ptCount val="3"/>
              <c:pt idx="0">
                <c:v>37</c:v>
              </c:pt>
              <c:pt idx="1">
                <c:v>12</c:v>
              </c:pt>
              <c:pt idx="2">
                <c:v>99.95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3EA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17BB90-2355-499D-B80B-71BB27FA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EC1CEC-E5EE-4D99-8E2B-1238E788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14300" cy="3238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C94E60-548E-4D52-B097-FEA8EE60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143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A999"/>
                </a:solidFill>
              </a:defRPr>
            </a:pPr>
            <a:r>
              <a:rPr sz="1200" b="1">
                <a:solidFill>
                  <a:srgbClr val="18A999"/>
                </a:solidFill>
              </a:rPr>
              <a:t>NORTHSTAR CLOUD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D0BD34-A912-4364-9EFC-56712D45F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9545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Account Alpha |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final commercial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4D6901-2ED5-4EFB-A3E6-0353C9718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242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8E4FF"/>
                </a:solidFill>
              </a:defRPr>
            </a:pPr>
            <a:r>
              <a:rPr sz="1800" b="0">
                <a:solidFill>
                  <a:srgbClr val="D8E4FF"/>
                </a:solidFill>
              </a:rPr>
              <a:t>A concise approval path for the annual renewal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B46AD1-1838-4947-89E6-E5CC9B23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4835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Rowan Mercer  |  Renewal decision 2026-07-17</a:t>
            </a:r>
          </a:p>
        </p:txBody>
      </p:sp>
    </p:spTree>
    <p:extLst>
      <p:ext uri="{BB962C8B-B14F-4D97-AF65-F5344CB8AC3E}">
        <p14:creationId xmlns:p14="http://schemas.microsoft.com/office/powerpoint/2010/main" val="15476311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9AA8E8-3B59-4707-BAB4-58D1E49AD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E7D1EB-DF79-40D0-A398-0A1C64D79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9979A5-1A11-40D7-ABEA-BC05F1335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NORTHSTAR CLOUD  /  ACCOUNT ALPHA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15E046-A89F-486B-8ACA-F824DD96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6192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8E4FF"/>
                </a:solidFill>
              </a:defRPr>
            </a:pPr>
            <a:r>
              <a:rPr sz="900" b="0">
                <a:solidFill>
                  <a:srgbClr val="D8E4FF"/>
                </a:solidFill>
              </a:rPr>
              <a:t>Account Alpha | final commercial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9C1385-D3A0-413A-9C35-7152D164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8E4FF"/>
                </a:solidFill>
              </a:defRPr>
            </a:pPr>
            <a:r>
              <a:rPr sz="825" b="0">
                <a:solidFill>
                  <a:srgbClr val="D8E4FF"/>
                </a:solidFill>
              </a:rPr>
              <a:t>Synthetic internal scenario; no external sources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F507C5-F7C1-4B95-880C-976D67AD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8E4FF"/>
                </a:solidFill>
              </a:defRPr>
            </a:pPr>
            <a:r>
              <a:rPr sz="825" b="0">
                <a:solidFill>
                  <a:srgbClr val="D8E4FF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53C6EC-493C-4BC3-AE1A-9CEC84897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USD 248,000 annual investment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BD61D0-BE8C-4384-AC90-11C76EB74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8E4FF"/>
                </a:solidFill>
              </a:defRPr>
            </a:pPr>
            <a:r>
              <a:rPr sz="1425" b="0">
                <a:solidFill>
                  <a:srgbClr val="D8E4FF"/>
                </a:solidFill>
              </a:rPr>
              <a:t>Scenario planning signals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5810250" y="1676400"/>
          <a:ext xmlns:a="http://schemas.openxmlformats.org/drawingml/2006/main" cx="504825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43f6910bee04892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6965B5-0DA9-4E87-9B47-14727754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191000" cy="23431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88C338-83F5-4F15-A8FB-538C469D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95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Planning estimate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FF7CC1-EFB4-4CBE-94C1-12705D163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323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37% faster quarterly reporting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12-week enablement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99.95% service objective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C42D46-9214-444D-88AC-D62591B89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904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E4FF"/>
                </a:solidFill>
              </a:defRPr>
            </a:pPr>
            <a:r>
              <a:rPr sz="1200" b="0">
                <a:solidFill>
                  <a:srgbClr val="D8E4FF"/>
                </a:solidFill>
              </a:rPr>
              <a:t>These values are synthetic internal scenario estimates, not external facts or guarantees.</a:t>
            </a:r>
          </a:p>
        </p:txBody>
      </p:sp>
    </p:spTree>
    <p:extLst>
      <p:ext uri="{BB962C8B-B14F-4D97-AF65-F5344CB8AC3E}">
        <p14:creationId xmlns:p14="http://schemas.microsoft.com/office/powerpoint/2010/main" val="15134579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25D9ED-10AA-4F2F-AC5F-F414CDD7C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DE90C0-1040-4A50-AD76-10D54084D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073204-A5DE-4400-A2AC-19FDEB445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NORTHSTAR CLOUD  /  ACCOUNT ALPHA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C03020-5D99-4802-8B14-1449D2B2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6192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8E4FF"/>
                </a:solidFill>
              </a:defRPr>
            </a:pPr>
            <a:r>
              <a:rPr sz="900" b="0">
                <a:solidFill>
                  <a:srgbClr val="D8E4FF"/>
                </a:solidFill>
              </a:rPr>
              <a:t>Account Alpha | final commercial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5523D-5EB4-4B30-93E3-52372718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8E4FF"/>
                </a:solidFill>
              </a:defRPr>
            </a:pPr>
            <a:r>
              <a:rPr sz="825" b="0">
                <a:solidFill>
                  <a:srgbClr val="D8E4FF"/>
                </a:solidFill>
              </a:rPr>
              <a:t>Synthetic internal scenario; no external sources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DE87EC-2096-4B13-9A55-0AFBF1BE6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8E4FF"/>
                </a:solidFill>
              </a:defRPr>
            </a:pPr>
            <a:r>
              <a:rPr sz="825" b="0">
                <a:solidFill>
                  <a:srgbClr val="D8E4FF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71789F-9E78-489C-9FB0-8069A93C4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Term: 2026-07-18 to 2027-07-17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65FE78-713D-4BD3-9973-6B7B7860C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52625"/>
            <a:ext cx="9334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8D67B5-2EDD-47A4-9B83-797F9177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717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A999"/>
                </a:solidFill>
              </a:defRPr>
            </a:pPr>
            <a:r>
              <a:rPr sz="1350" b="1">
                <a:solidFill>
                  <a:srgbClr val="18A999"/>
                </a:solidFill>
              </a:rPr>
              <a:t>ALIGN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2CC4F4-DAA7-4EC1-85D4-A47E31C42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43125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Confirm owners and baseline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33C66E-9B03-46CB-B409-F3F2CEAC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9334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7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F946F1-0655-4C7B-B18F-C565F9AD3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6232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6BFF"/>
                </a:solidFill>
              </a:defRPr>
            </a:pPr>
            <a:r>
              <a:rPr sz="1350" b="1">
                <a:solidFill>
                  <a:srgbClr val="2F6BFF"/>
                </a:solidFill>
              </a:rPr>
              <a:t>ENABLE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362681-BE20-4502-94BC-153859ED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33375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Configure platform, Success Plus, and Data Connect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FF5B2D-B43B-4406-AAEE-E1D3879EB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33875"/>
            <a:ext cx="9334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F0D2D4-46B9-4400-A0E2-F97A70E9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529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A999"/>
                </a:solidFill>
              </a:defRPr>
            </a:pPr>
            <a:r>
              <a:rPr sz="1350" b="1">
                <a:solidFill>
                  <a:srgbClr val="18A999"/>
                </a:solidFill>
              </a:rPr>
              <a:t>PROVE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5B8F18-004A-485E-A7A5-FA3685A5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524375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Rehearse reporting and confirm acceptance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1F1AFA-493F-4B9B-A3A5-BE8DE7524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0955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D8E4FF"/>
                </a:solidFill>
              </a:defRPr>
            </a:pPr>
            <a:r>
              <a:rPr sz="1050" b="0">
                <a:solidFill>
                  <a:srgbClr val="D8E4FF"/>
                </a:solidFill>
              </a:rPr>
              <a:t>Weeks 1-2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31D3F6-1ED1-434D-8841-E9A79C369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8612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D8E4FF"/>
                </a:solidFill>
              </a:defRPr>
            </a:pPr>
            <a:r>
              <a:rPr sz="1050" b="0">
                <a:solidFill>
                  <a:srgbClr val="D8E4FF"/>
                </a:solidFill>
              </a:rPr>
              <a:t>Weeks 3-8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898ED1-2A40-4826-9B28-A67ACB1B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4767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D8E4FF"/>
                </a:solidFill>
              </a:defRPr>
            </a:pPr>
            <a:r>
              <a:rPr sz="1050" b="0">
                <a:solidFill>
                  <a:srgbClr val="D8E4FF"/>
                </a:solidFill>
              </a:rPr>
              <a:t>Weeks 9-12</a:t>
            </a:r>
          </a:p>
        </p:txBody>
      </p:sp>
    </p:spTree>
    <p:extLst>
      <p:ext uri="{BB962C8B-B14F-4D97-AF65-F5344CB8AC3E}">
        <p14:creationId xmlns:p14="http://schemas.microsoft.com/office/powerpoint/2010/main" val="8383550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C4780F-55A8-49BC-A604-0FD2569B8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429F71-1BB3-44B4-8660-B22AC88A7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A1D863-FCB3-41E0-91F2-43E30C0C1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NORTHSTAR CLOUD  /  ACCOUNT ALPHA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5F4DAA-79FB-4BE6-BE49-DF229E6F0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6192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8E4FF"/>
                </a:solidFill>
              </a:defRPr>
            </a:pPr>
            <a:r>
              <a:rPr sz="900" b="0">
                <a:solidFill>
                  <a:srgbClr val="D8E4FF"/>
                </a:solidFill>
              </a:rPr>
              <a:t>Account Alpha | final commercial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44A1A4-11C6-486D-A72F-09B17FA3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8E4FF"/>
                </a:solidFill>
              </a:defRPr>
            </a:pPr>
            <a:r>
              <a:rPr sz="825" b="0">
                <a:solidFill>
                  <a:srgbClr val="D8E4FF"/>
                </a:solidFill>
              </a:rPr>
              <a:t>Synthetic internal scenario; no external sources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EE1C3F-B73A-47D7-B3AE-D7A57745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8E4FF"/>
                </a:solidFill>
              </a:defRPr>
            </a:pPr>
            <a:r>
              <a:rPr sz="825" b="0">
                <a:solidFill>
                  <a:srgbClr val="D8E4FF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13BE68-394A-4A8D-B05D-C996EA30A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Approve by 2026-07-17 to protect continuity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51BBAB-A515-4AF0-B221-B3B341FF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0965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BF2A48-8638-4385-94B3-A515CE804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193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A999"/>
                </a:solidFill>
              </a:defRPr>
            </a:pPr>
            <a:r>
              <a:rPr sz="1650" b="1">
                <a:solidFill>
                  <a:srgbClr val="18A999"/>
                </a:solidFill>
              </a:rPr>
              <a:t>Recommended configuration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44D77C-AEE2-4894-84F4-C7AAEAF6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241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Enterprise Platform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21231B-167F-4A5B-8B50-D69599A7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241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USD 210,000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663158-1B74-4AD9-B0C9-136CA3E90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289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Success Plus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444943-B983-4A35-A93E-853321871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289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USD 24,000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ED9905-7130-4D53-AB4F-5FB3325CC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3377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Data Connect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921E9E-0F59-4F78-B4D5-EBEE25AFC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337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USD 14,000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E70727-0319-494F-B57C-03915D13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Approved annual total: USD 248,000  |  Term: 2026-07-18 to 2027-07-17</a:t>
            </a:r>
          </a:p>
        </p:txBody>
      </p:sp>
    </p:spTree>
    <p:extLst>
      <p:ext uri="{BB962C8B-B14F-4D97-AF65-F5344CB8AC3E}">
        <p14:creationId xmlns:p14="http://schemas.microsoft.com/office/powerpoint/2010/main" val="4078223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2026-08-23T17:28:07.6630000Z</dcterms:created>
  <dcterms:modified xsi:type="dcterms:W3CDTF">2026-08-23T17:28:07.6630000Z</dcterms:modified>
</coreProperties>
</file>