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0544a42a4c4f45" /><Relationship Type="http://schemas.openxmlformats.org/officeDocument/2006/relationships/extended-properties" Target="/docProps/app.xml" Id="R51e2ce5e460244f6" /><Relationship Type="http://schemas.openxmlformats.org/officeDocument/2006/relationships/officeDocument" Target="/ppt/presentation.xml" Id="R95da2682fe70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0cda24ed2b4a62"/>
  </p:sldMasterIdLst>
  <p:notesMasterIdLst>
    <p:notesMasterId xmlns:r="http://schemas.openxmlformats.org/officeDocument/2006/relationships" r:id="Rc8a64a3cace541ca"/>
  </p:notesMasterIdLst>
  <p:sldIdLst>
    <p:sldId xmlns:r="http://schemas.openxmlformats.org/officeDocument/2006/relationships" id="256" r:id="Rfec56b84f98d4d26"/>
    <p:sldId xmlns:r="http://schemas.openxmlformats.org/officeDocument/2006/relationships" id="257" r:id="R0775d93b8daa4bf1"/>
    <p:sldId xmlns:r="http://schemas.openxmlformats.org/officeDocument/2006/relationships" id="258" r:id="Redb3b35abc01478c"/>
    <p:sldId xmlns:r="http://schemas.openxmlformats.org/officeDocument/2006/relationships" id="259" r:id="R0c4a3a2947ba4b29"/>
    <p:sldId xmlns:r="http://schemas.openxmlformats.org/officeDocument/2006/relationships" id="260" r:id="R1ca832c80a8d42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317530a0b4a46" /><Relationship Type="http://schemas.openxmlformats.org/officeDocument/2006/relationships/slideMaster" Target="/ppt/slideMasters/slideMaster1.xml" Id="R810cda24ed2b4a62" /><Relationship Type="http://schemas.openxmlformats.org/officeDocument/2006/relationships/notesMaster" Target="/ppt/notesMasters/notesMaster1.xml" Id="Rc8a64a3cace541ca" /><Relationship Type="http://schemas.openxmlformats.org/officeDocument/2006/relationships/presProps" Target="/ppt/presProps.xml" Id="R9232138572d244f0" /><Relationship Type="http://schemas.openxmlformats.org/officeDocument/2006/relationships/tableStyles" Target="/ppt/tableStyles.xml" Id="R17504a40a9ee493f" /><Relationship Type="http://schemas.openxmlformats.org/officeDocument/2006/relationships/slide" Target="/ppt/slides/slide1.xml" Id="Rfec56b84f98d4d26" /><Relationship Type="http://schemas.openxmlformats.org/officeDocument/2006/relationships/slide" Target="/ppt/slides/slide2.xml" Id="R0775d93b8daa4bf1" /><Relationship Type="http://schemas.openxmlformats.org/officeDocument/2006/relationships/slide" Target="/ppt/slides/slide3.xml" Id="Redb3b35abc01478c" /><Relationship Type="http://schemas.openxmlformats.org/officeDocument/2006/relationships/slide" Target="/ppt/slides/slide4.xml" Id="R0c4a3a2947ba4b29" /><Relationship Type="http://schemas.openxmlformats.org/officeDocument/2006/relationships/slide" Target="/ppt/slides/slide5.xml" Id="R1ca832c80a8d42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632911aa83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e3002483043fd" /><Relationship Type="http://schemas.openxmlformats.org/officeDocument/2006/relationships/notesMaster" Target="/ppt/notesMasters/notesMaster1.xml" Id="Rca542286004a4b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b9a52b3f9b474f" /><Relationship Type="http://schemas.openxmlformats.org/officeDocument/2006/relationships/notesMaster" Target="/ppt/notesMasters/notesMaster1.xml" Id="R11fe41816f0b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654174c1e64827" /><Relationship Type="http://schemas.openxmlformats.org/officeDocument/2006/relationships/notesMaster" Target="/ppt/notesMasters/notesMaster1.xml" Id="R682013ecfbfc4f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2b45c1cc434974" /><Relationship Type="http://schemas.openxmlformats.org/officeDocument/2006/relationships/notesMaster" Target="/ppt/notesMasters/notesMaster1.xml" Id="R26033808c01443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a97d3b8bd47d0" /><Relationship Type="http://schemas.openxmlformats.org/officeDocument/2006/relationships/notesMaster" Target="/ppt/notesMasters/notesMaster1.xml" Id="R4c3a2ca216ad43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7eb369a474b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ba78a2c5f948f3" /><Relationship Type="http://schemas.openxmlformats.org/officeDocument/2006/relationships/slideLayout" Target="/ppt/slideLayouts/slideLayout1.xml" Id="R36153f2a80584c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153f2a80584c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20340f661419f" /><Relationship Type="http://schemas.openxmlformats.org/officeDocument/2006/relationships/notesSlide" Target="/ppt/notesSlides/notesSlide1.xml" Id="Rb78e3ed8632c41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b3d97a3a14d55" /><Relationship Type="http://schemas.openxmlformats.org/officeDocument/2006/relationships/notesSlide" Target="/ppt/notesSlides/notesSlide2.xml" Id="Rb0fd9f857ed048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dc5f93ced4886" /><Relationship Type="http://schemas.openxmlformats.org/officeDocument/2006/relationships/chart" Target="/ppt/slides/charts/chart1.xml" Id="R2be6f399489e4a64" /><Relationship Type="http://schemas.openxmlformats.org/officeDocument/2006/relationships/notesSlide" Target="/ppt/notesSlides/notesSlide3.xml" Id="R6c19865529c846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989f833774e78" /><Relationship Type="http://schemas.openxmlformats.org/officeDocument/2006/relationships/notesSlide" Target="/ppt/notesSlides/notesSlide4.xml" Id="Rc0080e155e2746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8888565b64350" /><Relationship Type="http://schemas.openxmlformats.org/officeDocument/2006/relationships/notesSlide" Target="/ppt/notesSlides/notesSlide5.xml" Id="R553dae633ddc461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Mean change</c:v>
          </c:tx>
          <c:spPr>
            <a:solidFill xmlns:a="http://schemas.openxmlformats.org/drawingml/2006/main">
              <a:srgbClr val="168B8D"/>
            </a:solidFill>
          </c:spPr>
          <c:cat>
            <c:strLit>
              <c:ptCount val="2"/>
              <c:pt idx="0">
                <c:v>Intervention</c:v>
              </c:pt>
              <c:pt idx="1">
                <c:v>Comparator</c:v>
              </c:pt>
            </c:strLit>
          </c:cat>
          <c:val>
            <c:numLit>
              <c:formatCode>General</c:formatCode>
              <c:ptCount val="2"/>
              <c:pt idx="0">
                <c:v>7.4</c:v>
              </c:pt>
              <c:pt idx="1">
                <c:v>6.8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85A83-2C9C-4CD9-AD1E-AC97FE40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E57"/>
                </a:solidFill>
              </a:defRPr>
            </a:pPr>
            <a:r>
              <a:rPr sz="3900" b="1">
                <a:solidFill>
                  <a:srgbClr val="102E57"/>
                </a:solidFill>
              </a:rPr>
              <a:t>Sakura Clinical Study Beta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307A-B340-48D3-A8FC-3406052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8B8D"/>
                </a:solidFill>
              </a:defRPr>
            </a:pPr>
            <a:r>
              <a:rPr sz="2175" b="1">
                <a:solidFill>
                  <a:srgbClr val="168B8D"/>
                </a:solidFill>
              </a:rPr>
              <a:t>Exploratory feasibility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0F095-CE8C-425E-8948-E278015A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B69"/>
                </a:solidFill>
              </a:defRPr>
            </a:pPr>
            <a:r>
              <a:rPr sz="1800" b="0">
                <a:solidFill>
                  <a:srgbClr val="314B69"/>
                </a:solidFill>
              </a:rPr>
              <a:t>Synthetic cohort: 36 records | Intervention n=18 | Comparator n=18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435CB-875E-42E4-A044-739F3985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B69"/>
                </a:solidFill>
              </a:defRPr>
            </a:pPr>
            <a:r>
              <a:rPr sz="1500" b="0">
                <a:solidFill>
                  <a:srgbClr val="314B69"/>
                </a:solidFill>
              </a:rPr>
              <a:t>This readout is descriptive and explicitly non-confirmatory.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45092-365B-4E24-ABFD-375126F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08D"/>
                </a:solidFill>
              </a:defRPr>
            </a:pPr>
            <a:r>
              <a:rPr sz="900" b="0">
                <a:solidFill>
                  <a:srgbClr val="58708D"/>
                </a:solidFill>
              </a:rPr>
              <a:t>Sakura Clinical Study Beta 2026 | Fully synthetic | Snapshot 2026-09-02 | Exploratory, non-confirmatory</a:t>
            </a:r>
          </a:p>
        </p:txBody>
      </p:sp>
    </p:spTree>
    <p:extLst>
      <p:ext uri="{BB962C8B-B14F-4D97-AF65-F5344CB8AC3E}">
        <p14:creationId xmlns:p14="http://schemas.microsoft.com/office/powerpoint/2010/main" val="1292687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FD23A-26AC-4D43-AB34-1DF3A140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57"/>
                </a:solidFill>
              </a:defRPr>
            </a:pPr>
            <a:r>
              <a:rPr sz="2850" b="1">
                <a:solidFill>
                  <a:srgbClr val="102E57"/>
                </a:solidFill>
              </a:rPr>
              <a:t>The cohort completed the planned synthetic visits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34128-258D-478D-8765-FC20D583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143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168B8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1496B-3D53-4455-B0E5-9CE2DEE6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E57"/>
                </a:solidFill>
              </a:defRPr>
            </a:pPr>
            <a:r>
              <a:rPr sz="3300" b="1">
                <a:solidFill>
                  <a:srgbClr val="102E57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AFFAA-742C-4ECE-88F6-B190793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B8D"/>
                </a:solidFill>
              </a:defRPr>
            </a:pPr>
            <a:r>
              <a:rPr sz="1725" b="1">
                <a:solidFill>
                  <a:srgbClr val="168B8D"/>
                </a:solidFill>
              </a:rPr>
              <a:t>Enrolled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DBB2F-9F4C-45BA-A581-117BA41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143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16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64533-2A7F-4A6D-8E96-B2CEC1D6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E57"/>
                </a:solidFill>
              </a:defRPr>
            </a:pPr>
            <a:r>
              <a:rPr sz="3300" b="1">
                <a:solidFill>
                  <a:srgbClr val="102E57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70A13-CA60-43DF-B92B-C4710FC4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B8D"/>
                </a:solidFill>
              </a:defRPr>
            </a:pPr>
            <a:r>
              <a:rPr sz="1725" b="1">
                <a:solidFill>
                  <a:srgbClr val="168B8D"/>
                </a:solidFill>
              </a:rPr>
              <a:t>Intervention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6ACBA-E7F9-4508-BFAB-A4A789E9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143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168B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804BA-4B08-4B4E-8409-CEC313D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E57"/>
                </a:solidFill>
              </a:defRPr>
            </a:pPr>
            <a:r>
              <a:rPr sz="3300" b="1">
                <a:solidFill>
                  <a:srgbClr val="102E57"/>
                </a:solidFill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9759C-B99E-42A3-A54F-892BDBC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B8D"/>
                </a:solidFill>
              </a:defRPr>
            </a:pPr>
            <a:r>
              <a:rPr sz="1725" b="1">
                <a:solidFill>
                  <a:srgbClr val="168B8D"/>
                </a:solidFill>
              </a:rPr>
              <a:t>Comparator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3E097-8768-4FED-A6D5-823F89DA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143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16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1ED99-BC22-431C-9CD0-1F362EC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E57"/>
                </a:solidFill>
              </a:defRPr>
            </a:pPr>
            <a:r>
              <a:rPr sz="3300" b="1">
                <a:solidFill>
                  <a:srgbClr val="102E57"/>
                </a:solidFill>
              </a:rPr>
              <a:t>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E0F4A-E25D-4D9A-B564-55295DF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B8D"/>
                </a:solidFill>
              </a:defRPr>
            </a:pPr>
            <a:r>
              <a:rPr sz="1725" b="1">
                <a:solidFill>
                  <a:srgbClr val="168B8D"/>
                </a:solidFill>
              </a:rPr>
              <a:t>Week 8 analyzed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8FF1A-E691-4392-BEF0-1AA8EF29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B69"/>
                </a:solidFill>
              </a:defRPr>
            </a:pPr>
            <a:r>
              <a:rPr sz="1500" b="0">
                <a:solidFill>
                  <a:srgbClr val="314B69"/>
                </a:solidFill>
              </a:rPr>
              <a:t>All figures are fully synthetic and represent operational feasibility only.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68A11-2DF1-43D3-BC92-0C9155DD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08D"/>
                </a:solidFill>
              </a:defRPr>
            </a:pPr>
            <a:r>
              <a:rPr sz="900" b="0">
                <a:solidFill>
                  <a:srgbClr val="58708D"/>
                </a:solidFill>
              </a:rPr>
              <a:t>Sakura Clinical Study Beta 2026 | Fully synthetic | Snapshot 2026-09-02 | Exploratory, non-confirmatory</a:t>
            </a:r>
          </a:p>
        </p:txBody>
      </p:sp>
    </p:spTree>
    <p:extLst>
      <p:ext uri="{BB962C8B-B14F-4D97-AF65-F5344CB8AC3E}">
        <p14:creationId xmlns:p14="http://schemas.microsoft.com/office/powerpoint/2010/main" val="1499772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35B8C-AE36-4D82-83D1-93A43CFA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57"/>
                </a:solidFill>
              </a:defRPr>
            </a:pPr>
            <a:r>
              <a:rPr sz="2850" b="1">
                <a:solidFill>
                  <a:srgbClr val="102E57"/>
                </a:solidFill>
              </a:rPr>
              <a:t>The descriptive difference is small and imprecise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284F3-1F01-45C2-94D5-ACC32EF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B8D"/>
                </a:solidFill>
              </a:defRPr>
            </a:pPr>
            <a:r>
              <a:rPr sz="1800" b="1">
                <a:solidFill>
                  <a:srgbClr val="168B8D"/>
                </a:solidFill>
              </a:rPr>
              <a:t>Week 8 feasibility composite score change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00125" y="2095500"/>
          <a:ext xmlns:a="http://schemas.openxmlformats.org/drawingml/2006/main" cx="6191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e6f399489e4a6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8BF33-16F5-4075-B09D-698C3FD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E57"/>
                </a:solidFill>
              </a:defRPr>
            </a:pPr>
            <a:r>
              <a:rPr sz="2250" b="1">
                <a:solidFill>
                  <a:srgbClr val="102E57"/>
                </a:solidFill>
              </a:rPr>
              <a:t>Difference: 0.6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B7C25-067D-47DB-9713-595F925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B69"/>
                </a:solidFill>
              </a:defRPr>
            </a:pPr>
            <a:r>
              <a:rPr sz="1800" b="0">
                <a:solidFill>
                  <a:srgbClr val="314B69"/>
                </a:solidFill>
              </a:rPr>
              <a:t>95% CI: -0.8 to 2.0</a:t>
            </a:r>
          </a:p>
          <a:p xmlns:a="http://schemas.openxmlformats.org/drawingml/2006/main">
            <a:pPr>
              <a:defRPr sz="1800" b="0">
                <a:solidFill>
                  <a:srgbClr val="314B69"/>
                </a:solidFill>
              </a:defRPr>
            </a:pPr>
            <a:r>
              <a:rPr sz="1800" b="0">
                <a:solidFill>
                  <a:srgbClr val="314B69"/>
                </a:solidFill>
              </a:rPr>
              <a:t>Exploratory p=0.39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BD19B-D28A-4137-AF32-8F6F0335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4B30"/>
                </a:solidFill>
              </a:defRPr>
            </a:pPr>
            <a:r>
              <a:rPr sz="1650" b="1">
                <a:solidFill>
                  <a:srgbClr val="A34B30"/>
                </a:solidFill>
              </a:rPr>
              <a:t>No confirmatory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3D106-4045-4AAD-89FF-8E8E2CFF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08D"/>
                </a:solidFill>
              </a:defRPr>
            </a:pPr>
            <a:r>
              <a:rPr sz="900" b="0">
                <a:solidFill>
                  <a:srgbClr val="58708D"/>
                </a:solidFill>
              </a:rPr>
              <a:t>Sakura Clinical Study Beta 2026 | Fully synthetic | Snapshot 2026-09-02 | Exploratory, non-confirmatory</a:t>
            </a:r>
          </a:p>
        </p:txBody>
      </p:sp>
    </p:spTree>
    <p:extLst>
      <p:ext uri="{BB962C8B-B14F-4D97-AF65-F5344CB8AC3E}">
        <p14:creationId xmlns:p14="http://schemas.microsoft.com/office/powerpoint/2010/main" val="539301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132B2-8560-462C-867A-A8D211AE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57"/>
                </a:solidFill>
              </a:defRPr>
            </a:pPr>
            <a:r>
              <a:rPr sz="2850" b="1">
                <a:solidFill>
                  <a:srgbClr val="102E57"/>
                </a:solidFill>
              </a:rPr>
              <a:t>Safety and review anchors remain descriptive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DFDCD-276E-4F5C-B636-A83371C1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B8D"/>
                </a:solidFill>
              </a:defRPr>
            </a:pPr>
            <a:r>
              <a:rPr sz="2250" b="1">
                <a:solidFill>
                  <a:srgbClr val="168B8D"/>
                </a:solidFill>
              </a:rPr>
              <a:t>5 mild, resolved synthetic events</a:t>
            </a:r>
          </a:p>
          <a:p xmlns:a="http://schemas.openxmlformats.org/drawingml/2006/main">
            <a:pPr>
              <a:defRPr sz="2250" b="1">
                <a:solidFill>
                  <a:srgbClr val="168B8D"/>
                </a:solidFill>
              </a:defRPr>
            </a:pPr>
            <a:r>
              <a:rPr sz="2250" b="1">
                <a:solidFill>
                  <a:srgbClr val="168B8D"/>
                </a:solidFill>
              </a:rPr>
              <a:t>0 serious synthetic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FFB2A-19C1-439E-B472-F5C9128F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E57"/>
                </a:solidFill>
              </a:defRPr>
            </a:pPr>
            <a:r>
              <a:rPr sz="2250" b="1">
                <a:solidFill>
                  <a:srgbClr val="102E57"/>
                </a:solidFill>
              </a:rPr>
              <a:t>2.5 mg review threshold</a:t>
            </a:r>
          </a:p>
          <a:p xmlns:a="http://schemas.openxmlformats.org/drawingml/2006/main">
            <a:pPr>
              <a:defRPr sz="2250" b="1">
                <a:solidFill>
                  <a:srgbClr val="102E57"/>
                </a:solidFill>
              </a:defRPr>
            </a:pPr>
            <a:r>
              <a:rPr sz="2250" b="1">
                <a:solidFill>
                  <a:srgbClr val="102E57"/>
                </a:solidFill>
              </a:rPr>
              <a:t>0 synthetic review flags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F015F-D9C7-462C-8732-0FBC5DEA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B69"/>
                </a:solidFill>
              </a:defRPr>
            </a:pPr>
            <a:r>
              <a:rPr sz="1650" b="0">
                <a:solidFill>
                  <a:srgbClr val="314B69"/>
                </a:solidFill>
              </a:rPr>
              <a:t>The threshold is a documentation-review anchor, not dosing guidance or medical advice.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15DFA-B6E3-46DE-AB5D-F53A702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08D"/>
                </a:solidFill>
              </a:defRPr>
            </a:pPr>
            <a:r>
              <a:rPr sz="900" b="0">
                <a:solidFill>
                  <a:srgbClr val="58708D"/>
                </a:solidFill>
              </a:rPr>
              <a:t>Sakura Clinical Study Beta 2026 | Fully synthetic | Snapshot 2026-09-02 | Exploratory, non-confirmatory</a:t>
            </a:r>
          </a:p>
        </p:txBody>
      </p:sp>
    </p:spTree>
    <p:extLst>
      <p:ext uri="{BB962C8B-B14F-4D97-AF65-F5344CB8AC3E}">
        <p14:creationId xmlns:p14="http://schemas.microsoft.com/office/powerpoint/2010/main" val="1342571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FB3A6-C963-4F7D-8782-E614BEA2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E57"/>
                </a:solidFill>
              </a:defRPr>
            </a:pPr>
            <a:r>
              <a:rPr sz="2850" b="1">
                <a:solidFill>
                  <a:srgbClr val="102E57"/>
                </a:solidFill>
              </a:rPr>
              <a:t>What this synthetic readout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F31C6-7995-41AB-BCC7-826F637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B69"/>
                </a:solidFill>
              </a:defRPr>
            </a:pPr>
            <a:r>
              <a:rPr sz="1950" b="0">
                <a:solidFill>
                  <a:srgbClr val="314B69"/>
                </a:solidFill>
              </a:rPr>
              <a:t>• A reconciled feasibility example for corpus production</a:t>
            </a:r>
          </a:p>
          <a:p xmlns:a="http://schemas.openxmlformats.org/drawingml/2006/main">
            <a:pPr>
              <a:defRPr sz="1950" b="0">
                <a:solidFill>
                  <a:srgbClr val="314B69"/>
                </a:solidFill>
              </a:defRPr>
            </a:pPr>
            <a:r>
              <a:rPr sz="1950" b="0">
                <a:solidFill>
                  <a:srgbClr val="314B69"/>
                </a:solidFill>
              </a:rPr>
              <a:t>• A clear separation of descriptive and confirmatory claims</a:t>
            </a:r>
          </a:p>
          <a:p xmlns:a="http://schemas.openxmlformats.org/drawingml/2006/main">
            <a:pPr>
              <a:defRPr sz="1950" b="0">
                <a:solidFill>
                  <a:srgbClr val="314B69"/>
                </a:solidFill>
              </a:defRPr>
            </a:pPr>
            <a:r>
              <a:rPr sz="1950" b="0">
                <a:solidFill>
                  <a:srgbClr val="314B69"/>
                </a:solidFill>
              </a:rPr>
              <a:t>• A traceable 36-record snapshot across results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36AD6-F4B9-4CF6-B28B-4B0B6214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4B30"/>
                </a:solidFill>
              </a:defRPr>
            </a:pPr>
            <a:r>
              <a:rPr sz="2100" b="1">
                <a:solidFill>
                  <a:srgbClr val="A34B30"/>
                </a:solidFill>
              </a:rPr>
              <a:t>What it does not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B7BC1-D8CD-4DF2-94F3-295D5B2A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4B69"/>
                </a:solidFill>
              </a:defRPr>
            </a:pPr>
            <a:r>
              <a:rPr sz="1875" b="0">
                <a:solidFill>
                  <a:srgbClr val="314B69"/>
                </a:solidFill>
              </a:rPr>
              <a:t>• Clinical decisions, dosing decisions, efficacy claims, or generalizable safety conclusions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81D32-ADAB-4D80-BD30-E0FE037F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8708D"/>
                </a:solidFill>
              </a:defRPr>
            </a:pPr>
            <a:r>
              <a:rPr sz="900" b="0">
                <a:solidFill>
                  <a:srgbClr val="58708D"/>
                </a:solidFill>
              </a:rPr>
              <a:t>Sakura Clinical Study Beta 2026 | Fully synthetic | Snapshot 2026-09-02 | Exploratory, non-confirmatory</a:t>
            </a:r>
          </a:p>
        </p:txBody>
      </p:sp>
    </p:spTree>
    <p:extLst>
      <p:ext uri="{BB962C8B-B14F-4D97-AF65-F5344CB8AC3E}">
        <p14:creationId xmlns:p14="http://schemas.microsoft.com/office/powerpoint/2010/main" val="146659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2026-08-23T18:55:46.5590000Z</dcterms:created>
  <dcterms:modified xsi:type="dcterms:W3CDTF">2026-08-23T18:55:46.5590000Z</dcterms:modified>
</coreProperties>
</file>