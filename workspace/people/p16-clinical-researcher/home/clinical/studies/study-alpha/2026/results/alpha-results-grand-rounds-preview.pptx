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767198a824083" /><Relationship Type="http://schemas.openxmlformats.org/officeDocument/2006/relationships/extended-properties" Target="/docProps/app.xml" Id="R6f73d1a24db34b56" /><Relationship Type="http://schemas.openxmlformats.org/officeDocument/2006/relationships/officeDocument" Target="/ppt/presentation.xml" Id="R0c40f70e021d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22f563481482a"/>
  </p:sldMasterIdLst>
  <p:notesMasterIdLst>
    <p:notesMasterId xmlns:r="http://schemas.openxmlformats.org/officeDocument/2006/relationships" r:id="R2f89dd93be624320"/>
  </p:notesMasterIdLst>
  <p:sldIdLst>
    <p:sldId xmlns:r="http://schemas.openxmlformats.org/officeDocument/2006/relationships" id="256" r:id="R116f40392fd94e43"/>
    <p:sldId xmlns:r="http://schemas.openxmlformats.org/officeDocument/2006/relationships" id="257" r:id="R5028c1e859d84c82"/>
    <p:sldId xmlns:r="http://schemas.openxmlformats.org/officeDocument/2006/relationships" id="258" r:id="Rb97a5f9723384576"/>
    <p:sldId xmlns:r="http://schemas.openxmlformats.org/officeDocument/2006/relationships" id="259" r:id="Rbd88200e68cc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51a75215442f1" /><Relationship Type="http://schemas.openxmlformats.org/officeDocument/2006/relationships/slideMaster" Target="/ppt/slideMasters/slideMaster1.xml" Id="R68522f563481482a" /><Relationship Type="http://schemas.openxmlformats.org/officeDocument/2006/relationships/notesMaster" Target="/ppt/notesMasters/notesMaster1.xml" Id="R2f89dd93be624320" /><Relationship Type="http://schemas.openxmlformats.org/officeDocument/2006/relationships/presProps" Target="/ppt/presProps.xml" Id="Rcba85f9d6a844ade" /><Relationship Type="http://schemas.openxmlformats.org/officeDocument/2006/relationships/tableStyles" Target="/ppt/tableStyles.xml" Id="R8abbaccdff98483e" /><Relationship Type="http://schemas.openxmlformats.org/officeDocument/2006/relationships/slide" Target="/ppt/slides/slide1.xml" Id="R116f40392fd94e43" /><Relationship Type="http://schemas.openxmlformats.org/officeDocument/2006/relationships/slide" Target="/ppt/slides/slide2.xml" Id="R5028c1e859d84c82" /><Relationship Type="http://schemas.openxmlformats.org/officeDocument/2006/relationships/slide" Target="/ppt/slides/slide3.xml" Id="Rb97a5f9723384576" /><Relationship Type="http://schemas.openxmlformats.org/officeDocument/2006/relationships/slide" Target="/ppt/slides/slide4.xml" Id="Rbd88200e68cc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d56a8177d46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79194ca784e6f" /><Relationship Type="http://schemas.openxmlformats.org/officeDocument/2006/relationships/notesMaster" Target="/ppt/notesMasters/notesMaster1.xml" Id="Rd2f25952a7ba4d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b705043eba4138" /><Relationship Type="http://schemas.openxmlformats.org/officeDocument/2006/relationships/notesMaster" Target="/ppt/notesMasters/notesMaster1.xml" Id="R561b8455cd1c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aba424be84897" /><Relationship Type="http://schemas.openxmlformats.org/officeDocument/2006/relationships/notesMaster" Target="/ppt/notesMasters/notesMaster1.xml" Id="Rd246280fa8e2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c787f482f4018" /><Relationship Type="http://schemas.openxmlformats.org/officeDocument/2006/relationships/notesMaster" Target="/ppt/notesMasters/notesMaster1.xml" Id="Re0d1246ddf2a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ebc399afb4c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628c9deac4b6f" /><Relationship Type="http://schemas.openxmlformats.org/officeDocument/2006/relationships/slideLayout" Target="/ppt/slideLayouts/slideLayout1.xml" Id="Rac378190f323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378190f323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94cf205734e00" /><Relationship Type="http://schemas.openxmlformats.org/officeDocument/2006/relationships/notesSlide" Target="/ppt/notesSlides/notesSlide1.xml" Id="R496205ec41f5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af9c449124163" /><Relationship Type="http://schemas.openxmlformats.org/officeDocument/2006/relationships/chart" Target="/ppt/slides/charts/chart1.xml" Id="R7fe9e94011ee43e1" /><Relationship Type="http://schemas.openxmlformats.org/officeDocument/2006/relationships/notesSlide" Target="/ppt/notesSlides/notesSlide2.xml" Id="Rbb094dd9166e45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f54e5ddb14f69" /><Relationship Type="http://schemas.openxmlformats.org/officeDocument/2006/relationships/notesSlide" Target="/ppt/notesSlides/notesSlide3.xml" Id="R7a52b3bc25cf43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7ed7bd6c142b4" /><Relationship Type="http://schemas.openxmlformats.org/officeDocument/2006/relationships/notesSlide" Target="/ppt/notesSlides/notesSlide4.xml" Id="R04a32e8466a84c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Mean change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2"/>
              <c:pt idx="0">
                <c:v>SC-A 2.5 mg</c:v>
              </c:pt>
              <c:pt idx="1">
                <c:v>Matched control</c:v>
              </c:pt>
            </c:strLit>
          </c:cat>
          <c:val>
            <c:numLit>
              <c:formatCode>General</c:formatCode>
              <c:ptCount val="2"/>
              <c:pt idx="0">
                <c:v>-4.8</c:v>
              </c:pt>
              <c:pt idx="1">
                <c:v>-2.1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2F6D4-B3FC-4D42-81BA-6B9E050E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81D55-3A55-4A8F-A7C8-E0B76995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SAKURA CLINICAL | GRAND ROUNDS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C8535-747F-4BFF-A0BB-258F1FD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Study Alpha 2026: locked synthetic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B2A6C-C6DE-469D-960A-5C6AF0F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48 randomized and analysis cases</a:t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24 SC-A 2.5 mg | 24 Matched control</a:t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Snapshot: 2026-09-02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D5FFD-ECED-4315-AD37-13FF91A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Synthetic study workflow material</a:t>
            </a:r>
          </a:p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Not medical advice</a:t>
            </a:r>
          </a:p>
        </p:txBody>
      </p:sp>
    </p:spTree>
    <p:extLst>
      <p:ext uri="{BB962C8B-B14F-4D97-AF65-F5344CB8AC3E}">
        <p14:creationId xmlns:p14="http://schemas.microsoft.com/office/powerpoint/2010/main" val="738231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9F28-62D1-4895-A7A1-61DD0E62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8ACF9-7725-4E26-A5E1-1D318B6D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PRIMARY ENDPOINT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ED6D9-1EFE-4E1D-959A-ADE406D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Day-28 change favored SC-A in this synthetic snapshot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6667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e9e94011ee43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8175B-BE16-4E29-8BFB-052C961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3B5C"/>
                </a:solidFill>
              </a:defRPr>
            </a:pPr>
            <a:r>
              <a:rPr sz="2250" b="1">
                <a:solidFill>
                  <a:srgbClr val="113B5C"/>
                </a:solidFill>
              </a:rPr>
              <a:t>Adjusted difference</a:t>
            </a:r>
          </a:p>
          <a:p xmlns:a="http://schemas.openxmlformats.org/drawingml/2006/main">
            <a:pPr>
              <a:defRPr sz="2250" b="1">
                <a:solidFill>
                  <a:srgbClr val="113B5C"/>
                </a:solidFill>
              </a:defRPr>
            </a:pPr>
            <a:r>
              <a:rPr sz="2250" b="1">
                <a:solidFill>
                  <a:srgbClr val="113B5C"/>
                </a:solidFill>
              </a:rPr>
              <a:t>-2.7</a:t>
            </a:r>
          </a:p>
          <a:p xmlns:a="http://schemas.openxmlformats.org/drawingml/2006/main">
            <a:pPr>
              <a:defRPr sz="2250" b="1">
                <a:solidFill>
                  <a:srgbClr val="113B5C"/>
                </a:solidFill>
              </a:defRPr>
            </a:pPr>
            <a:r>
              <a:rPr sz="2250" b="1">
                <a:solidFill>
                  <a:srgbClr val="113B5C"/>
                </a:solidFill>
              </a:rPr>
              <a:t>95% CI -4.1 to -1.3</a:t>
            </a:r>
          </a:p>
        </p:txBody>
      </p:sp>
    </p:spTree>
    <p:extLst>
      <p:ext uri="{BB962C8B-B14F-4D97-AF65-F5344CB8AC3E}">
        <p14:creationId xmlns:p14="http://schemas.microsoft.com/office/powerpoint/2010/main" val="1174354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0B6FF-EBBD-4DE4-B227-E06A8F7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3991-7CF2-4B01-B88D-A888E64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SAFETY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180F7-5243-4EF1-B957-5B8626A7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Safety signals were non-serious in the locked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A2851-56B9-401B-8D42-6B35A9C3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D8DFF"/>
                </a:solidFill>
              </a:defRPr>
            </a:pPr>
            <a:r>
              <a:rPr sz="5700" b="1">
                <a:solidFill>
                  <a:srgbClr val="3D8DFF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24E52-DBEB-4119-AD42-C3BE084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non-serious adverse events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across 6 SC-A 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B816D-CE40-4568-98B9-69A7651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D8DFF"/>
                </a:solidFill>
              </a:defRPr>
            </a:pPr>
            <a:r>
              <a:rPr sz="5700" b="1">
                <a:solidFill>
                  <a:srgbClr val="3D8DFF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A48C4-E17C-4276-96DE-874D6A1E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serious adverse events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across the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64752-DE92-4C4E-84C3-AE365C8D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All participants and events are synthetic.</a:t>
            </a:r>
          </a:p>
        </p:txBody>
      </p:sp>
    </p:spTree>
    <p:extLst>
      <p:ext uri="{BB962C8B-B14F-4D97-AF65-F5344CB8AC3E}">
        <p14:creationId xmlns:p14="http://schemas.microsoft.com/office/powerpoint/2010/main" val="1234949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8BE43-3263-43EF-B29E-0F7CCA23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1A4A9-74D6-4852-B154-5D3FB4AE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9012-49F7-4EA9-B59C-DB3554DB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Interpret results as a protocol-review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F739-6192-45A7-8A14-86848EC5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942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The 2.5 mg value is a protocol review threshold, not medical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Next review: data provenance, analysis conventions, and synthetic safety listing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80520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2026-08-23T19:11:18.3160000Z</dcterms:created>
  <dcterms:modified xsi:type="dcterms:W3CDTF">2026-08-23T19:11:18.3160000Z</dcterms:modified>
</coreProperties>
</file>