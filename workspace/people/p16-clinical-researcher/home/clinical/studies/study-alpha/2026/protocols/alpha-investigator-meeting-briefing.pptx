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741f722b144047" /><Relationship Type="http://schemas.openxmlformats.org/officeDocument/2006/relationships/extended-properties" Target="/docProps/app.xml" Id="R85f0001adda74355" /><Relationship Type="http://schemas.openxmlformats.org/officeDocument/2006/relationships/officeDocument" Target="/ppt/presentation.xml" Id="Rbfe59adc7cbf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bd0fb69aa848a6"/>
  </p:sldMasterIdLst>
  <p:notesMasterIdLst>
    <p:notesMasterId xmlns:r="http://schemas.openxmlformats.org/officeDocument/2006/relationships" r:id="R63163376f5d74335"/>
  </p:notesMasterIdLst>
  <p:sldIdLst>
    <p:sldId xmlns:r="http://schemas.openxmlformats.org/officeDocument/2006/relationships" id="256" r:id="R8729bb8b50834c33"/>
    <p:sldId xmlns:r="http://schemas.openxmlformats.org/officeDocument/2006/relationships" id="257" r:id="Rde4487a055df4850"/>
    <p:sldId xmlns:r="http://schemas.openxmlformats.org/officeDocument/2006/relationships" id="258" r:id="Rc4bedbbb951c44ba"/>
    <p:sldId xmlns:r="http://schemas.openxmlformats.org/officeDocument/2006/relationships" id="259" r:id="Re2405131ff7b4dd2"/>
    <p:sldId xmlns:r="http://schemas.openxmlformats.org/officeDocument/2006/relationships" id="260" r:id="Rf61c5efb22b444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169f07705e4f33" /><Relationship Type="http://schemas.openxmlformats.org/officeDocument/2006/relationships/slideMaster" Target="/ppt/slideMasters/slideMaster1.xml" Id="R90bd0fb69aa848a6" /><Relationship Type="http://schemas.openxmlformats.org/officeDocument/2006/relationships/notesMaster" Target="/ppt/notesMasters/notesMaster1.xml" Id="R63163376f5d74335" /><Relationship Type="http://schemas.openxmlformats.org/officeDocument/2006/relationships/presProps" Target="/ppt/presProps.xml" Id="R9cbc148ecb834239" /><Relationship Type="http://schemas.openxmlformats.org/officeDocument/2006/relationships/tableStyles" Target="/ppt/tableStyles.xml" Id="R43d50671aaf94beb" /><Relationship Type="http://schemas.openxmlformats.org/officeDocument/2006/relationships/slide" Target="/ppt/slides/slide1.xml" Id="R8729bb8b50834c33" /><Relationship Type="http://schemas.openxmlformats.org/officeDocument/2006/relationships/slide" Target="/ppt/slides/slide2.xml" Id="Rde4487a055df4850" /><Relationship Type="http://schemas.openxmlformats.org/officeDocument/2006/relationships/slide" Target="/ppt/slides/slide3.xml" Id="Rc4bedbbb951c44ba" /><Relationship Type="http://schemas.openxmlformats.org/officeDocument/2006/relationships/slide" Target="/ppt/slides/slide4.xml" Id="Re2405131ff7b4dd2" /><Relationship Type="http://schemas.openxmlformats.org/officeDocument/2006/relationships/slide" Target="/ppt/slides/slide5.xml" Id="Rf61c5efb22b444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7d3ced3ac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4fb3e7a72405c" /><Relationship Type="http://schemas.openxmlformats.org/officeDocument/2006/relationships/notesMaster" Target="/ppt/notesMasters/notesMaster1.xml" Id="Rfeae5b457b04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4e5fcc4b6490c" /><Relationship Type="http://schemas.openxmlformats.org/officeDocument/2006/relationships/notesMaster" Target="/ppt/notesMasters/notesMaster1.xml" Id="Re78a89c61699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17bd5a25c4b4d" /><Relationship Type="http://schemas.openxmlformats.org/officeDocument/2006/relationships/notesMaster" Target="/ppt/notesMasters/notesMaster1.xml" Id="R5adda11815fb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229af52924c78" /><Relationship Type="http://schemas.openxmlformats.org/officeDocument/2006/relationships/notesMaster" Target="/ppt/notesMasters/notesMaster1.xml" Id="R39bed897f23f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07653a18504770" /><Relationship Type="http://schemas.openxmlformats.org/officeDocument/2006/relationships/notesMaster" Target="/ppt/notesMasters/notesMaster1.xml" Id="Rd00b31d24dec47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8d139df76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b6829ab754a63" /><Relationship Type="http://schemas.openxmlformats.org/officeDocument/2006/relationships/slideLayout" Target="/ppt/slideLayouts/slideLayout1.xml" Id="R71c6efca8047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6efca8047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9374ecbcd429c" /><Relationship Type="http://schemas.openxmlformats.org/officeDocument/2006/relationships/notesSlide" Target="/ppt/notesSlides/notesSlide1.xml" Id="R340fe44b3209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550aa63d0434f" /><Relationship Type="http://schemas.openxmlformats.org/officeDocument/2006/relationships/image" Target="/ppt/media/image.png" Id="R857c61bb37d649ee" /><Relationship Type="http://schemas.openxmlformats.org/officeDocument/2006/relationships/notesSlide" Target="/ppt/notesSlides/notesSlide2.xml" Id="Rfa85e7974c5440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6a723320647e4" /><Relationship Type="http://schemas.openxmlformats.org/officeDocument/2006/relationships/chart" Target="/ppt/slides/charts/chart1.xml" Id="R939a92ed907d4d35" /><Relationship Type="http://schemas.openxmlformats.org/officeDocument/2006/relationships/notesSlide" Target="/ppt/notesSlides/notesSlide3.xml" Id="Ra980fb153cf5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e77f679ef453f" /><Relationship Type="http://schemas.openxmlformats.org/officeDocument/2006/relationships/notesSlide" Target="/ppt/notesSlides/notesSlide4.xml" Id="R92ef43012b1b47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d08ac9a64dd7" /><Relationship Type="http://schemas.openxmlformats.org/officeDocument/2006/relationships/notesSlide" Target="/ppt/notesSlides/notesSlide5.xml" Id="Rc434bec902464c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Mean change</c:v>
          </c:tx>
          <c:spPr>
            <a:solidFill xmlns:a="http://schemas.openxmlformats.org/drawingml/2006/main">
              <a:srgbClr val="00786F"/>
            </a:solidFill>
          </c:spPr>
          <c:invertIfNegative val="0"/>
          <c:cat>
            <c:strLit>
              <c:ptCount val="2"/>
              <c:pt idx="0">
                <c:v>SC-A 2.5 mg</c:v>
              </c:pt>
              <c:pt idx="1">
                <c:v>Matched control</c:v>
              </c:pt>
            </c:strLit>
          </c:cat>
          <c:val>
            <c:numLit>
              <c:formatCode>General</c:formatCode>
              <c:ptCount val="2"/>
              <c:pt idx="0">
                <c:v>-4.8</c:v>
              </c:pt>
              <c:pt idx="1">
                <c:v>-2.1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17AEB-2739-4674-813E-53798BA9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INVESTIGATOR MEETING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D258-4384-46BB-A84C-461F1AA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Study Alpha 2026: protocol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92790-517D-4D10-8147-20202226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Snapshot review | 2026-09-02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3B33E-A5A4-4E35-9AE9-70952E6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Sakura Clinical | Study Alpha 2026 | wholly synthetic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D307F-4181-476F-8561-3231403A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786F"/>
                </a:solidFill>
              </a:defRPr>
            </a:pPr>
            <a:r>
              <a:rPr sz="4350" b="1">
                <a:solidFill>
                  <a:srgbClr val="00786F"/>
                </a:solidFill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2ED0-A639-4D89-8689-FF7AC96E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synthetic cohort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32C5D-2D23-43D1-9305-D023F8E3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24 SC-A 2.5 mg</a:t>
            </a:r>
          </a:p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24 matched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31B3-9E94-46BD-902E-0DA9499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The 2.5 mg reference is a protocol review threshold, not clinical advice.</a:t>
            </a:r>
          </a:p>
        </p:txBody>
      </p:sp>
    </p:spTree>
    <p:extLst>
      <p:ext uri="{BB962C8B-B14F-4D97-AF65-F5344CB8AC3E}">
        <p14:creationId xmlns:p14="http://schemas.microsoft.com/office/powerpoint/2010/main" val="44714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989F6-AEA0-4431-AAB9-14D68BAE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25392-05BA-4DF3-B9FF-76FEF645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A simple matched-control design anchors the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D0A2C-42F5-467C-9EC1-0FCB3FA9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Aggregate outputs only; no personal or patient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647A4-9E2A-43BA-92ED-F82543D5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Sakura Clinical | Study Alpha 2026 | wholly synthetic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c61bb37d649ee"/>
          <a:srcRect xmlns:a="http://schemas.openxmlformats.org/drawingml/2006/main" l="2525" t="0" r="25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190750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78C5C-8ADB-486E-8724-3400E927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Baseline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Day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74800-FA6B-4D3F-8ECB-AEB7C26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Interim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Days 7 and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DF442-F5E6-4C2D-BE82-F543BBED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Outcome</a:t>
            </a:r>
          </a:p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Day 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151F1-4EBC-419A-8DD2-3B995CDC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Protocol review</a:t>
            </a:r>
          </a:p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and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1854955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87A6B-6609-4F7E-A7CF-7FA704B5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DAY-28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618AB-0D8F-4386-9BA7-C3029137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The synthetic comparison shows a -2.7 adjusted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7F581-2656-4963-841A-853DCD1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95% CI -4.1 to -1.3; descriptive synthetic workspace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A4724-B0DF-4814-98B3-8C8034A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Sakura Clinical | Study Alpha 2026 | wholly synthetic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9a92ed907d4d3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97C3F-BAF9-4105-99DA-521105F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Adjusted difference</a:t>
            </a:r>
          </a:p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-2.7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DA145-89FC-47CB-861B-37ADFF5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95% CI: -4.1 to -1.3</a:t>
            </a:r>
          </a:p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Aggregate Day-28 analysis</a:t>
            </a:r>
          </a:p>
        </p:txBody>
      </p:sp>
    </p:spTree>
    <p:extLst>
      <p:ext uri="{BB962C8B-B14F-4D97-AF65-F5344CB8AC3E}">
        <p14:creationId xmlns:p14="http://schemas.microsoft.com/office/powerpoint/2010/main" val="196561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C3D28-C1F0-4705-9906-DA5F2BDB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SAFETY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0B59-96E6-4AEA-AA78-208D7397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Safety review remains linked to documented adjudication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3CB59-E475-4B0C-9CF8-A6E5285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Synthetic events are reconciled before data 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9E464-93C1-4973-BA4D-99289D72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Sakura Clinical | Study Alpha 2026 | wholly synthetic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17B67-790D-434D-B7A7-87CA30D5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86F"/>
                </a:solidFill>
              </a:defRPr>
            </a:pPr>
            <a:r>
              <a:rPr sz="4050" b="1">
                <a:solidFill>
                  <a:srgbClr val="00786F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46442-BCAA-4B0D-A118-B4BB669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non-serious synthetic AEs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D1C5C-9526-450F-93D6-6B79E60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86F"/>
                </a:solidFill>
              </a:defRPr>
            </a:pPr>
            <a:r>
              <a:rPr sz="4050" b="1">
                <a:solidFill>
                  <a:srgbClr val="00786F"/>
                </a:solidFill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A9EBD-D364-490B-85CE-E7D6A760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participants represented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1146-3346-44BC-9CA9-FDE1A54C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86F"/>
                </a:solidFill>
              </a:defRPr>
            </a:pPr>
            <a:r>
              <a:rPr sz="4050" b="1">
                <a:solidFill>
                  <a:srgbClr val="00786F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3CE22-1C9C-42E0-8A15-11AB584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serious adverse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728A5-B143-4B95-A1E5-B596E25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Identify → Assess → Escalate → Reconcile</a:t>
            </a:r>
          </a:p>
        </p:txBody>
      </p:sp>
    </p:spTree>
    <p:extLst>
      <p:ext uri="{BB962C8B-B14F-4D97-AF65-F5344CB8AC3E}">
        <p14:creationId xmlns:p14="http://schemas.microsoft.com/office/powerpoint/2010/main" val="1537252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7CFA0-373C-4E63-A261-B3C17F83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1F9D0-0103-43EB-A88D-4DCCA7BB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Confirm readiness, preserve traceability, and close the review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3A878-AC0F-40F7-8F74-EEC1E8E5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Operational briefing only; no clinical treatment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54717-3CE7-421F-8F94-497A88E4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Sakura Clinical | Study Alpha 2026 | wholly synthetic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D479-FD15-4507-9329-0A17D50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20618"/>
                </a:solidFill>
              </a:defRPr>
            </a:pPr>
            <a:r>
              <a:rPr sz="2025" b="1">
                <a:solidFill>
                  <a:srgbClr val="020618"/>
                </a:solidFill>
              </a:rPr>
              <a:t>1. Confirm protocol v3.2 acknowledgment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9B57E-4A3D-46CF-B571-5212C675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20618"/>
                </a:solidFill>
              </a:defRPr>
            </a:pPr>
            <a:r>
              <a:rPr sz="2025" b="1">
                <a:solidFill>
                  <a:srgbClr val="020618"/>
                </a:solidFill>
              </a:rPr>
              <a:t>2. Reconcile windows and deviations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5296C-1634-4A3F-B117-3AAC3E1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20618"/>
                </a:solidFill>
              </a:defRPr>
            </a:pPr>
            <a:r>
              <a:rPr sz="2025" b="1">
                <a:solidFill>
                  <a:srgbClr val="020618"/>
                </a:solidFill>
              </a:rPr>
              <a:t>3. Document aggregate review outputs in the TMF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D46F2-6149-4CD4-BF7A-714A9DA0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86F"/>
                </a:solidFill>
              </a:defRPr>
            </a:pPr>
            <a:r>
              <a:rPr sz="1425" b="1">
                <a:solidFill>
                  <a:srgbClr val="00786F"/>
                </a:solidFill>
              </a:rPr>
              <a:t>Reminder: 2.5 mg is a protocol review threshold, not clinical advice.</a:t>
            </a:r>
          </a:p>
        </p:txBody>
      </p:sp>
    </p:spTree>
    <p:extLst>
      <p:ext uri="{BB962C8B-B14F-4D97-AF65-F5344CB8AC3E}">
        <p14:creationId xmlns:p14="http://schemas.microsoft.com/office/powerpoint/2010/main" val="2060435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2026-08-23T18:53:17.4980000Z</dcterms:created>
  <dcterms:modified xsi:type="dcterms:W3CDTF">2026-08-23T18:53:17.4980000Z</dcterms:modified>
</coreProperties>
</file>