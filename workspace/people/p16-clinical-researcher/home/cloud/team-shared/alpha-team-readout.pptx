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ea1b5ec06a43b5" /><Relationship Type="http://schemas.openxmlformats.org/officeDocument/2006/relationships/extended-properties" Target="/docProps/app.xml" Id="R897fd4ba03494404" /><Relationship Type="http://schemas.openxmlformats.org/officeDocument/2006/relationships/officeDocument" Target="/ppt/presentation.xml" Id="R6f63b3eca43d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ba0b94f724ea5"/>
  </p:sldMasterIdLst>
  <p:notesMasterIdLst>
    <p:notesMasterId xmlns:r="http://schemas.openxmlformats.org/officeDocument/2006/relationships" r:id="Rf3b8f8134bcb4724"/>
  </p:notesMasterIdLst>
  <p:sldIdLst>
    <p:sldId xmlns:r="http://schemas.openxmlformats.org/officeDocument/2006/relationships" id="256" r:id="R46bdfb854c2a4a1e"/>
    <p:sldId xmlns:r="http://schemas.openxmlformats.org/officeDocument/2006/relationships" id="257" r:id="R70b8c2df0a914342"/>
    <p:sldId xmlns:r="http://schemas.openxmlformats.org/officeDocument/2006/relationships" id="258" r:id="Rb0c1787307a544d1"/>
    <p:sldId xmlns:r="http://schemas.openxmlformats.org/officeDocument/2006/relationships" id="259" r:id="Rdb17ea11ccb847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24499df0f64dfb" /><Relationship Type="http://schemas.openxmlformats.org/officeDocument/2006/relationships/slideMaster" Target="/ppt/slideMasters/slideMaster1.xml" Id="R3a0ba0b94f724ea5" /><Relationship Type="http://schemas.openxmlformats.org/officeDocument/2006/relationships/notesMaster" Target="/ppt/notesMasters/notesMaster1.xml" Id="Rf3b8f8134bcb4724" /><Relationship Type="http://schemas.openxmlformats.org/officeDocument/2006/relationships/presProps" Target="/ppt/presProps.xml" Id="R1be84891c743447d" /><Relationship Type="http://schemas.openxmlformats.org/officeDocument/2006/relationships/tableStyles" Target="/ppt/tableStyles.xml" Id="R786a9e61ff914600" /><Relationship Type="http://schemas.openxmlformats.org/officeDocument/2006/relationships/slide" Target="/ppt/slides/slide1.xml" Id="R46bdfb854c2a4a1e" /><Relationship Type="http://schemas.openxmlformats.org/officeDocument/2006/relationships/slide" Target="/ppt/slides/slide2.xml" Id="R70b8c2df0a914342" /><Relationship Type="http://schemas.openxmlformats.org/officeDocument/2006/relationships/slide" Target="/ppt/slides/slide3.xml" Id="Rb0c1787307a544d1" /><Relationship Type="http://schemas.openxmlformats.org/officeDocument/2006/relationships/slide" Target="/ppt/slides/slide4.xml" Id="Rdb17ea11ccb847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2c09ca93d441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9e2534d88a49d2" /><Relationship Type="http://schemas.openxmlformats.org/officeDocument/2006/relationships/notesMaster" Target="/ppt/notesMasters/notesMaster1.xml" Id="R4d7910679a5c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a72dae70c04930" /><Relationship Type="http://schemas.openxmlformats.org/officeDocument/2006/relationships/notesMaster" Target="/ppt/notesMasters/notesMaster1.xml" Id="Raa598d57d5b4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95b023b604fbe" /><Relationship Type="http://schemas.openxmlformats.org/officeDocument/2006/relationships/notesMaster" Target="/ppt/notesMasters/notesMaster1.xml" Id="R6969b5c2748c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19c6df32fc46e6" /><Relationship Type="http://schemas.openxmlformats.org/officeDocument/2006/relationships/notesMaster" Target="/ppt/notesMasters/notesMaster1.xml" Id="R34b9663dabe343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0a235cd7d4f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568e8157f84a61" /><Relationship Type="http://schemas.openxmlformats.org/officeDocument/2006/relationships/slideLayout" Target="/ppt/slideLayouts/slideLayout1.xml" Id="R11a7d4edd2ed4b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a7d4edd2ed4b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11691bb6b4adc" /><Relationship Type="http://schemas.openxmlformats.org/officeDocument/2006/relationships/notesSlide" Target="/ppt/notesSlides/notesSlide1.xml" Id="Ree876c38e15a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395bdbbbb4b7d" /><Relationship Type="http://schemas.openxmlformats.org/officeDocument/2006/relationships/notesSlide" Target="/ppt/notesSlides/notesSlide2.xml" Id="Rb5cc71ff65d14f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eb40a7bb04a62" /><Relationship Type="http://schemas.openxmlformats.org/officeDocument/2006/relationships/notesSlide" Target="/ppt/notesSlides/notesSlide3.xml" Id="R10fb2532351545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62d138dae4774" /><Relationship Type="http://schemas.openxmlformats.org/officeDocument/2006/relationships/notesSlide" Target="/ppt/notesSlides/notesSlide4.xml" Id="R673635bc54d045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59B94-666E-46F9-B126-952A8C54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B78"/>
                </a:solidFill>
              </a:defRPr>
            </a:pPr>
            <a:r>
              <a:rPr sz="1200" b="1">
                <a:solidFill>
                  <a:srgbClr val="0F6B78"/>
                </a:solidFill>
              </a:rPr>
              <a:t>Sakura Clinical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FB334-A2E1-4987-A930-103F1F2A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047"/>
                </a:solidFill>
              </a:defRPr>
            </a:pPr>
            <a:r>
              <a:rPr sz="4050" b="1">
                <a:solidFill>
                  <a:srgbClr val="123047"/>
                </a:solidFill>
              </a:rPr>
              <a:t>Study Alpha 2026</a:t>
            </a:r>
          </a:p>
          <a:p xmlns:a="http://schemas.openxmlformats.org/drawingml/2006/main">
            <a:pPr>
              <a:defRPr sz="4050" b="1">
                <a:solidFill>
                  <a:srgbClr val="123047"/>
                </a:solidFill>
              </a:defRPr>
            </a:pPr>
            <a:r>
              <a:rPr sz="4050" b="1">
                <a:solidFill>
                  <a:srgbClr val="123047"/>
                </a:solidFill>
              </a:rPr>
              <a:t>team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3CBDE-DF20-4DE2-B44A-60C1B37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B78"/>
                </a:solidFill>
              </a:defRPr>
            </a:pPr>
            <a:r>
              <a:rPr sz="1800" b="0">
                <a:solidFill>
                  <a:srgbClr val="536B78"/>
                </a:solidFill>
              </a:rPr>
              <a:t>A shared decision frame for parent endpoint and safety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280AA-BE97-48F6-A2F8-76DF7D25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123950"/>
            <a:ext cx="31908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6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E6797-F5F0-4F88-93E0-CE4F2683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23047"/>
                </a:solidFill>
              </a:defRPr>
            </a:pPr>
            <a:r>
              <a:rPr sz="5400" b="1">
                <a:solidFill>
                  <a:srgbClr val="123047"/>
                </a:solidFill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75B1C-F04D-4302-A0E1-9047C04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050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B78"/>
                </a:solidFill>
              </a:defRPr>
            </a:pPr>
            <a:r>
              <a:rPr sz="1650" b="0">
                <a:solidFill>
                  <a:srgbClr val="536B78"/>
                </a:solidFill>
              </a:rPr>
              <a:t>synthetic cohort</a:t>
            </a:r>
          </a:p>
          <a:p xmlns:a="http://schemas.openxmlformats.org/drawingml/2006/main">
            <a:pPr>
              <a:defRPr sz="1650" b="0">
                <a:solidFill>
                  <a:srgbClr val="536B78"/>
                </a:solidFill>
              </a:defRPr>
            </a:pPr>
            <a:r>
              <a:rPr sz="1650" b="0">
                <a:solidFill>
                  <a:srgbClr val="536B78"/>
                </a:solidFill>
              </a:rPr>
              <a:t>accounting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2E0A3-B372-41A6-948D-B971BB47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71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6B78"/>
                </a:solidFill>
              </a:defRPr>
            </a:pPr>
            <a:r>
              <a:rPr sz="2550" b="1">
                <a:solidFill>
                  <a:srgbClr val="0F6B78"/>
                </a:solidFill>
              </a:rPr>
              <a:t>2.5 mg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545ED-054C-4DFE-AA0C-0689CAD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78"/>
                </a:solidFill>
              </a:defRPr>
            </a:pPr>
            <a:r>
              <a:rPr sz="1425" b="0">
                <a:solidFill>
                  <a:srgbClr val="536B78"/>
                </a:solidFill>
              </a:rPr>
              <a:t>review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15421-8726-429A-857C-043ABF1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B78"/>
                </a:solidFill>
              </a:defRPr>
            </a:pPr>
            <a:r>
              <a:rPr sz="900" b="0">
                <a:solidFill>
                  <a:srgbClr val="536B78"/>
                </a:solidFill>
              </a:rPr>
              <a:t>Sakura Clinical Study Alpha 2026 | Internal synthetic review | 2026-09-02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9AC0A-646E-4D67-BB73-630F9CA7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B78"/>
                </a:solidFill>
              </a:defRPr>
            </a:pPr>
            <a:r>
              <a:rPr sz="900" b="1">
                <a:solidFill>
                  <a:srgbClr val="536B7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6393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C1014-7A1F-4F4D-AB26-83AA8688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The review is anchored to four decision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3DD8E-3DFF-4818-BCEB-DF932A0D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679B0-3F23-421D-BC70-92D40DB4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002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E800-98A3-4B15-A900-B76D5A0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811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Is cohort accounting complete at n=48?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BF5B4-D2A0-4677-A56E-9565F5F0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482BD-9E07-4246-A2D5-BB5E6B94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2F179-6E72-4007-BEF7-736FFB47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Are parent endpoint summaries version-controlled?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7F618-EDE4-4D21-ABA4-88E9629E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68E08-F58B-4224-A037-DBA317F1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B78"/>
                </a:solidFill>
              </a:defRPr>
            </a:pPr>
            <a:r>
              <a:rPr sz="2100" b="1">
                <a:solidFill>
                  <a:srgbClr val="0F6B7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6DDB0-E4CC-469F-9ED9-D1DED473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Does any observation meet the 2.5 mg review threshold?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88A68-0D90-4FB3-B202-169CAE8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0D7A5-1F50-4695-9890-A0552EC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8A1A1-680C-4144-AD0E-2CFB5C43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Are safety reconciliation and readout materials decision-ready?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59CD1-93AF-40D5-95F2-F02F054D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B78"/>
                </a:solidFill>
              </a:defRPr>
            </a:pPr>
            <a:r>
              <a:rPr sz="900" b="0">
                <a:solidFill>
                  <a:srgbClr val="536B78"/>
                </a:solidFill>
              </a:rPr>
              <a:t>Sakura Clinical Study Alpha 2026 | Internal synthetic review | 2026-09-02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77C72-0875-41DC-812C-3DC734F7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B78"/>
                </a:solidFill>
              </a:defRPr>
            </a:pPr>
            <a:r>
              <a:rPr sz="900" b="1">
                <a:solidFill>
                  <a:srgbClr val="536B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2022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75333-CDEC-4037-96FE-FD8CEBB0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The 2.5 mg threshold determines the review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426BD-E45A-4B1E-80B8-8BB4C3CB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6DC5F-0674-49D0-B122-BA00058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E8E56-39D1-45EC-B1F3-B5731FA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Aggregate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7FC01-48D5-4625-B4B9-5B2FB3D6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8"/>
                </a:solidFill>
              </a:defRPr>
            </a:pPr>
            <a:r>
              <a:rPr sz="1275" b="0">
                <a:solidFill>
                  <a:srgbClr val="536B78"/>
                </a:solidFill>
              </a:rPr>
              <a:t>Confirm synthetic cohort denominator and parent endpoint summary.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8FA39-98C7-4437-8AC2-B8487CE0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B78"/>
                </a:solidFill>
              </a:defRPr>
            </a:pPr>
            <a:r>
              <a:rPr sz="2100" b="1">
                <a:solidFill>
                  <a:srgbClr val="0F6B78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A9F78-C224-4F29-AF70-72AD8479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B76C4-454D-4873-9598-1E693762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33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B78"/>
                </a:solidFill>
              </a:defRPr>
            </a:pPr>
            <a:r>
              <a:rPr sz="2100" b="1">
                <a:solidFill>
                  <a:srgbClr val="0F6B7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7CC08-976A-431A-A944-1900C34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76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Threshold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7BD99-2A7F-46DA-B2EB-FAB7BEC4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8"/>
                </a:solidFill>
              </a:defRPr>
            </a:pPr>
            <a:r>
              <a:rPr sz="1275" b="0">
                <a:solidFill>
                  <a:srgbClr val="536B78"/>
                </a:solidFill>
              </a:rPr>
              <a:t>Identify aggregate observations at or above 2.5 mg.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ACD41-4B1E-4F96-B07A-F866F6B5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718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B78"/>
                </a:solidFill>
              </a:defRPr>
            </a:pPr>
            <a:r>
              <a:rPr sz="2100" b="1">
                <a:solidFill>
                  <a:srgbClr val="0F6B7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B5073-C497-4A71-87DD-AAFB29ED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1FE40-7B2D-493D-B79D-BB4F897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1CA15-7411-4D8A-8CAE-E4BE40A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Safety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DAF57-AC6F-413A-B68A-76D4868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8"/>
                </a:solidFill>
              </a:defRPr>
            </a:pPr>
            <a:r>
              <a:rPr sz="1275" b="0">
                <a:solidFill>
                  <a:srgbClr val="536B78"/>
                </a:solidFill>
              </a:rPr>
              <a:t>Resolve any linked synthetic safety discrepancy.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20D87-8CA1-46E6-8E7D-A22852B2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B78"/>
                </a:solidFill>
              </a:defRPr>
            </a:pPr>
            <a:r>
              <a:rPr sz="2100" b="1">
                <a:solidFill>
                  <a:srgbClr val="0F6B7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BD26E-B528-431E-9674-CEF4B657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247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9A7DD-0169-4AA9-8D66-888164EF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33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9E9BB-85B1-48B1-81DD-E0509C99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Team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1BCDE-DAF1-4433-AD1F-3B18E071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78"/>
                </a:solidFill>
              </a:defRPr>
            </a:pPr>
            <a:r>
              <a:rPr sz="1275" b="0">
                <a:solidFill>
                  <a:srgbClr val="536B78"/>
                </a:solidFill>
              </a:rPr>
              <a:t>Record decision, owner, and next review point.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8BDC7-4A81-4F4B-BF83-735C85EE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6B78"/>
                </a:solidFill>
              </a:defRPr>
            </a:pPr>
            <a:r>
              <a:rPr sz="1650" b="1">
                <a:solidFill>
                  <a:srgbClr val="0F6B78"/>
                </a:solidFill>
              </a:rPr>
              <a:t>Escalation rule: unresolved high-priority items remain visible in the shared action tracker.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E58B3-9B00-47C1-AD5B-3285FA2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B78"/>
                </a:solidFill>
              </a:defRPr>
            </a:pPr>
            <a:r>
              <a:rPr sz="900" b="0">
                <a:solidFill>
                  <a:srgbClr val="536B78"/>
                </a:solidFill>
              </a:rPr>
              <a:t>Sakura Clinical Study Alpha 2026 | Internal synthetic review | 2026-09-02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3847B-2132-4CDA-A332-8D1A6037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B78"/>
                </a:solidFill>
              </a:defRPr>
            </a:pPr>
            <a:r>
              <a:rPr sz="900" b="1">
                <a:solidFill>
                  <a:srgbClr val="536B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0449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61D59-E95B-4910-B3C3-81360ACD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Close the readout with named actions and a documented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77B16-5138-499E-BF5D-0DBB43E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A3F07-2CDC-432A-A90D-778316F1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B78"/>
                </a:solidFill>
              </a:defRPr>
            </a:pPr>
            <a:r>
              <a:rPr sz="1125" b="1">
                <a:solidFill>
                  <a:srgbClr val="536B78"/>
                </a:solidFill>
              </a:rPr>
              <a:t>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D3BC9-9590-4435-8B7F-CA8EBEB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81150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B78"/>
                </a:solidFill>
              </a:defRPr>
            </a:pPr>
            <a:r>
              <a:rPr sz="1125" b="1">
                <a:solidFill>
                  <a:srgbClr val="536B78"/>
                </a:solidFill>
              </a:rPr>
              <a:t>NEXT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39C69-7F0C-469C-B5FC-2850E087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B78"/>
                </a:solidFill>
              </a:defRPr>
            </a:pPr>
            <a:r>
              <a:rPr sz="1125" b="1">
                <a:solidFill>
                  <a:srgbClr val="536B78"/>
                </a:solidFill>
              </a:rPr>
              <a:t>PRIORITY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DB0CE-730B-4CBA-9AC2-60D658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4F59B-E441-4F76-94E0-189BBF0E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Clinical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0BD72-8ABF-43ED-8A3D-7586BD6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6692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78"/>
                </a:solidFill>
              </a:defRPr>
            </a:pPr>
            <a:r>
              <a:rPr sz="1425" b="0">
                <a:solidFill>
                  <a:srgbClr val="536B78"/>
                </a:solidFill>
              </a:rPr>
              <a:t>Threshold review disposition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95E20-E5F5-427A-98D5-89C3122D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66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B4B"/>
                </a:solidFill>
              </a:defRPr>
            </a:pPr>
            <a:r>
              <a:rPr sz="1425" b="1">
                <a:solidFill>
                  <a:srgbClr val="C74B4B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9506E-8B82-435C-907F-BCACF8B1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Data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9EB89-C832-4E79-8489-5BE414D2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6222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78"/>
                </a:solidFill>
              </a:defRPr>
            </a:pPr>
            <a:r>
              <a:rPr sz="1425" b="0">
                <a:solidFill>
                  <a:srgbClr val="536B78"/>
                </a:solidFill>
              </a:rPr>
              <a:t>Cohort accounting confirmation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B9F71-26AA-4509-8578-987C0535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62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B4B"/>
                </a:solidFill>
              </a:defRPr>
            </a:pPr>
            <a:r>
              <a:rPr sz="1425" b="1">
                <a:solidFill>
                  <a:srgbClr val="C74B4B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E0961-CA0B-4826-8DEA-8AE67CFA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A10E4-FB32-4998-9B7C-4349764A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75D17-131C-452B-8573-CE8D5725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5752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78"/>
                </a:solidFill>
              </a:defRPr>
            </a:pPr>
            <a:r>
              <a:rPr sz="1425" b="0">
                <a:solidFill>
                  <a:srgbClr val="536B78"/>
                </a:solidFill>
              </a:rPr>
              <a:t>Synthetic safety reconciliation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D70EE-BD2F-45F2-A17C-3F3FA7B6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57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B4B"/>
                </a:solidFill>
              </a:defRPr>
            </a:pPr>
            <a:r>
              <a:rPr sz="1425" b="1">
                <a:solidFill>
                  <a:srgbClr val="C74B4B"/>
                </a:solidFill>
              </a:rPr>
              <a:t>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815B2-337B-48BB-A894-659C4725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Biostatistics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0AA02-BD11-4BA8-8CB8-A1A32166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5282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78"/>
                </a:solidFill>
              </a:defRPr>
            </a:pPr>
            <a:r>
              <a:rPr sz="1425" b="0">
                <a:solidFill>
                  <a:srgbClr val="536B78"/>
                </a:solidFill>
              </a:rPr>
              <a:t>Endpoint QC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217F0-976B-4579-B027-FCE862B7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528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6B78"/>
                </a:solidFill>
              </a:defRPr>
            </a:pPr>
            <a:r>
              <a:rPr sz="1425" b="1">
                <a:solidFill>
                  <a:srgbClr val="0F6B78"/>
                </a:solidFill>
              </a:rPr>
              <a:t>Medium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AB453-B276-43CC-8E38-BA83E32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D3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FE41E-A4C7-4074-8D8D-715F9BF3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Regulatory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4EA67-9AE2-4A45-932C-653B201A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4812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78"/>
                </a:solidFill>
              </a:defRPr>
            </a:pPr>
            <a:r>
              <a:rPr sz="1425" b="0">
                <a:solidFill>
                  <a:srgbClr val="536B78"/>
                </a:solidFill>
              </a:rPr>
              <a:t>Internal readout 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CA76D-126C-4EE5-9A74-07753A7E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48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6B78"/>
                </a:solidFill>
              </a:defRPr>
            </a:pPr>
            <a:r>
              <a:rPr sz="1425" b="1">
                <a:solidFill>
                  <a:srgbClr val="0F6B78"/>
                </a:solidFill>
              </a:rPr>
              <a:t>Medium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BFB85-D566-4C6F-BD9A-0B4027E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6B78"/>
                </a:solidFill>
              </a:defRPr>
            </a:pPr>
            <a:r>
              <a:rPr sz="1800" b="1">
                <a:solidFill>
                  <a:srgbClr val="0F6B78"/>
                </a:solidFill>
              </a:rPr>
              <a:t>Decision record: preserve aggregate-only evidence, clear owners, and the next review date.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5DBE3-6656-43BB-8432-0E0400EE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B78"/>
                </a:solidFill>
              </a:defRPr>
            </a:pPr>
            <a:r>
              <a:rPr sz="900" b="0">
                <a:solidFill>
                  <a:srgbClr val="536B78"/>
                </a:solidFill>
              </a:rPr>
              <a:t>Sakura Clinical Study Alpha 2026 | Internal synthetic review | 2026-09-02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20048-6402-44BF-87AB-B83535A1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B78"/>
                </a:solidFill>
              </a:defRPr>
            </a:pPr>
            <a:r>
              <a:rPr sz="900" b="1">
                <a:solidFill>
                  <a:srgbClr val="536B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3112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2026-08-23T18:54:29.9250000Z</dcterms:created>
  <dcterms:modified xsi:type="dcterms:W3CDTF">2026-08-23T18:54:29.9250000Z</dcterms:modified>
</coreProperties>
</file>