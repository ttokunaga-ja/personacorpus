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79666440c4198" /><Relationship Type="http://schemas.openxmlformats.org/officeDocument/2006/relationships/extended-properties" Target="/docProps/app.xml" Id="R9b3985b58afd4aaf" /><Relationship Type="http://schemas.openxmlformats.org/officeDocument/2006/relationships/officeDocument" Target="/ppt/presentation.xml" Id="R603f2755fccd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e9ef68b8b4caf"/>
  </p:sldMasterIdLst>
  <p:notesMasterIdLst>
    <p:notesMasterId xmlns:r="http://schemas.openxmlformats.org/officeDocument/2006/relationships" r:id="Ra4a6b34733bc4372"/>
  </p:notesMasterIdLst>
  <p:sldIdLst>
    <p:sldId xmlns:r="http://schemas.openxmlformats.org/officeDocument/2006/relationships" id="256" r:id="Ra44f917a61cd443e"/>
    <p:sldId xmlns:r="http://schemas.openxmlformats.org/officeDocument/2006/relationships" id="257" r:id="Rc5b7c3179771417a"/>
    <p:sldId xmlns:r="http://schemas.openxmlformats.org/officeDocument/2006/relationships" id="258" r:id="R1c285bddda63426f"/>
    <p:sldId xmlns:r="http://schemas.openxmlformats.org/officeDocument/2006/relationships" id="259" r:id="R37275a1c823c4402"/>
    <p:sldId xmlns:r="http://schemas.openxmlformats.org/officeDocument/2006/relationships" id="260" r:id="R0b338f9fac8b4d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65d458d7fd464e" /><Relationship Type="http://schemas.openxmlformats.org/officeDocument/2006/relationships/slideMaster" Target="/ppt/slideMasters/slideMaster1.xml" Id="Rb0ee9ef68b8b4caf" /><Relationship Type="http://schemas.openxmlformats.org/officeDocument/2006/relationships/notesMaster" Target="/ppt/notesMasters/notesMaster1.xml" Id="Ra4a6b34733bc4372" /><Relationship Type="http://schemas.openxmlformats.org/officeDocument/2006/relationships/presProps" Target="/ppt/presProps.xml" Id="R32f36d83a3bc4012" /><Relationship Type="http://schemas.openxmlformats.org/officeDocument/2006/relationships/tableStyles" Target="/ppt/tableStyles.xml" Id="Raa21672e641b4b18" /><Relationship Type="http://schemas.openxmlformats.org/officeDocument/2006/relationships/slide" Target="/ppt/slides/slide1.xml" Id="Ra44f917a61cd443e" /><Relationship Type="http://schemas.openxmlformats.org/officeDocument/2006/relationships/slide" Target="/ppt/slides/slide2.xml" Id="Rc5b7c3179771417a" /><Relationship Type="http://schemas.openxmlformats.org/officeDocument/2006/relationships/slide" Target="/ppt/slides/slide3.xml" Id="R1c285bddda63426f" /><Relationship Type="http://schemas.openxmlformats.org/officeDocument/2006/relationships/slide" Target="/ppt/slides/slide4.xml" Id="R37275a1c823c4402" /><Relationship Type="http://schemas.openxmlformats.org/officeDocument/2006/relationships/slide" Target="/ppt/slides/slide5.xml" Id="R0b338f9fac8b4d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f276e86465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ff5975bb942a9" /><Relationship Type="http://schemas.openxmlformats.org/officeDocument/2006/relationships/notesMaster" Target="/ppt/notesMasters/notesMaster1.xml" Id="R5d480262ef8a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c31f61a9a48df" /><Relationship Type="http://schemas.openxmlformats.org/officeDocument/2006/relationships/notesMaster" Target="/ppt/notesMasters/notesMaster1.xml" Id="R05116a9c21b942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17a3cf3fee4bc8" /><Relationship Type="http://schemas.openxmlformats.org/officeDocument/2006/relationships/notesMaster" Target="/ppt/notesMasters/notesMaster1.xml" Id="Rb907ecc62f0d47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4895bfc1424233" /><Relationship Type="http://schemas.openxmlformats.org/officeDocument/2006/relationships/notesMaster" Target="/ppt/notesMasters/notesMaster1.xml" Id="Ra8dd7e971a974b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2e6b207ef848fd" /><Relationship Type="http://schemas.openxmlformats.org/officeDocument/2006/relationships/notesMaster" Target="/ppt/notesMasters/notesMaster1.xml" Id="R4e7d95c63f3d4f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Opening framing and study-identification slide.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Timeline derived from the synthetic internal scenario timeline.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Table contains synthetic, internally generated study values.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Chart is based entirely on the synthetic Sakura Clinical internal scenario dataset.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Closing synthesis and discussion prompts. No clinical decision or treatment recommendation is implied.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69e92a6ba44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8cc0da915c4a04" /><Relationship Type="http://schemas.openxmlformats.org/officeDocument/2006/relationships/slideLayout" Target="/ppt/slideLayouts/slideLayout1.xml" Id="Ra86d7e95034849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d7e95034849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c2ce34d5c4f4b" /><Relationship Type="http://schemas.openxmlformats.org/officeDocument/2006/relationships/notesSlide" Target="/ppt/notesSlides/notesSlide1.xml" Id="Ref84e77802d343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69e7b822c41a9" /><Relationship Type="http://schemas.openxmlformats.org/officeDocument/2006/relationships/notesSlide" Target="/ppt/notesSlides/notesSlide2.xml" Id="Rf8e48c9169b64b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2e6d247e34410" /><Relationship Type="http://schemas.openxmlformats.org/officeDocument/2006/relationships/notesSlide" Target="/ppt/notesSlides/notesSlide3.xml" Id="R015465241a1d42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154f83b9248b0" /><Relationship Type="http://schemas.openxmlformats.org/officeDocument/2006/relationships/chart" Target="/ppt/slides/charts/chart1.xml" Id="Rdd2ee4b098714433" /><Relationship Type="http://schemas.openxmlformats.org/officeDocument/2006/relationships/notesSlide" Target="/ppt/notesSlides/notesSlide4.xml" Id="R384a41775b1042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f6690a8bc4cce" /><Relationship Type="http://schemas.openxmlformats.org/officeDocument/2006/relationships/notesSlide" Target="/ppt/notesSlides/notesSlide5.xml" Id="R347092f511c8422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Exploratory arm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Allocated</c:v>
              </c:pt>
              <c:pt idx="1">
                <c:v>Day-28 review</c:v>
              </c:pt>
              <c:pt idx="2">
                <c:v>Operationally complete</c:v>
              </c:pt>
            </c:strLit>
          </c:cat>
          <c:val>
            <c:numLit>
              <c:formatCode>General</c:formatCode>
              <c:ptCount val="3"/>
              <c:pt idx="0">
                <c:v>18</c:v>
              </c:pt>
              <c:pt idx="1">
                <c:v>18</c:v>
              </c:pt>
              <c:pt idx="2">
                <c:v>16</c:v>
              </c:pt>
            </c:numLit>
          </c:val>
        </c:ser>
        <c:ser>
          <c:idx val="1"/>
          <c:order val="1"/>
          <c:tx>
            <c:v>Control arm</c:v>
          </c:tx>
          <c:spPr>
            <a:solidFill xmlns:a="http://schemas.openxmlformats.org/drawingml/2006/main">
              <a:srgbClr val="9CA3AF"/>
            </a:solidFill>
          </c:spPr>
          <c:cat>
            <c:strLit>
              <c:ptCount val="3"/>
              <c:pt idx="0">
                <c:v>Allocated</c:v>
              </c:pt>
              <c:pt idx="1">
                <c:v>Day-28 review</c:v>
              </c:pt>
              <c:pt idx="2">
                <c:v>Operationally complete</c:v>
              </c:pt>
            </c:strLit>
          </c:cat>
          <c:val>
            <c:numLit>
              <c:formatCode>General</c:formatCode>
              <c:ptCount val="3"/>
              <c:pt idx="0">
                <c:v>18</c:v>
              </c:pt>
              <c:pt idx="1">
                <c:v>18</c:v>
              </c:pt>
              <c:pt idx="2">
                <c:v>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078A4-81F3-4813-A930-B01D2E17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87EF0-6DD9-4663-BEAA-A59912B1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Study Beta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Feasibility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AFFEF-6BD7-463E-B31B-1017B2FA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Separate exploratory synthetic cohort · 36 participants · non-confirmatory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B596A-7C74-44FC-9F75-42C8A169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"/>
            <a:ext cx="5334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4A409-5CC6-4721-9FC6-C8310B3D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57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2C6E1-CD5A-41F0-8A43-79154DFB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57250"/>
            <a:ext cx="2495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6AABC-6314-4C28-B4ED-EEB22D29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57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EF6CE-14CD-4662-ACE2-49A3D6C5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7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41683-48B1-4DBD-8E04-BD4EF43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04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 BETA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72830-E600-4BEC-9B4B-67B76661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7EBD0-C3F7-4B1F-AEC4-DE9EDED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8A3C4-3BBE-4F3F-AEF7-3C5F643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 Sep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BA915-6F01-480A-887C-5DDCFC34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Synthetic clinical-research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04794-2357-418A-BBA4-5108F68B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Audience-facing review deck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real participants or patient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B91FC-6D90-47A3-9B3D-E1670B81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17E88-615D-4DCD-AA9D-BBAA725B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Beta 2026 · Synthetic exploratory cohort · 18 / 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59944-41D6-4621-A02D-55A8B90D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35974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1A119-47B6-47A2-AAA1-AD8CEB3A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EE405-6519-4AD9-B554-BF88D087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Study Beta remains a separate exploratory feasibility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E26F2-E002-41E6-B085-E31F6489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A9F7D-1AC1-4D61-BCB1-0DE7CAEB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866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BC0F9-D5F4-4BE4-A21A-A38DE663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13301-3812-4354-9C5F-F5FC3C5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FFBC9-59A2-42CB-90A8-95DADB51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5A111-3934-45B6-B1B1-BEBDD486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Exploratory non-confirmatory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3815E-243F-467D-A83C-FC7A2687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3B5C4-AE4B-444F-90DA-19EAFB43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Cohort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2C374-2CC5-45A7-BEC0-7B45A38A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Enroll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335A8-9E05-4058-9B8C-6A8485C9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18 intervention / 18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D8344-A2AC-44EA-A92C-B77DEA5D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C7086-69C1-4FAC-97C0-5B63B101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Feasibility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BB372-71B8-49D5-96F1-D6A9F8C5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Assess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25F68-7D80-47DF-ADD0-3DA8408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Operational indicators 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29735-F937-4693-83B2-89E1A37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A4C4B-6772-44BC-A00F-4FE379E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36F7F-1C29-4139-9338-CCEC9B84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Discuss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4D875-5DD1-439B-85E3-51A8339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confirmatory conclusion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CC429-B681-4BFB-B06E-9AB74BC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 sequence is a synthetic study-operating narrative, not a treatment pathway.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95868-4BBB-4931-9E65-65AE8F68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B1D61-77CF-49F1-88FA-D30133C1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Beta 2026 · Synthetic exploratory cohort · 18 / 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27A5A-7A82-42E3-AC61-C7CBDDD7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6811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FE35D-D5F1-4F80-9959-812375B2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BC133-B0E1-414F-8AC5-FAA0D507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Study Beta has a distinct cohort and a deliberately limited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6B269-0D3B-4D89-B992-720029F7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08400"/>
                <a:gridCol w="3708400"/>
                <a:gridCol w="3708400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Study Beta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Relationship to Alpha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Cohort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36 synthetic participants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Separate cohort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Arms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18 / 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Different exploratory stream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Purpose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Feasibility update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Not primary Alpha readout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Inference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Non-confirmatory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No cross-study conclusion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6A60-0E73-4911-A482-25E5F963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Beta is synthetic and separate; no pooled analysis is presented.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DF869-CBF0-4D9A-A9F6-FA03440F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44763-4957-41A9-A214-C742DBAD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Beta 2026 · Synthetic exploratory cohort · 18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3C434-564A-49B3-98BB-A6A6896F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86482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EA62F-0CEB-41F4-A8F2-E2C7AA3B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B8C8F-3357-4395-8A18-118F266C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Feasibility indicators support planning discussion, not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814D3-76AF-432F-975A-CE8827DF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58102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2ee4b09871443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DA202-94BF-4AF4-B22A-065E1C2B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AE282-AFAE-4392-B00F-54C1533A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04707-1BE5-41B4-8959-29A2D7B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Separate synthetic cohort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D748B-A6CF-422A-9CE8-2C28AEFB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EDAF5-4F74-4C1B-95FD-F5E744BF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18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760E7-4461-4875-B43B-55454DB2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Exploratory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412B5-44CC-44FF-9347-AA36B14D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D79DB-55F7-4548-A5F5-0E861E2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Non-confirmatory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60744-76C7-4B47-ADD0-D40A5E0E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Planning signal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8D86A-1D88-4C4E-B1FF-43FE0728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4B8DA-8137-4BED-B28C-CE3EB05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Beta 2026 · Synthetic exploratory cohort · 18 / 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BABE6-E7F0-405A-9ED2-A22FC895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0921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A507D-0939-41E3-B885-0E3416B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2FC80-662D-4DAB-B78A-F468AA9C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Beta can inform feasibility questions while remaining separate from Alpha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B53FB-003A-4D3A-B9D7-F535FEB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26FD2-A6D9-44B6-9BF5-B1BA7739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25527-DE76-4A4B-A173-AAC2209D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Keep cohorts separate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B5ADA-4F9A-42DD-85A1-265A340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 not blend the 36-participant Beta cohort with Alpha's 48.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EBFD9-6CD0-4A9B-BD7C-5C5187E6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DCD8D-9DFA-442B-82AC-A5DBD1CA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Keep claims proportionate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335D3-FF61-4E9A-B1DF-DCAD3DC8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Feasibility indicators do not establish a confirmatory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660B8-D5CF-440C-8810-525E5E52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27BB8-0995-4E44-B22C-1ACC391E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the next review well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EE4AD-8443-4F0E-AA28-FDE3734A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Clarify operational learning before considering a future design.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87C01-2DDA-49AB-8CFA-016FF2C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32608-014C-42E2-A178-DD4E868C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Beta 2026 · Synthetic exploratory cohort · 18 / 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5D061-5929-4175-BDA0-34CBE93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2672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2026-08-23T19:18:43.4480000Z</dcterms:created>
  <dcterms:modified xsi:type="dcterms:W3CDTF">2026-08-23T19:18:43.4480000Z</dcterms:modified>
</coreProperties>
</file>