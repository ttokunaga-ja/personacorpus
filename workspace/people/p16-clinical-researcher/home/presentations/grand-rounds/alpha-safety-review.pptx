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511b658cad84eb1" /><Relationship Type="http://schemas.openxmlformats.org/officeDocument/2006/relationships/extended-properties" Target="/docProps/app.xml" Id="R6fdf27c6fbb746c3" /><Relationship Type="http://schemas.openxmlformats.org/officeDocument/2006/relationships/officeDocument" Target="/ppt/presentation.xml" Id="R09e8d529703141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0dfb41eb4514bf0"/>
  </p:sldMasterIdLst>
  <p:notesMasterIdLst>
    <p:notesMasterId xmlns:r="http://schemas.openxmlformats.org/officeDocument/2006/relationships" r:id="R7d5843d98a134e34"/>
  </p:notesMasterIdLst>
  <p:sldIdLst>
    <p:sldId xmlns:r="http://schemas.openxmlformats.org/officeDocument/2006/relationships" id="256" r:id="Rf2a06091f09c466d"/>
    <p:sldId xmlns:r="http://schemas.openxmlformats.org/officeDocument/2006/relationships" id="257" r:id="R097b571b3cc14efd"/>
    <p:sldId xmlns:r="http://schemas.openxmlformats.org/officeDocument/2006/relationships" id="258" r:id="Rfb6a6e23bf684e73"/>
    <p:sldId xmlns:r="http://schemas.openxmlformats.org/officeDocument/2006/relationships" id="259" r:id="R2767e1648506459b"/>
    <p:sldId xmlns:r="http://schemas.openxmlformats.org/officeDocument/2006/relationships" id="260" r:id="R335a330cadde492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4caae078f1943f3" /><Relationship Type="http://schemas.openxmlformats.org/officeDocument/2006/relationships/slideMaster" Target="/ppt/slideMasters/slideMaster1.xml" Id="R90dfb41eb4514bf0" /><Relationship Type="http://schemas.openxmlformats.org/officeDocument/2006/relationships/notesMaster" Target="/ppt/notesMasters/notesMaster1.xml" Id="R7d5843d98a134e34" /><Relationship Type="http://schemas.openxmlformats.org/officeDocument/2006/relationships/presProps" Target="/ppt/presProps.xml" Id="R79da0a13e3cc4107" /><Relationship Type="http://schemas.openxmlformats.org/officeDocument/2006/relationships/tableStyles" Target="/ppt/tableStyles.xml" Id="Rcd4b7b06af2d43a4" /><Relationship Type="http://schemas.openxmlformats.org/officeDocument/2006/relationships/slide" Target="/ppt/slides/slide1.xml" Id="Rf2a06091f09c466d" /><Relationship Type="http://schemas.openxmlformats.org/officeDocument/2006/relationships/slide" Target="/ppt/slides/slide2.xml" Id="R097b571b3cc14efd" /><Relationship Type="http://schemas.openxmlformats.org/officeDocument/2006/relationships/slide" Target="/ppt/slides/slide3.xml" Id="Rfb6a6e23bf684e73" /><Relationship Type="http://schemas.openxmlformats.org/officeDocument/2006/relationships/slide" Target="/ppt/slides/slide4.xml" Id="R2767e1648506459b" /><Relationship Type="http://schemas.openxmlformats.org/officeDocument/2006/relationships/slide" Target="/ppt/slides/slide5.xml" Id="R335a330cadde492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b1aa5fad5349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f1ac45c10d441ba" /><Relationship Type="http://schemas.openxmlformats.org/officeDocument/2006/relationships/notesMaster" Target="/ppt/notesMasters/notesMaster1.xml" Id="Rd773ce28250940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202496570224b79" /><Relationship Type="http://schemas.openxmlformats.org/officeDocument/2006/relationships/notesMaster" Target="/ppt/notesMasters/notesMaster1.xml" Id="R045b48a75a85475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cbd5a534a9f469d" /><Relationship Type="http://schemas.openxmlformats.org/officeDocument/2006/relationships/notesMaster" Target="/ppt/notesMasters/notesMaster1.xml" Id="R9d15fe07b8dd439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0859ad3d3fe4648" /><Relationship Type="http://schemas.openxmlformats.org/officeDocument/2006/relationships/notesMaster" Target="/ppt/notesMasters/notesMaster1.xml" Id="R6de0c40ed0f3484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51e43e43b294b1d" /><Relationship Type="http://schemas.openxmlformats.org/officeDocument/2006/relationships/notesMaster" Target="/ppt/notesMasters/notesMaster1.xml" Id="R337d69b278ac40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source: Sakura Clinical / Study Alpha 2026 scenario dataset.</a:t>
            </a:r>
          </a:p>
          <a:p xmlns:a="http://schemas.openxmlformats.org/drawingml/2006/main">
            <a:r>
              <a:t>Opening framing and study-identification slide.</a:t>
            </a:r>
          </a:p>
          <a:p xmlns:a="http://schemas.openxmlformats.org/drawingml/2006/main">
            <a:r>
              <a:t>All names, counts, outcomes, and visuals are synthetic; not clinical advice.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source: Sakura Clinical / Study Alpha 2026 scenario dataset.</a:t>
            </a:r>
          </a:p>
          <a:p xmlns:a="http://schemas.openxmlformats.org/drawingml/2006/main">
            <a:r>
              <a:t>Timeline derived from the synthetic internal scenario timeline.</a:t>
            </a:r>
          </a:p>
          <a:p xmlns:a="http://schemas.openxmlformats.org/drawingml/2006/main">
            <a:r>
              <a:t>All names, counts, outcomes, and visuals are synthetic; not clinical advice.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source: Sakura Clinical / Study Alpha 2026 scenario dataset.</a:t>
            </a:r>
          </a:p>
          <a:p xmlns:a="http://schemas.openxmlformats.org/drawingml/2006/main">
            <a:r>
              <a:t>Table contains synthetic, internally generated study values.</a:t>
            </a:r>
          </a:p>
          <a:p xmlns:a="http://schemas.openxmlformats.org/drawingml/2006/main">
            <a:r>
              <a:t>All names, counts, outcomes, and visuals are synthetic; not clinical advice.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source: Sakura Clinical / Study Alpha 2026 scenario dataset.</a:t>
            </a:r>
          </a:p>
          <a:p xmlns:a="http://schemas.openxmlformats.org/drawingml/2006/main">
            <a:r>
              <a:t>Chart is based entirely on the synthetic Sakura Clinical internal scenario dataset.</a:t>
            </a:r>
          </a:p>
          <a:p xmlns:a="http://schemas.openxmlformats.org/drawingml/2006/main">
            <a:r>
              <a:t>All names, counts, outcomes, and visuals are synthetic; not clinical advice.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source: Sakura Clinical / Study Alpha 2026 scenario dataset.</a:t>
            </a:r>
          </a:p>
          <a:p xmlns:a="http://schemas.openxmlformats.org/drawingml/2006/main">
            <a:r>
              <a:t>Closing synthesis and discussion prompts. No clinical decision or treatment recommendation is implied.</a:t>
            </a:r>
          </a:p>
          <a:p xmlns:a="http://schemas.openxmlformats.org/drawingml/2006/main">
            <a:r>
              <a:t>All names, counts, outcomes, and visuals are synthetic; not clinical advice.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d4d19889564b8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04a5d0e5ae24110" /><Relationship Type="http://schemas.openxmlformats.org/officeDocument/2006/relationships/slideLayout" Target="/ppt/slideLayouts/slideLayout1.xml" Id="Rb458986a076f4a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58986a076f4a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2f3f5cbc234818" /><Relationship Type="http://schemas.openxmlformats.org/officeDocument/2006/relationships/notesSlide" Target="/ppt/notesSlides/notesSlide1.xml" Id="Rb4483e19e8d442e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f9108f7b594778" /><Relationship Type="http://schemas.openxmlformats.org/officeDocument/2006/relationships/notesSlide" Target="/ppt/notesSlides/notesSlide2.xml" Id="R7ece43c6c3ba49a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6e269291f14b98" /><Relationship Type="http://schemas.openxmlformats.org/officeDocument/2006/relationships/notesSlide" Target="/ppt/notesSlides/notesSlide3.xml" Id="Rd9077a4ac5104b2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86fa63f59f4bc1" /><Relationship Type="http://schemas.openxmlformats.org/officeDocument/2006/relationships/chart" Target="/ppt/slides/charts/chart1.xml" Id="Rb1ca3366d56a47c7" /><Relationship Type="http://schemas.openxmlformats.org/officeDocument/2006/relationships/notesSlide" Target="/ppt/notesSlides/notesSlide4.xml" Id="R70d32bad2f634ea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bbd79c3d9343e6" /><Relationship Type="http://schemas.openxmlformats.org/officeDocument/2006/relationships/notesSlide" Target="/ppt/notesSlides/notesSlide5.xml" Id="R29e8430eceb048e6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Synthetic count</c:v>
          </c:tx>
          <c:spPr>
            <a:solidFill xmlns:a="http://schemas.openxmlformats.org/drawingml/2006/main">
              <a:srgbClr val="B45309"/>
            </a:solidFill>
          </c:spPr>
          <c:cat>
            <c:strLit>
              <c:ptCount val="3"/>
              <c:pt idx="0">
                <c:v>AEs</c:v>
              </c:pt>
              <c:pt idx="1">
                <c:v>Participants with AE</c:v>
              </c:pt>
              <c:pt idx="2">
                <c:v>SAEs</c:v>
              </c:pt>
            </c:strLit>
          </c:cat>
          <c:val>
            <c:numLit>
              <c:formatCode>General</c:formatCode>
              <c:ptCount val="3"/>
              <c:pt idx="0">
                <c:v>7</c:v>
              </c:pt>
              <c:pt idx="1">
                <c:v>6</c:v>
              </c:pt>
              <c:pt idx="2">
                <c:v>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06D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8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06D"/>
                </a:solidFill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9BACC5-73F1-4605-99E0-D26D6A9DF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SAKURA CLINICAL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F8A69F-E158-4180-A6F5-DC7108FCF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5238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Safety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0B45C4-0CEB-4550-A3AA-7F0F4083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71850"/>
            <a:ext cx="485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Study Alpha 2026 · synthetic adverse-event discussion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FD1991-482E-4E84-B969-E37D01669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8150"/>
            <a:ext cx="5334000" cy="552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682C2B-17D0-4FFD-95CE-EBA434536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857250"/>
            <a:ext cx="1809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5987E6-DFB0-43BC-8C8C-5D7976439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857250"/>
            <a:ext cx="24955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374780-7E7E-4924-AB5A-A5B60D9AF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38450"/>
            <a:ext cx="4572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89E85D-5EDB-4957-BCBF-2AD8C850A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91000"/>
            <a:ext cx="4572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FB9B62-927D-4523-B92F-9D01F545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1049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STUDY ALPHA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D6D4CF-065F-42E8-9DAF-128A64E83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466850"/>
            <a:ext cx="133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E17B42-4501-4AD0-8B33-39E0912A7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1049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Snapshot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C9FE13-1BCC-4CEB-BC4A-94053CE44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5240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02 Sep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3CF844-7DFF-4E68-9027-04C9FDBD7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08610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Synthetic clinical-research discussion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CE2748-4AF8-474D-B5DD-2E7CDF650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429125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Audience-facing review deck</a:t>
            </a:r>
          </a:p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No real participants or patient 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EE4A50-064A-4462-9065-1DC90E36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9C5ACC-41BA-49ED-A651-8383DB18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Study Alpha 2026 · Snapshot 2026-09-02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51F5A8-6B95-4875-A1FA-D1FB537B5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92423171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42523C-CBBE-439F-AD37-8983C25FA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SAKURA CLINICAL · SYNTHETIC INTERNAL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B634A0-696B-421F-9D46-0D3CC092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Safety review follows capture, coding, reconciliation, and discussion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8DAACA-9F92-4A2D-950E-323FDC06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E22F74-9E6E-4A62-AF75-2F4960483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00425"/>
            <a:ext cx="866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6AB3ED-07EF-4440-9F50-914AED7F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99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165EEB-EC5F-46CD-935A-794C37266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Capture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040223-DED2-4FB5-8C80-9979DD83A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5762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Events logged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1050F2-981E-4C85-892B-C33BCB541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Synthetic non-serious events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6CA10E-B688-4FB6-B932-4A977F1A7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099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2740E1-0A0D-4275-A429-E0E9DE48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717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Code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D508FA-8323-4E37-9F84-329376DD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85762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Reconcile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64E541-4003-44AF-9920-EB394E482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2481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Participant-level counts checked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DFAF28-A9A4-49E7-9C00-416FED7B8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099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AC23FF-506D-4DB9-B59B-09EF5AC6F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717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382C33-F580-4121-9741-0D93D19B4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85762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Safety panel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DE3E93-A3CE-4864-AF74-46DFBAA0F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2481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Zero SAEs confirmed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81C746-6CFD-49B3-8B62-846589004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099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768CFE-570B-4181-9A2A-A0F65D75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5717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Readout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75044B-DBDB-4CAF-A135-1E89223B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85762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Grand rounds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699573-151A-4D58-BD2E-9042794E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2481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Contextual safety discussion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FAE3D8-29D2-4DA1-AAC3-09A910627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816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Review sequence is a synthetic study-operating narrative, not a treatment pathway.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B37855-2453-4604-AED6-EC0C284A4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E88021-A6D5-4F0D-A794-92CB2F048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Study Alpha 2026 · Snapshot 2026-09-02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3B9835-5581-4AD0-A236-83A33F06E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1160922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361E6D-F4F7-4CEE-86E1-61E5ECDF2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SAKURA CLINICAL · SYNTHETIC INTERNAL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1D4D11-306F-47B3-AEDB-5BBDFAA83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safety snapshot is small and explicitly non-serious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58F87D-2E46-40B2-B7CA-22B463AAD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33400" y="1943100"/>
          <a:ext xmlns:a="http://schemas.openxmlformats.org/drawingml/2006/main" cx="11125200" cy="3238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708400"/>
                <a:gridCol w="3708400"/>
                <a:gridCol w="3708400"/>
              </a:tblGrid>
              <a:tr h="6477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Safety measure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Synthetic count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Interpretation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275"/>
                        <a:t>Adverse events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Event occurrences</a:t>
                      </a:r>
                    </a:p>
                  </a:txBody>
                  <a:tcPr marL="91440" marR="91440" marT="45720" marB="45720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275"/>
                        <a:t>Participants with AE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Unique participants</a:t>
                      </a:r>
                    </a:p>
                  </a:txBody>
                  <a:tcPr marL="91440" marR="91440" marT="45720" marB="45720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275"/>
                        <a:t>Serious AEs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None recorded</a:t>
                      </a:r>
                    </a:p>
                  </a:txBody>
                  <a:tcPr marL="91440" marR="91440" marT="45720" marB="45720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275"/>
                        <a:t>Safety scope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Cohort 48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Internal scenario dataset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754262-FDF2-4DF8-BF5A-A3B11ACBC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No event narratives identify real people, sites, or care decisions.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B9D52A-2146-435B-BBA8-1D17CD8D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7EDAD7-1F50-4544-B430-EFC583160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Study Alpha 2026 · Snapshot 2026-09-02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195988-1D49-4605-8693-5C92276F9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9015466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9C2E7D-729D-4340-8D3C-E863B8F90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SAKURA CLINICAL · SYNTHETIC INTERNAL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C6ABDA-CA4C-49B6-8BA7-0AC8B1CA7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Seven non-serious AEs occurred across six synthetic participants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1FDB61-7A32-4E97-8976-941FF48F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533400" y="1943100"/>
          <a:ext xmlns:a="http://schemas.openxmlformats.org/drawingml/2006/main" cx="5810250" cy="3486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1ca3366d56a47c7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CB20F3-5E4C-4D7E-97F3-DD2BFBBA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000250"/>
            <a:ext cx="4572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B0863F-35C3-4170-AE01-5A60CE22E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1717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4530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B45309"/>
                </a:solidFill>
                <a:latin typeface="Helvetica Neue"/>
                <a:ea typeface="Helvetica Neue"/>
                <a:cs typeface="Helvetica Neue"/>
              </a:rPr>
              <a:t>7 events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7AEEFF-40BB-4060-81B7-BCA4D8010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955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All categorized non-serious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DCAE16-96E6-422D-B71C-E17B5AE03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00400"/>
            <a:ext cx="4572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812D64-1B41-4D47-B5BC-081549FD9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371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6 people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65B2CE-9F97-41FC-B77C-D9F0EEC82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6957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Unique synthetic participants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2D7ED5-17A0-4C40-B418-8B059BF89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00550"/>
            <a:ext cx="4572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9BDB60-78AE-4D98-BB94-2FD5FDDB5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5720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0 SAEs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417C16-659C-474C-A4B6-729E58D91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8958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No serious events in snapshot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2E0FC0-38DA-42F7-B861-DA34A287F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922650-8773-446E-B9A7-9373AA0A1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Study Alpha 2026 · Snapshot 2026-09-02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10B463-3733-4389-860D-073D3F246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57581119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3EFCB3-7655-448E-AF6B-EEA0E7388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SAKURA CLINICAL · SYNTHETIC INTERNAL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96644E-9BEB-4604-BF9C-54C392038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Safety discussion should preserve counts, seriousness, and uncertainty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383A3C-7101-476D-AF05-1FF99EDCC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B07061-DC9F-40B5-96D7-FF899425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171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50CA73-8C1E-4569-9CD9-E2434C7C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9550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Keep event and participant counts distinct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62AB20-B06A-4C0C-ADCC-46864217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95550"/>
            <a:ext cx="971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Seven occurrences are not seven people.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366E90-6388-412A-A10E-1118C7F5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171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E47FF4-683D-4F7C-9588-F3B0503D5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4325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Do not overread zero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362E2C-2ED1-4C82-A4C1-8C95EFD3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43300"/>
            <a:ext cx="971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Zero SAEs in 48 synthetic participants is descriptive only.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F0C586-E2B8-46DD-9B94-271C7727A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171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9DCF20-E751-4E81-8FE4-7BFF1A2C4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9100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Protect the boundary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FBA227-4874-4705-9FAF-71C0F858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91050"/>
            <a:ext cx="971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This deck contains no patient-level data or clinical advice.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9322AF-A57B-4267-A3C4-31E2F1749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09D1E9-8468-4B56-833A-148CEDB6B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Study Alpha 2026 · Snapshot 2026-09-02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AC255F-B5A8-46B0-B493-49FBE4566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4163477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2026-08-23T18:58:57.9170000Z</dcterms:created>
  <dcterms:modified xsi:type="dcterms:W3CDTF">2026-08-23T18:58:57.9170000Z</dcterms:modified>
</coreProperties>
</file>