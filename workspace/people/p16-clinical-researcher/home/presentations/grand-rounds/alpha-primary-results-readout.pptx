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1372cfd5f4a7f" /><Relationship Type="http://schemas.openxmlformats.org/officeDocument/2006/relationships/extended-properties" Target="/docProps/app.xml" Id="Rb82a79bcd25d4b45" /><Relationship Type="http://schemas.openxmlformats.org/officeDocument/2006/relationships/officeDocument" Target="/ppt/presentation.xml" Id="Ree66265971334d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d9b3b9dae4ba4"/>
  </p:sldMasterIdLst>
  <p:notesMasterIdLst>
    <p:notesMasterId xmlns:r="http://schemas.openxmlformats.org/officeDocument/2006/relationships" r:id="R50317511dafa4091"/>
  </p:notesMasterIdLst>
  <p:sldIdLst>
    <p:sldId xmlns:r="http://schemas.openxmlformats.org/officeDocument/2006/relationships" id="256" r:id="R2101dd62c27243eb"/>
    <p:sldId xmlns:r="http://schemas.openxmlformats.org/officeDocument/2006/relationships" id="257" r:id="R63a2fec5be22455f"/>
    <p:sldId xmlns:r="http://schemas.openxmlformats.org/officeDocument/2006/relationships" id="258" r:id="R2fb0ad95acb14a00"/>
    <p:sldId xmlns:r="http://schemas.openxmlformats.org/officeDocument/2006/relationships" id="259" r:id="R507dfee380544b4b"/>
    <p:sldId xmlns:r="http://schemas.openxmlformats.org/officeDocument/2006/relationships" id="260" r:id="R17cdf533fde84d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972ff17754e10" /><Relationship Type="http://schemas.openxmlformats.org/officeDocument/2006/relationships/slideMaster" Target="/ppt/slideMasters/slideMaster1.xml" Id="R759d9b3b9dae4ba4" /><Relationship Type="http://schemas.openxmlformats.org/officeDocument/2006/relationships/notesMaster" Target="/ppt/notesMasters/notesMaster1.xml" Id="R50317511dafa4091" /><Relationship Type="http://schemas.openxmlformats.org/officeDocument/2006/relationships/presProps" Target="/ppt/presProps.xml" Id="R9d6b82322dc344b5" /><Relationship Type="http://schemas.openxmlformats.org/officeDocument/2006/relationships/tableStyles" Target="/ppt/tableStyles.xml" Id="Rade6df8957b94f4e" /><Relationship Type="http://schemas.openxmlformats.org/officeDocument/2006/relationships/slide" Target="/ppt/slides/slide1.xml" Id="R2101dd62c27243eb" /><Relationship Type="http://schemas.openxmlformats.org/officeDocument/2006/relationships/slide" Target="/ppt/slides/slide2.xml" Id="R63a2fec5be22455f" /><Relationship Type="http://schemas.openxmlformats.org/officeDocument/2006/relationships/slide" Target="/ppt/slides/slide3.xml" Id="R2fb0ad95acb14a00" /><Relationship Type="http://schemas.openxmlformats.org/officeDocument/2006/relationships/slide" Target="/ppt/slides/slide4.xml" Id="R507dfee380544b4b" /><Relationship Type="http://schemas.openxmlformats.org/officeDocument/2006/relationships/slide" Target="/ppt/slides/slide5.xml" Id="R17cdf533fde84d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5579a743244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4f73ba90ab4fb7" /><Relationship Type="http://schemas.openxmlformats.org/officeDocument/2006/relationships/notesMaster" Target="/ppt/notesMasters/notesMaster1.xml" Id="Rae8e86bf8380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95548fe9545c0" /><Relationship Type="http://schemas.openxmlformats.org/officeDocument/2006/relationships/notesMaster" Target="/ppt/notesMasters/notesMaster1.xml" Id="Rca9909215e1c43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1f8b030b7b46f5" /><Relationship Type="http://schemas.openxmlformats.org/officeDocument/2006/relationships/notesMaster" Target="/ppt/notesMasters/notesMaster1.xml" Id="Re84925f0407e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9d8406ba9e447e" /><Relationship Type="http://schemas.openxmlformats.org/officeDocument/2006/relationships/notesMaster" Target="/ppt/notesMasters/notesMaster1.xml" Id="Rb4bd761d1bd349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303e3015a47b0" /><Relationship Type="http://schemas.openxmlformats.org/officeDocument/2006/relationships/notesMaster" Target="/ppt/notesMasters/notesMaster1.xml" Id="R699af72759ed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Opening framing and study-identification slide.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Timeline derived from the synthetic internal scenario timeline.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Table contains synthetic, internally generated study values.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Chart is based entirely on the synthetic Sakura Clinical internal scenario dataset.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Closing synthesis and discussion prompts. No clinical decision or treatment recommendation is implied.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b471d97ba4e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d44b600544bb0" /><Relationship Type="http://schemas.openxmlformats.org/officeDocument/2006/relationships/slideLayout" Target="/ppt/slideLayouts/slideLayout1.xml" Id="Rb8aa24e8fc3b4e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aa24e8fc3b4e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9960beccb44de" /><Relationship Type="http://schemas.openxmlformats.org/officeDocument/2006/relationships/notesSlide" Target="/ppt/notesSlides/notesSlide1.xml" Id="Rec2d418fcefc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faf43488c4636" /><Relationship Type="http://schemas.openxmlformats.org/officeDocument/2006/relationships/notesSlide" Target="/ppt/notesSlides/notesSlide2.xml" Id="R0607480c896741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97e709ae241eb" /><Relationship Type="http://schemas.openxmlformats.org/officeDocument/2006/relationships/notesSlide" Target="/ppt/notesSlides/notesSlide3.xml" Id="R760bc4bc75d6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58f19d5ae4d3b" /><Relationship Type="http://schemas.openxmlformats.org/officeDocument/2006/relationships/chart" Target="/ppt/slides/charts/chart1.xml" Id="Rfee0da0436654bba" /><Relationship Type="http://schemas.openxmlformats.org/officeDocument/2006/relationships/notesSlide" Target="/ppt/notesSlides/notesSlide4.xml" Id="Ra618bd282bc643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b90c581064632" /><Relationship Type="http://schemas.openxmlformats.org/officeDocument/2006/relationships/notesSlide" Target="/ppt/notesSlides/notesSlide5.xml" Id="R5198e8eac6b4472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SC-A 2.5 mg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1"/>
              <c:pt idx="0">
                <c:v>Day-28 change</c:v>
              </c:pt>
            </c:strLit>
          </c:cat>
          <c:val>
            <c:numLit>
              <c:formatCode>General</c:formatCode>
              <c:ptCount val="1"/>
              <c:pt idx="0">
                <c:v>-4.8</c:v>
              </c:pt>
            </c:numLit>
          </c:val>
        </c:ser>
        <c:ser>
          <c:idx val="1"/>
          <c:order val="1"/>
          <c:tx>
            <c:v>Control</c:v>
          </c:tx>
          <c:spPr>
            <a:solidFill xmlns:a="http://schemas.openxmlformats.org/drawingml/2006/main">
              <a:srgbClr val="9CA3AF"/>
            </a:solidFill>
          </c:spPr>
          <c:invertIfNegative val="0"/>
          <c:cat>
            <c:strLit>
              <c:ptCount val="1"/>
              <c:pt idx="0">
                <c:v>Day-28 change</c:v>
              </c:pt>
            </c:strLit>
          </c:cat>
          <c:val>
            <c:numLit>
              <c:formatCode>General</c:formatCode>
              <c:ptCount val="1"/>
              <c:pt idx="0">
                <c:v>-2.1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6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E37BF-2A05-4558-A393-34149EE0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62A9F-E8CB-4873-AA94-05F9229D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Primary Results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FA983-4F22-4B98-BCE2-6CFD58F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synthetic Day-28 result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4BDE0-E064-4F4A-BD1B-44284D0A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"/>
            <a:ext cx="5334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D38B9-28EC-4608-BE40-2C9B57D4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57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22B8C-4E9D-4F82-8EDD-E255B596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57250"/>
            <a:ext cx="2495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4168E-43E6-4947-A4AD-009BE526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9913E-94B5-4FA3-ACC7-61BD0DDB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27568-38A2-4710-9C41-EA029974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1EEEE-CB70-4491-A09A-A2F541AE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34C4C-9215-4F4B-8C41-F1302A9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D3D14-2B4D-4E31-A956-1BF68AC2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0005A-7E7B-4122-93A5-2A2983B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Synthetic clinical-research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F3EF1-CD68-4807-94E9-9D7A829F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Audience-facing review deck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participants or patient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3B2CE-9897-4F51-851A-14D70B90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C1DAB-1ED8-461F-9A10-40D8ED5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D3E1-AAF4-4F20-9109-12FD68BC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4935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CB31E-1930-4940-9A9B-1859301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7DD8E-BEF6-427C-BA9F-DC5E588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single Day-28 comparison anchors the primary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CC05-BEFC-4481-BE38-2976F3B7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A291F-C86C-4582-98D7-F7E6B58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5B5DC-E970-4868-AF81-26A86EC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237C6-41B0-442F-8F4A-CEE34A8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3C277-845B-44D8-8557-9462D68A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43B38-C4F5-4520-A976-8B1BBCD6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Change scores start at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F24DA-F936-49E0-8E55-B6B411C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95CCE-7073-49E4-A19C-D590A0A9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Day 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EA185-C458-429D-8C40-E29C1B3E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F41A2-6518-4809-96AC-2F5D5F57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Arm-level synthetic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2DAD6-7C9A-4DD6-8737-3868866D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0F6D2-0486-437C-92D4-3BE2B99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Adjustment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9381A-633E-4CE2-8E76-1F315B7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C81B6-67FA-4617-A923-6AA8E609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Adjusted difference estimated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59DD2-B543-446E-873C-FAF15D5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DEF88-49B6-4BD4-B57E-1FE9A69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CF21D-8C8B-4B8E-92DC-C0D31A4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44B54-3981-4A4E-A70C-CA2D181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Internal evidence discussion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0066F-C6A8-448B-9192-6D244A7A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 sequence is a synthetic study-operating narrative, not a treatment pathway.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50C1A-8C8E-46DC-80CA-78F79C92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35A8F-B3B3-4177-B416-6ABB8447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7DF03-0EAC-4D4C-96CE-299FF229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19614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2CF2E-783F-4BA8-95C3-E307EACE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D8B68-E91C-405A-8900-ADF16492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primary estimate is precise enough to frame a research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EB9E8-F883-47DD-B6CB-1E7D17DA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SC-A 2.5 mg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Day-28 change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−4.8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−2.1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−2.7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95% CI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−4.1 to −1.3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Population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48 total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Synthetic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Synthetic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Synthetic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1DA8E-BF61-491C-A490-FAD25937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Numbers are scenario data for a research-review deck; they are not clinical findings.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46714-1F97-4B94-9360-B70B1B5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B9027-14B3-4550-8A26-9174068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CA8A4-F84B-4DCE-9B3F-19BC3B7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8848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44603-46C4-4121-A011-1A08810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FAE81-1E90-4C53-B6BA-424A4211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observed contrast is larger than the control change in this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4DB27-0349-41C8-8DEF-40C956A7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58102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e0da0436654b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C6D4D-7327-400F-BA79-8A49CEC1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2F968-7392-4D99-AA17-F3857AD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−2.7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E362C-9AB0-4169-9275-1EC548E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Adjusted difference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64431-712E-4AE9-B670-C03E895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63AA5-0C3F-4CFE-B63D-7518BD85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95% 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E0B87-A780-4B5D-A63C-0E76707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−4.1 to −1.3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4CF68-7C63-4F10-9048-D744BB20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FCEE3-0446-41DC-8C36-015340C9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77939-2C28-42EE-99C8-961F5C6E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comparative signal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D5E2D-4F78-4643-8368-952FA4C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0D8CA-DDD3-44FD-B06C-A1F8E6F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0B35D-D760-4678-9BE9-C8712B39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25970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9D744-A067-4316-A38C-6A5E0C39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95C94-92D3-4F29-86B3-7A2713DD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readout is useful when its boundaries are kept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DCC94-39C9-4EF1-B0F5-F125C748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95FEB-0E27-4192-AD0D-02952B2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0B126-A0C1-4DF1-BDED-580A4E2C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F3960-B1A4-419C-AAE7-F1546218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SC-A 2.5 mg versus control at Day 28.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03508-0EB1-4AAE-8FCC-C7253A7D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61B0C-0229-4A8C-97E9-E15D2F1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65C92-CC42-48CE-BD2A-3719D0E2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confidence interval is part of the result, not a footnote.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6475D-1589-42E7-9E7D-BBF6F57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D5040-06C3-445D-9047-A5771E4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D1E5D-FE0B-486B-94D8-F4B106F1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This is wholly synthetic internal material.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E85EC-A9A4-4586-B40A-2BE78B2D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FF783-5C97-4CDE-87BE-C32F1874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D7141-4521-44A5-9406-BFE811F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03191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2026-08-23T18:58:57.8410000Z</dcterms:created>
  <dcterms:modified xsi:type="dcterms:W3CDTF">2026-08-23T18:58:57.8410000Z</dcterms:modified>
</coreProperties>
</file>