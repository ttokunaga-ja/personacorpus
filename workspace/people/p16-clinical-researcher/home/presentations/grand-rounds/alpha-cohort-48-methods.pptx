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7ba8b8dec345e0" /><Relationship Type="http://schemas.openxmlformats.org/officeDocument/2006/relationships/extended-properties" Target="/docProps/app.xml" Id="R09fa687d66864005" /><Relationship Type="http://schemas.openxmlformats.org/officeDocument/2006/relationships/officeDocument" Target="/ppt/presentation.xml" Id="R5a7d22771c7545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05c6be6e044437"/>
  </p:sldMasterIdLst>
  <p:notesMasterIdLst>
    <p:notesMasterId xmlns:r="http://schemas.openxmlformats.org/officeDocument/2006/relationships" r:id="R4638c3f0341d49e3"/>
  </p:notesMasterIdLst>
  <p:sldIdLst>
    <p:sldId xmlns:r="http://schemas.openxmlformats.org/officeDocument/2006/relationships" id="256" r:id="Rb4434c42f9564dce"/>
    <p:sldId xmlns:r="http://schemas.openxmlformats.org/officeDocument/2006/relationships" id="257" r:id="R9636e55112f24dd5"/>
    <p:sldId xmlns:r="http://schemas.openxmlformats.org/officeDocument/2006/relationships" id="258" r:id="R352fb4cc449a4fd8"/>
    <p:sldId xmlns:r="http://schemas.openxmlformats.org/officeDocument/2006/relationships" id="259" r:id="R29872b435ec54595"/>
    <p:sldId xmlns:r="http://schemas.openxmlformats.org/officeDocument/2006/relationships" id="260" r:id="Rf27dc9cdf1e040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7fd6e2ed24130" /><Relationship Type="http://schemas.openxmlformats.org/officeDocument/2006/relationships/slideMaster" Target="/ppt/slideMasters/slideMaster1.xml" Id="Raf05c6be6e044437" /><Relationship Type="http://schemas.openxmlformats.org/officeDocument/2006/relationships/notesMaster" Target="/ppt/notesMasters/notesMaster1.xml" Id="R4638c3f0341d49e3" /><Relationship Type="http://schemas.openxmlformats.org/officeDocument/2006/relationships/presProps" Target="/ppt/presProps.xml" Id="R30163887b2a04757" /><Relationship Type="http://schemas.openxmlformats.org/officeDocument/2006/relationships/tableStyles" Target="/ppt/tableStyles.xml" Id="R3ba852bfac2d4e49" /><Relationship Type="http://schemas.openxmlformats.org/officeDocument/2006/relationships/slide" Target="/ppt/slides/slide1.xml" Id="Rb4434c42f9564dce" /><Relationship Type="http://schemas.openxmlformats.org/officeDocument/2006/relationships/slide" Target="/ppt/slides/slide2.xml" Id="R9636e55112f24dd5" /><Relationship Type="http://schemas.openxmlformats.org/officeDocument/2006/relationships/slide" Target="/ppt/slides/slide3.xml" Id="R352fb4cc449a4fd8" /><Relationship Type="http://schemas.openxmlformats.org/officeDocument/2006/relationships/slide" Target="/ppt/slides/slide4.xml" Id="R29872b435ec54595" /><Relationship Type="http://schemas.openxmlformats.org/officeDocument/2006/relationships/slide" Target="/ppt/slides/slide5.xml" Id="Rf27dc9cdf1e040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9738ce9ab749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5cc86c0f3b4466" /><Relationship Type="http://schemas.openxmlformats.org/officeDocument/2006/relationships/notesMaster" Target="/ppt/notesMasters/notesMaster1.xml" Id="Rc3070bdf665d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55615de28e4875" /><Relationship Type="http://schemas.openxmlformats.org/officeDocument/2006/relationships/notesMaster" Target="/ppt/notesMasters/notesMaster1.xml" Id="Re000cbe6ccb34a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a3a5f10f4e4b90" /><Relationship Type="http://schemas.openxmlformats.org/officeDocument/2006/relationships/notesMaster" Target="/ppt/notesMasters/notesMaster1.xml" Id="Re84e1bf0fa4f45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eb5c3f24bb4904" /><Relationship Type="http://schemas.openxmlformats.org/officeDocument/2006/relationships/notesMaster" Target="/ppt/notesMasters/notesMaster1.xml" Id="R6b8d2859d3a148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e2db2d7c244751" /><Relationship Type="http://schemas.openxmlformats.org/officeDocument/2006/relationships/notesMaster" Target="/ppt/notesMasters/notesMaster1.xml" Id="R3d786d67a26f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Opening framing and study-identification slide.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Timeline derived from the synthetic internal scenario timeline.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Table contains synthetic, internally generated study values.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Chart is based entirely on the synthetic Sakura Clinical internal scenario dataset.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Closing synthesis and discussion prompts. No clinical decision or treatment recommendation is implied.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28677fb7442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4558d888db412a" /><Relationship Type="http://schemas.openxmlformats.org/officeDocument/2006/relationships/slideLayout" Target="/ppt/slideLayouts/slideLayout1.xml" Id="R45d53f0224de4b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d53f0224de4b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f49616199440c" /><Relationship Type="http://schemas.openxmlformats.org/officeDocument/2006/relationships/notesSlide" Target="/ppt/notesSlides/notesSlide1.xml" Id="R3a4984c2a82749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f2c044e824bd7" /><Relationship Type="http://schemas.openxmlformats.org/officeDocument/2006/relationships/notesSlide" Target="/ppt/notesSlides/notesSlide2.xml" Id="R53eed93282364c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f0d0c6bda47b7" /><Relationship Type="http://schemas.openxmlformats.org/officeDocument/2006/relationships/notesSlide" Target="/ppt/notesSlides/notesSlide3.xml" Id="R7b98f7de93a24c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1d71ff9848c3" /><Relationship Type="http://schemas.openxmlformats.org/officeDocument/2006/relationships/chart" Target="/ppt/slides/charts/chart1.xml" Id="R484c04704f9f45cc" /><Relationship Type="http://schemas.openxmlformats.org/officeDocument/2006/relationships/notesSlide" Target="/ppt/notesSlides/notesSlide4.xml" Id="Rff30b1836bf54e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b421124784b6f" /><Relationship Type="http://schemas.openxmlformats.org/officeDocument/2006/relationships/notesSlide" Target="/ppt/notesSlides/notesSlide5.xml" Id="R3203d47d15b8425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SC-A 2.5 mg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2"/>
              <c:pt idx="0">
                <c:v>Allocated</c:v>
              </c:pt>
              <c:pt idx="1">
                <c:v>Day-28 readout</c:v>
              </c:pt>
            </c:strLit>
          </c:cat>
          <c:val>
            <c:numLit>
              <c:formatCode>General</c:formatCode>
              <c:ptCount val="2"/>
              <c:pt idx="0">
                <c:v>24</c:v>
              </c:pt>
              <c:pt idx="1">
                <c:v>24</c:v>
              </c:pt>
            </c:numLit>
          </c:val>
        </c:ser>
        <c:ser>
          <c:idx val="1"/>
          <c:order val="1"/>
          <c:tx>
            <c:v>Control</c:v>
          </c:tx>
          <c:spPr>
            <a:solidFill xmlns:a="http://schemas.openxmlformats.org/drawingml/2006/main">
              <a:srgbClr val="9CA3AF"/>
            </a:solidFill>
          </c:spPr>
          <c:cat>
            <c:strLit>
              <c:ptCount val="2"/>
              <c:pt idx="0">
                <c:v>Allocated</c:v>
              </c:pt>
              <c:pt idx="1">
                <c:v>Day-28 readout</c:v>
              </c:pt>
            </c:strLit>
          </c:cat>
          <c:val>
            <c:numLit>
              <c:formatCode>General</c:formatCode>
              <c:ptCount val="2"/>
              <c:pt idx="0">
                <c:v>24</c:v>
              </c:pt>
              <c:pt idx="1">
                <c:v>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4E38A-5AA3-452F-8F04-5D3A96A6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63E82-48AF-4AB1-AB44-7631C461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Cohort 48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Methods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AFC17-807E-47AB-B05D-1F4EC127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synthetic methods and analysis 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FBEE6-3D6F-47C8-8F7E-0A08601A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"/>
            <a:ext cx="5334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45AE4-4EFE-4D9A-B8DA-7E3122C5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5725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9642E-9E3E-4825-AA8C-CD2D9385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57250"/>
            <a:ext cx="2495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689C4-4064-49B5-9E80-C10BF191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457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C88F4-FBDA-4C08-9BF9-25FB7C74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572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A2EB1-2A08-4459-AFC0-D5BFDA3D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04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 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63F59-5C83-4EC9-A99F-99F623AD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453CD-EFB2-4D7E-ACE6-4757030C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04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8AC53-212D-4BB5-8391-A066A2FD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02 Sep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9FAF1-E500-4EB6-AFB6-5308BAAF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Synthetic clinical-research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3760E-F024-4351-8DD8-79949C9C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Audience-facing review deck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real participants or patient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1EF92-B7AA-4A91-97B4-73DF99DF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917BC-D6F4-4E09-A926-06462F65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E40C6-736A-4566-B33F-E1BF97C4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35216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78E15-EDFE-4035-BE31-85230AD6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55DFB-1ED6-45F4-86DC-E7DC7343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Methods decisions were fixed before the synthetic Day-28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F6899-B76E-4E01-B599-EECA6DE8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9CDFB-F2CB-4459-A8ED-F95F020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866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584EA-D1E3-4AFF-AC5C-9A9284A7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5C12C-9065-4432-A814-07DB473A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482A8-F0C3-4AB5-9127-96754471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arms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C8639-ED14-4CE3-BF9F-D250A11B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24 SC-A 2.5 mg / 24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0CA31-277F-4F5A-84F0-3853955A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99CE6-47FE-48DE-B056-C0BE4BE2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Window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8A3FD-3110-46C2-A3DA-EAFD72EA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Day 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3D155-036B-4469-9D16-5FFF8807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Common analysis time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EAE65-D08E-45D4-9637-BD5EFD54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9ADC9-B10A-4A6F-A20B-1614A1CD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B84DE-13B5-4CCB-BE0B-CE0CB27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Adjusted contrast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9B01F-BD64-4A0A-BE4F-A7288E80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Pre-specified synthetic comparison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7F3E2-25B6-4D74-9EF1-E471A9FB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DB5-CE89-4710-9242-9FC1AB16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3DE19-48F2-4ED0-95C1-E2B05FF5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7CC62-768C-4E50-B668-AFBCBEC6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02 Sep 2026 internal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41E78-0FF7-4FB3-97E5-A9EA6D99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Review sequence is a synthetic study-operating narrative, not a treatment pathway.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69BC2-6F3D-4D97-AB81-C1E32410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A02FC-F245-4EBD-B9EE-340A7605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73215-2F4C-4164-9B93-1E1029E2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27217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38E2B-6A54-4A21-BAC5-275F1D04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319C8-886A-4CBA-BD3A-36411DDD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analysis frame separates allocation, window, and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E8C1B-262D-4B80-AA44-25D14935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08400"/>
                <a:gridCol w="3708400"/>
                <a:gridCol w="3708400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Specification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 for review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Population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48 synthetic participants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Fixed denominator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Arms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SC-A 2.5 mg vs control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Explicit comparator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Endpoint frame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Change from baseline at Day 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Shared time point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Adjusted difference with 95% CI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Uncertainty visible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08E9E-26A6-48A5-AF6B-37957B93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real patient records, sites, or clinical measurements are represented.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472AC-8C3F-42E5-AC26-24827D5D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A047B-0AA4-4BDB-A56F-585877F5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D09ED-A13F-4C38-9740-2092459D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51546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E6C6C-C792-4FB4-BB96-358E0027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F982C-2178-433F-8BFD-AD228E5A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Participant flow is transparent at the arm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D34A4-B48F-47B3-982C-43D15E04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581025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4c04704f9f45c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C69FD-6DD1-46D5-9CA2-93D5531E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58D60-7CAC-4D05-ABC5-2B017693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4B638-DF75-4073-A7C1-58A3B96B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cohort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50126-8DA4-4ADF-B417-9C6BE946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89A2D-E212-4297-93F7-00E50329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24 / 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10DEC-D25E-4CA0-ADAD-D265C292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Planned arm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75C24-3C1B-45CD-A57C-7F064D56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8C42F-3D35-4466-922E-27B8B7D2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One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9F22E-E7C0-4DF3-AE35-5BB69525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Day-28 readout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50BB6-E97D-4A15-B44C-158B2EF4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82DB5-E5B9-40D1-B8B3-0CB1D4B5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D8AA2-8039-46F9-A17E-54CAB491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730259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568C1-F894-4AF3-ABCC-301F9404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4B27F-3A18-4237-8D1C-38F92806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Methods discussion: preserve a small, auditable analytical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49B35-C172-4CB3-B819-48D83DDC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6DF79-F513-46AB-8FB9-CAB0A52B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43C60-EA46-4664-90D4-3F32D857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Keep denominators fixed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C3146-707F-4513-A0B8-7BB2EDF9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State 24 and 24 wherever the comparison is shown.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7CB0C-95B6-4F8F-8AEE-F2933B98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2B27A-5556-46FE-992C-52F6302A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Show uncertainty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98CD4-810E-443F-BFE6-36182B19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Report the adjusted difference alongside its 95% CI.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097F4-6BD8-4E0A-9C8B-911572B6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E2692-88B1-4C48-BFEB-008B8988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the threshold correctly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7AA5C-CE57-4FB2-9EDB-D64ABB0B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2.5 mg belongs to protocol review, not patient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1062F-F960-4648-950E-9C8111DF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49AF9-F7C0-4A4E-9659-A02BE858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48729-A79B-4383-974F-927EEBB8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42970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2026-08-23T18:58:57.7490000Z</dcterms:created>
  <dcterms:modified xsi:type="dcterms:W3CDTF">2026-08-23T18:58:57.7490000Z</dcterms:modified>
</coreProperties>
</file>