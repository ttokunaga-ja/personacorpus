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facd1925f04138" /><Relationship Type="http://schemas.openxmlformats.org/officeDocument/2006/relationships/extended-properties" Target="/docProps/app.xml" Id="R44318f0385de4bb4" /><Relationship Type="http://schemas.openxmlformats.org/officeDocument/2006/relationships/officeDocument" Target="/ppt/presentation.xml" Id="R96f8d900557b4c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0f30717f9344e0"/>
  </p:sldMasterIdLst>
  <p:notesMasterIdLst>
    <p:notesMasterId xmlns:r="http://schemas.openxmlformats.org/officeDocument/2006/relationships" r:id="R9e37cc350b6141b0"/>
  </p:notesMasterIdLst>
  <p:sldIdLst>
    <p:sldId xmlns:r="http://schemas.openxmlformats.org/officeDocument/2006/relationships" id="256" r:id="Rebc93187b6594a9e"/>
    <p:sldId xmlns:r="http://schemas.openxmlformats.org/officeDocument/2006/relationships" id="257" r:id="R3f8c1ccae64c4f5f"/>
    <p:sldId xmlns:r="http://schemas.openxmlformats.org/officeDocument/2006/relationships" id="258" r:id="R9c570b71d8794bdc"/>
    <p:sldId xmlns:r="http://schemas.openxmlformats.org/officeDocument/2006/relationships" id="259" r:id="R41128b237f1643a9"/>
    <p:sldId xmlns:r="http://schemas.openxmlformats.org/officeDocument/2006/relationships" id="260" r:id="Rdfb3e13a197c46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fd714d3a52400c" /><Relationship Type="http://schemas.openxmlformats.org/officeDocument/2006/relationships/slideMaster" Target="/ppt/slideMasters/slideMaster1.xml" Id="R8e0f30717f9344e0" /><Relationship Type="http://schemas.openxmlformats.org/officeDocument/2006/relationships/notesMaster" Target="/ppt/notesMasters/notesMaster1.xml" Id="R9e37cc350b6141b0" /><Relationship Type="http://schemas.openxmlformats.org/officeDocument/2006/relationships/presProps" Target="/ppt/presProps.xml" Id="Rfbf4f061f49f427f" /><Relationship Type="http://schemas.openxmlformats.org/officeDocument/2006/relationships/tableStyles" Target="/ppt/tableStyles.xml" Id="R01d1a2756a154bf8" /><Relationship Type="http://schemas.openxmlformats.org/officeDocument/2006/relationships/slide" Target="/ppt/slides/slide1.xml" Id="Rebc93187b6594a9e" /><Relationship Type="http://schemas.openxmlformats.org/officeDocument/2006/relationships/slide" Target="/ppt/slides/slide2.xml" Id="R3f8c1ccae64c4f5f" /><Relationship Type="http://schemas.openxmlformats.org/officeDocument/2006/relationships/slide" Target="/ppt/slides/slide3.xml" Id="R9c570b71d8794bdc" /><Relationship Type="http://schemas.openxmlformats.org/officeDocument/2006/relationships/slide" Target="/ppt/slides/slide4.xml" Id="R41128b237f1643a9" /><Relationship Type="http://schemas.openxmlformats.org/officeDocument/2006/relationships/slide" Target="/ppt/slides/slide5.xml" Id="Rdfb3e13a197c46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ea9e8727de41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ad704e92b34bda" /><Relationship Type="http://schemas.openxmlformats.org/officeDocument/2006/relationships/notesMaster" Target="/ppt/notesMasters/notesMaster1.xml" Id="R46dfad7ec94a4d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7a75681b1a4c7f" /><Relationship Type="http://schemas.openxmlformats.org/officeDocument/2006/relationships/notesMaster" Target="/ppt/notesMasters/notesMaster1.xml" Id="R5a743e47a43743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877bad1cc44f69" /><Relationship Type="http://schemas.openxmlformats.org/officeDocument/2006/relationships/notesMaster" Target="/ppt/notesMasters/notesMaster1.xml" Id="R5ce979ab728b40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711f09f0a143a0" /><Relationship Type="http://schemas.openxmlformats.org/officeDocument/2006/relationships/notesMaster" Target="/ppt/notesMasters/notesMaster1.xml" Id="R3a6a0f4aaaac42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e77ad41c944b0c" /><Relationship Type="http://schemas.openxmlformats.org/officeDocument/2006/relationships/notesMaster" Target="/ppt/notesMasters/notesMaster1.xml" Id="R7a25ed3379a34b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Opening framing and study-identification slide.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Timeline derived from the synthetic internal scenario timeline.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Table contains synthetic, internally generated study values.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Chart is based entirely on the synthetic Sakura Clinical internal scenario dataset.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Sakura Clinical / Study Alpha 2026 scenario dataset.</a:t>
            </a:r>
          </a:p>
          <a:p xmlns:a="http://schemas.openxmlformats.org/drawingml/2006/main">
            <a:r>
              <a:t>Closing synthesis and discussion prompts. No clinical decision or treatment recommendation is implied.</a:t>
            </a:r>
          </a:p>
          <a:p xmlns:a="http://schemas.openxmlformats.org/drawingml/2006/main">
            <a:r>
              <a:t>All names, counts, outcomes, and visuals are synthetic; not clinical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84701a73dd43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c56408c742404b" /><Relationship Type="http://schemas.openxmlformats.org/officeDocument/2006/relationships/slideLayout" Target="/ppt/slideLayouts/slideLayout1.xml" Id="R1efa6e4f51ca49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fa6e4f51ca49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033b01bfb4362" /><Relationship Type="http://schemas.openxmlformats.org/officeDocument/2006/relationships/notesSlide" Target="/ppt/notesSlides/notesSlide1.xml" Id="R821be3ff8e5443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8cbc298634d0f" /><Relationship Type="http://schemas.openxmlformats.org/officeDocument/2006/relationships/notesSlide" Target="/ppt/notesSlides/notesSlide2.xml" Id="R97d54537752441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b341e12b04cc0" /><Relationship Type="http://schemas.openxmlformats.org/officeDocument/2006/relationships/notesSlide" Target="/ppt/notesSlides/notesSlide3.xml" Id="R60e207ab7ef445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e827770f24ec1" /><Relationship Type="http://schemas.openxmlformats.org/officeDocument/2006/relationships/chart" Target="/ppt/slides/charts/chart1.xml" Id="R4cee118f634c4a92" /><Relationship Type="http://schemas.openxmlformats.org/officeDocument/2006/relationships/notesSlide" Target="/ppt/notesSlides/notesSlide4.xml" Id="Rd038ecb2764f47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808c6455142b9" /><Relationship Type="http://schemas.openxmlformats.org/officeDocument/2006/relationships/notesSlide" Target="/ppt/notesSlides/notesSlide5.xml" Id="R635a374a5570446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SC-A 2.5 mg</c:v>
          </c:tx>
          <c:spPr>
            <a:solidFill xmlns:a="http://schemas.openxmlformats.org/drawingml/2006/main">
              <a:srgbClr val="3D8DFF"/>
            </a:solidFill>
          </c:spPr>
          <c:invertIfNegative val="0"/>
          <c:cat>
            <c:strLit>
              <c:ptCount val="2"/>
              <c:pt idx="0">
                <c:v>Baseline</c:v>
              </c:pt>
              <c:pt idx="1">
                <c:v>Day 28</c:v>
              </c:pt>
            </c:strLit>
          </c:cat>
          <c:val>
            <c:numLit>
              <c:formatCode>General</c:formatCode>
              <c:ptCount val="2"/>
              <c:pt idx="0">
                <c:v>0</c:v>
              </c:pt>
              <c:pt idx="1">
                <c:v>-4.8</c:v>
              </c:pt>
            </c:numLit>
          </c:val>
        </c:ser>
        <c:ser>
          <c:idx val="1"/>
          <c:order val="1"/>
          <c:tx>
            <c:v>Control</c:v>
          </c:tx>
          <c:spPr>
            <a:solidFill xmlns:a="http://schemas.openxmlformats.org/drawingml/2006/main">
              <a:srgbClr val="9CA3AF"/>
            </a:solidFill>
          </c:spPr>
          <c:invertIfNegative val="0"/>
          <c:cat>
            <c:strLit>
              <c:ptCount val="2"/>
              <c:pt idx="0">
                <c:v>Baseline</c:v>
              </c:pt>
              <c:pt idx="1">
                <c:v>Day 28</c:v>
              </c:pt>
            </c:strLit>
          </c:cat>
          <c:val>
            <c:numLit>
              <c:formatCode>General</c:formatCode>
              <c:ptCount val="2"/>
              <c:pt idx="0">
                <c:v>0</c:v>
              </c:pt>
              <c:pt idx="1">
                <c:v>-2.1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0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-6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B832F3-4C7D-424A-AF86-A0BC8C96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D56EB-7A50-4B3A-BE9D-8DA6A6A2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23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Study Alpha 2026</a:t>
            </a:r>
          </a:p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Grand Rounds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4F929-616A-4A83-B7A4-25E3CA3F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Synthetic clinical-research update · cohort 48 · snapshot 2026-09-02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4745E-0B5C-45AE-9608-187E5EAD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8150"/>
            <a:ext cx="53340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CB85E-A098-40BF-B6F4-068748B4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857250"/>
            <a:ext cx="1809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510C8-F1BA-4D28-9F0B-4EE66E66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857250"/>
            <a:ext cx="24955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1C3F7-791E-4A05-96E5-41119DD5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38450"/>
            <a:ext cx="4572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2EB45-1EDF-40FB-B2DA-E9A32DAD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91000"/>
            <a:ext cx="4572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D8685-C099-4950-AF52-23406800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104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STUDY ALPHA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547D6-A42D-4E07-A34C-3E653456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6685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7A9A1-4199-4B80-9134-64F4F1B8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049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Snapshot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1FF5C-7CA7-46B8-8054-BF55AD61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240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02 Sep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BB754-322C-4754-82BB-4643A314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861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Synthetic clinical-research discussion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A1248-2D4F-4907-BB17-4C8D4B93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2912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Audience-facing review deck</a:t>
            </a:r>
          </a:p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No real participants or patient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AFC14-6266-4DB9-943B-4ED14126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AE7CF-6442-4482-AD2F-4719311C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AF01F-E960-498A-9BAB-81DB6257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137388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2969D2-A924-47F4-A0AB-C13B37B0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37D2D-8A18-417A-ACE7-9A668C77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Study Alpha moved from protocol lock to Day-28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9EAB9-3CEB-4A13-B528-C7CCE019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D748E-FC7F-4153-82A4-EBB9C41B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0425"/>
            <a:ext cx="866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2E9DE-2ACD-4F33-9973-1978AB95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604A2-D110-4757-AC58-28DB0212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9FC4E-CCCE-4CF6-80EF-83735D22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Protocol 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6C0CD-25E4-439E-A092-C6F386BE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SC-A 2.5 mg review threshold defined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E2150-83DF-4D3E-B005-28F62315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8DD66-C85F-4D45-8613-D350B0E3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Jun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BB143-084F-4B75-9DC0-7E5134B8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Cohort opened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445B4-E251-4ECD-B438-055546AB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24 SC-A and 24 control participants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0665F-4E7A-4755-875E-BB544CD6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F4DBB-EEE5-44E5-9127-997285D0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Aug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0C7DCA-6AAB-497D-B499-611341A5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Day-28 completed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D3DD9-E8B2-412D-A49C-288D39F5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Synthetic follow-up window closed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4DA37-0D3F-45F1-8982-933145AC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09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38A2F4-2545-408F-A390-ADA78448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02 Sep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778C0-71FF-41A2-BB13-C69960B9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57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2414BE-5757-431E-B86C-1788204A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4815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Internal grand-rounds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5D6485-A99F-4556-9EAF-3D5040A7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Review sequence is a synthetic study-operating narrative, not a treatment pathway.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2822BD-6ECB-4B0A-9B99-D8F0A76A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FBAD0-B01A-40F2-B4C0-22AC8A0F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35961C-0842-4C86-93A3-39C69C50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154666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151FA-A6B8-4A3F-881D-129B97C8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F5A27-8D98-423E-B5C6-F3A204F5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two study arms were balanced by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02058-C1D3-48F2-8D31-7247539F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1943100"/>
          <a:ext xmlns:a="http://schemas.openxmlformats.org/drawingml/2006/main" cx="111252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708400"/>
                <a:gridCol w="3708400"/>
                <a:gridCol w="3708400"/>
              </a:tblGrid>
              <a:tr h="6477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Characteristic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SC-A 2.5 mg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Participants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24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Analysis window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Day 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Day 28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Primary readout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Change from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Change from baseline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75"/>
                        <a:t>Dataset status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Synthetic locked snapshot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Synthetic locked snapshot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DED27-3B0F-49CD-B167-7727BAA5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Interpretation should remain limited to this synthetic scenario.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67DA7-8D58-4D52-A183-AED6795A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FCF1F-5B50-4BB6-83F8-EAE2C6D3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3A2A3-64EA-48B8-93F2-8BF2B9F6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385750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646CFE-F280-4DF6-BA8D-93414A1E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4CF06-0FFC-40AC-9855-28410864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Day-28 contrast favored SC-A in this synthetic snapshot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34F21-2F7B-4945-9A2A-ABDF3BAF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33400" y="1943100"/>
          <a:ext xmlns:a="http://schemas.openxmlformats.org/drawingml/2006/main" cx="581025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ee118f634c4a9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19732-1F60-464B-B55D-095EC8E8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0025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D1140-4193-425F-86FB-82AEA2A0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Adjusted difference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5DDD4-7030-4332-B1A9-38E7495F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−2.7; 95% CI −4.1 to −1.3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5E113-950E-479B-AC97-5A7B9B57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040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A416B-C64B-48B0-B6AC-58E7F9B5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71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26104-88BE-4381-823A-4F0E3F57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957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Descriptive synthetic readout; no efficacy claim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DEF38-2F51-42BA-95C0-46E08372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0055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8E651-2167-45D9-8001-1DD212D2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Next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BA27A-4C6A-442A-9CA4-9F79BA61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95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Confirm analysis trace and protocol alignment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8FFBB-B37F-4B96-9648-64AE38E2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98BFE-93B4-4763-8506-07B9F7D9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3EBC5-197F-4E99-AEEA-6BBCAC65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331961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FF524-3DDE-44F2-9132-A537DE50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SAKURA CLINICAL · SYNTHETIC INTERNAL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09D08-9651-4EDE-A607-34AAEB63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Discussion should center on traceability, safety, and the next analytical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A91A8-B4AB-4D1F-8754-DF02D660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51DE0-FD68-43C4-B947-D6F19EDC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71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F9475-D9F2-4E99-AEAF-C70A4948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Trace the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0E2A1-BC94-423A-B9A3-D7C3389B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Keep the 48-participant snapshot and adjusted estimate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CEA73-07F7-49BB-825F-EDBB7E8A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71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5DC83-B654-4A7D-A0AB-298CC372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432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Keep safety visible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88B36-6A8C-41EE-A0C2-9B649DC2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433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Seven non-serious AEs across six participants; zero SAEs.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A9D80-E392-4B11-AC53-6B1210FB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71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C6C65-A1E6-4C4A-8CE7-D6A89071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Separate threshold from advice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5ED46-BBA3-47F1-ADAC-DE80C721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2.5 mg is a protocol review threshold only.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61330-3BF9-49B0-8B5C-6867847C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825D7-8BCF-46F1-9C6B-9D1684B4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Study Alpha 2026 · Snapshot 2026-09-02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4D645-4916-4649-AEAE-4E74CC77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14328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2026-08-23T18:58:57.4620000Z</dcterms:created>
  <dcterms:modified xsi:type="dcterms:W3CDTF">2026-08-23T18:58:57.4620000Z</dcterms:modified>
</coreProperties>
</file>