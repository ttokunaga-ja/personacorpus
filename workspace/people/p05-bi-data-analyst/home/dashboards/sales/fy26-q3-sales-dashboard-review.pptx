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e9d0fba11248e7" /><Relationship Type="http://schemas.openxmlformats.org/officeDocument/2006/relationships/extended-properties" Target="/docProps/app.xml" Id="R46ab73c41f40458b" /><Relationship Type="http://schemas.openxmlformats.org/officeDocument/2006/relationships/officeDocument" Target="/ppt/presentation.xml" Id="R523f0a0d926940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e82463c444dda"/>
  </p:sldMasterIdLst>
  <p:notesMasterIdLst>
    <p:notesMasterId xmlns:r="http://schemas.openxmlformats.org/officeDocument/2006/relationships" r:id="R42c35101fe4247cf"/>
  </p:notesMasterIdLst>
  <p:sldIdLst>
    <p:sldId xmlns:r="http://schemas.openxmlformats.org/officeDocument/2006/relationships" id="256" r:id="R70e8a7cd88894543"/>
    <p:sldId xmlns:r="http://schemas.openxmlformats.org/officeDocument/2006/relationships" id="257" r:id="R3f2c278eaa994b78"/>
    <p:sldId xmlns:r="http://schemas.openxmlformats.org/officeDocument/2006/relationships" id="258" r:id="Rc8bb170d4c0e4782"/>
    <p:sldId xmlns:r="http://schemas.openxmlformats.org/officeDocument/2006/relationships" id="259" r:id="R0155150082a14b49"/>
    <p:sldId xmlns:r="http://schemas.openxmlformats.org/officeDocument/2006/relationships" id="260" r:id="Re7ca3209fea041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ff9b472299490c" /><Relationship Type="http://schemas.openxmlformats.org/officeDocument/2006/relationships/slideMaster" Target="/ppt/slideMasters/slideMaster1.xml" Id="Reffe82463c444dda" /><Relationship Type="http://schemas.openxmlformats.org/officeDocument/2006/relationships/notesMaster" Target="/ppt/notesMasters/notesMaster1.xml" Id="R42c35101fe4247cf" /><Relationship Type="http://schemas.openxmlformats.org/officeDocument/2006/relationships/presProps" Target="/ppt/presProps.xml" Id="R52ea8d683cac4fb6" /><Relationship Type="http://schemas.openxmlformats.org/officeDocument/2006/relationships/tableStyles" Target="/ppt/tableStyles.xml" Id="R2816cd729f864276" /><Relationship Type="http://schemas.openxmlformats.org/officeDocument/2006/relationships/slide" Target="/ppt/slides/slide1.xml" Id="R70e8a7cd88894543" /><Relationship Type="http://schemas.openxmlformats.org/officeDocument/2006/relationships/slide" Target="/ppt/slides/slide2.xml" Id="R3f2c278eaa994b78" /><Relationship Type="http://schemas.openxmlformats.org/officeDocument/2006/relationships/slide" Target="/ppt/slides/slide3.xml" Id="Rc8bb170d4c0e4782" /><Relationship Type="http://schemas.openxmlformats.org/officeDocument/2006/relationships/slide" Target="/ppt/slides/slide4.xml" Id="R0155150082a14b49" /><Relationship Type="http://schemas.openxmlformats.org/officeDocument/2006/relationships/slide" Target="/ppt/slides/slide5.xml" Id="Re7ca3209fea041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5a66f4ec8446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3fc813b8d4443c" /><Relationship Type="http://schemas.openxmlformats.org/officeDocument/2006/relationships/notesMaster" Target="/ppt/notesMasters/notesMaster1.xml" Id="Rff48a280592b40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821f3508274f86" /><Relationship Type="http://schemas.openxmlformats.org/officeDocument/2006/relationships/notesMaster" Target="/ppt/notesMasters/notesMaster1.xml" Id="Rf738127d571742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cd4ace9744412b" /><Relationship Type="http://schemas.openxmlformats.org/officeDocument/2006/relationships/notesMaster" Target="/ppt/notesMasters/notesMaster1.xml" Id="R4500517c83674f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2bdd7104ee4950" /><Relationship Type="http://schemas.openxmlformats.org/officeDocument/2006/relationships/notesMaster" Target="/ppt/notesMasters/notesMaster1.xml" Id="R669883d996a846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37c5f5147b498d" /><Relationship Type="http://schemas.openxmlformats.org/officeDocument/2006/relationships/notesMaster" Target="/ppt/notesMasters/notesMaster1.xml" Id="R418bf4a790b446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4fbdce2f54b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7d853ce7564b57" /><Relationship Type="http://schemas.openxmlformats.org/officeDocument/2006/relationships/slideLayout" Target="/ppt/slideLayouts/slideLayout1.xml" Id="R04eb66e100db46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eb66e100db46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d0cd28125453b" /><Relationship Type="http://schemas.openxmlformats.org/officeDocument/2006/relationships/notesSlide" Target="/ppt/notesSlides/notesSlide1.xml" Id="R806f23eec76248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21b431b0c4f22" /><Relationship Type="http://schemas.openxmlformats.org/officeDocument/2006/relationships/chart" Target="/ppt/slides/charts/chart1.xml" Id="R697299fd547d4e5d" /><Relationship Type="http://schemas.openxmlformats.org/officeDocument/2006/relationships/notesSlide" Target="/ppt/notesSlides/notesSlide2.xml" Id="R62d41339397d45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b54eb0523479f" /><Relationship Type="http://schemas.openxmlformats.org/officeDocument/2006/relationships/chart" Target="/ppt/slides/charts/chart2.xml" Id="Rcf994db704d240a6" /><Relationship Type="http://schemas.openxmlformats.org/officeDocument/2006/relationships/notesSlide" Target="/ppt/notesSlides/notesSlide3.xml" Id="Rd52b6fad44494b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3ba6dcf564e6d" /><Relationship Type="http://schemas.openxmlformats.org/officeDocument/2006/relationships/chart" Target="/ppt/slides/charts/chart3.xml" Id="Rd68a4eb55f7043b1" /><Relationship Type="http://schemas.openxmlformats.org/officeDocument/2006/relationships/notesSlide" Target="/ppt/notesSlides/notesSlide4.xml" Id="R28f07eec1ee148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3529b2b4449ab" /><Relationship Type="http://schemas.openxmlformats.org/officeDocument/2006/relationships/notesSlide" Target="/ppt/notesSlides/notesSlide5.xml" Id="R9982ff6b9b01498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GMV JPY M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Reported</c:v>
              </c:pt>
              <c:pt idx="1">
                <c:v>Plan</c:v>
              </c:pt>
              <c:pt idx="2">
                <c:v>Prior</c:v>
              </c:pt>
            </c:strLit>
          </c:cat>
          <c:val>
            <c:numLit>
              <c:formatCode>General</c:formatCode>
              <c:ptCount val="3"/>
              <c:pt idx="0">
                <c:v>84.2</c:v>
              </c:pt>
              <c:pt idx="1">
                <c:v>80</c:v>
              </c:pt>
              <c:pt idx="2">
                <c:v>78.6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Actual GMV M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East</c:v>
              </c:pt>
              <c:pt idx="1">
                <c:v>West</c:v>
              </c:pt>
              <c:pt idx="2">
                <c:v>Central</c:v>
              </c:pt>
              <c:pt idx="3">
                <c:v>North</c:v>
              </c:pt>
            </c:strLit>
          </c:cat>
          <c:val>
            <c:numLit>
              <c:formatCode>General</c:formatCode>
              <c:ptCount val="4"/>
              <c:pt idx="0">
                <c:v>26.4</c:v>
              </c:pt>
              <c:pt idx="1">
                <c:v>22.8</c:v>
              </c:pt>
              <c:pt idx="2">
                <c:v>18.6</c:v>
              </c:pt>
              <c:pt idx="3">
                <c:v>16.4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Actual GMV M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Online</c:v>
              </c:pt>
              <c:pt idx="1">
                <c:v>Stores</c:v>
              </c:pt>
            </c:strLit>
          </c:cat>
          <c:val>
            <c:numLit>
              <c:formatCode>General</c:formatCode>
              <c:ptCount val="2"/>
              <c:pt idx="0">
                <c:v>46.3</c:v>
              </c:pt>
              <c:pt idx="1">
                <c:v>37.9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39F98-17C3-4BDB-BE01-13AF341D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6966C-9728-470C-AE0B-C3D51C60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MOSAIC RETAIL | FY26 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6BE38-29F5-457D-AEFD-251B31FC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Mosaic Retail sales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17141-BECB-489A-8154-2EB9B0F9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B69"/>
                </a:solidFill>
              </a:defRPr>
            </a:pPr>
            <a:r>
              <a:rPr sz="1800" b="1">
                <a:solidFill>
                  <a:srgbClr val="153B69"/>
                </a:solidFill>
              </a:rPr>
              <a:t>FY26 Q3 | 2026-07-13 | metric MTR-09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E54BB-6A28-4429-8132-530E4A0A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Synthetic BI data | 2026-07-13 | 1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C7D14-2D50-4F1E-B374-BD4E82E8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3B69"/>
                </a:solidFill>
              </a:defRPr>
            </a:pPr>
            <a:r>
              <a:rPr sz="2400" b="1">
                <a:solidFill>
                  <a:srgbClr val="153B69"/>
                </a:solidFill>
              </a:rPr>
              <a:t>Reported GMV ¥84.2M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2CF28-E1EE-4958-BB19-9486C8E3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</a:defRPr>
            </a:pPr>
            <a:r>
              <a:rPr sz="1650" b="0">
                <a:solidFill>
                  <a:srgbClr val="526777"/>
                </a:solidFill>
              </a:rPr>
              <a:t>Plan ¥80.0M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31AF0-766B-4274-9211-A80C98FE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</a:defRPr>
            </a:pPr>
            <a:r>
              <a:rPr sz="1650" b="0">
                <a:solidFill>
                  <a:srgbClr val="526777"/>
                </a:solidFill>
              </a:rPr>
              <a:t>Prior ¥78.6M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71AA4-595F-425C-BD0F-BBDF2782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</a:defRPr>
            </a:pPr>
            <a:r>
              <a:rPr sz="1650" b="0">
                <a:solidFill>
                  <a:srgbClr val="526777"/>
                </a:solidFill>
              </a:rPr>
              <a:t>Decision: retain weekly review cadence; investigate the largest category and regional variance drivers.</a:t>
            </a:r>
          </a:p>
        </p:txBody>
      </p:sp>
    </p:spTree>
    <p:extLst>
      <p:ext uri="{BB962C8B-B14F-4D97-AF65-F5344CB8AC3E}">
        <p14:creationId xmlns:p14="http://schemas.microsoft.com/office/powerpoint/2010/main" val="1622361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A59F8-3466-406E-BC0F-4C2E258A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6B663-E6A4-44A9-AA19-2FF8C1C2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MOSAIC RETAIL | FY26 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86D03-845B-4A77-B415-94C793C8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GMV finished ¥4.2M above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1C9DC-D4AD-4A85-8BBF-A09C4E41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B69"/>
                </a:solidFill>
              </a:defRPr>
            </a:pPr>
            <a:r>
              <a:rPr sz="1800" b="1">
                <a:solidFill>
                  <a:srgbClr val="153B69"/>
                </a:solidFill>
              </a:rPr>
              <a:t>Reported ¥84.2M | Plan ¥80.0M | Prior ¥78.6M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25F89-0621-4055-82DA-37F4BB33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Synthetic BI data | 2026-07-13 | 2 / 5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858000" y="2762250"/>
          <a:ext xmlns:a="http://schemas.openxmlformats.org/drawingml/2006/main" cx="40005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7299fd547d4e5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58162-87BC-4DF4-89A4-F5A205AB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7"/>
                </a:solidFill>
              </a:defRPr>
            </a:pPr>
            <a:r>
              <a:rPr sz="1800" b="0">
                <a:solidFill>
                  <a:srgbClr val="526777"/>
                </a:solidFill>
              </a:rPr>
              <a:t>Gross GMV: ¥86.0M</a:t>
            </a:r>
          </a:p>
          <a:p xmlns:a="http://schemas.openxmlformats.org/drawingml/2006/main">
            <a:pPr>
              <a:defRPr sz="1800" b="0">
                <a:solidFill>
                  <a:srgbClr val="526777"/>
                </a:solidFill>
              </a:defRPr>
            </a:pPr>
            <a:r>
              <a:rPr sz="1800" b="0">
                <a:solidFill>
                  <a:srgbClr val="526777"/>
                </a:solidFill>
              </a:rPr>
              <a:t>Refunds: (¥1.8M)</a:t>
            </a:r>
          </a:p>
          <a:p xmlns:a="http://schemas.openxmlformats.org/drawingml/2006/main">
            <a:pPr>
              <a:defRPr sz="1800" b="0">
                <a:solidFill>
                  <a:srgbClr val="526777"/>
                </a:solidFill>
              </a:defRPr>
            </a:pPr>
            <a:r>
              <a:rPr sz="1800" b="0">
                <a:solidFill>
                  <a:srgbClr val="526777"/>
                </a:solidFill>
              </a:rPr>
              <a:t>Net reported: ¥84.2M</a:t>
            </a:r>
          </a:p>
        </p:txBody>
      </p:sp>
    </p:spTree>
    <p:extLst>
      <p:ext uri="{BB962C8B-B14F-4D97-AF65-F5344CB8AC3E}">
        <p14:creationId xmlns:p14="http://schemas.microsoft.com/office/powerpoint/2010/main" val="1265457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797D8-369F-461C-A7C6-218ED7A0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0A5E9-1AB6-4642-B88E-902464CF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MOSAIC RETAIL | FY26 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6B429-0CF3-4210-80A8-CC9F4491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Regional GMV balances across four operating regions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08C8C-1D3C-4869-9FC5-7A516ADB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B69"/>
                </a:solidFill>
              </a:defRPr>
            </a:pPr>
            <a:r>
              <a:rPr sz="1800" b="1">
                <a:solidFill>
                  <a:srgbClr val="153B69"/>
                </a:solidFill>
              </a:rPr>
              <a:t>East ¥26.4M | West ¥22.8M | Central ¥18.6M | North ¥16.4M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3DFCB-8497-4631-80F9-A917AF2F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Synthetic BI data | 2026-07-13 | 3 / 5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0" y="2762250"/>
          <a:ext xmlns:a="http://schemas.openxmlformats.org/drawingml/2006/main" cx="42862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994db704d240a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F928E-EE51-436A-86BC-8D49B873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</a:defRPr>
            </a:pPr>
            <a:r>
              <a:rPr sz="1425" b="0">
                <a:solidFill>
                  <a:srgbClr val="526777"/>
                </a:solidFill>
              </a:rPr>
              <a:t>Region       Actual     Plan      Variance</a:t>
            </a:r>
          </a:p>
          <a:p xmlns:a="http://schemas.openxmlformats.org/drawingml/2006/main">
            <a:pPr>
              <a:defRPr sz="1425" b="0">
                <a:solidFill>
                  <a:srgbClr val="526777"/>
                </a:solidFill>
              </a:defRPr>
            </a:pPr>
            <a:r>
              <a:rPr sz="1425" b="0">
                <a:solidFill>
                  <a:srgbClr val="526777"/>
                </a:solidFill>
              </a:rPr>
              <a:t>East          ¥26.4M   ¥25.0M   +¥1.4M</a:t>
            </a:r>
          </a:p>
          <a:p xmlns:a="http://schemas.openxmlformats.org/drawingml/2006/main">
            <a:pPr>
              <a:defRPr sz="1425" b="0">
                <a:solidFill>
                  <a:srgbClr val="526777"/>
                </a:solidFill>
              </a:defRPr>
            </a:pPr>
            <a:r>
              <a:rPr sz="1425" b="0">
                <a:solidFill>
                  <a:srgbClr val="526777"/>
                </a:solidFill>
              </a:rPr>
              <a:t>West          ¥22.8M   ¥21.5M   +¥1.3M</a:t>
            </a:r>
          </a:p>
          <a:p xmlns:a="http://schemas.openxmlformats.org/drawingml/2006/main">
            <a:pPr>
              <a:defRPr sz="1425" b="0">
                <a:solidFill>
                  <a:srgbClr val="526777"/>
                </a:solidFill>
              </a:defRPr>
            </a:pPr>
            <a:r>
              <a:rPr sz="1425" b="0">
                <a:solidFill>
                  <a:srgbClr val="526777"/>
                </a:solidFill>
              </a:rPr>
              <a:t>Central       ¥18.6M   ¥17.7M   +¥0.9M</a:t>
            </a:r>
          </a:p>
          <a:p xmlns:a="http://schemas.openxmlformats.org/drawingml/2006/main">
            <a:pPr>
              <a:defRPr sz="1425" b="0">
                <a:solidFill>
                  <a:srgbClr val="526777"/>
                </a:solidFill>
              </a:defRPr>
            </a:pPr>
            <a:r>
              <a:rPr sz="1425" b="0">
                <a:solidFill>
                  <a:srgbClr val="526777"/>
                </a:solidFill>
              </a:rPr>
              <a:t>North         ¥16.4M   ¥15.8M   +¥0.6M</a:t>
            </a:r>
          </a:p>
        </p:txBody>
      </p:sp>
    </p:spTree>
    <p:extLst>
      <p:ext uri="{BB962C8B-B14F-4D97-AF65-F5344CB8AC3E}">
        <p14:creationId xmlns:p14="http://schemas.microsoft.com/office/powerpoint/2010/main" val="1311824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35318-00F4-46C2-9502-F26C9009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E4905-FE78-4A75-8A4C-CFD2B3DC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MOSAIC RETAIL | FY26 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EB22E-CF5D-4B38-AD7F-95E48C8E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Channel and category mix remain explainable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FD1C6-8D5D-4EAC-86D6-39AF148E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B69"/>
                </a:solidFill>
              </a:defRPr>
            </a:pPr>
            <a:r>
              <a:rPr sz="1800" b="1">
                <a:solidFill>
                  <a:srgbClr val="153B69"/>
                </a:solidFill>
              </a:rPr>
              <a:t>Online ¥46.3M | Stores ¥37.9M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20C41-B663-4221-9436-CAB3977D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Synthetic BI data | 2026-07-13 | 4 / 5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0" y="2762250"/>
          <a:ext xmlns:a="http://schemas.openxmlformats.org/drawingml/2006/main" cx="42862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8a4eb55f7043b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48068-7CBC-4E52-90A0-E9AA6755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777"/>
                </a:solidFill>
              </a:defRPr>
            </a:pPr>
            <a:r>
              <a:rPr sz="1500" b="0">
                <a:solidFill>
                  <a:srgbClr val="526777"/>
                </a:solidFill>
              </a:rPr>
              <a:t>Category GMV</a:t>
            </a:r>
          </a:p>
          <a:p xmlns:a="http://schemas.openxmlformats.org/drawingml/2006/main">
            <a:pPr>
              <a:defRPr sz="1500" b="0">
                <a:solidFill>
                  <a:srgbClr val="526777"/>
                </a:solidFill>
              </a:defRPr>
            </a:pPr>
            <a:r>
              <a:rPr sz="1500" b="0">
                <a:solidFill>
                  <a:srgbClr val="526777"/>
                </a:solidFill>
              </a:rPr>
              <a:t>Home ¥24.8M | Electronics ¥22.1M</a:t>
            </a:r>
          </a:p>
          <a:p xmlns:a="http://schemas.openxmlformats.org/drawingml/2006/main">
            <a:pPr>
              <a:defRPr sz="1500" b="0">
                <a:solidFill>
                  <a:srgbClr val="526777"/>
                </a:solidFill>
              </a:defRPr>
            </a:pPr>
            <a:r>
              <a:rPr sz="1500" b="0">
                <a:solidFill>
                  <a:srgbClr val="526777"/>
                </a:solidFill>
              </a:rPr>
              <a:t>Apparel ¥19.3M | Beauty ¥10.7M</a:t>
            </a:r>
          </a:p>
          <a:p xmlns:a="http://schemas.openxmlformats.org/drawingml/2006/main">
            <a:pPr>
              <a:defRPr sz="1500" b="0">
                <a:solidFill>
                  <a:srgbClr val="526777"/>
                </a:solidFill>
              </a:defRPr>
            </a:pPr>
            <a:r>
              <a:rPr sz="1500" b="0">
                <a:solidFill>
                  <a:srgbClr val="526777"/>
                </a:solidFill>
              </a:rPr>
              <a:t>Other ¥7.3M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526777"/>
                </a:solidFill>
              </a:defRPr>
            </a:pPr>
            <a:r>
              <a:rPr sz="1500" b="0">
                <a:solidFill>
                  <a:srgbClr val="526777"/>
                </a:solidFill>
              </a:rPr>
              <a:t>Online prior ¥43.2M | Stores prior ¥35.4M</a:t>
            </a:r>
          </a:p>
        </p:txBody>
      </p:sp>
    </p:spTree>
    <p:extLst>
      <p:ext uri="{BB962C8B-B14F-4D97-AF65-F5344CB8AC3E}">
        <p14:creationId xmlns:p14="http://schemas.microsoft.com/office/powerpoint/2010/main" val="24571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8BA3C-EEF1-4F31-A327-3B473A7A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87176-68BD-4AE0-ADF6-0E8F1BAE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MOSAIC RETAIL | FY26 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F6C52-2E09-4E3B-98BE-A6154D53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Next review actions have named owners and due dates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0B109-3364-4FE1-8A71-70BE48DB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B69"/>
                </a:solidFill>
              </a:defRPr>
            </a:pPr>
            <a:r>
              <a:rPr sz="1800" b="1">
                <a:solidFill>
                  <a:srgbClr val="153B69"/>
                </a:solidFill>
              </a:rPr>
              <a:t>Close MTR-09 evidence before the next metric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14DFF-67C5-4F50-85C5-D5704046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Synthetic BI data | 2026-07-13 | 5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6808B-8217-4453-A564-533EA6A7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777"/>
                </a:solidFill>
              </a:defRPr>
            </a:pPr>
            <a:r>
              <a:rPr sz="1500" b="0">
                <a:solidFill>
                  <a:srgbClr val="526777"/>
                </a:solidFill>
              </a:rPr>
              <a:t>Action                         Owner              Due          Status</a:t>
            </a:r>
          </a:p>
          <a:p xmlns:a="http://schemas.openxmlformats.org/drawingml/2006/main">
            <a:pPr>
              <a:defRPr sz="1500" b="0">
                <a:solidFill>
                  <a:srgbClr val="526777"/>
                </a:solidFill>
              </a:defRPr>
            </a:pPr>
            <a:r>
              <a:rPr sz="1500" b="0">
                <a:solidFill>
                  <a:srgbClr val="526777"/>
                </a:solidFill>
              </a:rPr>
              <a:t>Validate lineage and source checks    Data Governance    2026-07-15   In progress</a:t>
            </a:r>
          </a:p>
          <a:p xmlns:a="http://schemas.openxmlformats.org/drawingml/2006/main">
            <a:pPr>
              <a:defRPr sz="1500" b="0">
                <a:solidFill>
                  <a:srgbClr val="526777"/>
                </a:solidFill>
              </a:defRPr>
            </a:pPr>
            <a:r>
              <a:rPr sz="1500" b="0">
                <a:solidFill>
                  <a:srgbClr val="526777"/>
                </a:solidFill>
              </a:rPr>
              <a:t>Review regional plan variance         Sales Analytics    2026-07-16   Not started</a:t>
            </a:r>
          </a:p>
          <a:p xmlns:a="http://schemas.openxmlformats.org/drawingml/2006/main">
            <a:pPr>
              <a:defRPr sz="1500" b="0">
                <a:solidFill>
                  <a:srgbClr val="526777"/>
                </a:solidFill>
              </a:defRPr>
            </a:pPr>
            <a:r>
              <a:rPr sz="1500" b="0">
                <a:solidFill>
                  <a:srgbClr val="526777"/>
                </a:solidFill>
              </a:rPr>
              <a:t>Refresh category commentary           BI Operations      2026-07-17   Planned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77755-534E-4566-A8CE-A29E64E3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B69"/>
                </a:solidFill>
              </a:defRPr>
            </a:pPr>
            <a:r>
              <a:rPr sz="1425" b="1">
                <a:solidFill>
                  <a:srgbClr val="153B69"/>
                </a:solidFill>
              </a:rPr>
              <a:t>Success criterion: reported GMV, plan, prior and drilldowns continue to reconcile.</a:t>
            </a:r>
          </a:p>
        </p:txBody>
      </p:sp>
    </p:spTree>
    <p:extLst>
      <p:ext uri="{BB962C8B-B14F-4D97-AF65-F5344CB8AC3E}">
        <p14:creationId xmlns:p14="http://schemas.microsoft.com/office/powerpoint/2010/main" val="2144447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2026-08-22T22:08:08.9120000Z</dcterms:created>
  <dcterms:modified xsi:type="dcterms:W3CDTF">2026-08-22T22:08:08.9120000Z</dcterms:modified>
</coreProperties>
</file>