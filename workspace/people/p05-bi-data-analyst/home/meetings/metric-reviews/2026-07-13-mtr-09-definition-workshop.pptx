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e7ee65650248c8" /><Relationship Type="http://schemas.openxmlformats.org/officeDocument/2006/relationships/extended-properties" Target="/docProps/app.xml" Id="Rb2dd6c404c9b4237" /><Relationship Type="http://schemas.openxmlformats.org/officeDocument/2006/relationships/officeDocument" Target="/ppt/presentation.xml" Id="Rfa6cc132697f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59c685d82749e4"/>
  </p:sldMasterIdLst>
  <p:notesMasterIdLst>
    <p:notesMasterId xmlns:r="http://schemas.openxmlformats.org/officeDocument/2006/relationships" r:id="R60cbf11a16894366"/>
  </p:notesMasterIdLst>
  <p:sldIdLst>
    <p:sldId xmlns:r="http://schemas.openxmlformats.org/officeDocument/2006/relationships" id="256" r:id="R18214c0eb8d44ac3"/>
    <p:sldId xmlns:r="http://schemas.openxmlformats.org/officeDocument/2006/relationships" id="257" r:id="R496caee1b0944f44"/>
    <p:sldId xmlns:r="http://schemas.openxmlformats.org/officeDocument/2006/relationships" id="258" r:id="R6d6b3d7497944507"/>
    <p:sldId xmlns:r="http://schemas.openxmlformats.org/officeDocument/2006/relationships" id="259" r:id="Rf728237c7f9c433c"/>
    <p:sldId xmlns:r="http://schemas.openxmlformats.org/officeDocument/2006/relationships" id="260" r:id="Rc722a9dcdf1747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f53dfd76414358" /><Relationship Type="http://schemas.openxmlformats.org/officeDocument/2006/relationships/slideMaster" Target="/ppt/slideMasters/slideMaster1.xml" Id="Ra659c685d82749e4" /><Relationship Type="http://schemas.openxmlformats.org/officeDocument/2006/relationships/notesMaster" Target="/ppt/notesMasters/notesMaster1.xml" Id="R60cbf11a16894366" /><Relationship Type="http://schemas.openxmlformats.org/officeDocument/2006/relationships/presProps" Target="/ppt/presProps.xml" Id="R20768e1fc11f461e" /><Relationship Type="http://schemas.openxmlformats.org/officeDocument/2006/relationships/tableStyles" Target="/ppt/tableStyles.xml" Id="Reff8e383bd5c4e65" /><Relationship Type="http://schemas.openxmlformats.org/officeDocument/2006/relationships/slide" Target="/ppt/slides/slide1.xml" Id="R18214c0eb8d44ac3" /><Relationship Type="http://schemas.openxmlformats.org/officeDocument/2006/relationships/slide" Target="/ppt/slides/slide2.xml" Id="R496caee1b0944f44" /><Relationship Type="http://schemas.openxmlformats.org/officeDocument/2006/relationships/slide" Target="/ppt/slides/slide3.xml" Id="R6d6b3d7497944507" /><Relationship Type="http://schemas.openxmlformats.org/officeDocument/2006/relationships/slide" Target="/ppt/slides/slide4.xml" Id="Rf728237c7f9c433c" /><Relationship Type="http://schemas.openxmlformats.org/officeDocument/2006/relationships/slide" Target="/ppt/slides/slide5.xml" Id="Rc722a9dcdf1747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ad5c021b7f48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6c0b9ac31485d" /><Relationship Type="http://schemas.openxmlformats.org/officeDocument/2006/relationships/notesMaster" Target="/ppt/notesMasters/notesMaster1.xml" Id="R226f7622064942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cb5d18e044318" /><Relationship Type="http://schemas.openxmlformats.org/officeDocument/2006/relationships/notesMaster" Target="/ppt/notesMasters/notesMaster1.xml" Id="R72965da0c92644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8d7be8208b4208" /><Relationship Type="http://schemas.openxmlformats.org/officeDocument/2006/relationships/notesMaster" Target="/ppt/notesMasters/notesMaster1.xml" Id="R88c5d23515b24e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1d9e5738a74d4d" /><Relationship Type="http://schemas.openxmlformats.org/officeDocument/2006/relationships/notesMaster" Target="/ppt/notesMasters/notesMaster1.xml" Id="R1747a8554fd1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96ac8f9c1d4d98" /><Relationship Type="http://schemas.openxmlformats.org/officeDocument/2006/relationships/notesMaster" Target="/ppt/notesMasters/notesMaster1.xml" Id="R463231b579e3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355f765a548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6afc95e23a4bbb" /><Relationship Type="http://schemas.openxmlformats.org/officeDocument/2006/relationships/slideLayout" Target="/ppt/slideLayouts/slideLayout1.xml" Id="R904ca161b6de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ca161b6de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7dd18ecf34f82" /><Relationship Type="http://schemas.openxmlformats.org/officeDocument/2006/relationships/notesSlide" Target="/ppt/notesSlides/notesSlide1.xml" Id="Rb82e1ff97c374f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f02bd308f4ec3" /><Relationship Type="http://schemas.openxmlformats.org/officeDocument/2006/relationships/notesSlide" Target="/ppt/notesSlides/notesSlide2.xml" Id="R1712b6a9ced742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549ef3fca4eec" /><Relationship Type="http://schemas.openxmlformats.org/officeDocument/2006/relationships/notesSlide" Target="/ppt/notesSlides/notesSlide3.xml" Id="R3825dad60e6e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2652580004146" /><Relationship Type="http://schemas.openxmlformats.org/officeDocument/2006/relationships/notesSlide" Target="/ppt/notesSlides/notesSlide4.xml" Id="R80326090b4a74d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930833f434b79" /><Relationship Type="http://schemas.openxmlformats.org/officeDocument/2006/relationships/notesSlide" Target="/ppt/notesSlides/notesSlide5.xml" Id="Re0d25c5f7f4347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A6A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FB12C-8D03-4122-8C02-CBED91E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Mosaic Retail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576BC-CAA1-4C06-AA11-EFB7D1FB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Definition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7D84F-B5F2-4D38-8647-C059C57A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MTR-09 | 2026-07-13 | Facilitated decision canvas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F3FB5-480C-4DAB-87AD-4B95FFE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FF7F3"/>
                </a:solidFill>
              </a:defRPr>
            </a:pPr>
            <a:r>
              <a:rPr sz="1200" b="1">
                <a:solidFill>
                  <a:srgbClr val="DFF7F3"/>
                </a:solidFill>
              </a:rPr>
              <a:t>Outcome: a publishable GMV contract</a:t>
            </a:r>
          </a:p>
        </p:txBody>
      </p:sp>
    </p:spTree>
    <p:extLst>
      <p:ext uri="{BB962C8B-B14F-4D97-AF65-F5344CB8AC3E}">
        <p14:creationId xmlns:p14="http://schemas.microsoft.com/office/powerpoint/2010/main" val="130661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176F1-3DF6-4779-B392-F9D4C18E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AB079-F151-49F8-BD1B-703B5DA0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MTR-09 definition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EF76D-3993-44FC-8F79-470F0BC5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F15BA-AF22-443C-8760-9B160F99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WORKING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B2946-15F4-493A-9204-EA14B13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What should MTR-09 count, when, and at what grain?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732FA-2691-48FF-A5C0-55FD7B08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Use the same question set before debating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1B63C-C96B-4B6C-BC0B-939F87FA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048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2F5C9-DE43-4A63-8A7A-39FB3F36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In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D1B1F-C388-4E49-AB5E-88D853CE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Completed order value; deductions for refunds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595CD-69DA-4EBE-A780-57089890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3048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EC92A-E6F0-457E-9500-84DB8C30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Out of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1A69D-91CE-4F27-B62D-B1720F3E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Cancellations before completion; tax and shipping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5192D-F81A-499E-8613-2BFCC0E4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3048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F0AFD-640D-4DB1-8790-5BDA519E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Decision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44019-D1A0-4157-856A-3A7A8AB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Order date in JST; one row per completed order</a:t>
            </a:r>
          </a:p>
        </p:txBody>
      </p:sp>
    </p:spTree>
    <p:extLst>
      <p:ext uri="{BB962C8B-B14F-4D97-AF65-F5344CB8AC3E}">
        <p14:creationId xmlns:p14="http://schemas.microsoft.com/office/powerpoint/2010/main" val="575937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895DA-5D10-4550-A47D-715037E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D3753-72EC-477D-A9A9-7EB66139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MTR-09 definition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DF8D0-5FE4-4115-8625-77F7B7D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3C3DF-5599-45D5-AD53-80BCF40A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FORMULA &amp; GRAIN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7610A-DB81-42DB-939A-1A2C0545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Write the metric so an analyst can reproduce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888F6-F50E-4990-9D50-E4B7AE4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Facilitator prompt: where does a refund attach?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0E304-7A05-4DE6-B3D0-545C5940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857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0DE58-333D-4B19-B08D-F0E5D742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MTR-09 = Gross sales − Refunds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CF448-5A36-4388-864C-1E591453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C453"/>
                </a:solidFill>
              </a:defRPr>
            </a:pPr>
            <a:r>
              <a:rPr sz="1800" b="1">
                <a:solidFill>
                  <a:srgbClr val="F6C453"/>
                </a:solidFill>
              </a:rPr>
              <a:t>¥86.0M − ¥1.8M = ¥84.2M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87C99-8598-4052-B6D6-FA2D1DAE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4476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F59C4-34BB-4E65-BE0A-E6AB05B2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Grain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E0FF7-8ED1-459F-B2E7-BFB3A851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One completed order ID, one order 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D4876-835D-4803-8119-5CFD57F8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Cutoff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FE957-0293-4BE9-8B83-0CAAF331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862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23:59 JST; refund posted to original order date.</a:t>
            </a:r>
          </a:p>
        </p:txBody>
      </p:sp>
    </p:spTree>
    <p:extLst>
      <p:ext uri="{BB962C8B-B14F-4D97-AF65-F5344CB8AC3E}">
        <p14:creationId xmlns:p14="http://schemas.microsoft.com/office/powerpoint/2010/main" val="132053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75B94-B82C-4F6E-8256-0A09CBD1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0716D-9A54-470E-821A-6166F7E1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MTR-09 definition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EAA34-6AA2-4AB9-A23E-128DEE57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CEF93-11CB-424B-9829-DAB68FD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DECISION CANVAS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8D37A-F101-4B77-8494-EA9D216D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Resolve the open choices in the 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C6521-06DE-4E4F-9830-4477BBEC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Record a single decision, accountable owner, and evidence for each choice.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C9A4A-D70E-40F4-A820-FC186A04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9EE40-FED6-46EF-BBAC-B3D93489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468A2-3429-46D0-935C-C34D9BA3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527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Proposed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73E41-CB0D-4587-82DE-DF5CAC1A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52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26BF6-11E5-4E91-9908-346EEF8A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74619-CBE1-49E2-A947-618BCE05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Refund timing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6AEC9-C1A3-47A3-953E-78876999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194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A6A6"/>
                </a:solidFill>
              </a:defRPr>
            </a:pPr>
            <a:r>
              <a:rPr sz="1350" b="0">
                <a:solidFill>
                  <a:srgbClr val="00A6A6"/>
                </a:solidFill>
              </a:rPr>
              <a:t>Original order 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4CF54-4F6D-4D50-A991-2ABA3544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194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BI Data Analyst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6267B-D970-4F69-A2F4-59777995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14C0B-F6A7-446D-86CD-0AFB1319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Timezone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98E4C-FAEF-4919-AB0A-66F2BA87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862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A6A6"/>
                </a:solidFill>
              </a:defRPr>
            </a:pPr>
            <a:r>
              <a:rPr sz="1350" b="0">
                <a:solidFill>
                  <a:srgbClr val="00A6A6"/>
                </a:solidFill>
              </a:rPr>
              <a:t>JST business 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68FD3-9139-4FE8-B1A8-880B407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86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Data Engineering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B4E62-0560-4153-BC61-18804B16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9BA9E-BAA6-4424-8ABA-8A84D2CB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Channels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AE773-924A-4DCA-949B-6A00C6D1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529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A6A6"/>
                </a:solidFill>
              </a:defRPr>
            </a:pPr>
            <a:r>
              <a:rPr sz="1350" b="0">
                <a:solidFill>
                  <a:srgbClr val="00A6A6"/>
                </a:solidFill>
              </a:rPr>
              <a:t>Online + Stores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615DF-314B-4F65-B2B3-0EA9C83B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529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Commercial Ops</a:t>
            </a:r>
          </a:p>
        </p:txBody>
      </p:sp>
    </p:spTree>
    <p:extLst>
      <p:ext uri="{BB962C8B-B14F-4D97-AF65-F5344CB8AC3E}">
        <p14:creationId xmlns:p14="http://schemas.microsoft.com/office/powerpoint/2010/main" val="529026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D39A7-3FB1-4E47-A44D-D6E3D11B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AAF0B-94C4-43A5-A16F-FB4A63B8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MTR-09 definition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34A45-E60E-4E60-B3D6-47E7C6A1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73F4A-54E3-4D5D-9F1C-DAFF9F9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CLOSE THE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DF7A7-9B31-44C9-9F33-41838129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Leave with a controlled definition,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F570-BFF5-4EE7-8FB0-7DF29BCA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Final check: can Finance, BI, and Commercial Ops calculate the same number?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64998-CE81-4437-BA0D-E679B008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A6A6"/>
                </a:solidFill>
              </a:defRPr>
            </a:pPr>
            <a:r>
              <a:rPr sz="2400" b="1">
                <a:solidFill>
                  <a:srgbClr val="00A6A6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DA2DF-85B4-48B4-918B-7DF39BB1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Approve 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A2AA0-4829-47C1-B723-FCA9E336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Sponsor signs the metric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0ED16-897A-4621-95DE-3270207F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A6A6"/>
                </a:solidFill>
              </a:defRPr>
            </a:pPr>
            <a:r>
              <a:rPr sz="2400" b="1">
                <a:solidFill>
                  <a:srgbClr val="00A6A6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38EAB-514F-4530-871F-C5567E83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433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Publish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95901-B0CF-4E77-8629-6CF4B3B5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Validate gross, refunds, and daily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56925-E7B1-4102-BBC6-EDE8FA78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A6A6"/>
                </a:solidFill>
              </a:defRPr>
            </a:pPr>
            <a:r>
              <a:rPr sz="2400" b="1">
                <a:solidFill>
                  <a:srgbClr val="00A6A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F4CD2-C922-40DF-955F-6C089D44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Adopt cadence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AA527-553F-44AC-A6CD-C631A75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Weekly exception review begins Jul 20</a:t>
            </a:r>
          </a:p>
        </p:txBody>
      </p:sp>
    </p:spTree>
    <p:extLst>
      <p:ext uri="{BB962C8B-B14F-4D97-AF65-F5344CB8AC3E}">
        <p14:creationId xmlns:p14="http://schemas.microsoft.com/office/powerpoint/2010/main" val="1663763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2026-08-22T22:33:12.9750000Z</dcterms:created>
  <dcterms:modified xsi:type="dcterms:W3CDTF">2026-08-22T22:33:12.9750000Z</dcterms:modified>
</coreProperties>
</file>