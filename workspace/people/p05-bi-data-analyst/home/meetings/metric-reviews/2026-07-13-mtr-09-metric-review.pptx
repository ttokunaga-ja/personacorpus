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57947e54534e18" /><Relationship Type="http://schemas.openxmlformats.org/officeDocument/2006/relationships/extended-properties" Target="/docProps/app.xml" Id="R4ca0a84623d645b0" /><Relationship Type="http://schemas.openxmlformats.org/officeDocument/2006/relationships/officeDocument" Target="/ppt/presentation.xml" Id="R1062cb06f50444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15492449d440b6"/>
  </p:sldMasterIdLst>
  <p:notesMasterIdLst>
    <p:notesMasterId xmlns:r="http://schemas.openxmlformats.org/officeDocument/2006/relationships" r:id="R0e21fd7478af4554"/>
  </p:notesMasterIdLst>
  <p:sldIdLst>
    <p:sldId xmlns:r="http://schemas.openxmlformats.org/officeDocument/2006/relationships" id="256" r:id="R5aca21cd14004de4"/>
    <p:sldId xmlns:r="http://schemas.openxmlformats.org/officeDocument/2006/relationships" id="257" r:id="R157d57ecdfd44876"/>
    <p:sldId xmlns:r="http://schemas.openxmlformats.org/officeDocument/2006/relationships" id="258" r:id="Rc097124cb60d4336"/>
    <p:sldId xmlns:r="http://schemas.openxmlformats.org/officeDocument/2006/relationships" id="259" r:id="R3a82bfd0c66c4f2f"/>
    <p:sldId xmlns:r="http://schemas.openxmlformats.org/officeDocument/2006/relationships" id="260" r:id="Rf085a753677749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ba82192b9641ab" /><Relationship Type="http://schemas.openxmlformats.org/officeDocument/2006/relationships/slideMaster" Target="/ppt/slideMasters/slideMaster1.xml" Id="R4015492449d440b6" /><Relationship Type="http://schemas.openxmlformats.org/officeDocument/2006/relationships/notesMaster" Target="/ppt/notesMasters/notesMaster1.xml" Id="R0e21fd7478af4554" /><Relationship Type="http://schemas.openxmlformats.org/officeDocument/2006/relationships/presProps" Target="/ppt/presProps.xml" Id="R162b3673d368463f" /><Relationship Type="http://schemas.openxmlformats.org/officeDocument/2006/relationships/tableStyles" Target="/ppt/tableStyles.xml" Id="R0a6c523a21f54c25" /><Relationship Type="http://schemas.openxmlformats.org/officeDocument/2006/relationships/slide" Target="/ppt/slides/slide1.xml" Id="R5aca21cd14004de4" /><Relationship Type="http://schemas.openxmlformats.org/officeDocument/2006/relationships/slide" Target="/ppt/slides/slide2.xml" Id="R157d57ecdfd44876" /><Relationship Type="http://schemas.openxmlformats.org/officeDocument/2006/relationships/slide" Target="/ppt/slides/slide3.xml" Id="Rc097124cb60d4336" /><Relationship Type="http://schemas.openxmlformats.org/officeDocument/2006/relationships/slide" Target="/ppt/slides/slide4.xml" Id="R3a82bfd0c66c4f2f" /><Relationship Type="http://schemas.openxmlformats.org/officeDocument/2006/relationships/slide" Target="/ppt/slides/slide5.xml" Id="Rf085a753677749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9d4bba818045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f85585a526441a" /><Relationship Type="http://schemas.openxmlformats.org/officeDocument/2006/relationships/notesMaster" Target="/ppt/notesMasters/notesMaster1.xml" Id="Ree0aca5ef1804c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c64bc3fc3b410b" /><Relationship Type="http://schemas.openxmlformats.org/officeDocument/2006/relationships/notesMaster" Target="/ppt/notesMasters/notesMaster1.xml" Id="Re8b66f9ae40b4e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2879400adb4bb5" /><Relationship Type="http://schemas.openxmlformats.org/officeDocument/2006/relationships/notesMaster" Target="/ppt/notesMasters/notesMaster1.xml" Id="R419dab5703e648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b6dcb28e364f20" /><Relationship Type="http://schemas.openxmlformats.org/officeDocument/2006/relationships/notesMaster" Target="/ppt/notesMasters/notesMaster1.xml" Id="Raced5d9bebf841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6752623c34a37" /><Relationship Type="http://schemas.openxmlformats.org/officeDocument/2006/relationships/notesMaster" Target="/ppt/notesMasters/notesMaster1.xml" Id="Re5370e9620814d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fd1ca803c4e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4f59f89b40460d" /><Relationship Type="http://schemas.openxmlformats.org/officeDocument/2006/relationships/slideLayout" Target="/ppt/slideLayouts/slideLayout1.xml" Id="Rb743ae6c83d646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43ae6c83d646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63e5078bf4887" /><Relationship Type="http://schemas.openxmlformats.org/officeDocument/2006/relationships/notesSlide" Target="/ppt/notesSlides/notesSlide1.xml" Id="Rce6a5eca0de64a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6ad6d71ef418d" /><Relationship Type="http://schemas.openxmlformats.org/officeDocument/2006/relationships/notesSlide" Target="/ppt/notesSlides/notesSlide2.xml" Id="R40530746eff940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b37d8ff124dd0" /><Relationship Type="http://schemas.openxmlformats.org/officeDocument/2006/relationships/notesSlide" Target="/ppt/notesSlides/notesSlide3.xml" Id="Rf95d8909bea846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9e15a6fc841bd" /><Relationship Type="http://schemas.openxmlformats.org/officeDocument/2006/relationships/chart" Target="/ppt/slides/charts/chart1.xml" Id="Rcefa548321de4710" /><Relationship Type="http://schemas.openxmlformats.org/officeDocument/2006/relationships/notesSlide" Target="/ppt/notesSlides/notesSlide4.xml" Id="Rd1601047ca3547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dd64dab584145" /><Relationship Type="http://schemas.openxmlformats.org/officeDocument/2006/relationships/notesSlide" Target="/ppt/notesSlides/notesSlide5.xml" Id="Re14ec2aad141404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GMV ¥M</c:v>
          </c:tx>
          <c:spPr>
            <a:solidFill xmlns:a="http://schemas.openxmlformats.org/drawingml/2006/main">
              <a:srgbClr val="00A6A6"/>
            </a:solidFill>
          </c:spPr>
          <c:cat>
            <c:strLit>
              <c:ptCount val="7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  <c:pt idx="5">
                <c:v>Sat</c:v>
              </c:pt>
              <c:pt idx="6">
                <c:v>Sun</c:v>
              </c:pt>
            </c:strLit>
          </c:cat>
          <c:val>
            <c:numLit>
              <c:formatCode>General</c:formatCode>
              <c:ptCount val="7"/>
              <c:pt idx="0">
                <c:v>10.8</c:v>
              </c:pt>
              <c:pt idx="1">
                <c:v>11.2</c:v>
              </c:pt>
              <c:pt idx="2">
                <c:v>11.5</c:v>
              </c:pt>
              <c:pt idx="3">
                <c:v>12.1</c:v>
              </c:pt>
              <c:pt idx="4">
                <c:v>12.4</c:v>
              </c:pt>
              <c:pt idx="5">
                <c:v>13</c:v>
              </c:pt>
              <c:pt idx="6">
                <c:v>13.2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6520D-683F-4995-9E97-8AE09590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7F3D0"/>
                </a:solidFill>
              </a:defRPr>
            </a:pPr>
            <a:r>
              <a:rPr sz="1500" b="1">
                <a:solidFill>
                  <a:srgbClr val="A7F3D0"/>
                </a:solidFill>
              </a:rPr>
              <a:t>Mosaic Retail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D30F5-B595-45BE-8B98-A27C393E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Metric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2FD04-118F-4D09-98F5-25CB476B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2EC"/>
                </a:solidFill>
              </a:defRPr>
            </a:pPr>
            <a:r>
              <a:rPr sz="1725" b="0">
                <a:solidFill>
                  <a:srgbClr val="D9E2EC"/>
                </a:solidFill>
              </a:rPr>
              <a:t>MTR-09 • GMV reconciliation and decision 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AFD67-C3EB-44CD-B744-63A79003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E2EC"/>
                </a:solidFill>
              </a:defRPr>
            </a:pPr>
            <a:r>
              <a:rPr sz="1125" b="1">
                <a:solidFill>
                  <a:srgbClr val="D9E2EC"/>
                </a:solidFill>
              </a:rPr>
              <a:t>2026-07-13  |  FY26 Q3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A6956-B161-4442-B901-F4EEB840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095500" cy="2952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C80E6-22AD-4252-95DB-D75EC5A7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95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GMV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F1161-EBBE-42CC-B8B1-A108166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43125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¥84.2M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CC915-F55B-432D-9378-1755A8F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95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Plan +¥4.2M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C94E9-8AD6-4C1E-AE88-80EC8D1E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metric MTR-09  |  GMV ¥84.2M</a:t>
            </a:r>
          </a:p>
        </p:txBody>
      </p:sp>
    </p:spTree>
    <p:extLst>
      <p:ext uri="{BB962C8B-B14F-4D97-AF65-F5344CB8AC3E}">
        <p14:creationId xmlns:p14="http://schemas.microsoft.com/office/powerpoint/2010/main" val="2014349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0B931-16A3-4F28-B6B5-A72BEC61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9E7BF-2AD2-43BE-BFAF-9BEAE683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MTR-09 metric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45E99-F18E-4900-8FFB-994B64C4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F8B3A-4531-43B4-8AF6-6D3728B1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DECISION-READY KPI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CB770-79D8-47F2-B9FF-DB016A42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GMV is above plan; definition alignment is the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D1DFE-B456-4E6E-B0A4-9D79B137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Actual ¥84.2M versus plan ¥80.0M and prior ¥78.6M.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075D8-E31B-4D67-882A-B8A527F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095625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5318F-BC53-4F7B-BE41-6779F7D3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A6A6"/>
                </a:solidFill>
              </a:defRPr>
            </a:pPr>
            <a:r>
              <a:rPr sz="2850" b="1">
                <a:solidFill>
                  <a:srgbClr val="00A6A6"/>
                </a:solidFill>
              </a:rPr>
              <a:t>+¥4.2M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84F5E-AE4C-414B-87AC-3F4549D0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vs plan  |  +5.3%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55E2D-64B9-4F9C-A54B-353B25AF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3095625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7045B-17AD-46E6-A319-DCC2B15E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A6A6"/>
                </a:solidFill>
              </a:defRPr>
            </a:pPr>
            <a:r>
              <a:rPr sz="2850" b="1">
                <a:solidFill>
                  <a:srgbClr val="00A6A6"/>
                </a:solidFill>
              </a:rPr>
              <a:t>+¥5.6M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771F6-7684-4824-AC17-36FEE054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vs prior  |  +7.1%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64D71-0294-4653-9333-CE0380BD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62250"/>
            <a:ext cx="40005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8F143-78D0-494A-AA31-86E8E4E2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86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Decision today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4C0B4-B47B-4029-B5F9-14FAD7B3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7662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Approve canonical GMV rule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and publish QA checks.</a:t>
            </a:r>
          </a:p>
        </p:txBody>
      </p:sp>
    </p:spTree>
    <p:extLst>
      <p:ext uri="{BB962C8B-B14F-4D97-AF65-F5344CB8AC3E}">
        <p14:creationId xmlns:p14="http://schemas.microsoft.com/office/powerpoint/2010/main" val="721849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E9F38-941D-4F3D-BF02-CA482D0C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6EC1A-9FD9-414E-895C-478C8C69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MTR-09 metric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BA12A-991A-4EBB-9091-2F69CEDE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7747F-D74B-4D54-8AB4-4DA4901B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RECONCILIATION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E9C54-AE48-4193-AD62-AEC9C3B1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One line of sight from gross sales to GMV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2B18B-8934-4D17-8FD1-D2362310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The metric is complete once refunds are netted at order-day cutoff.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FC636-C7C9-4E75-A499-1665484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5241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26FF2-5C04-46DD-807B-576CF6F2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9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2606D"/>
                </a:solidFill>
              </a:defRPr>
            </a:pPr>
            <a:r>
              <a:rPr sz="1350" b="1">
                <a:solidFill>
                  <a:srgbClr val="52606D"/>
                </a:solidFill>
              </a:rPr>
              <a:t>Gross sales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E5A92-5957-475E-8BA4-644C4D3C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¥86.0M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C79AD-3C70-4DEE-A8B8-C90764E3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A6A6"/>
                </a:solidFill>
              </a:defRPr>
            </a:pPr>
            <a:r>
              <a:rPr sz="2250" b="1">
                <a:solidFill>
                  <a:srgbClr val="00A6A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CFCC5-53C4-4A0F-A0F1-F8A41F8F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33700"/>
            <a:ext cx="25241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9FF51-7394-4B75-8026-1461DB9A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09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2606D"/>
                </a:solidFill>
              </a:defRPr>
            </a:pPr>
            <a:r>
              <a:rPr sz="1350" b="1">
                <a:solidFill>
                  <a:srgbClr val="52606D"/>
                </a:solidFill>
              </a:rPr>
              <a:t>Less refunds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7AB42-B8AD-48EE-93BA-60EFF3EF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81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C2413B"/>
                </a:solidFill>
              </a:defRPr>
            </a:pPr>
            <a:r>
              <a:rPr sz="2550" b="1">
                <a:solidFill>
                  <a:srgbClr val="C2413B"/>
                </a:solidFill>
              </a:rPr>
              <a:t>−¥1.8M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C2803-6ECF-4B41-9DB6-5AC2DF0C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290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A6A6"/>
                </a:solidFill>
              </a:defRPr>
            </a:pPr>
            <a:r>
              <a:rPr sz="2250" b="1">
                <a:solidFill>
                  <a:srgbClr val="00A6A6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B30DD-4B39-4B14-B735-23880F33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25241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FF7F3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4C8A9-B925-4AAA-9DD5-BE55E0BA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9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2606D"/>
                </a:solidFill>
              </a:defRPr>
            </a:pPr>
            <a:r>
              <a:rPr sz="1350" b="1">
                <a:solidFill>
                  <a:srgbClr val="52606D"/>
                </a:solidFill>
              </a:rPr>
              <a:t>GMV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D14EC-0D49-41E5-8C0F-2DA2115B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81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A6A6"/>
                </a:solidFill>
              </a:defRPr>
            </a:pPr>
            <a:r>
              <a:rPr sz="2550" b="1">
                <a:solidFill>
                  <a:srgbClr val="00A6A6"/>
                </a:solidFill>
              </a:rPr>
              <a:t>¥84.2M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BDBE5-E1E3-4B3B-9D6D-28CA3EF2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Cutoff: 23:59 JST on order date  |  Grain: completed order</a:t>
            </a:r>
          </a:p>
        </p:txBody>
      </p:sp>
    </p:spTree>
    <p:extLst>
      <p:ext uri="{BB962C8B-B14F-4D97-AF65-F5344CB8AC3E}">
        <p14:creationId xmlns:p14="http://schemas.microsoft.com/office/powerpoint/2010/main" val="1544245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2E724-1D12-40A8-81B6-FB9C7BAC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81734-D1A0-40BE-9E4E-33B10E49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MTR-09 metric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77929-3A0A-4263-A318-F075879F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E99E9-FD82-42B7-872B-FBEA6ECB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DAILY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9FE92-2167-4877-B59B-DF72B927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Momentum strengthened through the review week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E5815-5570-4BA5-B78D-DFD70824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Daily GMV totals sum to ¥84.2M.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6381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fa548321de471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F9A4A-305A-41C3-8437-BD2D3BDC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76550"/>
            <a:ext cx="30480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1D5B1-DEB3-4F37-877F-29891881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Trend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8A4C6-3EF7-45A5-8B6F-C57A2DF8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Seven consecutive daily increases.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1CBD5-E872-4B67-A1AC-B425398E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81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EC04E-C277-4724-B1B4-A872E65B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672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Refund rate: 2.1% of gross.</a:t>
            </a:r>
          </a:p>
        </p:txBody>
      </p:sp>
    </p:spTree>
    <p:extLst>
      <p:ext uri="{BB962C8B-B14F-4D97-AF65-F5344CB8AC3E}">
        <p14:creationId xmlns:p14="http://schemas.microsoft.com/office/powerpoint/2010/main" val="1647367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9DAAD-6065-4541-A17B-808C879C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3DCB3-E543-4B30-98AB-D156636D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MTR-09 metric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2494F-1A6B-42F0-AF5D-EB3728D3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912A9-8109-46AD-B5A7-5946EAE6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1C5E9-EECF-4755-9A82-B21C8919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Convert the reconciliation into a controlled 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C0895-5AEB-4F73-A813-909281D2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Owner, due date, and status make the decision operational.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55B40-E159-4E70-8DE0-37E50ABB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F8518-1461-4D54-9E52-E9B2E6E6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E6D6A-30B1-44E6-B18B-920126BC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24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DUE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E72FE-1E20-411B-9BDF-2B14A0F0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5296C-CAB1-462E-AB4D-243E9A7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D7395-06EB-4D0A-9939-A1F8ACCB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Lock MTR-09 definition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B61E6-6084-40F1-9347-9C43DC6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BI Data Analyst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9D15D-81E7-473F-A6B2-C2B87F73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38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Jul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ED3AC-5B90-436F-8352-2A98069A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In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2DF56-BB1A-4E5C-8573-E20429C4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86931-9F9D-45B8-BB32-D13B795F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Publish refund QA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DF512-148C-4EEF-9BB5-0E2C62DE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Data Engineering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BB087-2616-4186-A853-4BBB0C8B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Jul 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352C1-46A9-4C15-B3F2-35BE6875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Planned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3B4BC-2938-4D1B-8247-19366FD5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5B686-2A6E-4426-B129-70FF8960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Review regional drift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87A00-6EC9-4094-A52C-B113BE24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Commercial 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50D7D-8431-401D-97BF-77BDF43A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86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Jul 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D6C33E-DBBF-4F7A-83C9-B8021524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86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1527201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2026-08-22T22:39:58.1510000Z</dcterms:created>
  <dcterms:modified xsi:type="dcterms:W3CDTF">2026-08-22T22:39:58.1510000Z</dcterms:modified>
</coreProperties>
</file>