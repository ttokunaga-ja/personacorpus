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255098d10e4dda" /><Relationship Type="http://schemas.openxmlformats.org/officeDocument/2006/relationships/extended-properties" Target="/docProps/app.xml" Id="Rbb17ef90b8384994" /><Relationship Type="http://schemas.openxmlformats.org/officeDocument/2006/relationships/officeDocument" Target="/ppt/presentation.xml" Id="R269e7db54f064e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964d2cf0ed4044"/>
  </p:sldMasterIdLst>
  <p:notesMasterIdLst>
    <p:notesMasterId xmlns:r="http://schemas.openxmlformats.org/officeDocument/2006/relationships" r:id="Raa608eb1700a4e1b"/>
  </p:notesMasterIdLst>
  <p:sldIdLst>
    <p:sldId xmlns:r="http://schemas.openxmlformats.org/officeDocument/2006/relationships" id="256" r:id="R5b3a8d3610044705"/>
    <p:sldId xmlns:r="http://schemas.openxmlformats.org/officeDocument/2006/relationships" id="257" r:id="Rca9ad7c1a5b741fe"/>
    <p:sldId xmlns:r="http://schemas.openxmlformats.org/officeDocument/2006/relationships" id="258" r:id="Re0a75b59511648f9"/>
    <p:sldId xmlns:r="http://schemas.openxmlformats.org/officeDocument/2006/relationships" id="259" r:id="R0d732acfaa2248a4"/>
    <p:sldId xmlns:r="http://schemas.openxmlformats.org/officeDocument/2006/relationships" id="260" r:id="R9e74f8b9da974f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7ac452bb024783" /><Relationship Type="http://schemas.openxmlformats.org/officeDocument/2006/relationships/slideMaster" Target="/ppt/slideMasters/slideMaster1.xml" Id="R64964d2cf0ed4044" /><Relationship Type="http://schemas.openxmlformats.org/officeDocument/2006/relationships/notesMaster" Target="/ppt/notesMasters/notesMaster1.xml" Id="Raa608eb1700a4e1b" /><Relationship Type="http://schemas.openxmlformats.org/officeDocument/2006/relationships/presProps" Target="/ppt/presProps.xml" Id="R070b71da01234459" /><Relationship Type="http://schemas.openxmlformats.org/officeDocument/2006/relationships/tableStyles" Target="/ppt/tableStyles.xml" Id="R252e51ef923b485b" /><Relationship Type="http://schemas.openxmlformats.org/officeDocument/2006/relationships/slide" Target="/ppt/slides/slide1.xml" Id="R5b3a8d3610044705" /><Relationship Type="http://schemas.openxmlformats.org/officeDocument/2006/relationships/slide" Target="/ppt/slides/slide2.xml" Id="Rca9ad7c1a5b741fe" /><Relationship Type="http://schemas.openxmlformats.org/officeDocument/2006/relationships/slide" Target="/ppt/slides/slide3.xml" Id="Re0a75b59511648f9" /><Relationship Type="http://schemas.openxmlformats.org/officeDocument/2006/relationships/slide" Target="/ppt/slides/slide4.xml" Id="R0d732acfaa2248a4" /><Relationship Type="http://schemas.openxmlformats.org/officeDocument/2006/relationships/slide" Target="/ppt/slides/slide5.xml" Id="R9e74f8b9da974f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4b35930df64f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72e052fb4d46ef" /><Relationship Type="http://schemas.openxmlformats.org/officeDocument/2006/relationships/notesMaster" Target="/ppt/notesMasters/notesMaster1.xml" Id="R22a40781f77c4f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1c9bceca8c4d1e" /><Relationship Type="http://schemas.openxmlformats.org/officeDocument/2006/relationships/notesMaster" Target="/ppt/notesMasters/notesMaster1.xml" Id="R8a915edaabfc44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e980227cad4c55" /><Relationship Type="http://schemas.openxmlformats.org/officeDocument/2006/relationships/notesMaster" Target="/ppt/notesMasters/notesMaster1.xml" Id="R3661b0a78c2d4a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aa8a28cd4d4ea1" /><Relationship Type="http://schemas.openxmlformats.org/officeDocument/2006/relationships/notesMaster" Target="/ppt/notesMasters/notesMaster1.xml" Id="R03006e1de9484d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a7d9da36144c6e" /><Relationship Type="http://schemas.openxmlformats.org/officeDocument/2006/relationships/notesMaster" Target="/ppt/notesMasters/notesMaster1.xml" Id="R173483bc293144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e624f2b89e40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5420a06cb946d5" /><Relationship Type="http://schemas.openxmlformats.org/officeDocument/2006/relationships/slideLayout" Target="/ppt/slideLayouts/slideLayout1.xml" Id="R865a3b7746354f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5a3b7746354f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028b469da4e23" /><Relationship Type="http://schemas.openxmlformats.org/officeDocument/2006/relationships/notesSlide" Target="/ppt/notesSlides/notesSlide1.xml" Id="R0f9e9650bd174c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624f19f6c4ea3" /><Relationship Type="http://schemas.openxmlformats.org/officeDocument/2006/relationships/chart" Target="/ppt/slides/charts/chart1.xml" Id="R0a547a1f7fc147d2" /><Relationship Type="http://schemas.openxmlformats.org/officeDocument/2006/relationships/notesSlide" Target="/ppt/notesSlides/notesSlide2.xml" Id="R5c07b903933a45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2b6ebf3384e53" /><Relationship Type="http://schemas.openxmlformats.org/officeDocument/2006/relationships/chart" Target="/ppt/slides/charts/chart2.xml" Id="R4f6c1aa5056e4182" /><Relationship Type="http://schemas.openxmlformats.org/officeDocument/2006/relationships/chart" Target="/ppt/slides/charts/chart3.xml" Id="R941e79f78527423c" /><Relationship Type="http://schemas.openxmlformats.org/officeDocument/2006/relationships/notesSlide" Target="/ppt/notesSlides/notesSlide3.xml" Id="R8cc4eb282b6e46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09837cb1b47ca" /><Relationship Type="http://schemas.openxmlformats.org/officeDocument/2006/relationships/notesSlide" Target="/ppt/notesSlides/notesSlide4.xml" Id="R391add5f632b4e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6d82b396a4c46" /><Relationship Type="http://schemas.openxmlformats.org/officeDocument/2006/relationships/notesSlide" Target="/ppt/notesSlides/notesSlide5.xml" Id="R65a42298aed940c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GMV ¥M</c:v>
          </c:tx>
          <c:spPr>
            <a:solidFill xmlns:a="http://schemas.openxmlformats.org/drawingml/2006/main">
              <a:srgbClr val="00A6A6"/>
            </a:solidFill>
          </c:spPr>
          <c:cat>
            <c:strLit>
              <c:ptCount val="3"/>
              <c:pt idx="0">
                <c:v>Prior</c:v>
              </c:pt>
              <c:pt idx="1">
                <c:v>Plan</c:v>
              </c:pt>
              <c:pt idx="2">
                <c:v>Actual</c:v>
              </c:pt>
            </c:strLit>
          </c:cat>
          <c:val>
            <c:numLit>
              <c:formatCode>General</c:formatCode>
              <c:ptCount val="3"/>
              <c:pt idx="0">
                <c:v>78.6</c:v>
              </c:pt>
              <c:pt idx="1">
                <c:v>80</c:v>
              </c:pt>
              <c:pt idx="2">
                <c:v>84.2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GMV ¥M</c:v>
          </c:tx>
          <c:spPr>
            <a:solidFill xmlns:a="http://schemas.openxmlformats.org/drawingml/2006/main">
              <a:srgbClr val="00A6A6"/>
            </a:solidFill>
          </c:spPr>
          <c:cat>
            <c:strLit>
              <c:ptCount val="2"/>
              <c:pt idx="0">
                <c:v>Online</c:v>
              </c:pt>
              <c:pt idx="1">
                <c:v>Stores</c:v>
              </c:pt>
            </c:strLit>
          </c:cat>
          <c:val>
            <c:numLit>
              <c:formatCode>General</c:formatCode>
              <c:ptCount val="2"/>
              <c:pt idx="0">
                <c:v>46.3</c:v>
              </c:pt>
              <c:pt idx="1">
                <c:v>37.9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GMV ¥M</c:v>
          </c:tx>
          <c:spPr>
            <a:solidFill xmlns:a="http://schemas.openxmlformats.org/drawingml/2006/main">
              <a:srgbClr val="F6C453"/>
            </a:solidFill>
          </c:spPr>
          <c:cat>
            <c:strLit>
              <c:ptCount val="4"/>
              <c:pt idx="0">
                <c:v>East</c:v>
              </c:pt>
              <c:pt idx="1">
                <c:v>West</c:v>
              </c:pt>
              <c:pt idx="2">
                <c:v>Central</c:v>
              </c:pt>
              <c:pt idx="3">
                <c:v>North</c:v>
              </c:pt>
            </c:strLit>
          </c:cat>
          <c:val>
            <c:numLit>
              <c:formatCode>General</c:formatCode>
              <c:ptCount val="4"/>
              <c:pt idx="0">
                <c:v>26.4</c:v>
              </c:pt>
              <c:pt idx="1">
                <c:v>22.8</c:v>
              </c:pt>
              <c:pt idx="2">
                <c:v>18.6</c:v>
              </c:pt>
              <c:pt idx="3">
                <c:v>16.4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904A5-4AE0-4A31-837A-4C87B016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FF7F3"/>
                </a:solidFill>
              </a:defRPr>
            </a:pPr>
            <a:r>
              <a:rPr sz="1200" b="1">
                <a:solidFill>
                  <a:srgbClr val="DFF7F3"/>
                </a:solidFill>
              </a:rPr>
              <a:t>Mosaic Retail | FY26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4DBA6-06E2-4BA4-89D4-2D8A34C6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GMV executive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A7F40-0F32-44AB-9921-D39B3692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¥84.2M actual  | 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24055-F637-4755-8774-8882F951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2EC"/>
                </a:solidFill>
              </a:defRPr>
            </a:pPr>
            <a:r>
              <a:rPr sz="1125" b="0">
                <a:solidFill>
                  <a:srgbClr val="D9E2EC"/>
                </a:solidFill>
              </a:rPr>
              <a:t>MTR-09 | Leadership readout</a:t>
            </a:r>
          </a:p>
        </p:txBody>
      </p:sp>
    </p:spTree>
    <p:extLst>
      <p:ext uri="{BB962C8B-B14F-4D97-AF65-F5344CB8AC3E}">
        <p14:creationId xmlns:p14="http://schemas.microsoft.com/office/powerpoint/2010/main" val="1176527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658FC-AC39-493F-824B-13D1CA85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MOSAIC RETAIL  /  FY26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52327-CEE5-4F96-BB03-8E20EAB5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Executive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375A3-8DE7-42C0-8037-99050472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B8005-BC3B-4756-9E8B-322FEA20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</a:defRPr>
            </a:pPr>
            <a:r>
              <a:rPr sz="1050" b="1">
                <a:solidFill>
                  <a:srgbClr val="00A6A6"/>
                </a:solidFill>
              </a:rPr>
              <a:t>THE HEADLINE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0A985-D0CF-4793-996E-DE41EAF5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Q3 GMV closed ¥4.2M above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F0B8A-1627-4F71-A101-BD2AF77D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Actual: ¥84.2M | Plan: ¥80.0M | Prior: ¥78.6M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952500" y="2857500"/>
          <a:ext xmlns:a="http://schemas.openxmlformats.org/drawingml/2006/main" cx="58102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547a1f7fc147d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2D842-FA16-4264-BF83-E4183B86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7180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67FFD-074C-4B6B-B371-8ADE776B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Leadership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19108-64E1-4D7A-B579-A76E5BFE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81425"/>
            <a:ext cx="261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Performance is ahead of target;</a:t>
            </a:r>
          </a:p>
          <a:p xmlns:a="http://schemas.openxmlformats.org/drawingml/2006/main">
            <a:pPr algn="l">
              <a:defRPr sz="1650" b="0">
                <a:solidFill>
                  <a:srgbClr val="52606D"/>
                </a:solidFill>
              </a:defRPr>
            </a:pPr>
            <a:r>
              <a:rPr sz="1650" b="0">
                <a:solidFill>
                  <a:srgbClr val="52606D"/>
                </a:solidFill>
              </a:rPr>
              <a:t>metric governance must catch up.</a:t>
            </a:r>
          </a:p>
        </p:txBody>
      </p:sp>
    </p:spTree>
    <p:extLst>
      <p:ext uri="{BB962C8B-B14F-4D97-AF65-F5344CB8AC3E}">
        <p14:creationId xmlns:p14="http://schemas.microsoft.com/office/powerpoint/2010/main" val="17838468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DF9C7-546F-4A6D-B2FC-21D7E153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MOSAIC RETAIL  /  FY26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F60F1-1DAB-48A5-A98A-E773328E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Executive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7971D-A41B-4F5F-B969-422D3F0D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77CF3-4E61-40DC-A024-86797052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</a:defRPr>
            </a:pPr>
            <a:r>
              <a:rPr sz="1050" b="1">
                <a:solidFill>
                  <a:srgbClr val="00A6A6"/>
                </a:solidFill>
              </a:rPr>
              <a:t>MIX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FED78-8689-4594-BC09-F840B7E9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Online leads; East is the largest region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36242-353D-4ED9-AB4C-0B0C9CCC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The performance base is diversified across channel and region.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57250" y="2800350"/>
          <a:ext xmlns:a="http://schemas.openxmlformats.org/drawingml/2006/main" cx="4762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6c1aa5056e4182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286500" y="2800350"/>
          <a:ext xmlns:a="http://schemas.openxmlformats.org/drawingml/2006/main" cx="47625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1e79f78527423c"/>
          </a:graphicData>
        </a:graphic>
      </p:graphicFrame>
    </p:spTree>
    <p:extLst>
      <p:ext uri="{BB962C8B-B14F-4D97-AF65-F5344CB8AC3E}">
        <p14:creationId xmlns:p14="http://schemas.microsoft.com/office/powerpoint/2010/main" val="1013001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5D1D9-E86E-4DDF-A627-4B8A2DDC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MOSAIC RETAIL  /  FY26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6C266-653C-4F6B-995B-B5CFC2FD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Executive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0B250-0595-4D98-86A5-8C1A144F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1F29E-A6F4-4DC0-9DEA-7BAE13A3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</a:defRPr>
            </a:pPr>
            <a:r>
              <a:rPr sz="1050" b="1">
                <a:solidFill>
                  <a:srgbClr val="00A6A6"/>
                </a:solidFill>
              </a:rPr>
              <a:t>RISK &amp;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0C53B-9372-45EC-A313-9643BDB0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The business result is clear; the definition needs formal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1907F-B72F-4681-9EB4-FFEEF086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Risk is metric comparability, not the reported actual.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B0669-5E1F-45B0-86ED-FA1941D5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933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91E5B-8E28-44F9-A52B-752356E7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76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49FA9-1D3B-4EFC-94F9-5E289BED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Refund timing may shift trend comparisons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F5DBD-1B07-4742-90CB-B3CBE284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2825"/>
            <a:ext cx="933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FF7F3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838FE-48D2-4394-A422-FD175257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9A0AB-F61E-418B-8497-48FB3DC1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Lock original order date and JST cutoff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7DD80-9167-4DC3-9572-8B49CFB8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91025"/>
            <a:ext cx="933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0EA6E-E095-4298-988A-07B680AB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5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50439-188C-4F4C-A200-746EEE72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</a:defRPr>
            </a:pPr>
            <a:r>
              <a:rPr sz="1350" b="0">
                <a:solidFill>
                  <a:srgbClr val="52606D"/>
                </a:solidFill>
              </a:rPr>
              <a:t>Gross ¥86.0M less refunds ¥1.8M = ¥84.2M</a:t>
            </a:r>
          </a:p>
        </p:txBody>
      </p:sp>
    </p:spTree>
    <p:extLst>
      <p:ext uri="{BB962C8B-B14F-4D97-AF65-F5344CB8AC3E}">
        <p14:creationId xmlns:p14="http://schemas.microsoft.com/office/powerpoint/2010/main" val="16797497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3998D-594C-4114-A968-51FD9D6F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MOSAIC RETAIL  /  FY26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56E65-A2DC-4D89-8304-28C4DF0C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Executive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4CD5D-9AD7-4BED-A2D9-F64CA9D5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</a:defRPr>
            </a:pPr>
            <a:r>
              <a:rPr sz="900" b="1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8E6EF-41EB-49F3-B3DC-CB6E3115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6A6"/>
                </a:solidFill>
              </a:defRPr>
            </a:pPr>
            <a:r>
              <a:rPr sz="1050" b="1">
                <a:solidFill>
                  <a:srgbClr val="00A6A6"/>
                </a:solidFill>
              </a:rPr>
              <a:t>ASKS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347B3-4CED-43A2-A4A6-09211D1F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A43"/>
                </a:solidFill>
              </a:defRPr>
            </a:pPr>
            <a:r>
              <a:rPr sz="3150" b="1">
                <a:solidFill>
                  <a:srgbClr val="102A43"/>
                </a:solidFill>
              </a:rPr>
              <a:t>Authorize the metric contract and its operating cadence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171BC-E149-4087-8C63-9707F3B5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</a:defRPr>
            </a:pPr>
            <a:r>
              <a:rPr sz="1500" b="0">
                <a:solidFill>
                  <a:srgbClr val="52606D"/>
                </a:solidFill>
              </a:rPr>
              <a:t>This turns a strong quarter into a trusted management signal.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AD13E-DADB-4F02-8D5F-A0479ECF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2857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BFE15-99FC-457F-BC03-50D94B3C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C453"/>
                </a:solidFill>
              </a:defRPr>
            </a:pPr>
            <a:r>
              <a:rPr sz="1650" b="1">
                <a:solidFill>
                  <a:srgbClr val="F6C453"/>
                </a:solidFill>
              </a:rPr>
              <a:t>Approve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78984-0B0B-4CBF-8C71-6029C6BC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10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MTR-09 definition by Jul 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B7868-6463-459C-B39E-6942E717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2857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7A25A-C154-4969-BED7-79CAE91D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A6"/>
                </a:solidFill>
              </a:defRPr>
            </a:pPr>
            <a:r>
              <a:rPr sz="1650" b="1">
                <a:solidFill>
                  <a:srgbClr val="00A6A6"/>
                </a:solidFill>
              </a:rPr>
              <a:t>Fund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CB0AC-3654-4118-BB5B-EB251FE6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10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Refund QA checks by Jul 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BD6F8-2D89-4CD1-922B-C6C920C6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52750"/>
            <a:ext cx="2857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50D040-C28F-489A-89D0-3B81E1DE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A6"/>
                </a:solidFill>
              </a:defRPr>
            </a:pPr>
            <a:r>
              <a:rPr sz="1650" b="1">
                <a:solidFill>
                  <a:srgbClr val="00A6A6"/>
                </a:solidFill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F31CA-B336-412B-B9DC-1BD32A0F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810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4D"/>
                </a:solidFill>
              </a:defRPr>
            </a:pPr>
            <a:r>
              <a:rPr sz="1500" b="1">
                <a:solidFill>
                  <a:srgbClr val="172B4D"/>
                </a:solidFill>
              </a:rPr>
              <a:t>Weekly metric exceptions starting Jul 20</a:t>
            </a:r>
          </a:p>
        </p:txBody>
      </p:sp>
    </p:spTree>
    <p:extLst>
      <p:ext uri="{BB962C8B-B14F-4D97-AF65-F5344CB8AC3E}">
        <p14:creationId xmlns:p14="http://schemas.microsoft.com/office/powerpoint/2010/main" val="221534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2026-08-22T22:33:13.0560000Z</dcterms:created>
  <dcterms:modified xsi:type="dcterms:W3CDTF">2026-08-22T22:33:13.0560000Z</dcterms:modified>
</coreProperties>
</file>