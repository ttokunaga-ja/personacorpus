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16af59dd6a4448" /><Relationship Type="http://schemas.openxmlformats.org/officeDocument/2006/relationships/extended-properties" Target="/docProps/app.xml" Id="R0754f1a5d8e04248" /><Relationship Type="http://schemas.openxmlformats.org/officeDocument/2006/relationships/officeDocument" Target="/ppt/presentation.xml" Id="R5b41d2aa120a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4730bfdad147eb"/>
  </p:sldMasterIdLst>
  <p:notesMasterIdLst>
    <p:notesMasterId xmlns:r="http://schemas.openxmlformats.org/officeDocument/2006/relationships" r:id="R05746410485d46e2"/>
  </p:notesMasterIdLst>
  <p:sldIdLst>
    <p:sldId xmlns:r="http://schemas.openxmlformats.org/officeDocument/2006/relationships" id="256" r:id="Re847462f9475491a"/>
    <p:sldId xmlns:r="http://schemas.openxmlformats.org/officeDocument/2006/relationships" id="257" r:id="R482e30d1696a4c86"/>
    <p:sldId xmlns:r="http://schemas.openxmlformats.org/officeDocument/2006/relationships" id="258" r:id="Re152da3faa914097"/>
    <p:sldId xmlns:r="http://schemas.openxmlformats.org/officeDocument/2006/relationships" id="259" r:id="Rc528e2ca79f7431f"/>
    <p:sldId xmlns:r="http://schemas.openxmlformats.org/officeDocument/2006/relationships" id="260" r:id="R723286e26c5743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bad40033c46e6" /><Relationship Type="http://schemas.openxmlformats.org/officeDocument/2006/relationships/slideMaster" Target="/ppt/slideMasters/slideMaster1.xml" Id="R4b4730bfdad147eb" /><Relationship Type="http://schemas.openxmlformats.org/officeDocument/2006/relationships/notesMaster" Target="/ppt/notesMasters/notesMaster1.xml" Id="R05746410485d46e2" /><Relationship Type="http://schemas.openxmlformats.org/officeDocument/2006/relationships/presProps" Target="/ppt/presProps.xml" Id="R9bb4bb624fdf4fdd" /><Relationship Type="http://schemas.openxmlformats.org/officeDocument/2006/relationships/tableStyles" Target="/ppt/tableStyles.xml" Id="R2dc5dd5750ff4abb" /><Relationship Type="http://schemas.openxmlformats.org/officeDocument/2006/relationships/slide" Target="/ppt/slides/slide1.xml" Id="Re847462f9475491a" /><Relationship Type="http://schemas.openxmlformats.org/officeDocument/2006/relationships/slide" Target="/ppt/slides/slide2.xml" Id="R482e30d1696a4c86" /><Relationship Type="http://schemas.openxmlformats.org/officeDocument/2006/relationships/slide" Target="/ppt/slides/slide3.xml" Id="Re152da3faa914097" /><Relationship Type="http://schemas.openxmlformats.org/officeDocument/2006/relationships/slide" Target="/ppt/slides/slide4.xml" Id="Rc528e2ca79f7431f" /><Relationship Type="http://schemas.openxmlformats.org/officeDocument/2006/relationships/slide" Target="/ppt/slides/slide5.xml" Id="R723286e26c5743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aa15fc719946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3b8d17017043d1" /><Relationship Type="http://schemas.openxmlformats.org/officeDocument/2006/relationships/notesMaster" Target="/ppt/notesMasters/notesMaster1.xml" Id="R58578cb631a742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89ffd3e7ef4c9b" /><Relationship Type="http://schemas.openxmlformats.org/officeDocument/2006/relationships/notesMaster" Target="/ppt/notesMasters/notesMaster1.xml" Id="Rc80a6527649e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ed0b7f6a944024" /><Relationship Type="http://schemas.openxmlformats.org/officeDocument/2006/relationships/notesMaster" Target="/ppt/notesMasters/notesMaster1.xml" Id="R0732392c55ea45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3aaa92bd834f6b" /><Relationship Type="http://schemas.openxmlformats.org/officeDocument/2006/relationships/notesMaster" Target="/ppt/notesMasters/notesMaster1.xml" Id="Rf7a42c511d6542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63a95a2bc143e4" /><Relationship Type="http://schemas.openxmlformats.org/officeDocument/2006/relationships/notesMaster" Target="/ppt/notesMasters/notesMaster1.xml" Id="R01e7bddf37064b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4adc486ed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41b724bd4429f" /><Relationship Type="http://schemas.openxmlformats.org/officeDocument/2006/relationships/slideLayout" Target="/ppt/slideLayouts/slideLayout1.xml" Id="R9e4d59c581e04e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4d59c581e04e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4919fc21442d9" /><Relationship Type="http://schemas.openxmlformats.org/officeDocument/2006/relationships/notesSlide" Target="/ppt/notesSlides/notesSlide1.xml" Id="Rc0b71388cd9746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7e1fb0d04412c" /><Relationship Type="http://schemas.openxmlformats.org/officeDocument/2006/relationships/notesSlide" Target="/ppt/notesSlides/notesSlide2.xml" Id="R3d73ac05de1544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77256d62e4cc8" /><Relationship Type="http://schemas.openxmlformats.org/officeDocument/2006/relationships/notesSlide" Target="/ppt/notesSlides/notesSlide3.xml" Id="Rcca23dd662604b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2cdda69f64af8" /><Relationship Type="http://schemas.openxmlformats.org/officeDocument/2006/relationships/notesSlide" Target="/ppt/notesSlides/notesSlide4.xml" Id="R83c2c143efe247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2e7ec8f6546a4" /><Relationship Type="http://schemas.openxmlformats.org/officeDocument/2006/relationships/notesSlide" Target="/ppt/notesSlides/notesSlide5.xml" Id="Rbacf41709c394b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13F55-0EE7-432D-A213-434C170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Weekly GMV operating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ABC6D-CAB7-494B-92B8-E71B5940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1A789-BB9F-4D58-9FC6-7D1C96E0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02020"/>
                </a:solidFill>
              </a:defRPr>
            </a:pPr>
            <a:r>
              <a:rPr sz="1725" b="0">
                <a:solidFill>
                  <a:srgbClr val="202020"/>
                </a:solidFill>
              </a:rPr>
              <a:t>Decision-ready synthetic operating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D35A3-E9DD-429C-BF7E-7385531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225F2-5D30-4E26-86A8-9E6320E0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65D"/>
                </a:solidFill>
              </a:defRPr>
            </a:pPr>
            <a:r>
              <a:rPr sz="1125" b="1">
                <a:solidFill>
                  <a:srgbClr val="17365D"/>
                </a:solidFill>
              </a:rPr>
              <a:t>Actual GMV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EAE35-B71E-4C0C-881A-A102FE3B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¥84.2M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DC757-C148-412C-9528-3E175216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+¥4.2M versus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03607-260E-4450-910F-66D6F399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104DE-5AF1-4F10-AA54-FE4A121C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65D"/>
                </a:solidFill>
              </a:defRPr>
            </a:pPr>
            <a:r>
              <a:rPr sz="1125" b="1">
                <a:solidFill>
                  <a:srgbClr val="17365D"/>
                </a:solidFill>
              </a:rPr>
              <a:t>Plan GMV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EBDCD-0510-46EA-8C0A-8E251D15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¥80.0M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EA60D-2485-42F1-B893-2476E4FE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FY26 Q3 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EBAE3-016E-40A2-823D-66D53F72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76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24726-E1E7-4466-8207-DBF6FA05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65D"/>
                </a:solidFill>
              </a:defRPr>
            </a:pPr>
            <a:r>
              <a:rPr sz="1125" b="1">
                <a:solidFill>
                  <a:srgbClr val="17365D"/>
                </a:solidFill>
              </a:rPr>
              <a:t>Prior GMV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5D51C-7D50-4092-B6C7-4C49378B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¥78.6M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62BD85-B9E2-490F-9AA4-650401B7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+¥5.6M versus prior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92FDD-1097-4029-8B35-AB4F0B3F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Review 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4B154-E8AA-4219-A167-62060B44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</a:defRPr>
            </a:pPr>
            <a:r>
              <a:rPr sz="1500" b="0">
                <a:solidFill>
                  <a:srgbClr val="202020"/>
                </a:solidFill>
              </a:rPr>
              <a:t>Daily momentum • channel mix • regional contribution • exception controls</a:t>
            </a:r>
          </a:p>
        </p:txBody>
      </p:sp>
    </p:spTree>
    <p:extLst>
      <p:ext uri="{BB962C8B-B14F-4D97-AF65-F5344CB8AC3E}">
        <p14:creationId xmlns:p14="http://schemas.microsoft.com/office/powerpoint/2010/main" val="612131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7ECF4A-15F7-4E73-B7D8-ADE9F664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Weekly bridge and daily trend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8C422-36D1-460D-A557-474575D2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4014A-7AC7-4BE7-A793-78435DAD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EBA3C-0553-4B47-BAFC-90389F05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65D"/>
                </a:solidFill>
              </a:defRPr>
            </a:pPr>
            <a:r>
              <a:rPr sz="1125" b="1">
                <a:solidFill>
                  <a:srgbClr val="17365D"/>
                </a:solidFill>
              </a:rPr>
              <a:t>Actual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15A25-6739-4181-8431-AEB2338F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¥84.2M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D5E16-BB32-4BBF-A26E-4B0BED30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weekly actual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0DAFF-F771-4446-B571-9713B0C4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76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4ED50-7FBC-40B3-99FB-98421ED5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65D"/>
                </a:solidFill>
              </a:defRPr>
            </a:pPr>
            <a:r>
              <a:rPr sz="1125" b="1">
                <a:solidFill>
                  <a:srgbClr val="17365D"/>
                </a:solidFill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DA6FD-5B5D-4875-AC86-8F5FFBBD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¥80.0M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6BC67-003D-4589-B8DD-8B054135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weekly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01ACE-8A56-4420-B4B8-356D97EA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76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96876-EEFC-4732-961D-3C33B73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047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65D"/>
                </a:solidFill>
              </a:defRPr>
            </a:pPr>
            <a:r>
              <a:rPr sz="1125" b="1">
                <a:solidFill>
                  <a:srgbClr val="17365D"/>
                </a:solidFill>
              </a:rPr>
              <a:t>Prior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24020-1CE9-4C3A-92C8-9D9CD8CB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4310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¥78.6M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CA7DD-8F89-45E9-B352-A898A53F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weekly prior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CCA03-94D5-470A-9DDE-D299CC37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7-day GMV trend (¥M)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D4FF4-9B17-4882-88B3-D4786619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96690"/>
            <a:ext cx="819150" cy="13373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94DBE-7397-445A-A9A3-11A3232D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1940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10.8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0F30C-27BE-4C54-8BA7-D9D9F4A6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66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7/7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CE2AC-7B22-48FF-A5C3-E119669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47160"/>
            <a:ext cx="819150" cy="1386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C30C6-D03F-4D19-B173-3054B9D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2410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11.2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A1486-A20F-45FC-BBC6-A2D5B29D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66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7/8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CDAB7-B539-447B-B802-A4DD5BB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10013"/>
            <a:ext cx="819150" cy="1423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77D90-A10D-4AB9-A7E5-366972E7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5263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11.5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96033-7BA0-47E0-ACD6-C065D3FD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72125"/>
            <a:ext cx="66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7/9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7578BF-D8CD-48AA-A568-6005DFCD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35718"/>
            <a:ext cx="819150" cy="14982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53B70-642F-4DB3-B2D7-F75D5D89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930968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12.1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242844-2C3B-495D-AFB0-46ABE17F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72125"/>
            <a:ext cx="66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7/10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66D27-C50D-4D80-A92B-485E4A8A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98570"/>
            <a:ext cx="819150" cy="1535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4DC8A3-C136-44E6-A54B-2D2724F9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93820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12.4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65DC6A-A1A7-4BFE-866D-79210C18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72125"/>
            <a:ext cx="66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7/11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6FD91-6775-4BE1-97B1-DB084DE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24275"/>
            <a:ext cx="81915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723B82-CA4B-4179-97A5-3A8903DF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19525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13.0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8223B-E56C-4AED-BE6A-8F8A2DDD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66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7/12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0FE08-FACC-40BA-BA7E-A044E4A3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99510"/>
            <a:ext cx="819150" cy="1634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191B48-B9C6-4DC6-BAD6-983BF2E1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94760"/>
            <a:ext cx="819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365D"/>
                </a:solidFill>
              </a:defRPr>
            </a:pPr>
            <a:r>
              <a:rPr sz="900" b="1">
                <a:solidFill>
                  <a:srgbClr val="17365D"/>
                </a:solidFill>
              </a:rPr>
              <a:t>13.2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6408CC-9B6F-487C-AA5E-C9E16F4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666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B6B7A"/>
                </a:solidFill>
              </a:defRPr>
            </a:pPr>
            <a:r>
              <a:rPr sz="900" b="0">
                <a:solidFill>
                  <a:srgbClr val="5B6B7A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1104927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9B42A-6DB8-450E-8CAB-548C1E48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Channel pacing and mix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AFA09-AF63-4A13-B3CD-EB77491C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0BB27-73FE-4DE2-AB2B-F72B164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Channel contribution to actual GMV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A9A6A-E7E5-43F3-99CE-C298D976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Online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4E889-21D9-4A99-B209-13C3C6CD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9283B-838F-47E2-9567-DAE857AC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95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¥46.3M  |  55.0%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06CF5-0AF0-47FF-B0B7-FC053D2C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Stores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10297-5881-4BB8-A2E1-78D134D0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0"/>
            <a:ext cx="4695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0DAAE-2DC4-48EF-A309-B37F636F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38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020"/>
                </a:solidFill>
              </a:defRPr>
            </a:pPr>
            <a:r>
              <a:rPr sz="1275" b="1">
                <a:solidFill>
                  <a:srgbClr val="202020"/>
                </a:solidFill>
              </a:rPr>
              <a:t>¥37.9M  |  45.0%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20809-BC2D-4648-B140-8B84102B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Variance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3999C-B41D-4E93-9FAB-4F5A49ED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02020"/>
                </a:solidFill>
              </a:defRPr>
            </a:pPr>
            <a:r>
              <a:rPr sz="1425" b="0">
                <a:solidFill>
                  <a:srgbClr val="202020"/>
                </a:solidFill>
              </a:rPr>
              <a:t>Online and stores reconcile exactly to actual GMV ¥84.2M. Review mix before publishing the weekly summary.</a:t>
            </a:r>
          </a:p>
        </p:txBody>
      </p:sp>
    </p:spTree>
    <p:extLst>
      <p:ext uri="{BB962C8B-B14F-4D97-AF65-F5344CB8AC3E}">
        <p14:creationId xmlns:p14="http://schemas.microsoft.com/office/powerpoint/2010/main" val="4134092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946E63-A180-4761-AFBC-6E8D3D0A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Region and category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CE58F-D3F8-4B4C-ACCA-B8B238A4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520FE-BC29-4654-B7E1-3654ED54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Regional contribution (¥M)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6AB2B-19A3-48AD-8566-6C2389E5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East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74EA9-DB52-443A-BBFF-406EAFFB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62125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9F39A-3973-45E0-BE15-E2BB814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02020"/>
                </a:solidFill>
              </a:defRPr>
            </a:pPr>
            <a:r>
              <a:rPr sz="1050" b="0">
                <a:solidFill>
                  <a:srgbClr val="202020"/>
                </a:solidFill>
              </a:rPr>
              <a:t>¥26.4M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7E07E-F595-43C8-8704-8B6BFD6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West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29A36-B48C-448A-A899-97F57281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23C63-B6D6-44F4-AC27-772DC912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02020"/>
                </a:solidFill>
              </a:defRPr>
            </a:pPr>
            <a:r>
              <a:rPr sz="1050" b="0">
                <a:solidFill>
                  <a:srgbClr val="202020"/>
                </a:solidFill>
              </a:rPr>
              <a:t>¥22.8M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AD90E-5699-4C3D-81C0-1E3C31D6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Central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F5EC5-37CA-42B0-9183-20F9C992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4D7E6-BDCD-4E5F-99FD-75C7E5AC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03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02020"/>
                </a:solidFill>
              </a:defRPr>
            </a:pPr>
            <a:r>
              <a:rPr sz="1050" b="0">
                <a:solidFill>
                  <a:srgbClr val="202020"/>
                </a:solidFill>
              </a:rPr>
              <a:t>¥18.6M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1C467-6701-4778-919D-C8A2BE91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North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48C9F-F5E0-4905-84FE-55B5168F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995D1-51DC-436C-95F0-03086EF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202020"/>
                </a:solidFill>
              </a:defRPr>
            </a:pPr>
            <a:r>
              <a:rPr sz="1050" b="0">
                <a:solidFill>
                  <a:srgbClr val="202020"/>
                </a:solidFill>
              </a:rPr>
              <a:t>¥16.4M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AF5AA-97A1-491A-92A7-C7F7C2DC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Category comparison (¥M)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8D905-8EEC-4888-9D55-1E329516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Home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B04FAE-4C64-451E-9921-9E953ADB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8455C-D54B-4113-877C-24F97324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¥24.8M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976F9-4DD2-4BC2-9331-6B4CCC16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Electronics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7DBA0-750A-4B66-AD47-2918EFF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19325"/>
            <a:ext cx="2105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874F1-E793-47BE-8A38-3F67C991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193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¥22.1M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35E8AD-E8AD-483C-B44E-8875210B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Apparel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8777ED-6967-4D9A-A687-1B3CC9DB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24150"/>
            <a:ext cx="1838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434D0-D674-4564-A7AD-656EF911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¥19.3M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F3CA4-8296-457F-9CB6-FEF6C3D8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2897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Beauty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9DAF2-560F-4EAE-A395-98245312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28975"/>
            <a:ext cx="10191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6B5CB8-9095-4616-A664-A39C335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289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¥10.7M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C12EA-74EA-4CD9-9AF8-FE04A836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Other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F21E8-FF47-4B16-B111-CF885224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33800"/>
            <a:ext cx="6953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3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F4AE-00E0-4742-9EFB-3B26B58E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¥7.3M</a:t>
            </a:r>
          </a:p>
        </p:txBody>
      </p:sp>
    </p:spTree>
    <p:extLst>
      <p:ext uri="{BB962C8B-B14F-4D97-AF65-F5344CB8AC3E}">
        <p14:creationId xmlns:p14="http://schemas.microsoft.com/office/powerpoint/2010/main" val="268411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E8EFB-3B38-4E68-82D3-BA2661E3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Actions, ownership,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05482-DD55-484F-86AC-D1E9015C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B6B7A"/>
                </a:solidFill>
              </a:defRPr>
            </a:pPr>
            <a:r>
              <a:rPr sz="975" b="0">
                <a:solidFill>
                  <a:srgbClr val="5B6B7A"/>
                </a:solidFill>
              </a:rPr>
              <a:t>Mosaic Retail | FY26 Q3 | 2026-07-13 | GMV ¥84.2M | metric MTR-09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8DA62-6861-46A0-AC69-93CC82D3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F6011-C6F7-422D-BEA9-960C326C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33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86C88-2045-4113-8166-70E2B4B2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33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Due /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412C3-1768-444D-A0D1-3B1F9DCB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DD424-439F-47DD-9714-54FFD7C1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Publish reconciled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06162-0A0A-495F-BE1C-4EEEEA40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431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BI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3C273-024F-47DC-B41F-B4FE5EA2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43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2026-07-14 | Planned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4CB19-5D7B-4B9D-924E-6B3F63C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4C0C3-1197-4962-A78E-6314EED6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Validate late arrivals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D768E-F17D-4C45-992D-E1A282BF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622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Data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49022-F564-4884-8ADB-28F0A099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2026-07-15 |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F640C-DE78-4191-A5FA-515CC924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BD5AB-1315-426D-BB4C-34DD8CAC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Confirm metric definition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B26C3F-C3A5-45B8-8748-BF165E0C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81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Analytics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15162-53B5-47FE-AB40-56FF9B86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813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2026-07-16 | Planned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73BE5-B121-4D9A-96F2-663FE228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65D"/>
                </a:solidFill>
              </a:defRPr>
            </a:pPr>
            <a:r>
              <a:rPr sz="1350" b="0">
                <a:solidFill>
                  <a:srgbClr val="17365D"/>
                </a:solidFill>
              </a:rPr>
              <a:t>Control note: All figures are controlled synthetic warehouse S2 data. The MTR-09 weekly bridge is reconciled before publication.</a:t>
            </a:r>
          </a:p>
        </p:txBody>
      </p:sp>
    </p:spTree>
    <p:extLst>
      <p:ext uri="{BB962C8B-B14F-4D97-AF65-F5344CB8AC3E}">
        <p14:creationId xmlns:p14="http://schemas.microsoft.com/office/powerpoint/2010/main" val="1169908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2026-08-22T22:04:25.9790000Z</dcterms:created>
  <dcterms:modified xsi:type="dcterms:W3CDTF">2026-08-22T22:04:25.9790000Z</dcterms:modified>
</coreProperties>
</file>