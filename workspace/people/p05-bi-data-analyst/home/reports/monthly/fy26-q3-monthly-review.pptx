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a3293102fd419b" /><Relationship Type="http://schemas.openxmlformats.org/officeDocument/2006/relationships/extended-properties" Target="/docProps/app.xml" Id="R2b3037bdd723420b" /><Relationship Type="http://schemas.openxmlformats.org/officeDocument/2006/relationships/officeDocument" Target="/ppt/presentation.xml" Id="Rdd7291f7866d4a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2529c579154fbd"/>
  </p:sldMasterIdLst>
  <p:notesMasterIdLst>
    <p:notesMasterId xmlns:r="http://schemas.openxmlformats.org/officeDocument/2006/relationships" r:id="Rc86c101214074e3e"/>
  </p:notesMasterIdLst>
  <p:sldIdLst>
    <p:sldId xmlns:r="http://schemas.openxmlformats.org/officeDocument/2006/relationships" id="256" r:id="R60ffe3a18d944600"/>
    <p:sldId xmlns:r="http://schemas.openxmlformats.org/officeDocument/2006/relationships" id="257" r:id="R844506dd8e0548f0"/>
    <p:sldId xmlns:r="http://schemas.openxmlformats.org/officeDocument/2006/relationships" id="258" r:id="R910c080c606948a6"/>
    <p:sldId xmlns:r="http://schemas.openxmlformats.org/officeDocument/2006/relationships" id="259" r:id="R0bfb6d0366404ed1"/>
    <p:sldId xmlns:r="http://schemas.openxmlformats.org/officeDocument/2006/relationships" id="260" r:id="Re22db299505842d7"/>
    <p:sldId xmlns:r="http://schemas.openxmlformats.org/officeDocument/2006/relationships" id="261" r:id="Re95036cb64bd42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0b57ed686e4e1c" /><Relationship Type="http://schemas.openxmlformats.org/officeDocument/2006/relationships/slideMaster" Target="/ppt/slideMasters/slideMaster1.xml" Id="R6a2529c579154fbd" /><Relationship Type="http://schemas.openxmlformats.org/officeDocument/2006/relationships/notesMaster" Target="/ppt/notesMasters/notesMaster1.xml" Id="Rc86c101214074e3e" /><Relationship Type="http://schemas.openxmlformats.org/officeDocument/2006/relationships/presProps" Target="/ppt/presProps.xml" Id="Rbfe7b76379864c24" /><Relationship Type="http://schemas.openxmlformats.org/officeDocument/2006/relationships/tableStyles" Target="/ppt/tableStyles.xml" Id="Rabf35a6a51484ba6" /><Relationship Type="http://schemas.openxmlformats.org/officeDocument/2006/relationships/slide" Target="/ppt/slides/slide1.xml" Id="R60ffe3a18d944600" /><Relationship Type="http://schemas.openxmlformats.org/officeDocument/2006/relationships/slide" Target="/ppt/slides/slide2.xml" Id="R844506dd8e0548f0" /><Relationship Type="http://schemas.openxmlformats.org/officeDocument/2006/relationships/slide" Target="/ppt/slides/slide3.xml" Id="R910c080c606948a6" /><Relationship Type="http://schemas.openxmlformats.org/officeDocument/2006/relationships/slide" Target="/ppt/slides/slide4.xml" Id="R0bfb6d0366404ed1" /><Relationship Type="http://schemas.openxmlformats.org/officeDocument/2006/relationships/slide" Target="/ppt/slides/slide5.xml" Id="Re22db299505842d7" /><Relationship Type="http://schemas.openxmlformats.org/officeDocument/2006/relationships/slide" Target="/ppt/slides/slide6.xml" Id="Re95036cb64bd42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d9e7b1f8e94d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da9779321745a6" /><Relationship Type="http://schemas.openxmlformats.org/officeDocument/2006/relationships/notesMaster" Target="/ppt/notesMasters/notesMaster1.xml" Id="R48db5bd64ed04c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431c77faef4470" /><Relationship Type="http://schemas.openxmlformats.org/officeDocument/2006/relationships/notesMaster" Target="/ppt/notesMasters/notesMaster1.xml" Id="Ra43ddfcbeb724d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f1177b09f64f94" /><Relationship Type="http://schemas.openxmlformats.org/officeDocument/2006/relationships/notesMaster" Target="/ppt/notesMasters/notesMaster1.xml" Id="Rba61afcd43c04f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3954174f754113" /><Relationship Type="http://schemas.openxmlformats.org/officeDocument/2006/relationships/notesMaster" Target="/ppt/notesMasters/notesMaster1.xml" Id="R25f11994bdab46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6f7921572d4421" /><Relationship Type="http://schemas.openxmlformats.org/officeDocument/2006/relationships/notesMaster" Target="/ppt/notesMasters/notesMaster1.xml" Id="R5775ac95f2ef4d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b076b60490433a" /><Relationship Type="http://schemas.openxmlformats.org/officeDocument/2006/relationships/notesMaster" Target="/ppt/notesMasters/notesMaster1.xml" Id="R0568107cc4014b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f62b2d5a4a42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0a6ad57a354fc4" /><Relationship Type="http://schemas.openxmlformats.org/officeDocument/2006/relationships/slideLayout" Target="/ppt/slideLayouts/slideLayout1.xml" Id="R4abf82ed7db041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bf82ed7db041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550652dd147c4" /><Relationship Type="http://schemas.openxmlformats.org/officeDocument/2006/relationships/notesSlide" Target="/ppt/notesSlides/notesSlide1.xml" Id="R192537335da140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06bf51c7d4ae3" /><Relationship Type="http://schemas.openxmlformats.org/officeDocument/2006/relationships/notesSlide" Target="/ppt/notesSlides/notesSlide2.xml" Id="Rca0406031d4f4f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fb45117af47ed" /><Relationship Type="http://schemas.openxmlformats.org/officeDocument/2006/relationships/notesSlide" Target="/ppt/notesSlides/notesSlide3.xml" Id="R6a52459d85604e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966b7a1a6487f" /><Relationship Type="http://schemas.openxmlformats.org/officeDocument/2006/relationships/chart" Target="/ppt/slides/charts/chart1.xml" Id="R1ee8ed9041124363" /><Relationship Type="http://schemas.openxmlformats.org/officeDocument/2006/relationships/notesSlide" Target="/ppt/notesSlides/notesSlide4.xml" Id="R8cf33a823b1c4e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d25707bbb4aa6" /><Relationship Type="http://schemas.openxmlformats.org/officeDocument/2006/relationships/chart" Target="/ppt/slides/charts/chart2.xml" Id="R4a263829ebba4116" /><Relationship Type="http://schemas.openxmlformats.org/officeDocument/2006/relationships/chart" Target="/ppt/slides/charts/chart3.xml" Id="Ra9d829771f994398" /><Relationship Type="http://schemas.openxmlformats.org/officeDocument/2006/relationships/notesSlide" Target="/ppt/notesSlides/notesSlide5.xml" Id="R4f967565c98142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84d78d901455d" /><Relationship Type="http://schemas.openxmlformats.org/officeDocument/2006/relationships/notesSlide" Target="/ppt/notesSlides/notesSlide6.xml" Id="R29b35a16525f4156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GMV ¥M</c:v>
          </c:tx>
          <c:spPr>
            <a:solidFill xmlns:a="http://schemas.openxmlformats.org/drawingml/2006/main">
              <a:srgbClr val="0F766E"/>
            </a:solidFill>
          </c:spPr>
          <c:marker>
            <c:symbol val="none"/>
          </c:marker>
          <c:cat>
            <c:strLit>
              <c:ptCount val="7"/>
              <c:pt idx="0">
                <c:v>Jul 7</c:v>
              </c:pt>
              <c:pt idx="1">
                <c:v>Jul 8</c:v>
              </c:pt>
              <c:pt idx="2">
                <c:v>Jul 9</c:v>
              </c:pt>
              <c:pt idx="3">
                <c:v>Jul 10</c:v>
              </c:pt>
              <c:pt idx="4">
                <c:v>Jul 11</c:v>
              </c:pt>
              <c:pt idx="5">
                <c:v>Jul 12</c:v>
              </c:pt>
              <c:pt idx="6">
                <c:v>Jul 13</c:v>
              </c:pt>
            </c:strLit>
          </c:cat>
          <c:val>
            <c:numLit>
              <c:formatCode>General</c:formatCode>
              <c:ptCount val="7"/>
              <c:pt idx="0">
                <c:v>10.8</c:v>
              </c:pt>
              <c:pt idx="1">
                <c:v>11.2</c:v>
              </c:pt>
              <c:pt idx="2">
                <c:v>11.5</c:v>
              </c:pt>
              <c:pt idx="3">
                <c:v>12.1</c:v>
              </c:pt>
              <c:pt idx="4">
                <c:v>12.4</c:v>
              </c:pt>
              <c:pt idx="5">
                <c:v>13</c:v>
              </c:pt>
              <c:pt idx="6">
                <c:v>13.2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GMV ¥M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2"/>
              <c:pt idx="0">
                <c:v>Online</c:v>
              </c:pt>
              <c:pt idx="1">
                <c:v>Stores</c:v>
              </c:pt>
            </c:strLit>
          </c:cat>
          <c:val>
            <c:numLit>
              <c:formatCode>General</c:formatCode>
              <c:ptCount val="2"/>
              <c:pt idx="0">
                <c:v>46.3</c:v>
              </c:pt>
              <c:pt idx="1">
                <c:v>37.9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GMV ¥M</c:v>
          </c:tx>
          <c:spPr>
            <a:solidFill xmlns:a="http://schemas.openxmlformats.org/drawingml/2006/main">
              <a:srgbClr val="17365D"/>
            </a:solidFill>
          </c:spPr>
          <c:cat>
            <c:strLit>
              <c:ptCount val="4"/>
              <c:pt idx="0">
                <c:v>East</c:v>
              </c:pt>
              <c:pt idx="1">
                <c:v>West</c:v>
              </c:pt>
              <c:pt idx="2">
                <c:v>Central</c:v>
              </c:pt>
              <c:pt idx="3">
                <c:v>North</c:v>
              </c:pt>
            </c:strLit>
          </c:cat>
          <c:val>
            <c:numLit>
              <c:formatCode>General</c:formatCode>
              <c:ptCount val="4"/>
              <c:pt idx="0">
                <c:v>26.4</c:v>
              </c:pt>
              <c:pt idx="1">
                <c:v>22.8</c:v>
              </c:pt>
              <c:pt idx="2">
                <c:v>18.6</c:v>
              </c:pt>
              <c:pt idx="3">
                <c:v>16.4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D7A46-DE1E-4690-8AFD-87337487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MOSAIC RETAIL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30EAC-C737-426F-96AC-BF8564C3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Monthly performance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05475-4864-4690-BE07-7FD21DAB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573"/>
                </a:solidFill>
              </a:defRPr>
            </a:pPr>
            <a:r>
              <a:rPr sz="1350" b="0">
                <a:solidFill>
                  <a:srgbClr val="566573"/>
                </a:solidFill>
              </a:rPr>
              <a:t>Synthetic operating narrative for the FY26 Q3 monthly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1BF03-A001-4797-83F1-DC585768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FY26 Q3 | 2026-07-13 | metric MTR-09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51302-DE7D-4310-8B3D-8A32A8D4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5D"/>
                </a:solidFill>
              </a:defRPr>
            </a:pPr>
            <a:r>
              <a:rPr sz="3300" b="1">
                <a:solidFill>
                  <a:srgbClr val="17365D"/>
                </a:solidFill>
              </a:rPr>
              <a:t>Net GMV closed at ¥84.2M.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2134E-ED4B-4A00-9162-4F55542F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Above plan by ¥4.2M and above prior by ¥5.6M. Gross demand of ¥86.0M less ¥1.8M refunds reconciles to the reported net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C9820-80F4-4F15-A9AC-45B55C72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Ready for management review</a:t>
            </a:r>
          </a:p>
        </p:txBody>
      </p:sp>
    </p:spTree>
    <p:extLst>
      <p:ext uri="{BB962C8B-B14F-4D97-AF65-F5344CB8AC3E}">
        <p14:creationId xmlns:p14="http://schemas.microsoft.com/office/powerpoint/2010/main" val="15809872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535A3-0501-4FB4-9A83-1FB7FF44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MOSAIC RETAIL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B52BA-6163-4FFC-AC2B-A3B9FBF2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Headline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611DC-9E82-40AD-8371-09A074FA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573"/>
                </a:solidFill>
              </a:defRPr>
            </a:pPr>
            <a:r>
              <a:rPr sz="1350" b="0">
                <a:solidFill>
                  <a:srgbClr val="566573"/>
                </a:solidFill>
              </a:rPr>
              <a:t>Net GMV outperformed both plan and prior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445DE-7BF9-493B-99AC-ECD334B3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FY26 Q3 | 2026-07-13 | metric MTR-09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2BA7B-4FF9-4EE4-8816-1E3F83D0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ACTUAL GMV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E4A12-B83E-47C6-87DE-965B1A24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¥84.2M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5DB85-9AC0-4907-A3FA-1295CCE2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7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82BE6-5257-43BC-A269-FF0ADFC0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95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65D"/>
                </a:solidFill>
              </a:defRPr>
            </a:pPr>
            <a:r>
              <a:rPr sz="2550" b="1">
                <a:solidFill>
                  <a:srgbClr val="17365D"/>
                </a:solidFill>
              </a:rPr>
              <a:t>¥80.0M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6532F-DCD9-4705-BB4D-C6E03714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PRIOR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1AA92-1885-4B11-87B2-95389037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95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65D"/>
                </a:solidFill>
              </a:defRPr>
            </a:pPr>
            <a:r>
              <a:rPr sz="2550" b="1">
                <a:solidFill>
                  <a:srgbClr val="17365D"/>
                </a:solidFill>
              </a:rPr>
              <a:t>¥78.6M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C0D1E-6C6B-4C65-8C5E-2117618D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+5.3% vs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61927-D024-42C8-A852-9ED6526F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91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+7.1% vs prior</a:t>
            </a:r>
          </a:p>
        </p:txBody>
      </p:sp>
    </p:spTree>
    <p:extLst>
      <p:ext uri="{BB962C8B-B14F-4D97-AF65-F5344CB8AC3E}">
        <p14:creationId xmlns:p14="http://schemas.microsoft.com/office/powerpoint/2010/main" val="9992950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12ABB-629C-4249-B17B-F49638FE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MOSAIC RETAIL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ECB3F-7D07-4607-BE2E-C6476897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Gross-to-net 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32607-C715-4878-92EE-F797C4A3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573"/>
                </a:solidFill>
              </a:defRPr>
            </a:pPr>
            <a:r>
              <a:rPr sz="1350" b="0">
                <a:solidFill>
                  <a:srgbClr val="566573"/>
                </a:solidFill>
              </a:rPr>
              <a:t>The monthly reconciliation is simple and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99E21-DD79-49CD-9F13-B84810F5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FY26 Q3 | 2026-07-13 | metric MTR-09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E5E27-B22E-41BC-9DDA-A5207A5E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65D"/>
                </a:solidFill>
              </a:defRPr>
            </a:pPr>
            <a:r>
              <a:rPr sz="3600" b="1">
                <a:solidFill>
                  <a:srgbClr val="17365D"/>
                </a:solidFill>
              </a:rPr>
              <a:t>¥86.0M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3AB07-11C2-4BE0-AE51-6F66AF21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66573"/>
                </a:solidFill>
              </a:defRPr>
            </a:pPr>
            <a:r>
              <a:rPr sz="1500" b="1">
                <a:solidFill>
                  <a:srgbClr val="566573"/>
                </a:solidFill>
              </a:rPr>
              <a:t>GROSS GMV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B5A86-F865-4205-8AAD-72551A0F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575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03A2E"/>
                </a:solidFill>
              </a:defRPr>
            </a:pPr>
            <a:r>
              <a:rPr sz="3600" b="1">
                <a:solidFill>
                  <a:srgbClr val="B03A2E"/>
                </a:solidFill>
              </a:rPr>
              <a:t>− ¥1.8M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78CD8-4216-464E-B86F-B1CF08FA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24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66573"/>
                </a:solidFill>
              </a:defRPr>
            </a:pPr>
            <a:r>
              <a:rPr sz="1500" b="1">
                <a:solidFill>
                  <a:srgbClr val="566573"/>
                </a:solidFill>
              </a:rPr>
              <a:t>REFUNDS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95144-0F95-45D0-8B5C-67BD98D0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766E"/>
                </a:solidFill>
              </a:defRPr>
            </a:pPr>
            <a:r>
              <a:rPr sz="3600" b="1">
                <a:solidFill>
                  <a:srgbClr val="0F766E"/>
                </a:solidFill>
              </a:rPr>
              <a:t>= ¥84.2M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03535-C179-4046-BD66-ECD3C596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66573"/>
                </a:solidFill>
              </a:defRPr>
            </a:pPr>
            <a:r>
              <a:rPr sz="1500" b="1">
                <a:solidFill>
                  <a:srgbClr val="566573"/>
                </a:solidFill>
              </a:rPr>
              <a:t>NET GMV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56648-38FF-46E6-8443-ADCD9E89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Gross less refunds reconciles exactly to the monthly net result.</a:t>
            </a:r>
          </a:p>
        </p:txBody>
      </p:sp>
    </p:spTree>
    <p:extLst>
      <p:ext uri="{BB962C8B-B14F-4D97-AF65-F5344CB8AC3E}">
        <p14:creationId xmlns:p14="http://schemas.microsoft.com/office/powerpoint/2010/main" val="19543894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8068E-D714-476A-AEB6-9A197D55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MOSAIC RETAIL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43A0D-CA13-4946-AA94-2CE6F9E6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Daily trajectory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B6B0B-2FDB-45F2-B32C-4E596EE3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573"/>
                </a:solidFill>
              </a:defRPr>
            </a:pPr>
            <a:r>
              <a:rPr sz="1350" b="0">
                <a:solidFill>
                  <a:srgbClr val="566573"/>
                </a:solidFill>
              </a:rPr>
              <a:t>GMV rose throughout the Jul 7–13 reporting window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9A729-5CCE-45B9-9557-1DC01A31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FY26 Q3 | 2026-07-13 | metric MTR-09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7524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e8ed904112436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F23A1-F533-467B-955F-BC0B0B03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Start</a:t>
            </a:r>
          </a:p>
          <a:p xmlns:a="http://schemas.openxmlformats.org/drawingml/2006/main">
            <a:pPr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¥10.8M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11217-EDA2-4331-8E8F-42CD0D29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End</a:t>
            </a:r>
          </a:p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¥13.2M</a:t>
            </a:r>
          </a:p>
        </p:txBody>
      </p:sp>
    </p:spTree>
    <p:extLst>
      <p:ext uri="{BB962C8B-B14F-4D97-AF65-F5344CB8AC3E}">
        <p14:creationId xmlns:p14="http://schemas.microsoft.com/office/powerpoint/2010/main" val="1051480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CDE04-737A-43F3-80FF-0C067B76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MOSAIC RETAIL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56720-E15A-412D-BF5F-11ADE696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Contribution mix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8F6D8-8A97-42F5-98B2-1163197B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573"/>
                </a:solidFill>
              </a:defRPr>
            </a:pPr>
            <a:r>
              <a:rPr sz="1350" b="0">
                <a:solidFill>
                  <a:srgbClr val="566573"/>
                </a:solidFill>
              </a:rPr>
              <a:t>Online and East lead their respective 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CDCC2-DA0D-432D-A5D5-9ECA85AD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FY26 Q3 | 2026-07-13 | metric MTR-09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762000" y="21907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263829ebba4116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191250" y="21907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d829771f994398"/>
          </a:graphicData>
        </a:graphic>
      </p:graphicFrame>
    </p:spTree>
    <p:extLst>
      <p:ext uri="{BB962C8B-B14F-4D97-AF65-F5344CB8AC3E}">
        <p14:creationId xmlns:p14="http://schemas.microsoft.com/office/powerpoint/2010/main" val="1432268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8B9EF-F7FD-4EDD-A2F2-0EB37F22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MOSAIC RETAIL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2FDCA-803E-42EE-96DD-4B2BAFEA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Controls &amp; next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A0731-4CB1-4437-BFC3-AB53631A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573"/>
                </a:solidFill>
              </a:defRPr>
            </a:pPr>
            <a:r>
              <a:rPr sz="1350" b="0">
                <a:solidFill>
                  <a:srgbClr val="566573"/>
                </a:solidFill>
              </a:rPr>
              <a:t>Reconciled result, clear ownership, focused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44508-37C8-4293-86E5-5DBDA5F1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FY26 Q3 | 2026-07-13 | metric MTR-09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B540C-4427-4A2F-BC10-3A995071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RECONCILIATION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973CD-2D04-42E6-ACA4-010765BF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4B25B-DD88-48A8-BA65-B898B4C4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7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REFUND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C2389-2C45-4106-B2A6-61DDF6F2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95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2.1%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EBC7B-1C23-40E2-85E7-FAD0C55D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F1115-B7A1-4FA5-B4C8-38271A93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95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F5AE7-EF01-4B13-9BD7-272DF2BF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2A"/>
                </a:solidFill>
              </a:defRPr>
            </a:pPr>
            <a:r>
              <a:rPr sz="1725" b="0">
                <a:solidFill>
                  <a:srgbClr val="17202A"/>
                </a:solidFill>
              </a:rPr>
              <a:t>Next review: validate channel cutoff, retain daily roll-up, and use the companion detail workbooks for root-cause discussion.</a:t>
            </a:r>
          </a:p>
        </p:txBody>
      </p:sp>
    </p:spTree>
    <p:extLst>
      <p:ext uri="{BB962C8B-B14F-4D97-AF65-F5344CB8AC3E}">
        <p14:creationId xmlns:p14="http://schemas.microsoft.com/office/powerpoint/2010/main" val="1711043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2026-08-22T22:33:40.2800000Z</dcterms:created>
  <dcterms:modified xsi:type="dcterms:W3CDTF">2026-08-22T22:33:40.2800000Z</dcterms:modified>
</coreProperties>
</file>