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19a56b2d444ae7" /><Relationship Type="http://schemas.openxmlformats.org/officeDocument/2006/relationships/extended-properties" Target="/docProps/app.xml" Id="R5af87f963cce4cd7" /><Relationship Type="http://schemas.openxmlformats.org/officeDocument/2006/relationships/officeDocument" Target="/ppt/presentation.xml" Id="R7ab8b8f50d6548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0f4b8026f34726"/>
  </p:sldMasterIdLst>
  <p:notesMasterIdLst>
    <p:notesMasterId xmlns:r="http://schemas.openxmlformats.org/officeDocument/2006/relationships" r:id="R98c31e412bf94da7"/>
  </p:notesMasterIdLst>
  <p:sldIdLst>
    <p:sldId xmlns:r="http://schemas.openxmlformats.org/officeDocument/2006/relationships" id="256" r:id="R5186d2f2334c4ae9"/>
    <p:sldId xmlns:r="http://schemas.openxmlformats.org/officeDocument/2006/relationships" id="257" r:id="Rbe3a6b282bd745c4"/>
    <p:sldId xmlns:r="http://schemas.openxmlformats.org/officeDocument/2006/relationships" id="258" r:id="R18badf745dda4dc4"/>
    <p:sldId xmlns:r="http://schemas.openxmlformats.org/officeDocument/2006/relationships" id="259" r:id="Rd96fac01fda14685"/>
    <p:sldId xmlns:r="http://schemas.openxmlformats.org/officeDocument/2006/relationships" id="260" r:id="R496837a82dec4eef"/>
    <p:sldId xmlns:r="http://schemas.openxmlformats.org/officeDocument/2006/relationships" id="261" r:id="R37a7fbbb36384d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86d2c1045e4c9c" /><Relationship Type="http://schemas.openxmlformats.org/officeDocument/2006/relationships/slideMaster" Target="/ppt/slideMasters/slideMaster1.xml" Id="R420f4b8026f34726" /><Relationship Type="http://schemas.openxmlformats.org/officeDocument/2006/relationships/notesMaster" Target="/ppt/notesMasters/notesMaster1.xml" Id="R98c31e412bf94da7" /><Relationship Type="http://schemas.openxmlformats.org/officeDocument/2006/relationships/presProps" Target="/ppt/presProps.xml" Id="R15ea3f4239fc4d0a" /><Relationship Type="http://schemas.openxmlformats.org/officeDocument/2006/relationships/tableStyles" Target="/ppt/tableStyles.xml" Id="R6b75c75481444f68" /><Relationship Type="http://schemas.openxmlformats.org/officeDocument/2006/relationships/slide" Target="/ppt/slides/slide1.xml" Id="R5186d2f2334c4ae9" /><Relationship Type="http://schemas.openxmlformats.org/officeDocument/2006/relationships/slide" Target="/ppt/slides/slide2.xml" Id="Rbe3a6b282bd745c4" /><Relationship Type="http://schemas.openxmlformats.org/officeDocument/2006/relationships/slide" Target="/ppt/slides/slide3.xml" Id="R18badf745dda4dc4" /><Relationship Type="http://schemas.openxmlformats.org/officeDocument/2006/relationships/slide" Target="/ppt/slides/slide4.xml" Id="Rd96fac01fda14685" /><Relationship Type="http://schemas.openxmlformats.org/officeDocument/2006/relationships/slide" Target="/ppt/slides/slide5.xml" Id="R496837a82dec4eef" /><Relationship Type="http://schemas.openxmlformats.org/officeDocument/2006/relationships/slide" Target="/ppt/slides/slide6.xml" Id="R37a7fbbb36384d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490c0985224b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1accde50164665" /><Relationship Type="http://schemas.openxmlformats.org/officeDocument/2006/relationships/notesMaster" Target="/ppt/notesMasters/notesMaster1.xml" Id="R60f4667be4be4a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6fcf2817084d81" /><Relationship Type="http://schemas.openxmlformats.org/officeDocument/2006/relationships/notesMaster" Target="/ppt/notesMasters/notesMaster1.xml" Id="R48c7528b0b7747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a313d7cdbd4c9e" /><Relationship Type="http://schemas.openxmlformats.org/officeDocument/2006/relationships/notesMaster" Target="/ppt/notesMasters/notesMaster1.xml" Id="Rab3256e771a64b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4dc4a0fb044271" /><Relationship Type="http://schemas.openxmlformats.org/officeDocument/2006/relationships/notesMaster" Target="/ppt/notesMasters/notesMaster1.xml" Id="Ra9f16d24358c40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cd36c34a1d43a4" /><Relationship Type="http://schemas.openxmlformats.org/officeDocument/2006/relationships/notesMaster" Target="/ppt/notesMasters/notesMaster1.xml" Id="R701e9de706114b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0cda06f4394fd2" /><Relationship Type="http://schemas.openxmlformats.org/officeDocument/2006/relationships/notesMaster" Target="/ppt/notesMasters/notesMaster1.xml" Id="Rb2018f6a1b4a47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f5880d6e642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058db121dd4c37" /><Relationship Type="http://schemas.openxmlformats.org/officeDocument/2006/relationships/slideLayout" Target="/ppt/slideLayouts/slideLayout1.xml" Id="Rb412d14f78de42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12d14f78de42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8da0fe8c944d6" /><Relationship Type="http://schemas.openxmlformats.org/officeDocument/2006/relationships/notesSlide" Target="/ppt/notesSlides/notesSlide1.xml" Id="R6d782db7f80b49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2e446c5e14be2" /><Relationship Type="http://schemas.openxmlformats.org/officeDocument/2006/relationships/notesSlide" Target="/ppt/notesSlides/notesSlide2.xml" Id="Rd9fe1a84697b45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d6d69012c45ae" /><Relationship Type="http://schemas.openxmlformats.org/officeDocument/2006/relationships/notesSlide" Target="/ppt/notesSlides/notesSlide3.xml" Id="Re5c85a11fb9943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2e490405240f5" /><Relationship Type="http://schemas.openxmlformats.org/officeDocument/2006/relationships/notesSlide" Target="/ppt/notesSlides/notesSlide4.xml" Id="Rb8d37798a04c4a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38a5d68914406" /><Relationship Type="http://schemas.openxmlformats.org/officeDocument/2006/relationships/chart" Target="/ppt/slides/charts/chart1.xml" Id="R85b3d75cfae94434" /><Relationship Type="http://schemas.openxmlformats.org/officeDocument/2006/relationships/notesSlide" Target="/ppt/notesSlides/notesSlide5.xml" Id="Rd43575a4b0044b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f5a4f579a43a9" /><Relationship Type="http://schemas.openxmlformats.org/officeDocument/2006/relationships/notesSlide" Target="/ppt/notesSlides/notesSlide6.xml" Id="Rb6b9b59f0dfa453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JPY M</c:v>
          </c:tx>
          <c:spPr>
            <a:solidFill xmlns:a="http://schemas.openxmlformats.org/drawingml/2006/main">
              <a:schemeClr val="accent1"/>
            </a:solidFill>
          </c:spPr>
          <c:marker>
            <c:symbol val="none"/>
          </c:marker>
          <c:cat>
            <c:strLit>
              <c:ptCount val="7"/>
              <c:pt idx="0">
                <c:v>Jul 7</c:v>
              </c:pt>
              <c:pt idx="1">
                <c:v>Jul 8</c:v>
              </c:pt>
              <c:pt idx="2">
                <c:v>Jul 9</c:v>
              </c:pt>
              <c:pt idx="3">
                <c:v>Jul 10</c:v>
              </c:pt>
              <c:pt idx="4">
                <c:v>Jul 11</c:v>
              </c:pt>
              <c:pt idx="5">
                <c:v>Jul 12</c:v>
              </c:pt>
              <c:pt idx="6">
                <c:v>Jul 13</c:v>
              </c:pt>
            </c:strLit>
          </c:cat>
          <c:val>
            <c:numLit>
              <c:formatCode>General</c:formatCode>
              <c:ptCount val="7"/>
              <c:pt idx="0">
                <c:v>10.8</c:v>
              </c:pt>
              <c:pt idx="1">
                <c:v>11.2</c:v>
              </c:pt>
              <c:pt idx="2">
                <c:v>11.5</c:v>
              </c:pt>
              <c:pt idx="3">
                <c:v>12.1</c:v>
              </c:pt>
              <c:pt idx="4">
                <c:v>12.4</c:v>
              </c:pt>
              <c:pt idx="5">
                <c:v>13</c:v>
              </c:pt>
              <c:pt idx="6">
                <c:v>13.2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BA41C-5713-4909-AB53-4CFCF9BD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6ECD5"/>
                </a:solidFill>
              </a:defRPr>
            </a:pPr>
            <a:r>
              <a:rPr sz="1350" b="1">
                <a:solidFill>
                  <a:srgbClr val="46ECD5"/>
                </a:solidFill>
              </a:rPr>
              <a:t>MTR-09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03E78-69D3-4ED5-826D-98860DD7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191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Metric onboarding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DB468-409A-4E7B-81F6-15DAE2A9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AD5E2"/>
                </a:solidFill>
              </a:defRPr>
            </a:pPr>
            <a:r>
              <a:rPr sz="1800" b="0">
                <a:solidFill>
                  <a:srgbClr val="CAD5E2"/>
                </a:solidFill>
              </a:rPr>
              <a:t>A controlled guide to completed order-line merchandise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0E242-DCD1-4AD1-8DFF-C068A27F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0A1B9"/>
                </a:solidFill>
              </a:defRPr>
            </a:pPr>
            <a:r>
              <a:rPr sz="975" b="0">
                <a:solidFill>
                  <a:srgbClr val="90A1B9"/>
                </a:solidFill>
              </a:rPr>
              <a:t>Mosaic Retail Analytics | Fictional training dataset</a:t>
            </a:r>
          </a:p>
        </p:txBody>
      </p:sp>
    </p:spTree>
    <p:extLst>
      <p:ext uri="{BB962C8B-B14F-4D97-AF65-F5344CB8AC3E}">
        <p14:creationId xmlns:p14="http://schemas.microsoft.com/office/powerpoint/2010/main" val="1423531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55B27-53C1-425E-827F-AD0C6D7E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689"/>
                </a:solidFill>
              </a:defRPr>
            </a:pPr>
            <a:r>
              <a:rPr sz="975" b="1">
                <a:solidFill>
                  <a:srgbClr val="009689"/>
                </a:solidFill>
              </a:rPr>
              <a:t>WHAT IT MEASURES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22EE2-EB6C-4D6E-BFBC-812A7405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MTR-09 is the close value after recognized refunds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EF691-2B96-48E3-8E0D-F36DC5DD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Use one definition for reporting, reconciliation, and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D923B-B854-40F1-A5BF-C92121F2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Mosaic Retail Analytics | Fictional 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39287-A5B0-46B2-BB94-24DCF4CE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00375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8878D-3F48-41E9-935C-828D16B7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748E"/>
                </a:solidFill>
              </a:defRPr>
            </a:pPr>
            <a:r>
              <a:rPr sz="1350" b="1">
                <a:solidFill>
                  <a:srgbClr val="62748E"/>
                </a:solidFill>
              </a:rPr>
              <a:t>GROSS COMPLETED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1CE09-379F-4609-8CC9-E39AF18D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86.0M JPY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C81D7-209E-4EFD-A9A1-B86EA38B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D293D"/>
                </a:solidFill>
              </a:defRPr>
            </a:pPr>
            <a:r>
              <a:rPr sz="1125" b="0">
                <a:solidFill>
                  <a:srgbClr val="1D293D"/>
                </a:solidFill>
              </a:rPr>
              <a:t>Tax excluded; completed orders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AF214-675A-42AF-926E-D2A3913D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5280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49096-2CEF-4974-84C1-31F23D6C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3000375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77BAC-7461-485C-B8B4-7E968E0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003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748E"/>
                </a:solidFill>
              </a:defRPr>
            </a:pPr>
            <a:r>
              <a:rPr sz="1350" b="1">
                <a:solidFill>
                  <a:srgbClr val="62748E"/>
                </a:solidFill>
              </a:rPr>
              <a:t>RECOGNIZED REFUNDS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E0D90-0CB1-45F6-9F28-4A0A38F4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9087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1.8M JPY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C3DC1-E2E1-413E-83E4-80DA819F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052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D293D"/>
                </a:solidFill>
              </a:defRPr>
            </a:pPr>
            <a:r>
              <a:rPr sz="1125" b="0">
                <a:solidFill>
                  <a:srgbClr val="1D293D"/>
                </a:solidFill>
              </a:rPr>
              <a:t>Only refunds recognized in the close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8EB69-B66C-4E33-B821-30C83F4C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35280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C2B72-EC54-4E6B-96FB-5153FB42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33625"/>
            <a:ext cx="3000375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C4FEC-3DD5-4346-993C-7C2EA820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003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748E"/>
                </a:solidFill>
              </a:defRPr>
            </a:pPr>
            <a:r>
              <a:rPr sz="1350" b="1">
                <a:solidFill>
                  <a:srgbClr val="62748E"/>
                </a:solidFill>
              </a:rPr>
              <a:t>MTR-09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D44A1-1B55-43D4-BC44-7ED8AF96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9087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84.2M JPY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09493-4E75-4E2A-8E03-DB44CBBD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D293D"/>
                </a:solidFill>
              </a:defRPr>
            </a:pPr>
            <a:r>
              <a:rPr sz="1125" b="0">
                <a:solidFill>
                  <a:srgbClr val="1D293D"/>
                </a:solidFill>
              </a:rPr>
              <a:t>Authoritative close value</a:t>
            </a:r>
          </a:p>
        </p:txBody>
      </p:sp>
    </p:spTree>
    <p:extLst>
      <p:ext uri="{BB962C8B-B14F-4D97-AF65-F5344CB8AC3E}">
        <p14:creationId xmlns:p14="http://schemas.microsoft.com/office/powerpoint/2010/main" val="964350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F3779-DBD6-4963-87CF-D5114DB7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689"/>
                </a:solidFill>
              </a:defRPr>
            </a:pPr>
            <a:r>
              <a:rPr sz="975" b="1">
                <a:solidFill>
                  <a:srgbClr val="009689"/>
                </a:solidFill>
              </a:rPr>
              <a:t>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3B2EA-E9BB-46FB-A245-D1963050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The definition is governed by four simple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E4DA7-4E16-4B91-9094-3D45AF6D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Mosaic Retail Analytics | Fictional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7F11C-62E4-4BAA-A70D-68006185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9689"/>
                </a:solidFill>
              </a:defRPr>
            </a:pPr>
            <a:r>
              <a:rPr sz="1050" b="1">
                <a:solidFill>
                  <a:srgbClr val="009689"/>
                </a:solidFill>
              </a:rPr>
              <a:t>INCLUDE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82751-2F71-4969-87EE-F62F2200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2407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93D"/>
                </a:solidFill>
              </a:defRPr>
            </a:pPr>
            <a:r>
              <a:rPr sz="1800" b="0">
                <a:solidFill>
                  <a:srgbClr val="1D293D"/>
                </a:solidFill>
              </a:rPr>
              <a:t>Completed order lines posted through the cutoff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36B04-ECAA-4F7F-B210-88EF394F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9689"/>
                </a:solidFill>
              </a:defRPr>
            </a:pPr>
            <a:r>
              <a:rPr sz="1050" b="1">
                <a:solidFill>
                  <a:srgbClr val="009689"/>
                </a:solidFill>
              </a:rPr>
              <a:t>EXCLUDE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B96B2-8B58-4A39-9A43-44CD9A3B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7657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93D"/>
                </a:solidFill>
              </a:defRPr>
            </a:pPr>
            <a:r>
              <a:rPr sz="1800" b="0">
                <a:solidFill>
                  <a:srgbClr val="1D293D"/>
                </a:solidFill>
              </a:rPr>
              <a:t>Tax, shipping, cancellations, and pending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8EB5E-E1FF-4942-A34B-C219BAEB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9689"/>
                </a:solidFill>
              </a:defRPr>
            </a:pPr>
            <a:r>
              <a:rPr sz="1050" b="1">
                <a:solidFill>
                  <a:srgbClr val="009689"/>
                </a:solidFill>
              </a:rPr>
              <a:t>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CA248-AB19-49E7-A0D1-099BBF6F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2907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93D"/>
                </a:solidFill>
              </a:defRPr>
            </a:pPr>
            <a:r>
              <a:rPr sz="1800" b="0">
                <a:solidFill>
                  <a:srgbClr val="1D293D"/>
                </a:solidFill>
              </a:rPr>
              <a:t>Recognized refunds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3DACD-028D-45F9-9564-41C2AAB3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9689"/>
                </a:solidFill>
              </a:defRPr>
            </a:pPr>
            <a:r>
              <a:rPr sz="1050" b="1">
                <a:solidFill>
                  <a:srgbClr val="009689"/>
                </a:solidFill>
              </a:rPr>
              <a:t>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7B0A6-3122-4C96-ADCA-6CD4415F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8157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93D"/>
                </a:solidFill>
              </a:defRPr>
            </a:pPr>
            <a:r>
              <a:rPr sz="1800" b="0">
                <a:solidFill>
                  <a:srgbClr val="1D293D"/>
                </a:solidFill>
              </a:rPr>
              <a:t>JPY, with one-decimal-million reference display</a:t>
            </a:r>
          </a:p>
        </p:txBody>
      </p:sp>
    </p:spTree>
    <p:extLst>
      <p:ext uri="{BB962C8B-B14F-4D97-AF65-F5344CB8AC3E}">
        <p14:creationId xmlns:p14="http://schemas.microsoft.com/office/powerpoint/2010/main" val="818600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5A43F-7597-4915-9CA2-FCE1A874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689"/>
                </a:solidFill>
              </a:defRPr>
            </a:pPr>
            <a:r>
              <a:rPr sz="975" b="1">
                <a:solidFill>
                  <a:srgbClr val="009689"/>
                </a:solidFill>
              </a:rPr>
              <a:t>REFERENCE CUTS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5252D-D919-4C95-8EB7-194C157A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Every reference cut must reconcile to 84.2M JPY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19283-BD80-4314-8DCF-A52C42ED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Cuts describe the close; they do not change the metric definition.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677E2-F6E5-4A12-A22B-985C0B2E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Mosaic Retail Analytics | Fictional 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380F0-1858-450B-95FD-6E69DE53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CHANNEL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89D19-7B72-4C25-9CFC-E40142B3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Online 46.3M</a:t>
            </a:r>
          </a:p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Stores 37.9M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C6EAD-09C8-44EF-B4E0-1B96EE51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REGION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7E1D5-9182-4FBC-A0A5-FEF3B9C8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050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East 26.4M  |  West 22.8M</a:t>
            </a:r>
          </a:p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Central 18.6M  |  North 16.4M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BAEFC-8684-4239-AA7D-D9AC8668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47E6"/>
                </a:solidFill>
              </a:defRPr>
            </a:pPr>
            <a:r>
              <a:rPr sz="1200" b="1">
                <a:solidFill>
                  <a:srgbClr val="1447E6"/>
                </a:solidFill>
              </a:rPr>
              <a:t>CATEGORY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2D163-D4D8-4F57-A879-1235609D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050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Home 24.8M</a:t>
            </a:r>
          </a:p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Electronics 22.1M</a:t>
            </a:r>
          </a:p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Apparel 19.3M</a:t>
            </a:r>
          </a:p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Beauty 10.7M | Other 7.3M</a:t>
            </a:r>
          </a:p>
        </p:txBody>
      </p:sp>
    </p:spTree>
    <p:extLst>
      <p:ext uri="{BB962C8B-B14F-4D97-AF65-F5344CB8AC3E}">
        <p14:creationId xmlns:p14="http://schemas.microsoft.com/office/powerpoint/2010/main" val="304678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59233-7E7F-4F27-9CEC-58EECE67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689"/>
                </a:solidFill>
              </a:defRPr>
            </a:pPr>
            <a:r>
              <a:rPr sz="975" b="1">
                <a:solidFill>
                  <a:srgbClr val="009689"/>
                </a:solidFill>
              </a:rPr>
              <a:t>DAILY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53778-7610-431A-873E-68DD1727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The July 7-13 trend reaches 13.2M on the refresh cutoff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38009-6367-47D2-A4A2-5270973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Daily values total to the controlled close period reference.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D3A4A-3D02-4954-9AF0-7E00A285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Mosaic Retail Analytics | Fictional reference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6381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b3d75cfae9443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3ED26-A8BA-40E7-8FC5-008B4DE7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76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689"/>
                </a:solidFill>
              </a:defRPr>
            </a:pPr>
            <a:r>
              <a:rPr sz="2100" b="1">
                <a:solidFill>
                  <a:srgbClr val="009689"/>
                </a:solidFill>
              </a:rPr>
              <a:t>Plan 80.0M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2A3B5-D3BD-481F-B0A8-B0ABD80A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293D"/>
                </a:solidFill>
              </a:defRPr>
            </a:pPr>
            <a:r>
              <a:rPr sz="2100" b="1">
                <a:solidFill>
                  <a:srgbClr val="1D293D"/>
                </a:solidFill>
              </a:rPr>
              <a:t>Prior 78.6M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4E4EE-284A-4076-9045-0E097EBC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43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48E"/>
                </a:solidFill>
              </a:defRPr>
            </a:pPr>
            <a:r>
              <a:rPr sz="1425" b="0">
                <a:solidFill>
                  <a:srgbClr val="62748E"/>
                </a:solidFill>
              </a:rPr>
              <a:t>Refresh through</a:t>
            </a:r>
          </a:p>
          <a:p xmlns:a="http://schemas.openxmlformats.org/drawingml/2006/main">
            <a:pPr>
              <a:defRPr sz="1425" b="0">
                <a:solidFill>
                  <a:srgbClr val="62748E"/>
                </a:solidFill>
              </a:defRPr>
            </a:pPr>
            <a:r>
              <a:rPr sz="1425" b="0">
                <a:solidFill>
                  <a:srgbClr val="62748E"/>
                </a:solidFill>
              </a:rPr>
              <a:t>2026-07-13 23:59 JST</a:t>
            </a:r>
          </a:p>
        </p:txBody>
      </p:sp>
    </p:spTree>
    <p:extLst>
      <p:ext uri="{BB962C8B-B14F-4D97-AF65-F5344CB8AC3E}">
        <p14:creationId xmlns:p14="http://schemas.microsoft.com/office/powerpoint/2010/main" val="12259227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A22F5-EDF0-45AD-94F6-8BD3C53E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689"/>
                </a:solidFill>
              </a:defRPr>
            </a:pPr>
            <a:r>
              <a:rPr sz="975" b="1">
                <a:solidFill>
                  <a:srgbClr val="009689"/>
                </a:solidFill>
              </a:rPr>
              <a:t>OPERATING ROUTINE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A6E65-1E12-444E-8213-3B3F6BBB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Close, reconcile, review, then document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5731D-5967-4FF5-A8C1-39F12F57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The next reviewer should be able to reproduce the number without interpretation.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FF851-9D0C-4187-9468-F9F9556A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Mosaic Retail Analytics | Fictional 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D9953-63E6-4210-A4FF-28391DBF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9689"/>
                </a:solidFill>
              </a:defRPr>
            </a:pPr>
            <a:r>
              <a:rPr sz="2400" b="1">
                <a:solidFill>
                  <a:srgbClr val="00968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3C5B7-9414-4D33-BB52-20A51E8F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503DE-F308-407B-88FE-20DEED10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Confirm completed orders through 23:59 JST.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6E366-59C7-48DC-A8F7-1DDA1595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9689"/>
                </a:solidFill>
              </a:defRPr>
            </a:pPr>
            <a:r>
              <a:rPr sz="2400" b="1">
                <a:solidFill>
                  <a:srgbClr val="009689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A50CF-1F5A-41BC-9B77-36AF630B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Calculate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CCE9A-7C6C-4AFB-BA35-6C689752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Subtract recognized refunds from gross value.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78AD2-0CFD-4EA1-95ED-B1E83911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050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9689"/>
                </a:solidFill>
              </a:defRPr>
            </a:pPr>
            <a:r>
              <a:rPr sz="2400" b="1">
                <a:solidFill>
                  <a:srgbClr val="009689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B4FFB-BDF4-4F05-8A9A-37F71B2E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Reconcile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B9ED4-0F56-4978-B9F5-A671B8A4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Tie channel, region, category, plan, and prior.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1FC03-4CF7-4542-A898-E4E25447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050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9689"/>
                </a:solidFill>
              </a:defRPr>
            </a:pPr>
            <a:r>
              <a:rPr sz="2400" b="1">
                <a:solidFill>
                  <a:srgbClr val="009689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77DD0-3B7A-4DE1-8F96-A7A8F9B0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DE0EC-85DE-4507-9BB8-DAC0F31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Record exceptions by 06:00 JST.</a:t>
            </a:r>
          </a:p>
        </p:txBody>
      </p:sp>
    </p:spTree>
    <p:extLst>
      <p:ext uri="{BB962C8B-B14F-4D97-AF65-F5344CB8AC3E}">
        <p14:creationId xmlns:p14="http://schemas.microsoft.com/office/powerpoint/2010/main" val="964933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2026-08-22T22:52:52.8160000Z</dcterms:created>
  <dcterms:modified xsi:type="dcterms:W3CDTF">2026-08-22T22:52:52.8160000Z</dcterms:modified>
</coreProperties>
</file>