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f98d73fe2b493a" /><Relationship Type="http://schemas.openxmlformats.org/officeDocument/2006/relationships/extended-properties" Target="/docProps/app.xml" Id="R784f54d31b514a79" /><Relationship Type="http://schemas.openxmlformats.org/officeDocument/2006/relationships/officeDocument" Target="/ppt/presentation.xml" Id="Re42ac8ba84dc48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4fbeee86e74408"/>
  </p:sldMasterIdLst>
  <p:notesMasterIdLst>
    <p:notesMasterId xmlns:r="http://schemas.openxmlformats.org/officeDocument/2006/relationships" r:id="Rb8722721838644da"/>
  </p:notesMasterIdLst>
  <p:sldIdLst>
    <p:sldId xmlns:r="http://schemas.openxmlformats.org/officeDocument/2006/relationships" id="256" r:id="R12b2f481650b4264"/>
    <p:sldId xmlns:r="http://schemas.openxmlformats.org/officeDocument/2006/relationships" id="257" r:id="Rcb30623dbd0249ed"/>
    <p:sldId xmlns:r="http://schemas.openxmlformats.org/officeDocument/2006/relationships" id="258" r:id="R7f6673abc07e46d7"/>
    <p:sldId xmlns:r="http://schemas.openxmlformats.org/officeDocument/2006/relationships" id="259" r:id="R10896dcefe394809"/>
    <p:sldId xmlns:r="http://schemas.openxmlformats.org/officeDocument/2006/relationships" id="260" r:id="R4efd3e8f851c4e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b68e9e119b4ba6" /><Relationship Type="http://schemas.openxmlformats.org/officeDocument/2006/relationships/slideMaster" Target="/ppt/slideMasters/slideMaster1.xml" Id="Rdf4fbeee86e74408" /><Relationship Type="http://schemas.openxmlformats.org/officeDocument/2006/relationships/notesMaster" Target="/ppt/notesMasters/notesMaster1.xml" Id="Rb8722721838644da" /><Relationship Type="http://schemas.openxmlformats.org/officeDocument/2006/relationships/presProps" Target="/ppt/presProps.xml" Id="Rbea6e24d0af44edb" /><Relationship Type="http://schemas.openxmlformats.org/officeDocument/2006/relationships/tableStyles" Target="/ppt/tableStyles.xml" Id="R4003b38d16de4f50" /><Relationship Type="http://schemas.openxmlformats.org/officeDocument/2006/relationships/slide" Target="/ppt/slides/slide1.xml" Id="R12b2f481650b4264" /><Relationship Type="http://schemas.openxmlformats.org/officeDocument/2006/relationships/slide" Target="/ppt/slides/slide2.xml" Id="Rcb30623dbd0249ed" /><Relationship Type="http://schemas.openxmlformats.org/officeDocument/2006/relationships/slide" Target="/ppt/slides/slide3.xml" Id="R7f6673abc07e46d7" /><Relationship Type="http://schemas.openxmlformats.org/officeDocument/2006/relationships/slide" Target="/ppt/slides/slide4.xml" Id="R10896dcefe394809" /><Relationship Type="http://schemas.openxmlformats.org/officeDocument/2006/relationships/slide" Target="/ppt/slides/slide5.xml" Id="R4efd3e8f851c4e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ba1bd83a8149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8b9ddc4d114433" /><Relationship Type="http://schemas.openxmlformats.org/officeDocument/2006/relationships/notesMaster" Target="/ppt/notesMasters/notesMaster1.xml" Id="Rbd56bb06ed9843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61be4b79a64439" /><Relationship Type="http://schemas.openxmlformats.org/officeDocument/2006/relationships/notesMaster" Target="/ppt/notesMasters/notesMaster1.xml" Id="Rd5435ac7dded4a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cd6a98b3c94f99" /><Relationship Type="http://schemas.openxmlformats.org/officeDocument/2006/relationships/notesMaster" Target="/ppt/notesMasters/notesMaster1.xml" Id="Re2fee057d0d242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53f8498d5b42e2" /><Relationship Type="http://schemas.openxmlformats.org/officeDocument/2006/relationships/notesMaster" Target="/ppt/notesMasters/notesMaster1.xml" Id="R8d23e4871f3743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94f3ab808f4074" /><Relationship Type="http://schemas.openxmlformats.org/officeDocument/2006/relationships/notesMaster" Target="/ppt/notesMasters/notesMaster1.xml" Id="R4b3e09b17ef946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HelioDesk Customer Alpha Q3 checkpoint inputs. No external sources or customer records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HelioDesk Customer Alpha Q3 checkpoint inputs. No external sources or customer records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HelioDesk Customer Alpha Q3 checkpoint inputs. No external sources or customer records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HelioDesk Customer Alpha Q3 checkpoint inputs. No external sources or customer records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HelioDesk Customer Alpha Q3 checkpoint inputs. No external sources or customer records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4ea041dbc749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adca2fa52c409c" /><Relationship Type="http://schemas.openxmlformats.org/officeDocument/2006/relationships/slideLayout" Target="/ppt/slideLayouts/slideLayout1.xml" Id="Ra9ff281264464d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ff281264464d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9eb32bf1641cf" /><Relationship Type="http://schemas.openxmlformats.org/officeDocument/2006/relationships/image" Target="/ppt/media/image.png" Id="Rf5a73f9cead44cf9" /><Relationship Type="http://schemas.openxmlformats.org/officeDocument/2006/relationships/notesSlide" Target="/ppt/notesSlides/notesSlide1.xml" Id="R41078bf6f99c4c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c8245588b4536" /><Relationship Type="http://schemas.openxmlformats.org/officeDocument/2006/relationships/notesSlide" Target="/ppt/notesSlides/notesSlide2.xml" Id="Rba829865a05443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f019726754df4" /><Relationship Type="http://schemas.openxmlformats.org/officeDocument/2006/relationships/image" Target="/ppt/media/image2.png" Id="R89ca9a710fcd4bdb" /><Relationship Type="http://schemas.openxmlformats.org/officeDocument/2006/relationships/chart" Target="/ppt/slides/charts/chart1.xml" Id="R2a321ec542ea486b" /><Relationship Type="http://schemas.openxmlformats.org/officeDocument/2006/relationships/notesSlide" Target="/ppt/notesSlides/notesSlide3.xml" Id="R1919a0d8b37b4b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02bcb7eed4810" /><Relationship Type="http://schemas.openxmlformats.org/officeDocument/2006/relationships/notesSlide" Target="/ppt/notesSlides/notesSlide4.xml" Id="R045e6894edb74b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0f976227b4f98" /><Relationship Type="http://schemas.openxmlformats.org/officeDocument/2006/relationships/notesSlide" Target="/ppt/notesSlides/notesSlide5.xml" Id="Rfb11cc49d504438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Tickets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</c:strLit>
          </c:cat>
          <c:val>
            <c:numLit>
              <c:formatCode>General</c:formatCode>
              <c:ptCount val="4"/>
              <c:pt idx="0">
                <c:v>42</c:v>
              </c:pt>
              <c:pt idx="1">
                <c:v>38</c:v>
              </c:pt>
              <c:pt idx="2">
                <c:v>31</c:v>
              </c:pt>
              <c:pt idx="3">
                <c:v>27</c:v>
              </c:pt>
            </c:numLit>
          </c:val>
        </c:ser>
        <c:ser>
          <c:idx val="1"/>
          <c:order val="1"/>
          <c:tx>
            <c:v>Escalations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Apr</c:v>
              </c:pt>
              <c:pt idx="1">
                <c:v>May</c:v>
              </c:pt>
              <c:pt idx="2">
                <c:v>Jun</c:v>
              </c:pt>
              <c:pt idx="3">
                <c:v>Jul</c:v>
              </c:pt>
            </c:strLit>
          </c:cat>
          <c:val>
            <c:numLit>
              <c:formatCode>General</c:formatCode>
              <c:ptCount val="4"/>
              <c:pt idx="0">
                <c:v>8</c:v>
              </c:pt>
              <c:pt idx="1">
                <c:v>6</c:v>
              </c:pt>
              <c:pt idx="2">
                <c:v>4</c:v>
              </c:pt>
              <c:pt idx="3">
                <c:v>3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8A8D2-2F7C-46DF-8C0F-B5CDEF47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43A"/>
                </a:solidFill>
              </a:defRPr>
            </a:pPr>
            <a:r>
              <a:rPr sz="3300" b="1">
                <a:solidFill>
                  <a:srgbClr val="10243A"/>
                </a:solidFill>
              </a:rPr>
              <a:t>HelioDesk × Customer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7315F-AD89-4522-86AB-8D0B954F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7086"/>
                </a:solidFill>
              </a:defRPr>
            </a:pPr>
            <a:r>
              <a:rPr sz="1800" b="0">
                <a:solidFill>
                  <a:srgbClr val="527086"/>
                </a:solidFill>
              </a:rPr>
              <a:t>Q3 checkpoint  |  2026-08-04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F522A-3E8B-4A84-A771-16BB0CA3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523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A"/>
                </a:solidFill>
              </a:defRPr>
            </a:pPr>
            <a:r>
              <a:rPr sz="2400" b="1">
                <a:solidFill>
                  <a:srgbClr val="10243A"/>
                </a:solidFill>
              </a:rPr>
              <a:t>Healthy adoption base.</a:t>
            </a:r>
          </a:p>
          <a:p xmlns:a="http://schemas.openxmlformats.org/drawingml/2006/main">
            <a:pPr algn="l">
              <a:defRPr sz="2400" b="1">
                <a:solidFill>
                  <a:srgbClr val="10243A"/>
                </a:solidFill>
              </a:defRPr>
            </a:pPr>
            <a:r>
              <a:rPr sz="2400" b="1">
                <a:solidFill>
                  <a:srgbClr val="10243A"/>
                </a:solidFill>
              </a:rPr>
              <a:t>Focused queue hygiene now.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73f9cead44cf9"/>
          <a:srcRect xmlns:a="http://schemas.openxmlformats.org/drawingml/2006/main" l="6327" t="0" r="63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2428875"/>
            <a:ext cx="5543550" cy="3571875"/>
          </a:xfrm>
          <a:prstGeom xmlns:a="http://schemas.openxmlformats.org/drawingml/2006/main" prst="roundRect">
            <a:avLst>
              <a:gd name="adj" fmla="val 42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39D73-1F40-49F2-8A9F-71395949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7086"/>
                </a:solidFill>
              </a:defRPr>
            </a:pPr>
            <a:r>
              <a:rPr sz="1050" b="0">
                <a:solidFill>
                  <a:srgbClr val="527086"/>
                </a:solidFill>
              </a:rPr>
              <a:t>SYNTHETIC INTERNAL QBR</a:t>
            </a:r>
          </a:p>
        </p:txBody>
      </p:sp>
    </p:spTree>
    <p:extLst>
      <p:ext uri="{BB962C8B-B14F-4D97-AF65-F5344CB8AC3E}">
        <p14:creationId xmlns:p14="http://schemas.microsoft.com/office/powerpoint/2010/main" val="19797407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F16014-8744-4183-9B8A-CE732136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A"/>
                </a:solidFill>
              </a:defRPr>
            </a:pPr>
            <a:r>
              <a:rPr sz="2850" b="1">
                <a:solidFill>
                  <a:srgbClr val="10243A"/>
                </a:solidFill>
              </a:rPr>
              <a:t>The account is healthy, with one queue issue to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CB7C9-5F0A-4F06-B359-C7C6A45F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A585A-DB52-4FAA-89AA-0B18F649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82%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C2B55-28DC-4E93-9F15-197A2F41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288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6"/>
                </a:solidFill>
              </a:defRPr>
            </a:pPr>
            <a:r>
              <a:rPr sz="1275" b="0">
                <a:solidFill>
                  <a:srgbClr val="527086"/>
                </a:solidFill>
              </a:rPr>
              <a:t>Adoption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8D382-24F0-4DEC-BF42-D3D24FFE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42875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6CB70-7357-472A-8EB4-8A7DBC82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668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81108-64F6-4408-8136-5D9486D0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288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6"/>
                </a:solidFill>
              </a:defRPr>
            </a:pPr>
            <a:r>
              <a:rPr sz="1275" b="0">
                <a:solidFill>
                  <a:srgbClr val="527086"/>
                </a:solidFill>
              </a:rPr>
              <a:t>Active admins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9A630-DAF4-473B-B215-988FAD31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2875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1564E-1C58-4A39-81E1-1A1E4F4D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668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4.6 /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88EBD-02DD-47A3-9827-CF65D39C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6"/>
                </a:solidFill>
              </a:defRPr>
            </a:pPr>
            <a:r>
              <a:rPr sz="1275" b="0">
                <a:solidFill>
                  <a:srgbClr val="527086"/>
                </a:solidFill>
              </a:rPr>
              <a:t>CSAT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08A62-DFF7-4BDA-9201-1F056284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875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96539-A6D3-41A2-893D-37B53DAE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668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1.8h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62B61-5A22-4A86-8797-A86D3E54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288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6"/>
                </a:solidFill>
              </a:defRPr>
            </a:pPr>
            <a:r>
              <a:rPr sz="1275" b="0">
                <a:solidFill>
                  <a:srgbClr val="527086"/>
                </a:solidFill>
              </a:rPr>
              <a:t>Median first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90B1F-BC0C-4AFA-95DF-B406108A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42875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B010B-B215-4E52-8D87-99248A73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668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94%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39BBC-2A5E-4757-BAAC-011BA43E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288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7086"/>
                </a:solidFill>
              </a:defRPr>
            </a:pPr>
            <a:r>
              <a:rPr sz="1275" b="0">
                <a:solidFill>
                  <a:srgbClr val="527086"/>
                </a:solidFill>
              </a:rPr>
              <a:t>SLA attainment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FFC2F-CFD1-4911-8CA9-13E81659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243A"/>
                </a:solidFill>
              </a:defRPr>
            </a:pPr>
            <a:r>
              <a:rPr sz="1875" b="0">
                <a:solidFill>
                  <a:srgbClr val="10243A"/>
                </a:solidFill>
              </a:rPr>
              <a:t>Four-hour first-response target met; keep the operating rhythm while resolving the breach.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09805-71BC-42BF-8BCB-F28B417F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A"/>
                </a:solidFill>
              </a:defRPr>
            </a:pPr>
            <a:r>
              <a:rPr sz="1875" b="1">
                <a:solidFill>
                  <a:srgbClr val="10243A"/>
                </a:solidFill>
              </a:rPr>
              <a:t>Queue: 17 unresolved overall  •  Alpha: 9  •  5 within SLA  •  3 at risk  •  1 breached</a:t>
            </a:r>
          </a:p>
        </p:txBody>
      </p:sp>
    </p:spTree>
    <p:extLst>
      <p:ext uri="{BB962C8B-B14F-4D97-AF65-F5344CB8AC3E}">
        <p14:creationId xmlns:p14="http://schemas.microsoft.com/office/powerpoint/2010/main" val="1183682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AB509-3710-45C8-AFB5-F09DFFD1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A"/>
                </a:solidFill>
              </a:defRPr>
            </a:pPr>
            <a:r>
              <a:rPr sz="2850" b="1">
                <a:solidFill>
                  <a:srgbClr val="10243A"/>
                </a:solidFill>
              </a:rPr>
              <a:t>Support volume and escalations continue to decline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a9a710fcd4bdb"/>
          <a:srcRect xmlns:a="http://schemas.openxmlformats.org/drawingml/2006/main" l="16472" t="0" r="164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190625"/>
            <a:ext cx="53340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286500" y="1524000"/>
          <a:ext xmlns:a="http://schemas.openxmlformats.org/drawingml/2006/main" cx="5048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321ec542ea486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5DE2E-C0F4-44C4-A430-61DFC904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7212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A"/>
                </a:solidFill>
              </a:defRPr>
            </a:pPr>
            <a:r>
              <a:rPr sz="1800" b="1">
                <a:solidFill>
                  <a:srgbClr val="10243A"/>
                </a:solidFill>
              </a:rPr>
              <a:t>Tickets: 42 → 27</a:t>
            </a:r>
          </a:p>
          <a:p xmlns:a="http://schemas.openxmlformats.org/drawingml/2006/main">
            <a:pPr algn="l">
              <a:defRPr sz="1800" b="1">
                <a:solidFill>
                  <a:srgbClr val="10243A"/>
                </a:solidFill>
              </a:defRPr>
            </a:pPr>
            <a:r>
              <a:rPr sz="1800" b="1">
                <a:solidFill>
                  <a:srgbClr val="10243A"/>
                </a:solidFill>
              </a:rPr>
              <a:t>Escalations: 8 → 3</a:t>
            </a:r>
          </a:p>
        </p:txBody>
      </p:sp>
    </p:spTree>
    <p:extLst>
      <p:ext uri="{BB962C8B-B14F-4D97-AF65-F5344CB8AC3E}">
        <p14:creationId xmlns:p14="http://schemas.microsoft.com/office/powerpoint/2010/main" val="1002518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887A0-7D3D-4CC1-8B82-B3D08962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A"/>
                </a:solidFill>
              </a:defRPr>
            </a:pPr>
            <a:r>
              <a:rPr sz="2850" b="1">
                <a:solidFill>
                  <a:srgbClr val="10243A"/>
                </a:solidFill>
              </a:rPr>
              <a:t>Close the breach; reinforce adoption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5F085-F321-411E-A226-3BA88BED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95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1A845-37CC-4350-BE7C-BBB5DD6B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37B16"/>
                </a:solidFill>
              </a:defRPr>
            </a:pPr>
            <a:r>
              <a:rPr sz="2025" b="1">
                <a:solidFill>
                  <a:srgbClr val="C37B16"/>
                </a:solidFill>
              </a:rPr>
              <a:t>Aug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366DD-3DC2-49C8-A6B3-FB9E9486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33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A"/>
                </a:solidFill>
              </a:defRPr>
            </a:pPr>
            <a:r>
              <a:rPr sz="1875" b="1">
                <a:solidFill>
                  <a:srgbClr val="10243A"/>
                </a:solidFill>
              </a:rPr>
              <a:t>Resolve HD-260804-2718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22E56-F49C-497A-8A11-43F2B707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7086"/>
                </a:solidFill>
              </a:defRPr>
            </a:pPr>
            <a:r>
              <a:rPr sz="1350" b="0">
                <a:solidFill>
                  <a:srgbClr val="527086"/>
                </a:solidFill>
              </a:rPr>
              <a:t>Close the sole breached case; share prevention note.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736AD-6F27-481E-B1F5-8A779569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1095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CAF57-DFD5-4351-B14E-99C49A48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Aug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A3126-E7DF-40A9-AAA1-012F6227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A"/>
                </a:solidFill>
              </a:defRPr>
            </a:pPr>
            <a:r>
              <a:rPr sz="1875" b="1">
                <a:solidFill>
                  <a:srgbClr val="10243A"/>
                </a:solidFill>
              </a:rPr>
              <a:t>Review administrator workflows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8E3DF-F259-46C0-8E62-88B4B31B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7086"/>
                </a:solidFill>
              </a:defRPr>
            </a:pPr>
            <a:r>
              <a:rPr sz="1350" b="0">
                <a:solidFill>
                  <a:srgbClr val="527086"/>
                </a:solidFill>
              </a:rPr>
              <a:t>Assign owners and next updates for three at-risk cases.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AB1C3-C6E2-453F-ABD0-7CD2CC30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095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6AE2C-034E-4825-BB98-5DA39AD9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Sep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A92D6-9284-40D4-A707-E73846EF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91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A"/>
                </a:solidFill>
              </a:defRPr>
            </a:pPr>
            <a:r>
              <a:rPr sz="1875" b="1">
                <a:solidFill>
                  <a:srgbClr val="10243A"/>
                </a:solidFill>
              </a:rPr>
              <a:t>Publish adoption reinforcement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931EC-CCE7-4663-9AF8-9E42A766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7086"/>
                </a:solidFill>
              </a:defRPr>
            </a:pPr>
            <a:r>
              <a:rPr sz="1350" b="0">
                <a:solidFill>
                  <a:srgbClr val="527086"/>
                </a:solidFill>
              </a:rPr>
              <a:t>Maintain ≥82% adoption while protecting the four-hour target.</a:t>
            </a:r>
          </a:p>
        </p:txBody>
      </p:sp>
    </p:spTree>
    <p:extLst>
      <p:ext uri="{BB962C8B-B14F-4D97-AF65-F5344CB8AC3E}">
        <p14:creationId xmlns:p14="http://schemas.microsoft.com/office/powerpoint/2010/main" val="337142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C7E0D-DBF6-40A2-ADED-5B45C735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A"/>
                </a:solidFill>
              </a:defRPr>
            </a:pPr>
            <a:r>
              <a:rPr sz="2850" b="1">
                <a:solidFill>
                  <a:srgbClr val="10243A"/>
                </a:solidFill>
              </a:rPr>
              <a:t>Decision for this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76139-A183-4C8C-BD96-7C68ED93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A"/>
                </a:solidFill>
              </a:defRPr>
            </a:pPr>
            <a:r>
              <a:rPr sz="2400" b="1">
                <a:solidFill>
                  <a:srgbClr val="10243A"/>
                </a:solidFill>
              </a:rPr>
              <a:t>Confirm the breach-resolution path and the three dated commitments.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10584-0944-4AE8-A528-22B2B9D6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1076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E1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E5C2B-813F-489B-82AA-CE992525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A"/>
                </a:solidFill>
              </a:defRPr>
            </a:pPr>
            <a:r>
              <a:rPr sz="1875" b="1">
                <a:solidFill>
                  <a:srgbClr val="10243A"/>
                </a:solidFill>
              </a:rPr>
              <a:t>Success at the next check-in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1F092-EBDA-4E1D-A169-EF6CC645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43A"/>
                </a:solidFill>
              </a:defRPr>
            </a:pPr>
            <a:r>
              <a:rPr sz="1725" b="0">
                <a:solidFill>
                  <a:srgbClr val="10243A"/>
                </a:solidFill>
              </a:rPr>
              <a:t>• HD-260804-2718 resolved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</a:defRPr>
            </a:pPr>
            <a:r>
              <a:rPr sz="1725" b="0">
                <a:solidFill>
                  <a:srgbClr val="10243A"/>
                </a:solidFill>
              </a:rPr>
              <a:t>• At-risk cases have named next steps</a:t>
            </a:r>
          </a:p>
          <a:p xmlns:a="http://schemas.openxmlformats.org/drawingml/2006/main">
            <a:pPr algn="l">
              <a:defRPr sz="1725" b="0">
                <a:solidFill>
                  <a:srgbClr val="10243A"/>
                </a:solidFill>
              </a:defRPr>
            </a:pPr>
            <a:r>
              <a:rPr sz="1725" b="0">
                <a:solidFill>
                  <a:srgbClr val="10243A"/>
                </a:solidFill>
              </a:rPr>
              <a:t>• Adoption remains at or above 82%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7531B-B950-40FD-B138-4EFC129B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7086"/>
                </a:solidFill>
              </a:defRPr>
            </a:pPr>
            <a:r>
              <a:rPr sz="1050" b="0">
                <a:solidFill>
                  <a:srgbClr val="527086"/>
                </a:solidFill>
              </a:rPr>
              <a:t>Synthetic internal planning example</a:t>
            </a:r>
          </a:p>
        </p:txBody>
      </p:sp>
    </p:spTree>
    <p:extLst>
      <p:ext uri="{BB962C8B-B14F-4D97-AF65-F5344CB8AC3E}">
        <p14:creationId xmlns:p14="http://schemas.microsoft.com/office/powerpoint/2010/main" val="1661760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2026-08-23T17:16:28.6100000Z</dcterms:created>
  <dcterms:modified xsi:type="dcterms:W3CDTF">2026-08-23T17:16:28.6100000Z</dcterms:modified>
</coreProperties>
</file>