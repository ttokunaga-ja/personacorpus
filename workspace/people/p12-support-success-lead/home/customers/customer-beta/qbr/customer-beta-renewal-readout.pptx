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df682a58e49ab" /><Relationship Type="http://schemas.openxmlformats.org/officeDocument/2006/relationships/extended-properties" Target="/docProps/app.xml" Id="R839da134e4794909" /><Relationship Type="http://schemas.openxmlformats.org/officeDocument/2006/relationships/officeDocument" Target="/ppt/presentation.xml" Id="Rf9103f4f10e64e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13026124264fb1"/>
  </p:sldMasterIdLst>
  <p:notesMasterIdLst>
    <p:notesMasterId xmlns:r="http://schemas.openxmlformats.org/officeDocument/2006/relationships" r:id="Rada8400d8be14920"/>
  </p:notesMasterIdLst>
  <p:sldIdLst>
    <p:sldId xmlns:r="http://schemas.openxmlformats.org/officeDocument/2006/relationships" id="256" r:id="R087119c852964ca5"/>
    <p:sldId xmlns:r="http://schemas.openxmlformats.org/officeDocument/2006/relationships" id="257" r:id="Rccce5c60fc794cb4"/>
    <p:sldId xmlns:r="http://schemas.openxmlformats.org/officeDocument/2006/relationships" id="258" r:id="R096a85f023154b10"/>
    <p:sldId xmlns:r="http://schemas.openxmlformats.org/officeDocument/2006/relationships" id="259" r:id="R32c8aa90dbbb4462"/>
    <p:sldId xmlns:r="http://schemas.openxmlformats.org/officeDocument/2006/relationships" id="260" r:id="R96299dcee67040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a8a1dd3391413c" /><Relationship Type="http://schemas.openxmlformats.org/officeDocument/2006/relationships/slideMaster" Target="/ppt/slideMasters/slideMaster1.xml" Id="R3d13026124264fb1" /><Relationship Type="http://schemas.openxmlformats.org/officeDocument/2006/relationships/notesMaster" Target="/ppt/notesMasters/notesMaster1.xml" Id="Rada8400d8be14920" /><Relationship Type="http://schemas.openxmlformats.org/officeDocument/2006/relationships/presProps" Target="/ppt/presProps.xml" Id="R3744d8a1f78947a2" /><Relationship Type="http://schemas.openxmlformats.org/officeDocument/2006/relationships/tableStyles" Target="/ppt/tableStyles.xml" Id="R733f319ba76a423b" /><Relationship Type="http://schemas.openxmlformats.org/officeDocument/2006/relationships/slide" Target="/ppt/slides/slide1.xml" Id="R087119c852964ca5" /><Relationship Type="http://schemas.openxmlformats.org/officeDocument/2006/relationships/slide" Target="/ppt/slides/slide2.xml" Id="Rccce5c60fc794cb4" /><Relationship Type="http://schemas.openxmlformats.org/officeDocument/2006/relationships/slide" Target="/ppt/slides/slide3.xml" Id="R096a85f023154b10" /><Relationship Type="http://schemas.openxmlformats.org/officeDocument/2006/relationships/slide" Target="/ppt/slides/slide4.xml" Id="R32c8aa90dbbb4462" /><Relationship Type="http://schemas.openxmlformats.org/officeDocument/2006/relationships/slide" Target="/ppt/slides/slide5.xml" Id="R96299dcee670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7a54fe005f48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3695c75e694fb2" /><Relationship Type="http://schemas.openxmlformats.org/officeDocument/2006/relationships/notesMaster" Target="/ppt/notesMasters/notesMaster1.xml" Id="R63dafa3b20634c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614f7dccbb482e" /><Relationship Type="http://schemas.openxmlformats.org/officeDocument/2006/relationships/notesMaster" Target="/ppt/notesMasters/notesMaster1.xml" Id="R0ed8ea7b27c1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9b0e10fa34062" /><Relationship Type="http://schemas.openxmlformats.org/officeDocument/2006/relationships/notesMaster" Target="/ppt/notesMasters/notesMaster1.xml" Id="R1b89cccddfdb4a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942aad7fef4878" /><Relationship Type="http://schemas.openxmlformats.org/officeDocument/2006/relationships/notesMaster" Target="/ppt/notesMasters/notesMaster1.xml" Id="Ra66a6722aa284a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26bddff7c43d1" /><Relationship Type="http://schemas.openxmlformats.org/officeDocument/2006/relationships/notesMaster" Target="/ppt/notesMasters/notesMaster1.xml" Id="R6ab77d65aafd46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2c6d98f864f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13e25fb4ea4548" /><Relationship Type="http://schemas.openxmlformats.org/officeDocument/2006/relationships/slideLayout" Target="/ppt/slideLayouts/slideLayout1.xml" Id="R096eded0e68c4f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eded0e68c4f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e99aa91074969" /><Relationship Type="http://schemas.openxmlformats.org/officeDocument/2006/relationships/image" Target="/ppt/media/image.png" Id="Rb9c6213848754fc4" /><Relationship Type="http://schemas.openxmlformats.org/officeDocument/2006/relationships/notesSlide" Target="/ppt/notesSlides/notesSlide1.xml" Id="R4ba94d93585b4c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08f249ad94211" /><Relationship Type="http://schemas.openxmlformats.org/officeDocument/2006/relationships/notesSlide" Target="/ppt/notesSlides/notesSlide2.xml" Id="Ra93f6363c8e4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56e5a21a94766" /><Relationship Type="http://schemas.openxmlformats.org/officeDocument/2006/relationships/chart" Target="/ppt/slides/charts/chart1.xml" Id="R326d77d2a2eb44b5" /><Relationship Type="http://schemas.openxmlformats.org/officeDocument/2006/relationships/notesSlide" Target="/ppt/notesSlides/notesSlide3.xml" Id="R0e41cf945ed7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49b6f12140e9" /><Relationship Type="http://schemas.openxmlformats.org/officeDocument/2006/relationships/image" Target="/ppt/media/image2.png" Id="Ra5caa05e301943e9" /><Relationship Type="http://schemas.openxmlformats.org/officeDocument/2006/relationships/notesSlide" Target="/ppt/notesSlides/notesSlide4.xml" Id="Rac84e413caef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0e11dda9a4815" /><Relationship Type="http://schemas.openxmlformats.org/officeDocument/2006/relationships/notesSlide" Target="/ppt/notesSlides/notesSlide5.xml" Id="R65e6f457415e4d0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Tickets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4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</c:strLit>
          </c:cat>
          <c:val>
            <c:numLit>
              <c:formatCode>General</c:formatCode>
              <c:ptCount val="4"/>
              <c:pt idx="0">
                <c:v>26</c:v>
              </c:pt>
              <c:pt idx="1">
                <c:v>29</c:v>
              </c:pt>
              <c:pt idx="2">
                <c:v>24</c:v>
              </c:pt>
              <c:pt idx="3">
                <c:v>21</c:v>
              </c:pt>
            </c:numLit>
          </c:val>
        </c:ser>
        <c:ser>
          <c:idx val="1"/>
          <c:order val="1"/>
          <c:tx>
            <c:v>Escalations</c:v>
          </c:tx>
          <c:spPr>
            <a:solidFill xmlns:a="http://schemas.openxmlformats.org/drawingml/2006/main">
              <a:srgbClr val="F2AA3B"/>
            </a:solidFill>
          </c:spPr>
          <c:marker>
            <c:symbol val="none"/>
          </c:marker>
          <c:cat>
            <c:strLit>
              <c:ptCount val="4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4</c:v>
              </c:pt>
              <c:pt idx="2">
                <c:v>3</c:v>
              </c:pt>
              <c:pt idx="3">
                <c:v>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6A3F2-A62D-4282-9AA9-863BC14B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Customer Beta renewal readout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96C3F-A94C-49A8-B6C7-6F356CF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rPr>
              <a:t>A focused checkpoint on support recovery, adoption momentum, and the next three renewal actions.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6213848754fc4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81000"/>
            <a:ext cx="5334000" cy="5334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7B7D2-3DD5-465A-87E8-385DD9F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HelioDesk • 2026-08-04 • Synthetic scenario</a:t>
            </a:r>
          </a:p>
        </p:txBody>
      </p:sp>
    </p:spTree>
    <p:extLst>
      <p:ext uri="{BB962C8B-B14F-4D97-AF65-F5344CB8AC3E}">
        <p14:creationId xmlns:p14="http://schemas.microsoft.com/office/powerpoint/2010/main" val="1522245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B9DD2-4BD6-4411-A12B-D7D41E42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account is stable, with one breach recovery path to protect renewal confidence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2CCA6-0AC5-43E7-8EAC-4984BA6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Customer Beta QBR • 2026-08-04 •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DF47D-AB38-4444-9AC3-91B9B54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Synthetic planning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0841C-1A64-40C0-94B0-828679AE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F5F11-A16F-4BFD-A4D8-89BF79E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Beta unresolved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3 within SLA • 1 at risk • 1 breached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E813D-C68B-4809-B81B-474BC4EE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C3203-A16F-4A6B-A4D2-BE1B8907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28 active admins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890BF-6C12-4C11-99A2-B2A966C1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CD386-B905-45DF-BD42-98257B8A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SLA attainment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2.3h median first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63C16-0B7D-4F44-8CCF-422B811C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9B5B00"/>
                </a:solidFill>
                <a:latin typeface="Helvetica Neue"/>
                <a:ea typeface="Helvetica Neue"/>
                <a:cs typeface="Helvetica Neue"/>
              </a:rPr>
              <a:t>Breach recovery: HD-260804-1934 is pending customer. Close the breached case before Aug 12.</a:t>
            </a:r>
          </a:p>
        </p:txBody>
      </p:sp>
    </p:spTree>
    <p:extLst>
      <p:ext uri="{BB962C8B-B14F-4D97-AF65-F5344CB8AC3E}">
        <p14:creationId xmlns:p14="http://schemas.microsoft.com/office/powerpoint/2010/main" val="1013588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0751B-C29D-466F-908A-C65FA2C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Support demand and escalations are trending 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212AB-9459-4699-925C-64613A0C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Customer Beta QBR • 2026-08-04 •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928AC-9EC0-444A-886B-F13F4D7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Synthetic planning scenario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6667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6d77d2a2eb44b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1E8F6-81CF-4D32-B63D-0B1DF4F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What this means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BB63F-FC2D-435B-A1AF-ADEE6631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8600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rPr>
              <a:t>Ticket volume fell from 29 in May to 21 in July. Escalations declined every month after April.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CF00-21C8-4A5C-A359-F3E5F06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Maintain the 4-hour SLA and use the case recovery to demonstrate reliable operating cadence.</a:t>
            </a:r>
          </a:p>
        </p:txBody>
      </p:sp>
    </p:spTree>
    <p:extLst>
      <p:ext uri="{BB962C8B-B14F-4D97-AF65-F5344CB8AC3E}">
        <p14:creationId xmlns:p14="http://schemas.microsoft.com/office/powerpoint/2010/main" val="268174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24A0A-949D-45A3-B04C-B7E1DD4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Three dates turn today’s checkpoint into a renewal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290FF-AE3A-4C82-A798-AAC35A6D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Customer Beta QBR • 2026-08-04 •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6D2A2-8CD1-4F21-88E8-2A1BE18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Synthetic planning scenario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aa05e301943e9"/>
          <a:srcRect xmlns:a="http://schemas.openxmlformats.org/drawingml/2006/main" l="0" t="20386" r="0" b="20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381125"/>
            <a:ext cx="11144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049D7-3144-43F2-A999-58E7258D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Aug 12 — breach recovery / close the breached case   •   Aug 25 — adoption review   •   Sep 8 — renewal readout</a:t>
            </a:r>
          </a:p>
        </p:txBody>
      </p:sp>
    </p:spTree>
    <p:extLst>
      <p:ext uri="{BB962C8B-B14F-4D97-AF65-F5344CB8AC3E}">
        <p14:creationId xmlns:p14="http://schemas.microsoft.com/office/powerpoint/2010/main" val="1975875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4810-5456-435C-B408-5683221D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Decision request: keep breach recovery visible and arrive Sep 8 with proof of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77546-FDB1-4B27-BC2C-6D8D4A21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Customer Beta QBR • 2026-08-04 •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92467-9604-48C9-BE6F-CEEF3ED4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817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Synthetic planning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415B-807C-43A5-A62F-3117A912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Next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23093-B5A3-4F0E-8631-EBB7CAA9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rPr>
              <a:t>1. Recover and close breached case HD-260804-1934</a:t>
            </a:r>
          </a:p>
          <a:p xmlns:a="http://schemas.openxmlformats.org/drawingml/2006/main">
            <a:pPr algn="l">
              <a:def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rPr>
              <a:t>2. Confirm the next admin adoption cohort</a:t>
            </a:r>
          </a:p>
          <a:p xmlns:a="http://schemas.openxmlformats.org/drawingml/2006/main">
            <a:pPr algn="l">
              <a:def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rPr>
              <a:t>3. Package the support and adoption evidence for renewal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B295C-68B6-4848-9AF1-EB9A825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Success 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63235-7E2B-4648-B660-ECFC266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14D65"/>
                </a:solidFill>
                <a:latin typeface="Helvetica Neue"/>
                <a:ea typeface="Helvetica Neue"/>
                <a:cs typeface="Helvetica Neue"/>
              </a:rPr>
              <a:t>The Sep 8 readout shows breached-case closure, sustained 4-hour-SLA performance, and credible adoption momentum.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2E6BF-A6C6-4138-A24F-7C2C0BC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575"/>
                </a:solidFill>
                <a:latin typeface="Helvetica Neue"/>
                <a:ea typeface="Helvetica Neue"/>
                <a:cs typeface="Helvetica Neue"/>
              </a:rPr>
              <a:t>[Sources] Synthetic HelioDesk Customer Beta QBR scenario supplied for this deliverable; no external claims or assets.</a:t>
            </a:r>
          </a:p>
        </p:txBody>
      </p:sp>
    </p:spTree>
    <p:extLst>
      <p:ext uri="{BB962C8B-B14F-4D97-AF65-F5344CB8AC3E}">
        <p14:creationId xmlns:p14="http://schemas.microsoft.com/office/powerpoint/2010/main" val="851790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2026-08-23T17:15:16.7700000Z</dcterms:created>
  <dcterms:modified xsi:type="dcterms:W3CDTF">2026-08-23T17:15:16.7700000Z</dcterms:modified>
</coreProperties>
</file>