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72986281df488a" /><Relationship Type="http://schemas.openxmlformats.org/officeDocument/2006/relationships/extended-properties" Target="/docProps/app.xml" Id="R1815a79a30d3422f" /><Relationship Type="http://schemas.openxmlformats.org/officeDocument/2006/relationships/officeDocument" Target="/ppt/presentation.xml" Id="R6e3b6834a61f40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5abb545b7446fc"/>
  </p:sldMasterIdLst>
  <p:notesMasterIdLst>
    <p:notesMasterId xmlns:r="http://schemas.openxmlformats.org/officeDocument/2006/relationships" r:id="Ra9f7e15338dc48de"/>
  </p:notesMasterIdLst>
  <p:sldIdLst>
    <p:sldId xmlns:r="http://schemas.openxmlformats.org/officeDocument/2006/relationships" id="256" r:id="Rc047204b80254af1"/>
    <p:sldId xmlns:r="http://schemas.openxmlformats.org/officeDocument/2006/relationships" id="257" r:id="Re362ca241c834865"/>
    <p:sldId xmlns:r="http://schemas.openxmlformats.org/officeDocument/2006/relationships" id="258" r:id="Ra7d605fb7ff1423d"/>
    <p:sldId xmlns:r="http://schemas.openxmlformats.org/officeDocument/2006/relationships" id="259" r:id="Rd2fd9b63422043c2"/>
    <p:sldId xmlns:r="http://schemas.openxmlformats.org/officeDocument/2006/relationships" id="260" r:id="Rf0dde5cce1b545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7a6506ee504c96" /><Relationship Type="http://schemas.openxmlformats.org/officeDocument/2006/relationships/slideMaster" Target="/ppt/slideMasters/slideMaster1.xml" Id="R1d5abb545b7446fc" /><Relationship Type="http://schemas.openxmlformats.org/officeDocument/2006/relationships/notesMaster" Target="/ppt/notesMasters/notesMaster1.xml" Id="Ra9f7e15338dc48de" /><Relationship Type="http://schemas.openxmlformats.org/officeDocument/2006/relationships/presProps" Target="/ppt/presProps.xml" Id="R27b1c77cae1c4c60" /><Relationship Type="http://schemas.openxmlformats.org/officeDocument/2006/relationships/tableStyles" Target="/ppt/tableStyles.xml" Id="R3f9451a5b3bb4084" /><Relationship Type="http://schemas.openxmlformats.org/officeDocument/2006/relationships/slide" Target="/ppt/slides/slide1.xml" Id="Rc047204b80254af1" /><Relationship Type="http://schemas.openxmlformats.org/officeDocument/2006/relationships/slide" Target="/ppt/slides/slide2.xml" Id="Re362ca241c834865" /><Relationship Type="http://schemas.openxmlformats.org/officeDocument/2006/relationships/slide" Target="/ppt/slides/slide3.xml" Id="Ra7d605fb7ff1423d" /><Relationship Type="http://schemas.openxmlformats.org/officeDocument/2006/relationships/slide" Target="/ppt/slides/slide4.xml" Id="Rd2fd9b63422043c2" /><Relationship Type="http://schemas.openxmlformats.org/officeDocument/2006/relationships/slide" Target="/ppt/slides/slide5.xml" Id="Rf0dde5cce1b545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edaeb3d2ea4b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6cd7c4b11a4b7b" /><Relationship Type="http://schemas.openxmlformats.org/officeDocument/2006/relationships/notesMaster" Target="/ppt/notesMasters/notesMaster1.xml" Id="Rf4b2d5224d4f43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00d5a1ec7046ce" /><Relationship Type="http://schemas.openxmlformats.org/officeDocument/2006/relationships/notesMaster" Target="/ppt/notesMasters/notesMaster1.xml" Id="R81927eba136247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028355b55143f5" /><Relationship Type="http://schemas.openxmlformats.org/officeDocument/2006/relationships/notesMaster" Target="/ppt/notesMasters/notesMaster1.xml" Id="R702c4c5c5b8749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b15fa558f24004" /><Relationship Type="http://schemas.openxmlformats.org/officeDocument/2006/relationships/notesMaster" Target="/ppt/notesMasters/notesMaster1.xml" Id="Rbf55fdacee6c41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afff0a780540c9" /><Relationship Type="http://schemas.openxmlformats.org/officeDocument/2006/relationships/notesMaster" Target="/ppt/notesMasters/notesMaster1.xml" Id="R82763bf031294c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project facts, figures, and schedules in this deck are synthetic Harbor Build meeting material. No external assets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project facts, figures, and schedules in this deck are synthetic Harbor Build meeting material. No external assets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project facts, figures, and schedules in this deck are synthetic Harbor Build meeting material. No external assets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project facts, figures, and schedules in this deck are synthetic Harbor Build meeting material. No external assets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project facts, figures, and schedules in this deck are synthetic Harbor Build meeting material. No external assets or non-trivial external claims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10fdd3687c40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d5a9ce3a964be8" /><Relationship Type="http://schemas.openxmlformats.org/officeDocument/2006/relationships/slideLayout" Target="/ppt/slideLayouts/slideLayout1.xml" Id="R15e8ebe947df4e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e8ebe947df4e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ed64ee7c54802" /><Relationship Type="http://schemas.openxmlformats.org/officeDocument/2006/relationships/notesSlide" Target="/ppt/notesSlides/notesSlide1.xml" Id="Rf249f5c7ff2844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59f5ae1ba41c4" /><Relationship Type="http://schemas.openxmlformats.org/officeDocument/2006/relationships/notesSlide" Target="/ppt/notesSlides/notesSlide2.xml" Id="R81cc9c7250b045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28661823b45ae" /><Relationship Type="http://schemas.openxmlformats.org/officeDocument/2006/relationships/notesSlide" Target="/ppt/notesSlides/notesSlide3.xml" Id="Rcee182681f6642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40fd6464d4c8b" /><Relationship Type="http://schemas.openxmlformats.org/officeDocument/2006/relationships/notesSlide" Target="/ppt/notesSlides/notesSlide4.xml" Id="R10cb51ff840d44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af3caf98f4969" /><Relationship Type="http://schemas.openxmlformats.org/officeDocument/2006/relationships/notesSlide" Target="/ppt/notesSlides/notesSlide5.xml" Id="R4eccab84de024f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243D2B-4720-4B82-AFEE-C91AF1D2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16B"/>
                </a:solidFill>
              </a:defRPr>
            </a:pPr>
            <a:r>
              <a:rPr sz="975" b="1">
                <a:solidFill>
                  <a:srgbClr val="56616B"/>
                </a:solidFill>
              </a:rPr>
              <a:t>TWO-WEEK LOOKAHEAD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EC3D1-74D4-42AB-84C6-7A86723F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HARBOR BUILD  /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0F4BB-BCC9-4B47-87C9-98B7E63A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FD804-1E2D-433C-90A0-E096E612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Project Alpha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6DE35-C085-42D7-9804-60E196C3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</a:defRPr>
            </a:pPr>
            <a:r>
              <a:rPr sz="2250" b="0">
                <a:solidFill>
                  <a:srgbClr val="111111"/>
                </a:solidFill>
              </a:rPr>
              <a:t>Two-week field lookahead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985BB-EADD-48B1-9A1F-27CE64EB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4850"/>
                </a:solidFill>
              </a:defRPr>
            </a:pPr>
            <a:r>
              <a:rPr sz="1425" b="0">
                <a:solidFill>
                  <a:srgbClr val="3F4850"/>
                </a:solidFill>
              </a:rPr>
              <a:t>29 July - 12 August 2026  |  Focus: Level 03 handoff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4B7D5-4C8E-4AEC-BF2F-05F2F832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66850"/>
            <a:ext cx="24003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1F4AF-44C1-435C-AF62-83584A1B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76450"/>
            <a:ext cx="190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14 DAY</a:t>
            </a:r>
          </a:p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WINDOW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E2B8A-9CE3-4856-AE72-8FC09123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Synthetic lookahead for coordination discussion</a:t>
            </a:r>
          </a:p>
        </p:txBody>
      </p:sp>
    </p:spTree>
    <p:extLst>
      <p:ext uri="{BB962C8B-B14F-4D97-AF65-F5344CB8AC3E}">
        <p14:creationId xmlns:p14="http://schemas.microsoft.com/office/powerpoint/2010/main" val="18805645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457377-566A-490F-8BEE-8DC006D4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16B"/>
                </a:solidFill>
              </a:defRPr>
            </a:pPr>
            <a:r>
              <a:rPr sz="975" b="1">
                <a:solidFill>
                  <a:srgbClr val="56616B"/>
                </a:solidFill>
              </a:rPr>
              <a:t>MILESTONES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B7FDE-9497-420B-AA23-AC6949BF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HARBOR BUILD  /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22BCC-1180-4000-9130-E416E31D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73D5A-8071-4D8C-8C16-4A82E94F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Five milestones define the handoff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92029-160F-45F3-BE8E-22CF125A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4850"/>
                </a:solidFill>
              </a:defRPr>
            </a:pPr>
            <a:r>
              <a:rPr sz="1425" b="0">
                <a:solidFill>
                  <a:srgbClr val="3F4850"/>
                </a:solidFill>
              </a:rPr>
              <a:t>Sequence confirms readiness, not site-access instructions.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8E0A4-28F4-45B9-9E0A-46D5DC02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0CB63-5404-4C7F-8C0A-7649E39C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43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6BCD2-6CB2-4FAD-A092-822F85D3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09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29 Jul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B4C41-AB70-40F3-8F70-EBD652E8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6195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Interfaces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31B2D-9F3B-428A-9E06-21F8DA3F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563" y="3343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50FCB-9CFA-492B-8D7F-DDDFA518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738" y="2809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31 Jul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2A6EE-F70F-4502-9C43-0EFC2AE0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863" y="36195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Mock-up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5E1DF-7149-4212-84BA-87BE4FF7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43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40D7C-5B1B-4E41-A356-418B4BEA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809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04 Aug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6F34EF-A37D-4A01-A349-46548D8D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195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MEP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807ADA-905C-4AAA-A59A-E4C8BA5D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2438" y="3343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D111C3-4C7B-4274-BDD6-A0F2BE93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613" y="2809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07 Aug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8E6CC9-F296-4F9D-A1EE-2269DC42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738" y="36195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Closure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1A761B-617E-460B-A956-A54E51C6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343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A84375-B68C-45BF-B132-68FA4B7E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09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12 Aug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D87343-27CB-4914-809C-070ED19C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6195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Handoff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B9AA1B-3D21-495C-9E9A-69943BF4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Project Alpha 2026  |  Synthetic planning controls</a:t>
            </a:r>
          </a:p>
        </p:txBody>
      </p:sp>
    </p:spTree>
    <p:extLst>
      <p:ext uri="{BB962C8B-B14F-4D97-AF65-F5344CB8AC3E}">
        <p14:creationId xmlns:p14="http://schemas.microsoft.com/office/powerpoint/2010/main" val="508362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46E5D5-0DFA-4E31-9F49-94A2E866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16B"/>
                </a:solidFill>
              </a:defRPr>
            </a:pPr>
            <a:r>
              <a:rPr sz="975" b="1">
                <a:solidFill>
                  <a:srgbClr val="56616B"/>
                </a:solidFill>
              </a:rPr>
              <a:t>DECISION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5A4E4-BC37-4528-886B-E911D674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HARBOR BUILD  /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DCD31-3BCB-4366-B418-2E2AB276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99A30-3ADF-4C4B-A4AD-A8120E1E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Constraint removal is front-loaded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806DB-D50E-40C0-ABCF-4E312E28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4850"/>
                </a:solidFill>
              </a:defRPr>
            </a:pPr>
            <a:r>
              <a:rPr sz="1425" b="0">
                <a:solidFill>
                  <a:srgbClr val="3F4850"/>
                </a:solidFill>
              </a:rPr>
              <a:t>Each owner confirms the next observable action before the next site walk.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5A27B-3429-490A-8331-8F54E8A4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CD13B-C942-4C6E-8745-7FB933CF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By 30 Jul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3A576-AA48-4FF4-A687-980258A8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0505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Resolve ceiling-zone conflict log - MEP Lead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12514-F9AC-4968-9DF4-C3F96E0B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90A84-F798-4F10-A94B-61C11DD3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By 31 Jul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61270-AFA1-44D7-8404-A9FB2F04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5750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Disposition facade mock-up - Design Lead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B879D7-6155-4FE8-BE22-75DDF937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199AF5-0FEB-4709-A081-6C4D8CE9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By 03 Aug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956D3-52B1-44D2-BEB5-2AE49AFE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0995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Confirm material delivery sequence - Site Lead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BB3A2E-30BE-43A1-8FAF-861019C3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766961-8D22-4ADB-B3E6-249FF593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By 05 Aug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97D240-D43F-46E7-8DC3-BC712DA8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6240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Verify inspections are sequenced - Quality Lead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E96950-AE84-4F9D-A6AB-4585DBEF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Synthetic internal working record  |  Harbor Build</a:t>
            </a:r>
          </a:p>
        </p:txBody>
      </p:sp>
    </p:spTree>
    <p:extLst>
      <p:ext uri="{BB962C8B-B14F-4D97-AF65-F5344CB8AC3E}">
        <p14:creationId xmlns:p14="http://schemas.microsoft.com/office/powerpoint/2010/main" val="5174732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7856EB-1C84-47A3-910C-A3B6DDB2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16B"/>
                </a:solidFill>
              </a:defRPr>
            </a:pPr>
            <a:r>
              <a:rPr sz="975" b="1">
                <a:solidFill>
                  <a:srgbClr val="56616B"/>
                </a:solidFill>
              </a:rPr>
              <a:t>PROGRESS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88171-E0DB-43ED-B8D3-C47CC16F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HARBOR BUILD  /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051B0-B9D9-4868-9345-0AE5551D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22271-1BA7-4921-AD2C-5422F207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Workface readiness rises as constraints close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19BB9-860C-4DCA-BC79-D0704DCF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4850"/>
                </a:solidFill>
              </a:defRPr>
            </a:pPr>
            <a:r>
              <a:rPr sz="1425" b="0">
                <a:solidFill>
                  <a:srgbClr val="3F4850"/>
                </a:solidFill>
              </a:rPr>
              <a:t>Readiness index is a synthetic coordination measure.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5F445-F161-4BDE-838D-929B2A45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9620"/>
            <a:ext cx="1009650" cy="10401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5EA46-CCAC-497B-99C0-4C816E41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5577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42%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580AE-4249-4AA2-8BAE-5A914768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29 Jul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833C1-299E-496B-90D8-C9A11ED1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183380"/>
            <a:ext cx="1009650" cy="1436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0A2D7-B5D6-4884-A305-83B92B74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85953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58%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158D7-0D4C-425C-865B-6FB437D1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7721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31 Jul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9CC1D-06B2-4774-BAF8-B344F023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61435"/>
            <a:ext cx="1009650" cy="17583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F31D6-D237-4BA3-A4A0-7321DB5C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3758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71%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A0D69E-8E9D-42B7-8989-4A5C0F13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721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04 Aug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E7511-294E-4026-BE14-AEE12F9F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539490"/>
            <a:ext cx="1009650" cy="20802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D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5B15A7-FC8E-4CC3-835E-C4A8A61E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21564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84%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C8D68-4831-41DA-A2B8-B0971DD1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7721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07 Aug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C36844-3428-41F0-9494-9623FD6E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41370"/>
            <a:ext cx="1009650" cy="2278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D1613-E234-481C-9D63-1E7D16FC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1752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92%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C7B32D-9BAD-4581-BC63-118CEEA0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721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F4850"/>
                </a:solidFill>
              </a:defRPr>
            </a:pPr>
            <a:r>
              <a:rPr sz="1200" b="0">
                <a:solidFill>
                  <a:srgbClr val="3F4850"/>
                </a:solidFill>
              </a:rPr>
              <a:t>12 Aug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0DBB54-A883-4295-882B-D9D96FFC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5A3335-1977-4B8A-A3A3-3048CBF0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Synthetic progress measure  |  Percent complete reflects planned workface release</a:t>
            </a:r>
          </a:p>
        </p:txBody>
      </p:sp>
    </p:spTree>
    <p:extLst>
      <p:ext uri="{BB962C8B-B14F-4D97-AF65-F5344CB8AC3E}">
        <p14:creationId xmlns:p14="http://schemas.microsoft.com/office/powerpoint/2010/main" val="16850365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25FF49-933A-496B-A06A-16BBF3C1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616B"/>
                </a:solidFill>
              </a:defRPr>
            </a:pPr>
            <a:r>
              <a:rPr sz="975" b="1">
                <a:solidFill>
                  <a:srgbClr val="56616B"/>
                </a:solidFill>
              </a:rPr>
              <a:t>DECISION REGISTER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3CB8D-56EE-419A-B2F0-5832EFC9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"/>
            <a:ext cx="1885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HARBOR BUILD  /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4249D-B295-4F36-9608-137528DE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FFC48-B997-4D83-8F95-1B80D974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Escalate only the issues that threaten 12 August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E2379-AFD7-4236-8166-0739285F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4850"/>
                </a:solidFill>
              </a:defRPr>
            </a:pPr>
            <a:r>
              <a:rPr sz="1425" b="0">
                <a:solidFill>
                  <a:srgbClr val="3F4850"/>
                </a:solidFill>
              </a:rPr>
              <a:t>Each owner confirms the next observable action before the next site walk.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3F41F-A8E8-4098-878F-CB82F2FE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D1078-EA19-430F-A95A-D01E4C1A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Escalation trigger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DE57E-5F70-4E04-A1A9-B5BE26BB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0505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Unresolved facade mock-up after 31 Jul - PM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AB06D-3CB2-425E-A2A5-E5CA0E4D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7607F-066A-4C84-9A86-B1937323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Escalation 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588CE-E2D9-454A-AA34-88E84A94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5750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MEP conflict open after 04 Aug - MEP Lead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BBE3E3-81A9-470D-93C5-C0D45440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32AE1-AC2A-4912-ACBD-F6B51C35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CDB2D4-8B25-44E3-A656-BA11A806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0995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Daily 15-minute constraint review - Trade Leads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3317B-AE37-42A0-A295-6964AAC9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71C180-092B-4A98-AE35-4B699F3E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Next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7FE535-6FC8-41E2-B905-64907BE5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6240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740"/>
                </a:solidFill>
              </a:defRPr>
            </a:pPr>
            <a:r>
              <a:rPr sz="1200" b="0">
                <a:solidFill>
                  <a:srgbClr val="2E3740"/>
                </a:solidFill>
              </a:rPr>
              <a:t>Validate handoff checklist on 05 Aug - All leads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EE860E-8A0F-4FC1-8C4B-6917A9F3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16B"/>
                </a:solidFill>
              </a:defRPr>
            </a:pPr>
            <a:r>
              <a:rPr sz="900" b="0">
                <a:solidFill>
                  <a:srgbClr val="56616B"/>
                </a:solidFill>
              </a:rPr>
              <a:t>Synthetic internal working record  |  Harbor Build</a:t>
            </a:r>
          </a:p>
        </p:txBody>
      </p:sp>
    </p:spTree>
    <p:extLst>
      <p:ext uri="{BB962C8B-B14F-4D97-AF65-F5344CB8AC3E}">
        <p14:creationId xmlns:p14="http://schemas.microsoft.com/office/powerpoint/2010/main" val="275694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2026-08-23T19:15:55.1430000Z</dcterms:created>
  <dcterms:modified xsi:type="dcterms:W3CDTF">2026-08-23T19:15:55.1430000Z</dcterms:modified>
</coreProperties>
</file>