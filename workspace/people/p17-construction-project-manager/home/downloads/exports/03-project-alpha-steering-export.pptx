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ba720f9e4d4377" /><Relationship Type="http://schemas.openxmlformats.org/officeDocument/2006/relationships/extended-properties" Target="/docProps/app.xml" Id="Re3f5be4eb2ab4d53" /><Relationship Type="http://schemas.openxmlformats.org/officeDocument/2006/relationships/officeDocument" Target="/ppt/presentation.xml" Id="R38cc83f7598e47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241e3b43e4dfb"/>
  </p:sldMasterIdLst>
  <p:notesMasterIdLst>
    <p:notesMasterId xmlns:r="http://schemas.openxmlformats.org/officeDocument/2006/relationships" r:id="R03ce2ac53bc647f4"/>
  </p:notesMasterIdLst>
  <p:sldIdLst>
    <p:sldId xmlns:r="http://schemas.openxmlformats.org/officeDocument/2006/relationships" id="256" r:id="Rba5e4ed015c24634"/>
    <p:sldId xmlns:r="http://schemas.openxmlformats.org/officeDocument/2006/relationships" id="257" r:id="R2a31c7b581fb42ff"/>
    <p:sldId xmlns:r="http://schemas.openxmlformats.org/officeDocument/2006/relationships" id="258" r:id="R0ca20f27b6d043d7"/>
    <p:sldId xmlns:r="http://schemas.openxmlformats.org/officeDocument/2006/relationships" id="259" r:id="R74666bbe018d4400"/>
    <p:sldId xmlns:r="http://schemas.openxmlformats.org/officeDocument/2006/relationships" id="260" r:id="R7399366f95d04c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f58ea34ddd447f" /><Relationship Type="http://schemas.openxmlformats.org/officeDocument/2006/relationships/slideMaster" Target="/ppt/slideMasters/slideMaster1.xml" Id="R011241e3b43e4dfb" /><Relationship Type="http://schemas.openxmlformats.org/officeDocument/2006/relationships/notesMaster" Target="/ppt/notesMasters/notesMaster1.xml" Id="R03ce2ac53bc647f4" /><Relationship Type="http://schemas.openxmlformats.org/officeDocument/2006/relationships/presProps" Target="/ppt/presProps.xml" Id="R926cd9718d764800" /><Relationship Type="http://schemas.openxmlformats.org/officeDocument/2006/relationships/tableStyles" Target="/ppt/tableStyles.xml" Id="R30f4607076ed47d0" /><Relationship Type="http://schemas.openxmlformats.org/officeDocument/2006/relationships/slide" Target="/ppt/slides/slide1.xml" Id="Rba5e4ed015c24634" /><Relationship Type="http://schemas.openxmlformats.org/officeDocument/2006/relationships/slide" Target="/ppt/slides/slide2.xml" Id="R2a31c7b581fb42ff" /><Relationship Type="http://schemas.openxmlformats.org/officeDocument/2006/relationships/slide" Target="/ppt/slides/slide3.xml" Id="R0ca20f27b6d043d7" /><Relationship Type="http://schemas.openxmlformats.org/officeDocument/2006/relationships/slide" Target="/ppt/slides/slide4.xml" Id="R74666bbe018d4400" /><Relationship Type="http://schemas.openxmlformats.org/officeDocument/2006/relationships/slide" Target="/ppt/slides/slide5.xml" Id="R7399366f95d04c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1d92739ae647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1427bb2615407f" /><Relationship Type="http://schemas.openxmlformats.org/officeDocument/2006/relationships/notesMaster" Target="/ppt/notesMasters/notesMaster1.xml" Id="R5db7ba8594ff4b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e446401f4f467b" /><Relationship Type="http://schemas.openxmlformats.org/officeDocument/2006/relationships/notesMaster" Target="/ppt/notesMasters/notesMaster1.xml" Id="Re24502e4e3224f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fb18f167664771" /><Relationship Type="http://schemas.openxmlformats.org/officeDocument/2006/relationships/notesMaster" Target="/ppt/notesMasters/notesMaster1.xml" Id="Rece2b310d7f24b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ea40b34bc94360" /><Relationship Type="http://schemas.openxmlformats.org/officeDocument/2006/relationships/notesMaster" Target="/ppt/notesMasters/notesMaster1.xml" Id="R2bb397d087b748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925d29d6ea459a" /><Relationship Type="http://schemas.openxmlformats.org/officeDocument/2006/relationships/notesMaster" Target="/ppt/notesMasters/notesMaster1.xml" Id="Rfb0393da9ab844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 Alpha control data created for this export. No external assets, external claims, real project records, site-access procedures, or field-release instructions are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 status: pre-approval at 2026-07-29 12:00 JST; superseded by approval recorded at 16:42 JST.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 Alpha control data created for this export. No external assets, external claims, real project records, site-access procedures, or field-release instructions are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 status: pre-approval at 2026-07-29 12:00 JST; superseded by approval recorded at 16:42 JST.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 Alpha control data created for this export. No external assets, external claims, real project records, site-access procedures, or field-release instructions are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 status: pre-approval at 2026-07-29 12:00 JST; superseded by approval recorded at 16:42 JST.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 Alpha control data created for this export. No external assets, external claims, real project records, site-access procedures, or field-release instructions are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 status: pre-approval at 2026-07-29 12:00 JST; superseded by approval recorded at 16:42 JST.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 Alpha control data created for this export. No external assets, external claims, real project records, site-access procedures, or field-release instructions are 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Snapshot status: pre-approval at 2026-07-29 12:00 JST; superseded by approval recorded at 16:42 JST.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c8f113a3b4e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6231979bfa47df" /><Relationship Type="http://schemas.openxmlformats.org/officeDocument/2006/relationships/slideLayout" Target="/ppt/slideLayouts/slideLayout1.xml" Id="Reafd634e9e7141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fd634e9e7141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8e83e36ed4393" /><Relationship Type="http://schemas.openxmlformats.org/officeDocument/2006/relationships/notesSlide" Target="/ppt/notesSlides/notesSlide1.xml" Id="Rac05ffdf8d2b4d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3050c423e457e" /><Relationship Type="http://schemas.openxmlformats.org/officeDocument/2006/relationships/notesSlide" Target="/ppt/notesSlides/notesSlide2.xml" Id="R284b21dbb6974a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fcceca8b44112" /><Relationship Type="http://schemas.openxmlformats.org/officeDocument/2006/relationships/notesSlide" Target="/ppt/notesSlides/notesSlide3.xml" Id="Ra4b55b247e5140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047552130419e" /><Relationship Type="http://schemas.openxmlformats.org/officeDocument/2006/relationships/notesSlide" Target="/ppt/notesSlides/notesSlide4.xml" Id="R80dde9ac642c44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9142680924dd8" /><Relationship Type="http://schemas.openxmlformats.org/officeDocument/2006/relationships/notesSlide" Target="/ppt/notesSlides/notesSlide5.xml" Id="Raf4558e8318246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A2F5F-432C-4C27-9B42-E9AFFD90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6F"/>
                </a:solidFill>
              </a:defRPr>
            </a:pPr>
            <a:r>
              <a:rPr sz="900" b="1">
                <a:solidFill>
                  <a:srgbClr val="56616F"/>
                </a:solidFill>
              </a:rPr>
              <a:t>HARBOR BUILD / PROJECT ALPHA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67441-648D-431E-AD06-271A3C957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B7472-696B-46E2-9CD4-0633542E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616F"/>
                </a:solidFill>
              </a:defRPr>
            </a:pPr>
            <a:r>
              <a:rPr sz="825" b="0">
                <a:solidFill>
                  <a:srgbClr val="56616F"/>
                </a:solidFill>
              </a:rPr>
              <a:t>Steering export | 2026-07-29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B6BE0-857B-47AB-9BA1-0EEA1C67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616F"/>
                </a:solidFill>
              </a:defRPr>
            </a:pPr>
            <a:r>
              <a:rPr sz="825" b="1">
                <a:solidFill>
                  <a:srgbClr val="56616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BB46CB-BE5C-48B4-9D0F-3E15A4B5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Project Alpha</a:t>
            </a:r>
          </a:p>
          <a:p xmlns:a="http://schemas.openxmlformats.org/drawingml/2006/main">
            <a:pPr>
              <a:defRPr sz="4350" b="1">
                <a:solidFill>
                  <a:srgbClr val="101820"/>
                </a:solidFill>
              </a:defRPr>
            </a:pPr>
            <a:r>
              <a:rPr sz="4350" b="1">
                <a:solidFill>
                  <a:srgbClr val="101820"/>
                </a:solidFill>
              </a:rPr>
              <a:t>control 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D19A3-E6B7-4AE1-8628-2F12F933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16F"/>
                </a:solidFill>
              </a:defRPr>
            </a:pPr>
            <a:r>
              <a:rPr sz="1875" b="0">
                <a:solidFill>
                  <a:srgbClr val="56616F"/>
                </a:solidFill>
              </a:rPr>
              <a:t>A focused decision view for the July commercial and coordination gate.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03243-4114-425F-9C40-A57F3554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14450"/>
            <a:ext cx="34099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C90015-BEED-4765-89EA-2B2546D6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33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CO-014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63BEF-4693-4A53-BC19-9C26EE21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38375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01820"/>
                </a:solidFill>
              </a:defRPr>
            </a:pPr>
            <a:r>
              <a:rPr sz="3450" b="1">
                <a:solidFill>
                  <a:srgbClr val="101820"/>
                </a:solidFill>
              </a:rPr>
              <a:t>JPY</a:t>
            </a:r>
          </a:p>
          <a:p xmlns:a="http://schemas.openxmlformats.org/drawingml/2006/main">
            <a:pPr>
              <a:defRPr sz="3450" b="1">
                <a:solidFill>
                  <a:srgbClr val="101820"/>
                </a:solidFill>
              </a:defRPr>
            </a:pPr>
            <a:r>
              <a:rPr sz="3450" b="1">
                <a:solidFill>
                  <a:srgbClr val="101820"/>
                </a:solidFill>
              </a:rPr>
              <a:t>18,600,000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C723A-014B-4CD3-88D2-A09C40E0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81400"/>
            <a:ext cx="2190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6E9D5E-7F98-4D1B-B346-1163F1FB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48100"/>
            <a:ext cx="2428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6F"/>
                </a:solidFill>
              </a:defRPr>
            </a:pPr>
            <a:r>
              <a:rPr sz="1275" b="0">
                <a:solidFill>
                  <a:srgbClr val="56616F"/>
                </a:solidFill>
              </a:rPr>
              <a:t>Proposed change value</a:t>
            </a:r>
          </a:p>
          <a:p xmlns:a="http://schemas.openxmlformats.org/drawingml/2006/main">
            <a:pPr>
              <a:defRPr sz="1275" b="0">
                <a:solidFill>
                  <a:srgbClr val="56616F"/>
                </a:solidFill>
              </a:defRPr>
            </a:pPr>
            <a:r>
              <a:rPr sz="1275" b="0">
                <a:solidFill>
                  <a:srgbClr val="56616F"/>
                </a:solidFill>
              </a:rPr>
              <a:t>Decision record due 2026-08-05</a:t>
            </a:r>
          </a:p>
        </p:txBody>
      </p:sp>
    </p:spTree>
    <p:extLst>
      <p:ext uri="{BB962C8B-B14F-4D97-AF65-F5344CB8AC3E}">
        <p14:creationId xmlns:p14="http://schemas.microsoft.com/office/powerpoint/2010/main" val="1154164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1EA19B-7EF5-4651-8AB3-DBAA7C31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6F"/>
                </a:solidFill>
              </a:defRPr>
            </a:pPr>
            <a:r>
              <a:rPr sz="900" b="1">
                <a:solidFill>
                  <a:srgbClr val="56616F"/>
                </a:solidFill>
              </a:rPr>
              <a:t>HARBOR BUILD / PROJECT ALPHA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8B234-3EBA-4CE3-B0DE-03B5F0E4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BC34E-980A-4E4C-B9CF-2B5082CD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616F"/>
                </a:solidFill>
              </a:defRPr>
            </a:pPr>
            <a:r>
              <a:rPr sz="825" b="0">
                <a:solidFill>
                  <a:srgbClr val="56616F"/>
                </a:solidFill>
              </a:rPr>
              <a:t>Control posture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5F699-9BF6-4F46-95BC-D5944F71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616F"/>
                </a:solidFill>
              </a:defRPr>
            </a:pPr>
            <a:r>
              <a:rPr sz="825" b="1">
                <a:solidFill>
                  <a:srgbClr val="56616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A5564-D7F4-44F2-80B4-FE13FDB9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The project remains controllable;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382BFE-3ED1-4CDD-82AC-30DA3508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0"/>
                </a:solidFill>
              </a:defRPr>
            </a:pPr>
            <a:r>
              <a:rPr sz="2550" b="1">
                <a:solidFill>
                  <a:srgbClr val="101820"/>
                </a:solidFill>
              </a:rPr>
              <a:t>CO-014 is the decision concentration.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A57311-7E3D-461B-981F-8DABB9D6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6616F"/>
                </a:solidFill>
              </a:defRPr>
            </a:pPr>
            <a:r>
              <a:rPr sz="1425" b="0">
                <a:solidFill>
                  <a:srgbClr val="56616F"/>
                </a:solidFill>
              </a:rPr>
              <a:t>Commercial, programme, quality, and safety are being held through explicit control 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1E1424-06A7-444F-869D-8C3D363D0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E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6DCED-9FCB-449F-A211-C36075CA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Commercial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F8E0A-B42B-4711-87EF-79C1AF96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56B00"/>
                </a:solidFill>
              </a:defRPr>
            </a:pPr>
            <a:r>
              <a:rPr sz="1500" b="1">
                <a:solidFill>
                  <a:srgbClr val="B56B00"/>
                </a:solidFill>
              </a:rPr>
              <a:t>AMBER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91032-A41F-4416-8B99-1104C8BA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009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16F"/>
                </a:solidFill>
              </a:defRPr>
            </a:pPr>
            <a:r>
              <a:rPr sz="1350" b="0">
                <a:solidFill>
                  <a:srgbClr val="56616F"/>
                </a:solidFill>
              </a:rPr>
              <a:t>Decision record required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12FA0-3954-47D0-A4C8-F36C3562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E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6E118-AEDA-4BBD-9899-797DCBB4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Programme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F5940-4604-4C99-AF23-A5D9A1C0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56B00"/>
                </a:solidFill>
              </a:defRPr>
            </a:pPr>
            <a:r>
              <a:rPr sz="1500" b="1">
                <a:solidFill>
                  <a:srgbClr val="B56B00"/>
                </a:solidFill>
              </a:rPr>
              <a:t>AMBER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9BB2D1-6711-4409-BE0C-872DEAE2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71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16F"/>
                </a:solidFill>
              </a:defRPr>
            </a:pPr>
            <a:r>
              <a:rPr sz="1350" b="0">
                <a:solidFill>
                  <a:srgbClr val="56616F"/>
                </a:solidFill>
              </a:rPr>
              <a:t>Structural release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818E2-A435-46E0-B4E1-4F3E114A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08686-B575-4966-8735-4ACECBDA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7BDBEC-757F-494A-AA3A-A352B585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794E"/>
                </a:solidFill>
              </a:defRPr>
            </a:pPr>
            <a:r>
              <a:rPr sz="1500" b="1">
                <a:solidFill>
                  <a:srgbClr val="18794E"/>
                </a:solidFill>
              </a:rPr>
              <a:t>GREEN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ADAEA-7996-4983-9863-0D23C4C6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3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16F"/>
                </a:solidFill>
              </a:defRPr>
            </a:pPr>
            <a:r>
              <a:rPr sz="1350" b="0">
                <a:solidFill>
                  <a:srgbClr val="56616F"/>
                </a:solidFill>
              </a:rPr>
              <a:t>Mock-up evidence closeout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9DE59-AFB5-40AC-AF50-B89426C5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AF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206FF-0DA1-4B8F-A8A4-91D7AD68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Safety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33869-7E32-4600-9306-B50845D0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959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794E"/>
                </a:solidFill>
              </a:defRPr>
            </a:pPr>
            <a:r>
              <a:rPr sz="1500" b="1">
                <a:solidFill>
                  <a:srgbClr val="18794E"/>
                </a:solidFill>
              </a:rPr>
              <a:t>GREEN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0D7F0F-51AD-4B69-B2E5-F1C8F994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5295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6616F"/>
                </a:solidFill>
              </a:defRPr>
            </a:pPr>
            <a:r>
              <a:rPr sz="1350" b="0">
                <a:solidFill>
                  <a:srgbClr val="56616F"/>
                </a:solidFill>
              </a:rPr>
              <a:t>Interface review before release</a:t>
            </a:r>
          </a:p>
        </p:txBody>
      </p:sp>
    </p:spTree>
    <p:extLst>
      <p:ext uri="{BB962C8B-B14F-4D97-AF65-F5344CB8AC3E}">
        <p14:creationId xmlns:p14="http://schemas.microsoft.com/office/powerpoint/2010/main" val="20425626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926037-1994-4648-A385-69D341F2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6F"/>
                </a:solidFill>
              </a:defRPr>
            </a:pPr>
            <a:r>
              <a:rPr sz="900" b="1">
                <a:solidFill>
                  <a:srgbClr val="56616F"/>
                </a:solidFill>
              </a:rPr>
              <a:t>HARBOR BUILD / PROJECT ALPHA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DE3A9A-CFEF-4041-B023-D8359B1D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BB46D-18D6-4BCE-8510-FBAA890E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616F"/>
                </a:solidFill>
              </a:defRPr>
            </a:pPr>
            <a:r>
              <a:rPr sz="825" b="0">
                <a:solidFill>
                  <a:srgbClr val="56616F"/>
                </a:solidFill>
              </a:rPr>
              <a:t>Commercial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BAA45-C6F7-4FC7-B7DE-C3C3FAC9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616F"/>
                </a:solidFill>
              </a:defRPr>
            </a:pPr>
            <a:r>
              <a:rPr sz="825" b="1">
                <a:solidFill>
                  <a:srgbClr val="56616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28DD1-C365-42A8-860F-65502E91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0"/>
                </a:solidFill>
              </a:defRPr>
            </a:pPr>
            <a:r>
              <a:rPr sz="2775" b="1">
                <a:solidFill>
                  <a:srgbClr val="101820"/>
                </a:solidFill>
              </a:rPr>
              <a:t>CO-014 is a defined proposal,</a:t>
            </a:r>
          </a:p>
          <a:p xmlns:a="http://schemas.openxmlformats.org/drawingml/2006/main">
            <a:pPr>
              <a:defRPr sz="2775" b="1">
                <a:solidFill>
                  <a:srgbClr val="101820"/>
                </a:solidFill>
              </a:defRPr>
            </a:pPr>
            <a:r>
              <a:rPr sz="2775" b="1">
                <a:solidFill>
                  <a:srgbClr val="101820"/>
                </a:solidFill>
              </a:rPr>
              <a:t>not an approved forecast adjustment.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3B2ED-79E3-4808-ADA0-470C87DF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JPY 18,600,000 proposed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FC920-D5A4-4C1F-A715-4D41E7FD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Direct works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94356-4A5B-423A-9402-75C153C4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194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A46BF7-BEFC-4465-9F67-D8B4E448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813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12.4m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EDF95-11DA-4B45-B255-4F9AA75F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Preliminaries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2CBDA-8514-4F4B-B957-D34D0360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0425"/>
            <a:ext cx="6953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9FE55-4B1E-4A0E-B587-19F2E6F9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6232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2.1m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AB5795-7AB7-4DBA-B48A-55EB8855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01820"/>
                </a:solidFill>
              </a:defRPr>
            </a:pPr>
            <a:r>
              <a:rPr sz="1350" b="0">
                <a:solidFill>
                  <a:srgbClr val="101820"/>
                </a:solidFill>
              </a:rPr>
              <a:t>Design coordination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741844-214E-4B13-B900-52141C81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8145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BDA0E5-C1ED-4657-A550-C9B30E51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433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1.6m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0E203-21A4-4958-8BEB-2FA43ACA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1820"/>
                </a:solidFill>
              </a:defRPr>
            </a:pPr>
            <a:r>
              <a:rPr sz="1350" b="1">
                <a:solidFill>
                  <a:srgbClr val="101820"/>
                </a:solidFill>
              </a:rPr>
              <a:t>Risk allowance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913AA5-849A-4403-AC94-7C2F3105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62475"/>
            <a:ext cx="828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60976-E762-4FF3-845D-55FB2768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243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2.5m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8C887-0589-47B0-A2AA-BCE06FCA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20574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6332B1-14D7-42AF-802B-E68C6C77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7655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Decision</a:t>
            </a:r>
          </a:p>
          <a:p xmlns:a="http://schemas.openxmlformats.org/drawingml/2006/main">
            <a:pPr>
              <a:defRPr sz="1875" b="1">
                <a:solidFill>
                  <a:srgbClr val="16324F"/>
                </a:solidFill>
              </a:defRPr>
            </a:pPr>
            <a:r>
              <a:rPr sz="1875" b="1">
                <a:solidFill>
                  <a:srgbClr val="16324F"/>
                </a:solidFill>
              </a:rPr>
              <a:t>needed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49F84-EF3A-4EAF-A6C4-16215AFF6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38550"/>
            <a:ext cx="14763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Scope boundary</a:t>
            </a:r>
          </a:p>
          <a:p xmlns:a="http://schemas.openxmlformats.org/drawingml/2006/main">
            <a:pPr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Cost and allowance</a:t>
            </a:r>
          </a:p>
          <a:p xmlns:a="http://schemas.openxmlformats.org/drawingml/2006/main">
            <a:pPr>
              <a:defRPr sz="1125" b="0">
                <a:solidFill>
                  <a:srgbClr val="56616F"/>
                </a:solidFill>
              </a:defRPr>
            </a:pPr>
            <a:r>
              <a:rPr sz="1125" b="0">
                <a:solidFill>
                  <a:srgbClr val="56616F"/>
                </a:solidFill>
              </a:rPr>
              <a:t>Programme treatment</a:t>
            </a:r>
          </a:p>
        </p:txBody>
      </p:sp>
    </p:spTree>
    <p:extLst>
      <p:ext uri="{BB962C8B-B14F-4D97-AF65-F5344CB8AC3E}">
        <p14:creationId xmlns:p14="http://schemas.microsoft.com/office/powerpoint/2010/main" val="850759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A7A2A1-71AD-454F-A1E5-5E63B16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6F"/>
                </a:solidFill>
              </a:defRPr>
            </a:pPr>
            <a:r>
              <a:rPr sz="900" b="1">
                <a:solidFill>
                  <a:srgbClr val="56616F"/>
                </a:solidFill>
              </a:rPr>
              <a:t>HARBOR BUILD / PROJECT ALPHA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135187-4011-4A4E-8D5D-F2BEB5FB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478FC-4750-4F51-90B8-B3DBCE38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616F"/>
                </a:solidFill>
              </a:defRPr>
            </a:pPr>
            <a:r>
              <a:rPr sz="825" b="0">
                <a:solidFill>
                  <a:srgbClr val="56616F"/>
                </a:solidFill>
              </a:rPr>
              <a:t>Next control gates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B656B-7A11-42F3-99DD-98A8B9AA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616F"/>
                </a:solidFill>
              </a:defRPr>
            </a:pPr>
            <a:r>
              <a:rPr sz="825" b="1">
                <a:solidFill>
                  <a:srgbClr val="56616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37211-3ADD-425B-AA9A-79DEFD52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704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Five open items close within</a:t>
            </a:r>
          </a:p>
          <a:p xmlns:a="http://schemas.openxmlformats.org/drawingml/2006/main">
            <a:pPr>
              <a:defRPr sz="2850" b="1">
                <a:solidFill>
                  <a:srgbClr val="101820"/>
                </a:solidFill>
              </a:defRPr>
            </a:pPr>
            <a:r>
              <a:rPr sz="2850" b="1">
                <a:solidFill>
                  <a:srgbClr val="101820"/>
                </a:solidFill>
              </a:rPr>
              <a:t>the next seven days.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1D385-4136-461D-84E0-DF56952C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F0318E-0646-452F-92F8-AA3AA0EB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1D373-8A48-4369-850D-7FE2FCF1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90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08/01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2D020-69FF-49B3-B393-56F79CCA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6F"/>
                </a:solidFill>
              </a:defRPr>
            </a:pPr>
            <a:r>
              <a:rPr sz="1275" b="0">
                <a:solidFill>
                  <a:srgbClr val="56616F"/>
                </a:solidFill>
              </a:rPr>
              <a:t>Procurement hold 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7E06E-3E45-4869-962F-AA1AB493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6B00"/>
                </a:solidFill>
              </a:defRPr>
            </a:pPr>
            <a:r>
              <a:rPr sz="975" b="1">
                <a:solidFill>
                  <a:srgbClr val="B56B00"/>
                </a:solidFill>
              </a:rPr>
              <a:t>AMBER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9D768-CFF5-4A59-8D32-099838EF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E40DE-ABF0-4EC7-AECA-FC348589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90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08/02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A9F3E-550E-4003-BB8C-8B13CB4E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194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6F"/>
                </a:solidFill>
              </a:defRPr>
            </a:pPr>
            <a:r>
              <a:rPr sz="1275" b="0">
                <a:solidFill>
                  <a:srgbClr val="56616F"/>
                </a:solidFill>
              </a:rPr>
              <a:t>Structural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7F4120-939B-4E43-876B-FF19662C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57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6B00"/>
                </a:solidFill>
              </a:defRPr>
            </a:pPr>
            <a:r>
              <a:rPr sz="975" b="1">
                <a:solidFill>
                  <a:srgbClr val="B56B00"/>
                </a:solidFill>
              </a:rPr>
              <a:t>AMBER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EADF1-50AE-48DD-8D72-856DDA4E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574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5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CADF1-8557-4BF3-99F3-5F86D0F3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90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08/03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FBA1D-E2F6-4236-AA66-DD931701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194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6F"/>
                </a:solidFill>
              </a:defRPr>
            </a:pPr>
            <a:r>
              <a:rPr sz="1275" b="0">
                <a:solidFill>
                  <a:srgbClr val="56616F"/>
                </a:solidFill>
              </a:rPr>
              <a:t>Open-items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BD413E-7C7F-4ED9-89FB-09346E92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57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794E"/>
                </a:solidFill>
              </a:defRPr>
            </a:pPr>
            <a:r>
              <a:rPr sz="975" b="1">
                <a:solidFill>
                  <a:srgbClr val="18794E"/>
                </a:solidFill>
              </a:rPr>
              <a:t>GREEN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342A3-510D-48CB-9D3A-8E1A4AD5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C5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E89DC-3BBF-4E7F-9574-2517B230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76550"/>
            <a:ext cx="90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08/04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CA2BA-4E7F-45DA-B5BF-1CE4CE1DE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194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6F"/>
                </a:solidFill>
              </a:defRPr>
            </a:pPr>
            <a:r>
              <a:rPr sz="1275" b="0">
                <a:solidFill>
                  <a:srgbClr val="56616F"/>
                </a:solidFill>
              </a:rPr>
              <a:t>Interface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3CAB49-AC26-46EC-AB99-9E05E970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57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794E"/>
                </a:solidFill>
              </a:defRPr>
            </a:pPr>
            <a:r>
              <a:rPr sz="975" b="1">
                <a:solidFill>
                  <a:srgbClr val="18794E"/>
                </a:solidFill>
              </a:rPr>
              <a:t>GREEN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7E6B2-A6D8-4AEE-9092-6C85F13C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2381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AFE96E-D2C8-4435-B71F-C2FC7FDB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76550"/>
            <a:ext cx="904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08/05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1B162E-0456-495C-BDB1-89C68343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194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6F"/>
                </a:solidFill>
              </a:defRPr>
            </a:pPr>
            <a:r>
              <a:rPr sz="1275" b="0">
                <a:solidFill>
                  <a:srgbClr val="56616F"/>
                </a:solidFill>
              </a:rPr>
              <a:t>CO-014 decision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ED4CE8-F828-4CFB-9C7E-9B697F29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57625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56B00"/>
                </a:solidFill>
              </a:defRPr>
            </a:pPr>
            <a:r>
              <a:rPr sz="975" b="1">
                <a:solidFill>
                  <a:srgbClr val="B56B00"/>
                </a:solidFill>
              </a:rPr>
              <a:t>AMBER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5DEC46-8AB6-4820-8C02-FC7BCC69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Control principle: retain affected work under a controlled hold point while releasing unaffected procurement interfaces.</a:t>
            </a:r>
          </a:p>
        </p:txBody>
      </p:sp>
    </p:spTree>
    <p:extLst>
      <p:ext uri="{BB962C8B-B14F-4D97-AF65-F5344CB8AC3E}">
        <p14:creationId xmlns:p14="http://schemas.microsoft.com/office/powerpoint/2010/main" val="7753499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AD53AB-D5F2-4924-BFB9-E5E61B40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6616F"/>
                </a:solidFill>
              </a:defRPr>
            </a:pPr>
            <a:r>
              <a:rPr sz="900" b="1">
                <a:solidFill>
                  <a:srgbClr val="56616F"/>
                </a:solidFill>
              </a:rPr>
              <a:t>HARBOR BUILD / PROJECT ALPHA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EA92E-5919-44ED-8C92-30D7F66C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5ED6B-5360-4D16-B7B1-A21C1987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6616F"/>
                </a:solidFill>
              </a:defRPr>
            </a:pPr>
            <a:r>
              <a:rPr sz="825" b="0">
                <a:solidFill>
                  <a:srgbClr val="56616F"/>
                </a:solidFill>
              </a:rPr>
              <a:t>Steering close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90B0A-5357-4347-A2DD-76ECCCCC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38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56616F"/>
                </a:solidFill>
              </a:defRPr>
            </a:pPr>
            <a:r>
              <a:rPr sz="825" b="1">
                <a:solidFill>
                  <a:srgbClr val="56616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AB398-7947-4C01-9DD9-120DEDBD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804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Record the CO-014 decision by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D639E-281F-4B7D-B89F-21C907A7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804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1820"/>
                </a:solidFill>
              </a:defRPr>
            </a:pPr>
            <a:r>
              <a:rPr sz="2700" b="1">
                <a:solidFill>
                  <a:srgbClr val="101820"/>
                </a:solidFill>
              </a:rPr>
              <a:t>2026-08-05 to protect the next gate.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437C3-FC6E-48F9-8523-3470E046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16F"/>
                </a:solidFill>
              </a:defRPr>
            </a:pPr>
            <a:r>
              <a:rPr sz="1575" b="0">
                <a:solidFill>
                  <a:srgbClr val="56616F"/>
                </a:solidFill>
              </a:rPr>
              <a:t>The steering action is narrow: confirm the scope boundary, the JPY 18,600,000 commercial treatment, and the programme response.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51229C-379D-4052-B69A-D01CD8F7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CDD4"/>
          </a:solidFill>
          <a:ln xmlns:a="http://schemas.openxmlformats.org/drawingml/2006/main" w="9525">
            <a:solidFill>
              <a:srgbClr val="C7CD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FE185F-8F4A-42B0-87D7-5E84986C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Decision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DF1BF-027A-4059-92F8-0344A053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6F"/>
                </a:solidFill>
              </a:defRPr>
            </a:pPr>
            <a:r>
              <a:rPr sz="1275" b="0">
                <a:solidFill>
                  <a:srgbClr val="56616F"/>
                </a:solidFill>
              </a:rPr>
              <a:t>Accepted scope, cost, and programme treatment.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2E710-D83B-4C75-93DC-8A914879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Owner roles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6BFAA-0A97-4CA8-AC1E-F18DFA1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433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6F"/>
                </a:solidFill>
              </a:defRPr>
            </a:pPr>
            <a:r>
              <a:rPr sz="1275" b="0">
                <a:solidFill>
                  <a:srgbClr val="56616F"/>
                </a:solidFill>
              </a:rPr>
              <a:t>Commercial, design coordination, and controls leads.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6C08C1-9535-4551-85A9-3362FA90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Evidence 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C7EBC-9F69-48E0-8951-B68C449E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43375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6616F"/>
                </a:solidFill>
              </a:defRPr>
            </a:pPr>
            <a:r>
              <a:rPr sz="1275" b="0">
                <a:solidFill>
                  <a:srgbClr val="56616F"/>
                </a:solidFill>
              </a:rPr>
              <a:t>CO-014 package, RFI log, and open-items register.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997BC-17F6-4539-AD5C-9B906D74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6616F"/>
                </a:solidFill>
              </a:defRPr>
            </a:pPr>
            <a:r>
              <a:rPr sz="1050" b="0">
                <a:solidFill>
                  <a:srgbClr val="56616F"/>
                </a:solidFill>
              </a:rPr>
              <a:t>Synthetic export: no addresses, access procedures, personal data, or contract instructions included.</a:t>
            </a:r>
          </a:p>
        </p:txBody>
      </p:sp>
    </p:spTree>
    <p:extLst>
      <p:ext uri="{BB962C8B-B14F-4D97-AF65-F5344CB8AC3E}">
        <p14:creationId xmlns:p14="http://schemas.microsoft.com/office/powerpoint/2010/main" val="18078750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2026-08-23T19:35:40.1240000Z</dcterms:created>
  <dcterms:modified xsi:type="dcterms:W3CDTF">2026-08-23T19:35:40.1240000Z</dcterms:modified>
</coreProperties>
</file>