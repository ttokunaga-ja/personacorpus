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93e959ac8940d4" /><Relationship Type="http://schemas.openxmlformats.org/officeDocument/2006/relationships/extended-properties" Target="/docProps/app.xml" Id="Rb54cfe4ef8cb4c08" /><Relationship Type="http://schemas.openxmlformats.org/officeDocument/2006/relationships/officeDocument" Target="/ppt/presentation.xml" Id="Ra79b2da4843548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ebb044a65e4cb2"/>
  </p:sldMasterIdLst>
  <p:notesMasterIdLst>
    <p:notesMasterId xmlns:r="http://schemas.openxmlformats.org/officeDocument/2006/relationships" r:id="R31a8503e1d3044e2"/>
  </p:notesMasterIdLst>
  <p:sldIdLst>
    <p:sldId xmlns:r="http://schemas.openxmlformats.org/officeDocument/2006/relationships" id="256" r:id="Rd3c2f0b4cbd54238"/>
    <p:sldId xmlns:r="http://schemas.openxmlformats.org/officeDocument/2006/relationships" id="257" r:id="Ra5cd535f3c1d4c8b"/>
    <p:sldId xmlns:r="http://schemas.openxmlformats.org/officeDocument/2006/relationships" id="258" r:id="Rd12ce490346146b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ea2f8e7dfc4733" /><Relationship Type="http://schemas.openxmlformats.org/officeDocument/2006/relationships/slideMaster" Target="/ppt/slideMasters/slideMaster1.xml" Id="Re4ebb044a65e4cb2" /><Relationship Type="http://schemas.openxmlformats.org/officeDocument/2006/relationships/notesMaster" Target="/ppt/notesMasters/notesMaster1.xml" Id="R31a8503e1d3044e2" /><Relationship Type="http://schemas.openxmlformats.org/officeDocument/2006/relationships/presProps" Target="/ppt/presProps.xml" Id="Ra25ed3c3a83342c3" /><Relationship Type="http://schemas.openxmlformats.org/officeDocument/2006/relationships/tableStyles" Target="/ppt/tableStyles.xml" Id="Ra0dbd8f97c2f4305" /><Relationship Type="http://schemas.openxmlformats.org/officeDocument/2006/relationships/slide" Target="/ppt/slides/slide1.xml" Id="Rd3c2f0b4cbd54238" /><Relationship Type="http://schemas.openxmlformats.org/officeDocument/2006/relationships/slide" Target="/ppt/slides/slide2.xml" Id="Ra5cd535f3c1d4c8b" /><Relationship Type="http://schemas.openxmlformats.org/officeDocument/2006/relationships/slide" Target="/ppt/slides/slide3.xml" Id="Rd12ce490346146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004bdf771442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f306bb18254307" /><Relationship Type="http://schemas.openxmlformats.org/officeDocument/2006/relationships/notesMaster" Target="/ppt/notesMasters/notesMaster1.xml" Id="Rb3ffb22820fb47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157b2c64024121" /><Relationship Type="http://schemas.openxmlformats.org/officeDocument/2006/relationships/notesMaster" Target="/ppt/notesMasters/notesMaster1.xml" Id="R2a683eb635ef43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d3657d499f4ce9" /><Relationship Type="http://schemas.openxmlformats.org/officeDocument/2006/relationships/notesMaster" Target="/ppt/notesMasters/notesMaster1.xml" Id="R5fb2e01d41e24b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working draft. No external assets or external claims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working draft. No external assets or external claims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Synthetic Project Alpha control data created for this working draft. No external assets or external claims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0b5da88a645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7e945c89ef455c" /><Relationship Type="http://schemas.openxmlformats.org/officeDocument/2006/relationships/slideLayout" Target="/ppt/slideLayouts/slideLayout1.xml" Id="R080ed364881a458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0ed364881a458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f4f4b6c9242ab" /><Relationship Type="http://schemas.openxmlformats.org/officeDocument/2006/relationships/notesSlide" Target="/ppt/notesSlides/notesSlide1.xml" Id="R20bf247307e241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8d50ca7b349d4" /><Relationship Type="http://schemas.openxmlformats.org/officeDocument/2006/relationships/notesSlide" Target="/ppt/notesSlides/notesSlide2.xml" Id="Rc16bc406bf6f4a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2f5640b1d4dca" /><Relationship Type="http://schemas.openxmlformats.org/officeDocument/2006/relationships/chart" Target="/ppt/slides/charts/chart1.xml" Id="R12bc72040fea49cf" /><Relationship Type="http://schemas.openxmlformats.org/officeDocument/2006/relationships/notesSlide" Target="/ppt/notesSlides/notesSlide3.xml" Id="R5702e7a19086457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JPY millions</c:v>
          </c:tx>
          <c:spPr>
            <a:solidFill xmlns:a="http://schemas.openxmlformats.org/drawingml/2006/main">
              <a:srgbClr val="F28C28"/>
            </a:solidFill>
          </c:spPr>
          <c:cat>
            <c:strLit>
              <c:ptCount val="6"/>
              <c:pt idx="0">
                <c:v>Temporary works</c:v>
              </c:pt>
              <c:pt idx="1">
                <c:v>Crane coordination</c:v>
              </c:pt>
              <c:pt idx="2">
                <c:v>Pump relocation</c:v>
              </c:pt>
              <c:pt idx="3">
                <c:v>Materials handling</c:v>
              </c:pt>
              <c:pt idx="4">
                <c:v>Field verification</c:v>
              </c:pt>
              <c:pt idx="5">
                <c:v>Risk allowance</c:v>
              </c:pt>
            </c:strLit>
          </c:cat>
          <c:val>
            <c:numLit>
              <c:formatCode>General</c:formatCode>
              <c:ptCount val="6"/>
              <c:pt idx="0">
                <c:v>5.24</c:v>
              </c:pt>
              <c:pt idx="1">
                <c:v>4.88</c:v>
              </c:pt>
              <c:pt idx="2">
                <c:v>3.11</c:v>
              </c:pt>
              <c:pt idx="3">
                <c:v>2.47</c:v>
              </c:pt>
              <c:pt idx="4">
                <c:v>3.36</c:v>
              </c:pt>
              <c:pt idx="5">
                <c:v>1.56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2E6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2ED62-EAFB-4E87-9CE8-FF517AF9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8C28"/>
                </a:solidFill>
              </a:defRPr>
            </a:pPr>
            <a:r>
              <a:rPr sz="1200" b="1">
                <a:solidFill>
                  <a:srgbClr val="F28C28"/>
                </a:solidFill>
              </a:rPr>
              <a:t>PROJECT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F892F-BCC7-4BC9-AD85-D62376DF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7429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23B52"/>
                </a:solidFill>
              </a:defRPr>
            </a:pPr>
            <a:r>
              <a:rPr sz="3600" b="1">
                <a:solidFill>
                  <a:srgbClr val="123B52"/>
                </a:solidFill>
              </a:rPr>
              <a:t>Morning huddle: confirm the revised work zones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31D3C-3663-4F5F-8DBD-20951C05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0510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45263"/>
                </a:solidFill>
              </a:defRPr>
            </a:pPr>
            <a:r>
              <a:rPr sz="1725" b="0">
                <a:solidFill>
                  <a:srgbClr val="345263"/>
                </a:solidFill>
              </a:rPr>
              <a:t>CO-014 is held at a working value of JPY 18,600,000. The immediate job is consistent exclusion and hold-zone control.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2061D9-53A7-41A9-9FDD-8274FC06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143000"/>
            <a:ext cx="2571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B52"/>
          </a:solidFill>
          <a:ln xmlns:a="http://schemas.openxmlformats.org/drawingml/2006/main" w="0">
            <a:solidFill>
              <a:srgbClr val="123B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BC250-F9B1-40CD-A92F-1D1A76C7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049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8E"/>
                </a:solidFill>
              </a:defRPr>
            </a:pPr>
            <a:r>
              <a:rPr sz="1350" b="1">
                <a:solidFill>
                  <a:srgbClr val="F4C78E"/>
                </a:solidFill>
              </a:rPr>
              <a:t>TODAY'S DECISION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34105-EA0B-430A-B3BD-E82C5B6A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76450"/>
            <a:ext cx="1857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Release after exclusion controls, hold-zone marking, and RFI-014 verification.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965EC-29CE-480B-B9C5-58A123A1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7280"/>
                </a:solidFill>
              </a:defRPr>
            </a:pPr>
            <a:r>
              <a:rPr sz="900" b="1">
                <a:solidFill>
                  <a:srgbClr val="5A7280"/>
                </a:solidFill>
              </a:rPr>
              <a:t>HARBOR BUILD  |  PROJECT ALPHA 2026  |  2026-07-29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3D8815-B375-428A-B544-0D08AF4B8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7280"/>
                </a:solidFill>
              </a:defRPr>
            </a:pPr>
            <a:r>
              <a:rPr sz="900" b="1">
                <a:solidFill>
                  <a:srgbClr val="5A7280"/>
                </a:solidFill>
              </a:rPr>
              <a:t>MORNING HUDDLE  1/3</a:t>
            </a:r>
          </a:p>
        </p:txBody>
      </p:sp>
    </p:spTree>
    <p:extLst>
      <p:ext uri="{BB962C8B-B14F-4D97-AF65-F5344CB8AC3E}">
        <p14:creationId xmlns:p14="http://schemas.microsoft.com/office/powerpoint/2010/main" val="4900569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059A95-B9B9-4A89-A550-82AE1CBF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23B52"/>
                </a:solidFill>
              </a:defRPr>
            </a:pPr>
            <a:r>
              <a:rPr sz="2700" b="1">
                <a:solidFill>
                  <a:srgbClr val="123B52"/>
                </a:solidFill>
              </a:rPr>
              <a:t>The field setup has three non-negotiable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CC9A1-38A1-4EE5-907E-CC20B219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76325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280"/>
                </a:solidFill>
              </a:defRPr>
            </a:pPr>
            <a:r>
              <a:rPr sz="1350" b="0">
                <a:solidFill>
                  <a:srgbClr val="5A7280"/>
                </a:solidFill>
              </a:rPr>
              <a:t>Each control is visible, checkable, and owned before activity begins.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51C2C-CA57-4F3A-929D-81E7F568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45853-FCB4-4C3D-8CAB-1E911555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90500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245A1-C906-47C4-8E14-52F170AA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62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B52"/>
                </a:solidFill>
              </a:defRPr>
            </a:pPr>
            <a:r>
              <a:rPr sz="1950" b="1">
                <a:solidFill>
                  <a:srgbClr val="123B52"/>
                </a:solidFill>
              </a:rPr>
              <a:t>SEPARATE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6DAC1-45CA-423C-8B57-95E787B8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6217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5263"/>
                </a:solidFill>
              </a:defRPr>
            </a:pPr>
            <a:r>
              <a:rPr sz="1500" b="0">
                <a:solidFill>
                  <a:srgbClr val="345263"/>
                </a:solidFill>
              </a:rPr>
              <a:t>Maintain the defined exclusion and hold zones during work-zone coordination.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5987A-B9EB-4843-A907-8228A036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288FE7-9C17-4DE8-A131-58C696C7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286125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A4634-1A5B-4B85-A4D7-55C56EAD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143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B52"/>
                </a:solidFill>
              </a:defRPr>
            </a:pPr>
            <a:r>
              <a:rPr sz="1950" b="1">
                <a:solidFill>
                  <a:srgbClr val="123B52"/>
                </a:solidFill>
              </a:rPr>
              <a:t>MARK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FDF9D-3C19-4EA1-8748-730532BF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43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5263"/>
                </a:solidFill>
              </a:defRPr>
            </a:pPr>
            <a:r>
              <a:rPr sz="1500" b="0">
                <a:solidFill>
                  <a:srgbClr val="345263"/>
                </a:solidFill>
              </a:rPr>
              <a:t>Set the central crane exclusion zone and concrete pump hold zone to the working markup.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500E1C-6A0B-4260-A537-21D41D33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solidFill>
              <a:srgbClr val="F28C2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8D351-7209-4D0C-AC37-225EA70AB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67250"/>
            <a:ext cx="333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30F5D-F457-4121-A253-9EE99FA1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23B52"/>
                </a:solidFill>
              </a:defRPr>
            </a:pPr>
            <a:r>
              <a:rPr sz="1950" b="1">
                <a:solidFill>
                  <a:srgbClr val="123B52"/>
                </a:solidFill>
              </a:rPr>
              <a:t>VERIFY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21649-2F2C-4417-99AB-B6BB991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24425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45263"/>
                </a:solidFill>
              </a:defRPr>
            </a:pPr>
            <a:r>
              <a:rPr sz="1500" b="0">
                <a:solidFill>
                  <a:srgbClr val="345263"/>
                </a:solidFill>
              </a:rPr>
              <a:t>Close RFI-014 sketch comments and record the zone-control review before release.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16177E-6321-4389-9997-2C7F6632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7280"/>
                </a:solidFill>
              </a:defRPr>
            </a:pPr>
            <a:r>
              <a:rPr sz="900" b="1">
                <a:solidFill>
                  <a:srgbClr val="5A7280"/>
                </a:solidFill>
              </a:rPr>
              <a:t>HARBOR BUILD  |  PROJECT ALPHA 2026  |  2026-07-29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5995A-A302-44E6-AFB0-0D6124A9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7280"/>
                </a:solidFill>
              </a:defRPr>
            </a:pPr>
            <a:r>
              <a:rPr sz="900" b="1">
                <a:solidFill>
                  <a:srgbClr val="5A7280"/>
                </a:solidFill>
              </a:rPr>
              <a:t>MORNING HUDDLE  2/3</a:t>
            </a:r>
          </a:p>
        </p:txBody>
      </p:sp>
    </p:spTree>
    <p:extLst>
      <p:ext uri="{BB962C8B-B14F-4D97-AF65-F5344CB8AC3E}">
        <p14:creationId xmlns:p14="http://schemas.microsoft.com/office/powerpoint/2010/main" val="20061183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4DE30-898B-4F25-A35D-D24962C6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23B52"/>
                </a:solidFill>
              </a:defRPr>
            </a:pPr>
            <a:r>
              <a:rPr sz="2625" b="1">
                <a:solidFill>
                  <a:srgbClr val="123B52"/>
                </a:solidFill>
              </a:rPr>
              <a:t>CO-014 working value is aligned to the current lookahead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8250A-0F55-41CC-A9C6-B45D6457E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A7280"/>
                </a:solidFill>
              </a:defRPr>
            </a:pPr>
            <a:r>
              <a:rPr sz="1350" b="0">
                <a:solidFill>
                  <a:srgbClr val="5A7280"/>
                </a:solidFill>
              </a:rPr>
              <a:t>Working allocation by field package (JPY millions)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600200"/>
          <a:ext xmlns:a="http://schemas.openxmlformats.org/drawingml/2006/main" cx="6572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bc72040fea49c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60ACDF-7D5A-42D2-BC2C-20204A56A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3333750" cy="3333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23B52"/>
          </a:solidFill>
          <a:ln xmlns:a="http://schemas.openxmlformats.org/drawingml/2006/main" w="0">
            <a:solidFill>
              <a:srgbClr val="123B5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145AD-821B-430B-8C1D-D7E9F0F5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00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C78E"/>
                </a:solidFill>
              </a:defRPr>
            </a:pPr>
            <a:r>
              <a:rPr sz="1350" b="1">
                <a:solidFill>
                  <a:srgbClr val="F4C78E"/>
                </a:solidFill>
              </a:rPr>
              <a:t>RELEASE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F79C3-8741-409C-A5FE-4A2B3F9B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765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JPY 18,600,000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256CF-C7E3-49FC-8401-1626B4B3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81350"/>
            <a:ext cx="2333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Confirm commercial exceptions, then record the zone-control review and issue the next coordination update.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92A69F-A580-4674-8EAE-1937CE08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714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7280"/>
                </a:solidFill>
              </a:defRPr>
            </a:pPr>
            <a:r>
              <a:rPr sz="900" b="1">
                <a:solidFill>
                  <a:srgbClr val="5A7280"/>
                </a:solidFill>
              </a:rPr>
              <a:t>HARBOR BUILD  |  PROJECT ALPHA 2026  |  2026-07-29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7AFE5-3E7C-4351-9E7D-4B28B0E1D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6419850"/>
            <a:ext cx="1409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5A7280"/>
                </a:solidFill>
              </a:defRPr>
            </a:pPr>
            <a:r>
              <a:rPr sz="900" b="1">
                <a:solidFill>
                  <a:srgbClr val="5A7280"/>
                </a:solidFill>
              </a:rPr>
              <a:t>MORNING HUDDLE  3/3</a:t>
            </a:r>
          </a:p>
        </p:txBody>
      </p:sp>
    </p:spTree>
    <p:extLst>
      <p:ext uri="{BB962C8B-B14F-4D97-AF65-F5344CB8AC3E}">
        <p14:creationId xmlns:p14="http://schemas.microsoft.com/office/powerpoint/2010/main" val="1388250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2026-08-23T19:36:22.1730000Z</dcterms:created>
  <dcterms:modified xsi:type="dcterms:W3CDTF">2026-08-23T19:36:22.1730000Z</dcterms:modified>
</coreProperties>
</file>