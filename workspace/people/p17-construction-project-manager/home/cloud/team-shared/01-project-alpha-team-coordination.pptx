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85420ab244a29" /><Relationship Type="http://schemas.openxmlformats.org/officeDocument/2006/relationships/extended-properties" Target="/docProps/app.xml" Id="Rce1f1f84426b4e33" /><Relationship Type="http://schemas.openxmlformats.org/officeDocument/2006/relationships/officeDocument" Target="/ppt/presentation.xml" Id="R3da49ff0961b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f92cc8df14b03"/>
  </p:sldMasterIdLst>
  <p:notesMasterIdLst>
    <p:notesMasterId xmlns:r="http://schemas.openxmlformats.org/officeDocument/2006/relationships" r:id="R2218a6d5d8d1412a"/>
  </p:notesMasterIdLst>
  <p:sldIdLst>
    <p:sldId xmlns:r="http://schemas.openxmlformats.org/officeDocument/2006/relationships" id="256" r:id="Ra9a67c4bcfc447d4"/>
    <p:sldId xmlns:r="http://schemas.openxmlformats.org/officeDocument/2006/relationships" id="257" r:id="R20137703a5b54b7c"/>
    <p:sldId xmlns:r="http://schemas.openxmlformats.org/officeDocument/2006/relationships" id="258" r:id="Rfb1e9fa8f3c7412a"/>
    <p:sldId xmlns:r="http://schemas.openxmlformats.org/officeDocument/2006/relationships" id="259" r:id="Rc6d4f6850266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0f5da59cd46ba" /><Relationship Type="http://schemas.openxmlformats.org/officeDocument/2006/relationships/slideMaster" Target="/ppt/slideMasters/slideMaster1.xml" Id="R83df92cc8df14b03" /><Relationship Type="http://schemas.openxmlformats.org/officeDocument/2006/relationships/notesMaster" Target="/ppt/notesMasters/notesMaster1.xml" Id="R2218a6d5d8d1412a" /><Relationship Type="http://schemas.openxmlformats.org/officeDocument/2006/relationships/presProps" Target="/ppt/presProps.xml" Id="R1b1070228739471b" /><Relationship Type="http://schemas.openxmlformats.org/officeDocument/2006/relationships/tableStyles" Target="/ppt/tableStyles.xml" Id="Rdefb9fb640234a6f" /><Relationship Type="http://schemas.openxmlformats.org/officeDocument/2006/relationships/slide" Target="/ppt/slides/slide1.xml" Id="Ra9a67c4bcfc447d4" /><Relationship Type="http://schemas.openxmlformats.org/officeDocument/2006/relationships/slide" Target="/ppt/slides/slide2.xml" Id="R20137703a5b54b7c" /><Relationship Type="http://schemas.openxmlformats.org/officeDocument/2006/relationships/slide" Target="/ppt/slides/slide3.xml" Id="Rfb1e9fa8f3c7412a" /><Relationship Type="http://schemas.openxmlformats.org/officeDocument/2006/relationships/slide" Target="/ppt/slides/slide4.xml" Id="Rc6d4f6850266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63ab6f14f549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a4eb2b37f54cdd" /><Relationship Type="http://schemas.openxmlformats.org/officeDocument/2006/relationships/notesMaster" Target="/ppt/notesMasters/notesMaster1.xml" Id="Rb856ad6f4b63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3416603d944173" /><Relationship Type="http://schemas.openxmlformats.org/officeDocument/2006/relationships/notesMaster" Target="/ppt/notesMasters/notesMaster1.xml" Id="Rf8799edb4d164b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b7aa297a444295" /><Relationship Type="http://schemas.openxmlformats.org/officeDocument/2006/relationships/notesMaster" Target="/ppt/notesMasters/notesMaster1.xml" Id="R53868d7f42f946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bdab7a56164849" /><Relationship Type="http://schemas.openxmlformats.org/officeDocument/2006/relationships/notesMaster" Target="/ppt/notesMasters/notesMaster1.xml" Id="R261b6b262d804d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project-control data. No external assets or external claims.</a:t>
            </a:r>
          </a:p>
          <a:p xmlns:a="http://schemas.openxmlformats.org/drawingml/2006/main">
            <a:r>
              <a:t>Portfolio snapshot as of 2026-07-29 18:00 JST; CO-014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project-control data. No external assets or external claims.</a:t>
            </a:r>
          </a:p>
          <a:p xmlns:a="http://schemas.openxmlformats.org/drawingml/2006/main">
            <a:r>
              <a:t>Portfolio snapshot as of 2026-07-29 18:00 JST; CO-014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project-control data. No external assets or external claims.</a:t>
            </a:r>
          </a:p>
          <a:p xmlns:a="http://schemas.openxmlformats.org/drawingml/2006/main">
            <a:r>
              <a:t>Portfolio snapshot as of 2026-07-29 18:00 JST; CO-014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project-control data. No external assets or external claims.</a:t>
            </a:r>
          </a:p>
          <a:p xmlns:a="http://schemas.openxmlformats.org/drawingml/2006/main">
            <a:r>
              <a:t>Portfolio snapshot as of 2026-07-29 18:00 JST; CO-014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2062ae450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4d76cbc6b4ed4" /><Relationship Type="http://schemas.openxmlformats.org/officeDocument/2006/relationships/slideLayout" Target="/ppt/slideLayouts/slideLayout1.xml" Id="R6c2b93a5db33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b93a5db33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7bb1d06c4ac2" /><Relationship Type="http://schemas.openxmlformats.org/officeDocument/2006/relationships/notesSlide" Target="/ppt/notesSlides/notesSlide1.xml" Id="R43e708ffa8884b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780b23a324159" /><Relationship Type="http://schemas.openxmlformats.org/officeDocument/2006/relationships/notesSlide" Target="/ppt/notesSlides/notesSlide2.xml" Id="Rbd852a9f6165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6a49dd4904a1d" /><Relationship Type="http://schemas.openxmlformats.org/officeDocument/2006/relationships/notesSlide" Target="/ppt/notesSlides/notesSlide3.xml" Id="R69578013e0d6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24fbf139940fb" /><Relationship Type="http://schemas.openxmlformats.org/officeDocument/2006/relationships/notesSlide" Target="/ppt/notesSlides/notesSlide4.xml" Id="R0cb2f4e345f6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305D0-88D2-4BDF-A4FE-5823B79B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2"/>
          </a:solidFill>
          <a:ln xmlns:a="http://schemas.openxmlformats.org/drawingml/2006/main" w="9525">
            <a:solidFill>
              <a:srgbClr val="15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4A425-CCC1-4F03-90AB-2022AB24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EAF2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620D5-5A63-460E-9275-19868CE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4F5"/>
                </a:solidFill>
              </a:defRPr>
            </a:pPr>
            <a:r>
              <a:rPr sz="1125" b="1">
                <a:solidFill>
                  <a:srgbClr val="BFE4F5"/>
                </a:solidFill>
              </a:rPr>
              <a:t>WEEKLY TEAM COORDINATION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D2842-99A3-49BE-A362-CF16D6D7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Project Alpha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team coordination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3E4F-D013-4D96-9770-496EBED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EF6"/>
                </a:solidFill>
              </a:defRPr>
            </a:pPr>
            <a:r>
              <a:rPr sz="1650" b="0">
                <a:solidFill>
                  <a:srgbClr val="D9EEF6"/>
                </a:solidFill>
              </a:rPr>
              <a:t>Harbor Build</a:t>
            </a:r>
          </a:p>
          <a:p xmlns:a="http://schemas.openxmlformats.org/drawingml/2006/main">
            <a:pPr algn="l">
              <a:defRPr sz="1650" b="0">
                <a:solidFill>
                  <a:srgbClr val="D9EEF6"/>
                </a:solidFill>
              </a:defRPr>
            </a:pPr>
            <a:r>
              <a:rPr sz="1650" b="0">
                <a:solidFill>
                  <a:srgbClr val="D9EEF6"/>
                </a:solidFill>
              </a:rPr>
              <a:t>As of 2026-07-29 18:00 JST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7DD7F-678B-4972-8F45-C8EF5AF0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858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52"/>
                </a:solidFill>
              </a:defRPr>
            </a:pPr>
            <a:r>
              <a:rPr sz="2550" b="1">
                <a:solidFill>
                  <a:srgbClr val="153B52"/>
                </a:solidFill>
              </a:rPr>
              <a:t>A dated working view for the delivery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D067-F283-4C7D-BAC4-A7F54DB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526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42D"/>
                </a:solidFill>
              </a:defRPr>
            </a:pPr>
            <a:r>
              <a:rPr sz="1650" b="0">
                <a:solidFill>
                  <a:srgbClr val="17242D"/>
                </a:solidFill>
              </a:rPr>
              <a:t>Current focus: integrate the approved CO-014 scope, resolve remaining ceiling-zone interfaces, and protect the August coordination milestone.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210F7-8B3C-4DE0-A1FF-3E16D060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CO-014 approved 16:42 JST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1143A-E396-461E-8DE1-52BBDE3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62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B52"/>
                </a:solidFill>
              </a:defRPr>
            </a:pPr>
            <a:r>
              <a:rPr sz="2850" b="1">
                <a:solidFill>
                  <a:srgbClr val="153B52"/>
                </a:solidFill>
              </a:rPr>
              <a:t>JPY 18,600,000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6AA06-EA7D-466A-8E7E-89B4A0D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62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Next team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7366F-99DA-4C6C-B7AC-E356212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B52"/>
                </a:solidFill>
              </a:defRPr>
            </a:pPr>
            <a:r>
              <a:rPr sz="2100" b="1">
                <a:solidFill>
                  <a:srgbClr val="153B52"/>
                </a:solidFill>
              </a:rPr>
              <a:t>2026-08-03 look-ahead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19E23-23E7-4EBE-BD18-64F835F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HARBOR BUILD  /  PROJECT ALPHA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1CD7B-1C50-4305-8F6F-BD8AEBE2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AS OF 2026-07-29 18:00 JST  /  01</a:t>
            </a:r>
          </a:p>
        </p:txBody>
      </p:sp>
    </p:spTree>
    <p:extLst>
      <p:ext uri="{BB962C8B-B14F-4D97-AF65-F5344CB8AC3E}">
        <p14:creationId xmlns:p14="http://schemas.microsoft.com/office/powerpoint/2010/main" val="956307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012C3-8093-4158-996D-6D79B658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3B52"/>
                </a:solidFill>
              </a:defRPr>
            </a:pPr>
            <a:r>
              <a:rPr sz="2625" b="1">
                <a:solidFill>
                  <a:srgbClr val="153B52"/>
                </a:solidFill>
              </a:rPr>
              <a:t>The team can protect the next coordination milestone by closing three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DBC7-0CD3-49A9-97CF-FD1D567F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Portfolio snapshot as of 2026-07-29 18:00 JST; CO-014 approval recorded at 16:42 JST.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3A9D0-A86A-417F-8C51-30F97CA9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1A59-3524-4C7A-A053-338D97A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149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F1144-9E3F-4179-8B59-91D80E3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52"/>
                </a:solidFill>
              </a:defRPr>
            </a:pPr>
            <a:r>
              <a:rPr sz="1800" b="1">
                <a:solidFill>
                  <a:srgbClr val="153B52"/>
                </a:solidFill>
              </a:rPr>
              <a:t>This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89A15-9405-425E-9806-1840BFE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</a:defRPr>
            </a:pPr>
            <a:r>
              <a:rPr sz="1575" b="0">
                <a:solidFill>
                  <a:srgbClr val="17242D"/>
                </a:solidFill>
              </a:rPr>
              <a:t>• Foundation release sequence confirmed</a:t>
            </a:r>
          </a:p>
          <a:p xmlns:a="http://schemas.openxmlformats.org/drawingml/2006/main">
            <a:pPr algn="l">
              <a:defRPr sz="1575" b="0">
                <a:solidFill>
                  <a:srgbClr val="17242D"/>
                </a:solidFill>
              </a:defRPr>
            </a:pPr>
            <a:r>
              <a:rPr sz="1575" b="0">
                <a:solidFill>
                  <a:srgbClr val="17242D"/>
                </a:solidFill>
              </a:rPr>
              <a:t>• CO-014 assumptions aligned in the short-interval plan</a:t>
            </a:r>
          </a:p>
          <a:p xmlns:a="http://schemas.openxmlformats.org/drawingml/2006/main">
            <a:pPr algn="l">
              <a:defRPr sz="1575" b="0">
                <a:solidFill>
                  <a:srgbClr val="17242D"/>
                </a:solidFill>
              </a:defRPr>
            </a:pPr>
            <a:r>
              <a:rPr sz="1575" b="0">
                <a:solidFill>
                  <a:srgbClr val="17242D"/>
                </a:solidFill>
              </a:rPr>
              <a:t>• Ceiling-zone conflicts narrowed to three zones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03640-B031-46DC-9B86-5607B78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52"/>
                </a:solidFill>
              </a:defRPr>
            </a:pPr>
            <a:r>
              <a:rPr sz="1800" b="1">
                <a:solidFill>
                  <a:srgbClr val="153B52"/>
                </a:solidFill>
              </a:rPr>
              <a:t>What must happen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7040B-D5BE-456F-B33D-F6F50E29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286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</a:defRPr>
            </a:pPr>
            <a:r>
              <a:rPr sz="1500" b="0">
                <a:solidFill>
                  <a:srgbClr val="17242D"/>
                </a:solidFill>
              </a:rPr>
              <a:t>1. Assign an accountable discipline and response date to each remaining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42D"/>
                </a:solidFill>
              </a:defRPr>
            </a:pPr>
            <a:r>
              <a:rPr sz="1500" b="0">
                <a:solidFill>
                  <a:srgbClr val="17242D"/>
                </a:solidFill>
              </a:rPr>
              <a:t>2. Verify CO-014 quantities in the release map before 2026-07-31.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42D"/>
                </a:solidFill>
              </a:defRPr>
            </a:pPr>
            <a:r>
              <a:rPr sz="1500" b="0">
                <a:solidFill>
                  <a:srgbClr val="17242D"/>
                </a:solidFill>
              </a:rPr>
              <a:t>3. Use the action register as the shared evidence trail.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082CB-8D72-4AA7-A55A-91782871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HARBOR BUILD  /  PROJECT ALPHA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FF77C-D63B-41B6-8478-B2203A5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AS OF 2026-07-29 18:00 JST  /  02</a:t>
            </a:r>
          </a:p>
        </p:txBody>
      </p:sp>
    </p:spTree>
    <p:extLst>
      <p:ext uri="{BB962C8B-B14F-4D97-AF65-F5344CB8AC3E}">
        <p14:creationId xmlns:p14="http://schemas.microsoft.com/office/powerpoint/2010/main" val="2131708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EEADE5-E4C9-4134-9F4C-036A316A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3B52"/>
                </a:solidFill>
              </a:defRPr>
            </a:pPr>
            <a:r>
              <a:rPr sz="2625" b="1">
                <a:solidFill>
                  <a:srgbClr val="153B52"/>
                </a:solidFill>
              </a:rPr>
              <a:t>Workstreams are aligned, with MEP and procurement under active watch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5FE1D-8804-4A56-8404-8D12DB57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Portfolio snapshot as of 2026-07-29 18:00 JST; CO-014 approval recorded at 16:42 JST.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6848E-ECD3-4956-90A4-27D469BC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857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2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20613-AB25-4F21-BAC5-FFA8745E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28825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F5ADE-CF9B-4532-82DA-8508D9C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57375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2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CF115-BBD0-4C39-9AB1-7E4F27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2882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6885C-E250-4772-910B-32CD44F7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3190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2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E7914-769B-4E69-82F9-C0250FA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1AB80-31B4-430A-AB1E-586A597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19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52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5067E-2737-4C34-9704-80FC2C4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2882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Next 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B07BE-24BB-4AE6-A722-C293BD9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857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BED60-E420-45E8-99D9-0535502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7475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Civil /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12038-1D32-4A84-8531-F03D588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86025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39E94-A81F-4A52-BFAD-5B40A26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574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A5B"/>
                </a:solidFill>
              </a:defRPr>
            </a:pPr>
            <a:r>
              <a:rPr sz="1275" b="1">
                <a:solidFill>
                  <a:srgbClr val="167A5B"/>
                </a:solidFill>
              </a:rPr>
              <a:t>GREEN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F0419-CB78-46CB-B9C1-C981B67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86025"/>
            <a:ext cx="3190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1FA80-E0B8-44B0-9933-9997A2C8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5747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Release sequence 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64274-1FF7-4616-88C5-A23F014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86025"/>
            <a:ext cx="4219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112E9-E42A-48B9-8519-F8BC27B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5747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Issue two-week release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B3851-B427-4D81-85AC-320C036D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857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4445B-CF56-4D66-8ED6-9AA76ED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MEP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7C580-96EA-4308-BD00-B5EF94AA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14675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F7D16-C116-46DD-9675-F9789943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8612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AMBER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A72DD-6E63-4224-8DCE-3CDA381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3190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415F1-87A4-4E64-8132-FE987034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Three zones remain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1B4D8-B112-4846-9174-2E5C90B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14675"/>
            <a:ext cx="4219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7ED82-A9CA-4A43-9975-9880E2AE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8612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Close response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9D942-4E29-41B4-A057-A4626C4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857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6C0FC-1B9F-44A8-89FE-6F2593C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Procurement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B1700-5A36-4C7F-AF1A-A2E36313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43325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4D323B-C9D8-47F1-AC2F-685783C6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9147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AMBER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582B8-AA25-44E1-AE3F-23F9496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43325"/>
            <a:ext cx="3190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30230-44CC-4E32-A386-5BB3EDA8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1477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CO-014 assumptions aligned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57B9F-3B2D-4FE0-94CE-ECBBA49A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43325"/>
            <a:ext cx="4219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E80A0-93A6-4053-B3F1-7388FEB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1477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Confirm vendor-ready quantities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FE9260-84E7-477A-9400-6484A839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857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B4008F-5C7A-4003-9799-8B968E81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Quality / close-out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04A971-3166-4D68-AA5D-F4AAF68F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71975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EA08D2-9A45-43F6-BD20-F847CE5D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4342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A5B"/>
                </a:solidFill>
              </a:defRPr>
            </a:pPr>
            <a:r>
              <a:rPr sz="1275" b="1">
                <a:solidFill>
                  <a:srgbClr val="167A5B"/>
                </a:solidFill>
              </a:rPr>
              <a:t>GREEN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30B86D-D8F9-46CD-BB39-997DE74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71975"/>
            <a:ext cx="3190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0F7BB0-6CE0-4C17-A1AB-00C85BF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434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Hold-point checklist standardized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9371F2-1594-4B5B-BE5B-7FF60EA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71975"/>
            <a:ext cx="4219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685DD9-2748-4017-9E81-84344F8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43425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Pilot on first released area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70EDE3-B141-4BD3-895E-DA85F55D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HARBOR BUILD  /  PROJECT ALPHA 2026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9D2E5-6D71-4235-B457-549B503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AS OF 2026-07-29 18:00 JST  /  03</a:t>
            </a:r>
          </a:p>
        </p:txBody>
      </p:sp>
    </p:spTree>
    <p:extLst>
      <p:ext uri="{BB962C8B-B14F-4D97-AF65-F5344CB8AC3E}">
        <p14:creationId xmlns:p14="http://schemas.microsoft.com/office/powerpoint/2010/main" val="1824795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963F2-ABA1-4225-8F61-0195EC8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3B52"/>
                </a:solidFill>
              </a:defRPr>
            </a:pPr>
            <a:r>
              <a:rPr sz="2625" b="1">
                <a:solidFill>
                  <a:srgbClr val="153B52"/>
                </a:solidFill>
              </a:rPr>
              <a:t>The next seven days turn coordination decisions into field-ready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B1138-A94D-4AC1-AAD5-A250A18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As of 2026-07-29 18:00 JST; CO-014 approved 16:42 JST.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7C488-0D61-4F3C-A6E4-F3A5A55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ECE15-96BF-4B9E-977A-12C54B8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2026-07-30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ABEDF-DFAE-4801-BDE9-BDEADDD0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52"/>
                </a:solidFill>
              </a:defRPr>
            </a:pPr>
            <a:r>
              <a:rPr sz="1950" b="1">
                <a:solidFill>
                  <a:srgbClr val="153B52"/>
                </a:solidFill>
              </a:rPr>
              <a:t>Circulate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8A76B-8563-425E-8C5A-38754143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</a:defRPr>
            </a:pPr>
            <a:r>
              <a:rPr sz="1350" b="0">
                <a:solidFill>
                  <a:srgbClr val="17242D"/>
                </a:solidFill>
              </a:rPr>
              <a:t>Publish accountable follow-ups from the coordination huddle.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517C-0585-47E5-B3CB-86CA9D01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98FB0-D187-4901-9A53-E32749E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52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2026-07-31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A38A4-E781-4859-9015-95D42FA0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9082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52"/>
                </a:solidFill>
              </a:defRPr>
            </a:pPr>
            <a:r>
              <a:rPr sz="1950" b="1">
                <a:solidFill>
                  <a:srgbClr val="153B52"/>
                </a:solidFill>
              </a:rPr>
              <a:t>Verify release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477F0-D74A-4A89-A05F-61260137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71875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</a:defRPr>
            </a:pPr>
            <a:r>
              <a:rPr sz="1350" b="0">
                <a:solidFill>
                  <a:srgbClr val="17242D"/>
                </a:solidFill>
              </a:rPr>
              <a:t>Check CO-014 quantities against current interfaces.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1689A-51D3-479F-B28B-44474F8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0F408-6B25-4AC8-8482-7FB87D0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52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2026-08-03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79639-5AC8-4AEB-A5A5-0D8F4EA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9082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52"/>
                </a:solidFill>
              </a:defRPr>
            </a:pPr>
            <a:r>
              <a:rPr sz="1950" b="1">
                <a:solidFill>
                  <a:srgbClr val="153B52"/>
                </a:solidFill>
              </a:rPr>
              <a:t>Review look-ahead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3B4B7-2FA9-49E9-908F-17639248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</a:defRPr>
            </a:pPr>
            <a:r>
              <a:rPr sz="1350" b="0">
                <a:solidFill>
                  <a:srgbClr val="17242D"/>
                </a:solidFill>
              </a:rPr>
              <a:t>Confirm the August milestone and escalation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4D783-E305-470A-8982-888F500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B52"/>
                </a:solidFill>
              </a:defRPr>
            </a:pPr>
            <a:r>
              <a:rPr sz="1500" b="1">
                <a:solidFill>
                  <a:srgbClr val="153B52"/>
                </a:solidFill>
              </a:rPr>
              <a:t>Decision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415D8-50DD-4712-A200-0E6C9B5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</a:defRPr>
            </a:pPr>
            <a:r>
              <a:rPr sz="1575" b="0">
                <a:solidFill>
                  <a:srgbClr val="17242D"/>
                </a:solidFill>
              </a:rPr>
              <a:t>Keep unresolved ceiling-zone interfaces visible in the shared action register until a dated response is accepted.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350B0-5BD7-41D1-9CE0-8BDF47C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HARBOR BUILD  /  PROJECT ALPHA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A61AB-71E7-4377-A10B-1DA0637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AS OF 2026-07-29 18:00 JST  /  04</a:t>
            </a:r>
          </a:p>
        </p:txBody>
      </p:sp>
    </p:spTree>
    <p:extLst>
      <p:ext uri="{BB962C8B-B14F-4D97-AF65-F5344CB8AC3E}">
        <p14:creationId xmlns:p14="http://schemas.microsoft.com/office/powerpoint/2010/main" val="291229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2026-08-23T19:36:51.5510000Z</dcterms:created>
  <dcterms:modified xsi:type="dcterms:W3CDTF">2026-08-23T19:36:51.5510000Z</dcterms:modified>
</coreProperties>
</file>