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9a1e8155eb4a79" /><Relationship Type="http://schemas.openxmlformats.org/officeDocument/2006/relationships/extended-properties" Target="/docProps/app.xml" Id="R06c02999725c4b22" /><Relationship Type="http://schemas.openxmlformats.org/officeDocument/2006/relationships/officeDocument" Target="/ppt/presentation.xml" Id="R096c1bdd67ca4f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48525851be4877"/>
  </p:sldMasterIdLst>
  <p:notesMasterIdLst>
    <p:notesMasterId xmlns:r="http://schemas.openxmlformats.org/officeDocument/2006/relationships" r:id="Rcf983383cf864d69"/>
  </p:notesMasterIdLst>
  <p:sldIdLst>
    <p:sldId xmlns:r="http://schemas.openxmlformats.org/officeDocument/2006/relationships" id="256" r:id="Rc915f439055a454f"/>
    <p:sldId xmlns:r="http://schemas.openxmlformats.org/officeDocument/2006/relationships" id="257" r:id="R95e2533c540e4400"/>
    <p:sldId xmlns:r="http://schemas.openxmlformats.org/officeDocument/2006/relationships" id="258" r:id="R8853bce766eb4752"/>
    <p:sldId xmlns:r="http://schemas.openxmlformats.org/officeDocument/2006/relationships" id="259" r:id="Ra184c57c776247e6"/>
    <p:sldId xmlns:r="http://schemas.openxmlformats.org/officeDocument/2006/relationships" id="260" r:id="R161d6aea481240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a93ab4c33f403b" /><Relationship Type="http://schemas.openxmlformats.org/officeDocument/2006/relationships/slideMaster" Target="/ppt/slideMasters/slideMaster1.xml" Id="R9248525851be4877" /><Relationship Type="http://schemas.openxmlformats.org/officeDocument/2006/relationships/notesMaster" Target="/ppt/notesMasters/notesMaster1.xml" Id="Rcf983383cf864d69" /><Relationship Type="http://schemas.openxmlformats.org/officeDocument/2006/relationships/presProps" Target="/ppt/presProps.xml" Id="R4f7faf4965d94fb8" /><Relationship Type="http://schemas.openxmlformats.org/officeDocument/2006/relationships/tableStyles" Target="/ppt/tableStyles.xml" Id="R4587f0131ad843f8" /><Relationship Type="http://schemas.openxmlformats.org/officeDocument/2006/relationships/slide" Target="/ppt/slides/slide1.xml" Id="Rc915f439055a454f" /><Relationship Type="http://schemas.openxmlformats.org/officeDocument/2006/relationships/slide" Target="/ppt/slides/slide2.xml" Id="R95e2533c540e4400" /><Relationship Type="http://schemas.openxmlformats.org/officeDocument/2006/relationships/slide" Target="/ppt/slides/slide3.xml" Id="R8853bce766eb4752" /><Relationship Type="http://schemas.openxmlformats.org/officeDocument/2006/relationships/slide" Target="/ppt/slides/slide4.xml" Id="Ra184c57c776247e6" /><Relationship Type="http://schemas.openxmlformats.org/officeDocument/2006/relationships/slide" Target="/ppt/slides/slide5.xml" Id="R161d6aea481240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fa6464897b4d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653cc2720e4ae9" /><Relationship Type="http://schemas.openxmlformats.org/officeDocument/2006/relationships/notesMaster" Target="/ppt/notesMasters/notesMaster1.xml" Id="R98deaef64b4040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9433c815ed41c2" /><Relationship Type="http://schemas.openxmlformats.org/officeDocument/2006/relationships/notesMaster" Target="/ppt/notesMasters/notesMaster1.xml" Id="Rbdbc29b4aa3140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ba0a3d063c44e8" /><Relationship Type="http://schemas.openxmlformats.org/officeDocument/2006/relationships/notesMaster" Target="/ppt/notesMasters/notesMaster1.xml" Id="Re699f79a4a8d4e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9d2e575ca34c12" /><Relationship Type="http://schemas.openxmlformats.org/officeDocument/2006/relationships/notesMaster" Target="/ppt/notesMasters/notesMaster1.xml" Id="Rcbc301a9f13d48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82434547a7421a" /><Relationship Type="http://schemas.openxmlformats.org/officeDocument/2006/relationships/notesMaster" Target="/ppt/notesMasters/notesMaster1.xml" Id="Raee3bf11bd5146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Harbor Build Project Alpha 2026 project-control data. No external assets or external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Control timeline: Pre-approval control snapshot — as of 2026-07-29 15:30 JST; superseded by approval recorded at 16:42 JST. Before approval, release was prohibited.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Harbor Build Project Alpha 2026 project-control data. No external assets or external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Control timeline: Pre-approval control snapshot — as of 2026-07-29 15:30 JST; superseded by approval recorded at 16:42 JST. Before approval, release was prohibited.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Harbor Build Project Alpha 2026 project-control data. No external assets or external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Control timeline: Pre-approval control snapshot — as of 2026-07-29 15:30 JST; superseded by approval recorded at 16:42 JST. Before approval, release was prohibited.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Harbor Build Project Alpha 2026 project-control data. No external assets or external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Control timeline: Pre-approval control snapshot — as of 2026-07-29 15:30 JST; superseded by approval recorded at 16:42 JST. Before approval, release was prohibited.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Harbor Build Project Alpha 2026 project-control data. No external assets or external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Control timeline: Pre-approval control snapshot — as of 2026-07-29 15:30 JST; superseded by approval recorded at 16:42 JST. Before approval, release was prohibited.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35d65237642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03ede9e1f1416b" /><Relationship Type="http://schemas.openxmlformats.org/officeDocument/2006/relationships/slideLayout" Target="/ppt/slideLayouts/slideLayout1.xml" Id="R0d2baf0b843c43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2baf0b843c43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506e8487a4dc9" /><Relationship Type="http://schemas.openxmlformats.org/officeDocument/2006/relationships/notesSlide" Target="/ppt/notesSlides/notesSlide1.xml" Id="R219d183b52ab43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45e5bb0bf4634" /><Relationship Type="http://schemas.openxmlformats.org/officeDocument/2006/relationships/notesSlide" Target="/ppt/notesSlides/notesSlide2.xml" Id="R07d36fb6081e47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b6f03953f4b10" /><Relationship Type="http://schemas.openxmlformats.org/officeDocument/2006/relationships/notesSlide" Target="/ppt/notesSlides/notesSlide3.xml" Id="R9bd4839fdedc47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8c291737549ad" /><Relationship Type="http://schemas.openxmlformats.org/officeDocument/2006/relationships/notesSlide" Target="/ppt/notesSlides/notesSlide4.xml" Id="R362a6d13e25a4e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8edf3516f4d2e" /><Relationship Type="http://schemas.openxmlformats.org/officeDocument/2006/relationships/notesSlide" Target="/ppt/notesSlides/notesSlide5.xml" Id="R1722bb2a897542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C0985-1E2B-4D65-A908-B30FC3D3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52"/>
          </a:solidFill>
          <a:ln xmlns:a="http://schemas.openxmlformats.org/drawingml/2006/main" w="0">
            <a:solidFill>
              <a:srgbClr val="163B5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B9CD9-361E-4181-8A42-474498F2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B32"/>
          </a:solidFill>
          <a:ln xmlns:a="http://schemas.openxmlformats.org/drawingml/2006/main" w="0">
            <a:solidFill>
              <a:srgbClr val="D58B32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2115711-0A74-49ED-8B70-D7348AC0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10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6757F"/>
                </a:solidFill>
              </a:defRPr>
            </a:pPr>
            <a:r>
              <a:rPr sz="1200" b="1">
                <a:solidFill>
                  <a:srgbClr val="66757F"/>
                </a:solidFill>
              </a:rPr>
              <a:t>HARBOR BUILD  /  PROJECT ALPHA 2026  /  CO-014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5690F9-D685-45EE-A660-B50FB856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B52"/>
                </a:solidFill>
              </a:defRPr>
            </a:pPr>
            <a:r>
              <a:rPr sz="3150" b="1">
                <a:solidFill>
                  <a:srgbClr val="163B52"/>
                </a:solidFill>
              </a:rPr>
              <a:t>CO-014 executive change review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40B5BFF-D33D-4C86-B38A-FEF80D36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952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F2933"/>
                </a:solidFill>
              </a:defRPr>
            </a:pPr>
            <a:r>
              <a:rPr sz="2025" b="0">
                <a:solidFill>
                  <a:srgbClr val="1F2933"/>
                </a:solidFill>
              </a:rPr>
              <a:t>Decision requested: approve JPY 18,600,000 controlled change order.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18A7E02-7BD6-4759-A4D0-63D4F053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53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6757F"/>
                </a:solidFill>
              </a:defRPr>
            </a:pPr>
            <a:r>
              <a:rPr sz="1200" b="0">
                <a:solidFill>
                  <a:srgbClr val="66757F"/>
                </a:solidFill>
              </a:rPr>
              <a:t>Harbor Build | Project Alpha 2026 | Status 2026-07-29</a:t>
            </a:r>
          </a:p>
        </p:txBody>
      </p:sp>
    </p:spTree>
    <p:extLst>
      <p:ext uri="{BB962C8B-B14F-4D97-AF65-F5344CB8AC3E}">
        <p14:creationId xmlns:p14="http://schemas.microsoft.com/office/powerpoint/2010/main" val="8513774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68BFF-D4CA-43BA-9085-000AD3F3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52"/>
          </a:solidFill>
          <a:ln xmlns:a="http://schemas.openxmlformats.org/drawingml/2006/main" w="0">
            <a:solidFill>
              <a:srgbClr val="163B5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ADA54-CC0C-4F8D-9F3F-2E6D93BD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B32"/>
          </a:solidFill>
          <a:ln xmlns:a="http://schemas.openxmlformats.org/drawingml/2006/main" w="0">
            <a:solidFill>
              <a:srgbClr val="D58B32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1122F20-0700-4016-B75E-A1CD11EF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10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6757F"/>
                </a:solidFill>
              </a:defRPr>
            </a:pPr>
            <a:r>
              <a:rPr sz="1200" b="1">
                <a:solidFill>
                  <a:srgbClr val="66757F"/>
                </a:solidFill>
              </a:rPr>
              <a:t>HARBOR BUILD  /  PROJECT ALPHA 2026  /  CO-014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F3AA7CA-78A5-47D5-9DF5-B55F09F5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B52"/>
                </a:solidFill>
              </a:defRPr>
            </a:pPr>
            <a:r>
              <a:rPr sz="3150" b="1">
                <a:solidFill>
                  <a:srgbClr val="163B52"/>
                </a:solidFill>
              </a:rPr>
              <a:t>The change is bounded and traceable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ED6AB1C-42BC-412B-8408-0743C40B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952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F2933"/>
                </a:solidFill>
              </a:defRPr>
            </a:pPr>
            <a:r>
              <a:rPr sz="2025" b="0">
                <a:solidFill>
                  <a:srgbClr val="1F2933"/>
                </a:solidFill>
              </a:rPr>
              <a:t>Seven priced lines cover coordination, trade revisions, testing, and controlled general conditions.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1AFF93F-59A3-4BBD-8215-6C65839D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53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6757F"/>
                </a:solidFill>
              </a:defRPr>
            </a:pPr>
            <a:r>
              <a:rPr sz="1200" b="0">
                <a:solidFill>
                  <a:srgbClr val="66757F"/>
                </a:solidFill>
              </a:rPr>
              <a:t>Reconciled total: JPY 18,600,000</a:t>
            </a:r>
          </a:p>
        </p:txBody>
      </p:sp>
    </p:spTree>
    <p:extLst>
      <p:ext uri="{BB962C8B-B14F-4D97-AF65-F5344CB8AC3E}">
        <p14:creationId xmlns:p14="http://schemas.microsoft.com/office/powerpoint/2010/main" val="16928427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2D281-A64A-461F-98FF-815F5E66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52"/>
          </a:solidFill>
          <a:ln xmlns:a="http://schemas.openxmlformats.org/drawingml/2006/main" w="0">
            <a:solidFill>
              <a:srgbClr val="163B5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46B1A-BC23-4A75-B3EF-BE17F37B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B32"/>
          </a:solidFill>
          <a:ln xmlns:a="http://schemas.openxmlformats.org/drawingml/2006/main" w="0">
            <a:solidFill>
              <a:srgbClr val="D58B32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BE565FF-C430-4031-BF8D-FE43A925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10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6757F"/>
                </a:solidFill>
              </a:defRPr>
            </a:pPr>
            <a:r>
              <a:rPr sz="1200" b="1">
                <a:solidFill>
                  <a:srgbClr val="66757F"/>
                </a:solidFill>
              </a:rPr>
              <a:t>HARBOR BUILD  /  PROJECT ALPHA 2026  /  CO-014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3163A8-4E4C-4A1D-9348-5E7351D0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B52"/>
                </a:solidFill>
              </a:defRPr>
            </a:pPr>
            <a:r>
              <a:rPr sz="3150" b="1">
                <a:solidFill>
                  <a:srgbClr val="163B52"/>
                </a:solidFill>
              </a:rPr>
              <a:t>Cost concentration is visible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EED6316-D7D7-4FDF-AB55-11A0D95F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952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F2933"/>
                </a:solidFill>
              </a:defRPr>
            </a:pPr>
            <a:r>
              <a:rPr sz="2025" b="0">
                <a:solidFill>
                  <a:srgbClr val="1F2933"/>
                </a:solidFill>
              </a:rPr>
              <a:t>MEP reroute JPY 4,180,000</a:t>
            </a:r>
          </a:p>
          <a:p xmlns:a="http://schemas.openxmlformats.org/drawingml/2006/main">
            <a:pPr>
              <a:buNone/>
              <a:defRPr sz="2025" b="0">
                <a:solidFill>
                  <a:srgbClr val="1F2933"/>
                </a:solidFill>
              </a:defRPr>
            </a:pPr>
            <a:r>
              <a:rPr sz="2025" b="0">
                <a:solidFill>
                  <a:srgbClr val="1F2933"/>
                </a:solidFill>
              </a:rPr>
              <a:t>Structural steel JPY 3,650,000</a:t>
            </a:r>
          </a:p>
          <a:p xmlns:a="http://schemas.openxmlformats.org/drawingml/2006/main">
            <a:pPr>
              <a:buNone/>
              <a:defRPr sz="2025" b="0">
                <a:solidFill>
                  <a:srgbClr val="1F2933"/>
                </a:solidFill>
              </a:defRPr>
            </a:pPr>
            <a:r>
              <a:rPr sz="2025" b="0">
                <a:solidFill>
                  <a:srgbClr val="1F2933"/>
                </a:solidFill>
              </a:rPr>
              <a:t>Schedule recovery controls JPY 2,800,000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E231C4F-8360-4CE0-B3A2-292FDCCC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53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6757F"/>
                </a:solidFill>
              </a:defRPr>
            </a:pPr>
            <a:r>
              <a:rPr sz="1200" b="0">
                <a:solidFill>
                  <a:srgbClr val="66757F"/>
                </a:solidFill>
              </a:rPr>
              <a:t>Remaining lines reconcile to the same total.</a:t>
            </a:r>
          </a:p>
        </p:txBody>
      </p:sp>
    </p:spTree>
    <p:extLst>
      <p:ext uri="{BB962C8B-B14F-4D97-AF65-F5344CB8AC3E}">
        <p14:creationId xmlns:p14="http://schemas.microsoft.com/office/powerpoint/2010/main" val="7967626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25EC9-9789-4DFD-80F0-6496D3A5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52"/>
          </a:solidFill>
          <a:ln xmlns:a="http://schemas.openxmlformats.org/drawingml/2006/main" w="0">
            <a:solidFill>
              <a:srgbClr val="163B5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CA208-8B70-4919-87E7-C1829B20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B32"/>
          </a:solidFill>
          <a:ln xmlns:a="http://schemas.openxmlformats.org/drawingml/2006/main" w="0">
            <a:solidFill>
              <a:srgbClr val="D58B32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44570A8-90E6-430C-B8A9-306E2D32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10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6757F"/>
                </a:solidFill>
              </a:defRPr>
            </a:pPr>
            <a:r>
              <a:rPr sz="1200" b="1">
                <a:solidFill>
                  <a:srgbClr val="66757F"/>
                </a:solidFill>
              </a:rPr>
              <a:t>HARBOR BUILD  /  PROJECT ALPHA 2026  /  CO-014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BAEFE0-E4F5-4A98-8C39-DC8A529F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B52"/>
                </a:solidFill>
              </a:defRPr>
            </a:pPr>
            <a:r>
              <a:rPr sz="3150" b="1">
                <a:solidFill>
                  <a:srgbClr val="163B52"/>
                </a:solidFill>
              </a:rPr>
              <a:t>Forecast exposure remains controlled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080105C-1FA6-4738-A486-7F4DC76B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952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F2933"/>
                </a:solidFill>
              </a:defRPr>
            </a:pPr>
            <a:r>
              <a:rPr sz="2025" b="0">
                <a:solidFill>
                  <a:srgbClr val="1F2933"/>
                </a:solidFill>
              </a:rPr>
              <a:t>Commercial review is complete; CO-014 remains pending formal approval.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D3E9956-72D7-4932-BF88-2D609006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53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6757F"/>
                </a:solidFill>
              </a:defRPr>
            </a:pPr>
            <a:r>
              <a:rPr sz="1200" b="0">
                <a:solidFill>
                  <a:srgbClr val="66757F"/>
                </a:solidFill>
              </a:rPr>
              <a:t>No procurement or field release occurs outside approved scope.</a:t>
            </a:r>
          </a:p>
        </p:txBody>
      </p:sp>
    </p:spTree>
    <p:extLst>
      <p:ext uri="{BB962C8B-B14F-4D97-AF65-F5344CB8AC3E}">
        <p14:creationId xmlns:p14="http://schemas.microsoft.com/office/powerpoint/2010/main" val="4359689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DAB61-DDF6-464F-80B1-C19BF3A5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52"/>
          </a:solidFill>
          <a:ln xmlns:a="http://schemas.openxmlformats.org/drawingml/2006/main" w="0">
            <a:solidFill>
              <a:srgbClr val="163B5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AE5C8-8411-4046-A3E9-DF985AEB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B32"/>
          </a:solidFill>
          <a:ln xmlns:a="http://schemas.openxmlformats.org/drawingml/2006/main" w="0">
            <a:solidFill>
              <a:srgbClr val="D58B32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CDCDC68-3821-42CA-9C22-45782393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10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6757F"/>
                </a:solidFill>
              </a:defRPr>
            </a:pPr>
            <a:r>
              <a:rPr sz="1200" b="1">
                <a:solidFill>
                  <a:srgbClr val="66757F"/>
                </a:solidFill>
              </a:rPr>
              <a:t>HARBOR BUILD  /  PROJECT ALPHA 2026  /  CO-014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DF9CA7-ED4A-4390-957F-B2799A9A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B52"/>
                </a:solidFill>
              </a:defRPr>
            </a:pPr>
            <a:r>
              <a:rPr sz="3150" b="1">
                <a:solidFill>
                  <a:srgbClr val="163B52"/>
                </a:solidFill>
              </a:rPr>
              <a:t>Approve the controlled path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C78E3BA-BE58-4758-98EC-B36C711B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952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F2933"/>
                </a:solidFill>
              </a:defRPr>
            </a:pPr>
            <a:r>
              <a:rPr sz="2025" b="0">
                <a:solidFill>
                  <a:srgbClr val="1F2933"/>
                </a:solidFill>
              </a:rPr>
              <a:t>Record the change, release only approved activities, and maintain the revised access sequence.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CBD7269-3B51-4EE2-94E4-F343A66F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53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6757F"/>
                </a:solidFill>
              </a:defRPr>
            </a:pPr>
            <a:r>
              <a:rPr sz="1200" b="0">
                <a:solidFill>
                  <a:srgbClr val="66757F"/>
                </a:solidFill>
              </a:rPr>
              <a:t>Next gate: documented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8405744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2026-08-23T19:45:54.1100000Z</dcterms:created>
  <dcterms:modified xsi:type="dcterms:W3CDTF">2026-08-23T19:45:54.1100000Z</dcterms:modified>
</coreProperties>
</file>