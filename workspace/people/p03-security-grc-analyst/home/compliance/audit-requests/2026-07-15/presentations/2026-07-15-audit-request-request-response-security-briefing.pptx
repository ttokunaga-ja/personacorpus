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3501d36d2b74419" /><Relationship Type="http://schemas.openxmlformats.org/officeDocument/2006/relationships/extended-properties" Target="/docProps/app.xml" Id="R5b3f4355cc2c4d67" /><Relationship Type="http://schemas.openxmlformats.org/officeDocument/2006/relationships/officeDocument" Target="/ppt/presentation.xml" Id="Re133ff596acb4d9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e871a49ea6846bf"/>
  </p:sldMasterIdLst>
  <p:notesMasterIdLst>
    <p:notesMasterId xmlns:r="http://schemas.openxmlformats.org/officeDocument/2006/relationships" r:id="R6d21ed164f92480e"/>
  </p:notesMasterIdLst>
  <p:sldIdLst>
    <p:sldId xmlns:r="http://schemas.openxmlformats.org/officeDocument/2006/relationships" id="256" r:id="Re244433ac8504bd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d3fa607498a4667" /><Relationship Type="http://schemas.openxmlformats.org/officeDocument/2006/relationships/slideMaster" Target="/ppt/slideMasters/slideMaster1.xml" Id="R9e871a49ea6846bf" /><Relationship Type="http://schemas.openxmlformats.org/officeDocument/2006/relationships/notesMaster" Target="/ppt/notesMasters/notesMaster1.xml" Id="R6d21ed164f92480e" /><Relationship Type="http://schemas.openxmlformats.org/officeDocument/2006/relationships/presProps" Target="/ppt/presProps.xml" Id="Rc4798460cd354ceb" /><Relationship Type="http://schemas.openxmlformats.org/officeDocument/2006/relationships/tableStyles" Target="/ppt/tableStyles.xml" Id="Rb993b3cf56a94395" /><Relationship Type="http://schemas.openxmlformats.org/officeDocument/2006/relationships/slide" Target="/ppt/slides/slide1.xml" Id="Re244433ac8504bd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9ccd2d1615e447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a3248e45a2043b5" /><Relationship Type="http://schemas.openxmlformats.org/officeDocument/2006/relationships/notesMaster" Target="/ppt/notesMasters/notesMaster1.xml" Id="R6cfd1ae678c948b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5094be234d490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844d211743744da" /><Relationship Type="http://schemas.openxmlformats.org/officeDocument/2006/relationships/slideLayout" Target="/ppt/slideLayouts/slideLayout1.xml" Id="R37e98f1093d5443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7e98f1093d5443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8c74de266342e7" /><Relationship Type="http://schemas.openxmlformats.org/officeDocument/2006/relationships/notesSlide" Target="/ppt/notesSlides/notesSlide1.xml" Id="R97f7c7d1834f478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E84848-8543-4F9B-B344-E5E6553F3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COBALT HARBOR SYSTEMS  |  AC-27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E0912A-3A92-43C4-BDED-7C4E6855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Audit-request briefing: evidence status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CE8F3C-F4CD-497C-8A29-44DFAB6BC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Artifact review period: 2026-07-15     Direct dependency source period: 2026-07-20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000B9F-9216-4579-B10F-7DC86B6EB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B08B6B-88FE-4183-BD69-31599E223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Direct record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B954E1-4159-4F74-A583-C0597D37B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44291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7364B"/>
                </a:solidFill>
              </a:defRPr>
            </a:pPr>
            <a:r>
              <a:rPr sz="1350" b="0">
                <a:solidFill>
                  <a:srgbClr val="27364B"/>
                </a:solidFill>
              </a:rPr>
              <a:t>p03-full-000725 | AR-260713-027 | AC-27</a:t>
            </a:r>
          </a:p>
          <a:p xmlns:a="http://schemas.openxmlformats.org/drawingml/2006/main">
            <a:pPr>
              <a:defRPr sz="1350" b="0">
                <a:solidFill>
                  <a:srgbClr val="27364B"/>
                </a:solidFill>
              </a:defRPr>
            </a:pPr>
            <a:r>
              <a:rPr sz="1350" b="0">
                <a:solidFill>
                  <a:srgbClr val="27364B"/>
                </a:solidFill>
              </a:rPr>
              <a:t>Evidence: EV-184-19</a:t>
            </a:r>
          </a:p>
          <a:p xmlns:a="http://schemas.openxmlformats.org/drawingml/2006/main">
            <a:pPr>
              <a:defRPr sz="1350" b="0">
                <a:solidFill>
                  <a:srgbClr val="27364B"/>
                </a:solidFill>
              </a:defRPr>
            </a:pPr>
            <a:r>
              <a:rPr sz="1350" b="0">
                <a:solidFill>
                  <a:srgbClr val="27364B"/>
                </a:solidFill>
              </a:rPr>
              <a:t>Workflow: closure follow-up</a:t>
            </a:r>
          </a:p>
          <a:p xmlns:a="http://schemas.openxmlformats.org/drawingml/2006/main">
            <a:pPr>
              <a:defRPr sz="1350" b="0">
                <a:solidFill>
                  <a:srgbClr val="27364B"/>
                </a:solidFill>
              </a:defRPr>
            </a:pPr>
            <a:r>
              <a:rPr sz="1350" b="0">
                <a:solidFill>
                  <a:srgbClr val="27364B"/>
                </a:solidFill>
              </a:rPr>
              <a:t>Lens: control ownership</a:t>
            </a:r>
          </a:p>
          <a:p xmlns:a="http://schemas.openxmlformats.org/drawingml/2006/main">
            <a:pPr>
              <a:defRPr sz="1350" b="0">
                <a:solidFill>
                  <a:srgbClr val="27364B"/>
                </a:solidFill>
              </a:defRPr>
            </a:pPr>
            <a:r>
              <a:rPr sz="1350" b="0">
                <a:solidFill>
                  <a:srgbClr val="27364B"/>
                </a:solidFill>
              </a:rPr>
              <a:t>Custodian: AC-27 control reviewer</a:t>
            </a:r>
          </a:p>
          <a:p xmlns:a="http://schemas.openxmlformats.org/drawingml/2006/main">
            <a:pPr>
              <a:defRPr sz="1350" b="0">
                <a:solidFill>
                  <a:srgbClr val="27364B"/>
                </a:solidFill>
              </a:defRPr>
            </a:pPr>
            <a:r>
              <a:rPr sz="1350" b="0">
                <a:solidFill>
                  <a:srgbClr val="27364B"/>
                </a:solidFill>
              </a:rPr>
              <a:t>Sequence: 725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799871-F5A5-4DD6-90C5-51C3DD2B4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2860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Evaluation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5F766B-2408-463C-AD71-C669765DC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609850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7364B"/>
                </a:solidFill>
              </a:defRPr>
            </a:pPr>
            <a:r>
              <a:rPr sz="1425" b="1">
                <a:solidFill>
                  <a:srgbClr val="27364B"/>
                </a:solidFill>
              </a:rPr>
              <a:t>Does the stage-specific check address the relevant control question?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0DAAD5-C310-413F-A0B3-8A9ABB036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3528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Method and interpretation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F85374-C52B-4491-8F97-E7C75373D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600450"/>
            <a:ext cx="4762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7364B"/>
                </a:solidFill>
              </a:defRPr>
            </a:pPr>
            <a:r>
              <a:rPr sz="1200" b="0">
                <a:solidFill>
                  <a:srgbClr val="27364B"/>
                </a:solidFill>
              </a:rPr>
              <a:t>Challenge each conclusion by removing its cited evidence reference. The workflow stage limits the conclusion to the recorded assurance activity.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307596-BB77-4F8D-BE92-DDEDC502C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591050"/>
            <a:ext cx="47625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B8C4C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1A74B0-6A4A-4710-B416-8D28E6946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33925"/>
            <a:ext cx="4343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02A43"/>
                </a:solidFill>
              </a:defRPr>
            </a:pPr>
            <a:r>
              <a:rPr sz="975" b="1">
                <a:solidFill>
                  <a:srgbClr val="102A43"/>
                </a:solidFill>
              </a:rPr>
              <a:t>Direct-source measures: population 48 | timely 47 | final 48 | verified 24 of 24</a:t>
            </a:r>
          </a:p>
          <a:p xmlns:a="http://schemas.openxmlformats.org/drawingml/2006/main">
            <a:pPr>
              <a:defRPr sz="975" b="1">
                <a:solidFill>
                  <a:srgbClr val="102A43"/>
                </a:solidFill>
              </a:defRPr>
            </a:pPr>
            <a:r>
              <a:rPr sz="975" b="1">
                <a:solidFill>
                  <a:srgbClr val="102A43"/>
                </a:solidFill>
              </a:rPr>
              <a:t>Risk: RISK-031; residual: Medium</a:t>
            </a:r>
          </a:p>
          <a:p xmlns:a="http://schemas.openxmlformats.org/drawingml/2006/main">
            <a:pPr>
              <a:defRPr sz="975" b="1">
                <a:solidFill>
                  <a:srgbClr val="102A43"/>
                </a:solidFill>
              </a:defRPr>
            </a:pPr>
            <a:r>
              <a:rPr sz="975" b="1">
                <a:solidFill>
                  <a:srgbClr val="102A43"/>
                </a:solidFill>
              </a:rPr>
              <a:t>Decision: Use for follow-up planning, not for an operating-effectiveness declaration.</a:t>
            </a:r>
          </a:p>
          <a:p xmlns:a="http://schemas.openxmlformats.org/drawingml/2006/main">
            <a:pPr>
              <a:defRPr sz="975" b="1">
                <a:solidFill>
                  <a:srgbClr val="102A43"/>
                </a:solidFill>
              </a:defRPr>
            </a:pPr>
            <a:r>
              <a:rPr sz="975" b="1">
                <a:solidFill>
                  <a:srgbClr val="102A43"/>
                </a:solidFill>
              </a:rPr>
              <a:t>Action: Keep the source-period field visible in response packets.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77A2FB-259E-45A8-84D7-548CD3580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Briefing record p03-full-007228  •  Synthetic defensive evidence only  •  No Kio claim</a:t>
            </a:r>
          </a:p>
        </p:txBody>
      </p:sp>
    </p:spTree>
    <p:extLst>
      <p:ext uri="{BB962C8B-B14F-4D97-AF65-F5344CB8AC3E}">
        <p14:creationId xmlns:p14="http://schemas.microsoft.com/office/powerpoint/2010/main" val="19091264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2026-08-24T13:30:45.3180000Z</dcterms:created>
  <dcterms:modified xsi:type="dcterms:W3CDTF">2026-08-24T13:30:45.3180000Z</dcterms:modified>
</coreProperties>
</file>