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0b620e402648cb" /><Relationship Type="http://schemas.openxmlformats.org/officeDocument/2006/relationships/extended-properties" Target="/docProps/app.xml" Id="Rb5d0c8ee9bf34294" /><Relationship Type="http://schemas.openxmlformats.org/officeDocument/2006/relationships/officeDocument" Target="/ppt/presentation.xml" Id="Rde233fe5f9e749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786a0bc8a74eda"/>
  </p:sldMasterIdLst>
  <p:notesMasterIdLst>
    <p:notesMasterId xmlns:r="http://schemas.openxmlformats.org/officeDocument/2006/relationships" r:id="Rd2b797047e014f86"/>
  </p:notesMasterIdLst>
  <p:sldIdLst>
    <p:sldId xmlns:r="http://schemas.openxmlformats.org/officeDocument/2006/relationships" id="256" r:id="R330a98237e2546c2"/>
    <p:sldId xmlns:r="http://schemas.openxmlformats.org/officeDocument/2006/relationships" id="257" r:id="R6a9e00d79dca4490"/>
    <p:sldId xmlns:r="http://schemas.openxmlformats.org/officeDocument/2006/relationships" id="258" r:id="Ra5c586c0b2a544ff"/>
    <p:sldId xmlns:r="http://schemas.openxmlformats.org/officeDocument/2006/relationships" id="259" r:id="R5ff165b7c95f4e52"/>
    <p:sldId xmlns:r="http://schemas.openxmlformats.org/officeDocument/2006/relationships" id="260" r:id="Reea87824926a4f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55921bd5734b6f" /><Relationship Type="http://schemas.openxmlformats.org/officeDocument/2006/relationships/slideMaster" Target="/ppt/slideMasters/slideMaster1.xml" Id="R29786a0bc8a74eda" /><Relationship Type="http://schemas.openxmlformats.org/officeDocument/2006/relationships/notesMaster" Target="/ppt/notesMasters/notesMaster1.xml" Id="Rd2b797047e014f86" /><Relationship Type="http://schemas.openxmlformats.org/officeDocument/2006/relationships/presProps" Target="/ppt/presProps.xml" Id="R947bffa16dc944e8" /><Relationship Type="http://schemas.openxmlformats.org/officeDocument/2006/relationships/tableStyles" Target="/ppt/tableStyles.xml" Id="R0e3bb77ca934447f" /><Relationship Type="http://schemas.openxmlformats.org/officeDocument/2006/relationships/slide" Target="/ppt/slides/slide1.xml" Id="R330a98237e2546c2" /><Relationship Type="http://schemas.openxmlformats.org/officeDocument/2006/relationships/slide" Target="/ppt/slides/slide2.xml" Id="R6a9e00d79dca4490" /><Relationship Type="http://schemas.openxmlformats.org/officeDocument/2006/relationships/slide" Target="/ppt/slides/slide3.xml" Id="Ra5c586c0b2a544ff" /><Relationship Type="http://schemas.openxmlformats.org/officeDocument/2006/relationships/slide" Target="/ppt/slides/slide4.xml" Id="R5ff165b7c95f4e52" /><Relationship Type="http://schemas.openxmlformats.org/officeDocument/2006/relationships/slide" Target="/ppt/slides/slide5.xml" Id="Reea87824926a4f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1a6751e18a41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f0d79d1da54eda" /><Relationship Type="http://schemas.openxmlformats.org/officeDocument/2006/relationships/notesMaster" Target="/ppt/notesMasters/notesMaster1.xml" Id="R7e4a9f6d66fb4a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bca552a0a849f6" /><Relationship Type="http://schemas.openxmlformats.org/officeDocument/2006/relationships/notesMaster" Target="/ppt/notesMasters/notesMaster1.xml" Id="R61c05e379bd943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8c5404f6d941cf" /><Relationship Type="http://schemas.openxmlformats.org/officeDocument/2006/relationships/notesMaster" Target="/ppt/notesMasters/notesMaster1.xml" Id="R51315ab5a16542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3dc8d4b2034b0c" /><Relationship Type="http://schemas.openxmlformats.org/officeDocument/2006/relationships/notesMaster" Target="/ppt/notesMasters/notesMaster1.xml" Id="Rb762f88ab57248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f5de019adf461c" /><Relationship Type="http://schemas.openxmlformats.org/officeDocument/2006/relationships/notesMaster" Target="/ppt/notesMasters/notesMaster1.xml" Id="R33b808e7829942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fictional/synthetic GRC review dataset created for personaCorpus. No external claims, systems, or people represented.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fictional/synthetic GRC review dataset created for personaCorpus. No external claims, systems, or people represented.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fictional/synthetic GRC review dataset created for personaCorpus. No external claims, systems, or people represented.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fictional/synthetic GRC review dataset created for personaCorpus. No external claims, systems, or people represented.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fictional/synthetic GRC review dataset created for personaCorpus. No external claims, systems, or people represented.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d3eda9641244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2b7655e61a46e1" /><Relationship Type="http://schemas.openxmlformats.org/officeDocument/2006/relationships/slideLayout" Target="/ppt/slideLayouts/slideLayout1.xml" Id="R60eb59c87a504b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eb59c87a504b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5668a04ec4800" /><Relationship Type="http://schemas.openxmlformats.org/officeDocument/2006/relationships/notesSlide" Target="/ppt/notesSlides/notesSlide1.xml" Id="R206649924d454c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c024f93af4ff9" /><Relationship Type="http://schemas.openxmlformats.org/officeDocument/2006/relationships/chart" Target="/ppt/slides/charts/chart1.xml" Id="Re86aad19d3bb4a78" /><Relationship Type="http://schemas.openxmlformats.org/officeDocument/2006/relationships/notesSlide" Target="/ppt/notesSlides/notesSlide2.xml" Id="Rafd756f2479845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c80b68d914ed5" /><Relationship Type="http://schemas.openxmlformats.org/officeDocument/2006/relationships/notesSlide" Target="/ppt/notesSlides/notesSlide3.xml" Id="Rc4be9833299f4b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2c47ffa0654fb5" /><Relationship Type="http://schemas.openxmlformats.org/officeDocument/2006/relationships/notesSlide" Target="/ppt/notesSlides/notesSlide4.xml" Id="R074e61ce998b4b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6af1e041b4285" /><Relationship Type="http://schemas.openxmlformats.org/officeDocument/2006/relationships/notesSlide" Target="/ppt/notesSlides/notesSlide5.xml" Id="Rc838e33f6ac845a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Assurance progress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Mapped</c:v>
              </c:pt>
              <c:pt idx="1">
                <c:v>Tested</c:v>
              </c:pt>
              <c:pt idx="2">
                <c:v>Signed off</c:v>
              </c:pt>
            </c:strLit>
          </c:cat>
          <c:val>
            <c:numLit>
              <c:formatCode>General</c:formatCode>
              <c:ptCount val="3"/>
              <c:pt idx="0">
                <c:v>76</c:v>
              </c:pt>
              <c:pt idx="1">
                <c:v>89</c:v>
              </c:pt>
              <c:pt idx="2">
                <c:v>96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5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C0BFC4-AF43-4BD5-9CC7-F2275BE6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COBALT HARBOR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945DC3-E731-43D9-8898-D40672E8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628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Q3 control assurance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C4FC75-26DB-439D-811A-D4D4E36D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552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Cobalt Harbor Systems · defensive GRC assurance</a:t>
            </a:r>
          </a:p>
          <a:p xmlns:a="http://schemas.openxmlformats.org/drawingml/2006/main">
            <a:pPr algn="l">
              <a:defRPr sz="195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Focus: evidence quality, ownership, and exception closure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D9FE9A-E346-4A6C-B25A-F5872F2D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57250"/>
            <a:ext cx="39052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06BD7-1F51-457D-BC3C-7CCD4E8F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859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DEFENSIVE</a:t>
            </a:r>
          </a:p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ASSURANCE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19ED6F-A17C-4EF2-9333-DCF621CB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242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Evidence • ownership • decisions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BF7A5C-5538-45AB-9723-C61678E5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2865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1 / 5</a:t>
            </a:r>
          </a:p>
        </p:txBody>
      </p:sp>
    </p:spTree>
    <p:extLst>
      <p:ext uri="{BB962C8B-B14F-4D97-AF65-F5344CB8AC3E}">
        <p14:creationId xmlns:p14="http://schemas.microsoft.com/office/powerpoint/2010/main" val="6416912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3E2C85-F7A2-4EBE-BBC6-2839E6D7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Quarterly assurance posture: visible path to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D9BC3-F987-4772-AD57-3C870700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FB303E-8741-4150-8EEC-CF301138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COBALT HARBOR SYSTEMS · SECURITY / GRC · 2/5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61912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86aad19d3bb4a7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B5E59-1DA1-4B13-9462-B3E61B59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28750"/>
            <a:ext cx="3714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6A609-9630-46E6-8C8F-4971763D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335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Review insight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A656BF-F7CF-4294-A5B2-F1092297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098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Q3 coverage improves as control mapping becomes tested and signed off.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A43F31-E64A-48D9-A982-DB5F5C7F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38500"/>
            <a:ext cx="3714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5DD56-59DF-4E49-BB03-80742D8E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43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boundary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22D10F-C553-49D9-9082-15E9BDD8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528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This planning review does not certify effectiveness outside the sample window.</a:t>
            </a:r>
          </a:p>
        </p:txBody>
      </p:sp>
    </p:spTree>
    <p:extLst>
      <p:ext uri="{BB962C8B-B14F-4D97-AF65-F5344CB8AC3E}">
        <p14:creationId xmlns:p14="http://schemas.microsoft.com/office/powerpoint/2010/main" val="3793880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CFEFF4-FEC7-44C5-8A4A-52502CD8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Q3 testing: on-track vs exception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30098-5ADC-4A3B-A168-82F679E9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C572B-5541-4D8B-971D-471B813E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COBALT HARBOR SYSTEMS · SECURITY / GRC · 3/5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F8524C-FB0A-4705-BEAD-B2789718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Dates show the next review point for the assurance work already in motion.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5186A-6251-4177-B9C5-6B7895F2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43298-8EFF-446C-8F71-353B80CF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/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9FF920-2AC1-4DB9-A6DB-3EFC8CB8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52625"/>
            <a:ext cx="276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90411A-B035-41CE-8B6A-E516E4EC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0764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726E5B-0CDD-4CC8-95C3-A532CA3B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52625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73E196-7374-4B26-8D3A-994E2916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764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9F40E9-66D6-49E1-948E-8DA04549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52625"/>
            <a:ext cx="266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933DAA-A2B5-474F-9DC8-9F899B6C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50A0F6-F8E6-4758-8907-1A9E8088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9825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584DE2-B2CA-4A7B-9A4B-5F5DEB8A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0325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Access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776A19-DF2B-4C9B-8F3D-FB69DF22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09825"/>
            <a:ext cx="2762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CB9521-A5C1-4D25-9CFD-9C3CC4E4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00325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Q3 sample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72D058-5631-4A74-B590-E72C0C6E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9825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B45F43-2900-4DAA-8245-04C5DEDA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0032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On track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426512-ABE3-48E0-83F6-5443101D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09825"/>
            <a:ext cx="266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A71EF4-2434-4ED0-A855-45212E53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00325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15 Aug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5E5621-7407-488A-BC00-B92B7F59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38475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4CBF62-BF5A-4812-A4CF-DE39B873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28975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Evidence retention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5FB4F2-588C-44EE-8E86-EB2C1B48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38475"/>
            <a:ext cx="2762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82E301-4DAA-4D11-BB7D-BFA05B39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228975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Control set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BAFD9E-4F2E-430D-B0E0-C87F8CA6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38475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8F61C1-9161-4B6F-B96C-EAD3943B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289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On track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84850D-3FA9-45FB-BB3C-59B5DAB9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38475"/>
            <a:ext cx="266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DBA61E-14A9-4FD1-8844-354519D7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28975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22 Aug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B69741-7DD9-4640-A412-182E3831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67125"/>
            <a:ext cx="314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D6945B-67C0-47F1-B5DA-6CAFFC06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Exception register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67072D-AFB3-468D-9E86-FD04CDB1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67125"/>
            <a:ext cx="2762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AD701F-ACEB-4C52-ACEF-DB8AFDE1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57625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Aging review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E08691-0522-409B-B734-9E30F172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67125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A65F40-457C-4997-A0EA-5305CA89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5762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Watch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1DAFDC-BFBB-45CA-B897-C76AAA44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67125"/>
            <a:ext cx="266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6AE00E-6C80-43B4-A620-A502B314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57625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F2937"/>
                </a:solidFill>
                <a:latin typeface="Helvetica Neue"/>
                <a:ea typeface="Helvetica Neue"/>
                <a:cs typeface="Helvetica Neue"/>
              </a:rPr>
              <a:t>29 Aug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7922D1-3E7A-4CBC-A94C-DD7EA163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Treat the exception register as a decision input, not as a reason to delay every test.</a:t>
            </a:r>
          </a:p>
        </p:txBody>
      </p:sp>
    </p:spTree>
    <p:extLst>
      <p:ext uri="{BB962C8B-B14F-4D97-AF65-F5344CB8AC3E}">
        <p14:creationId xmlns:p14="http://schemas.microsoft.com/office/powerpoint/2010/main" val="6153756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306F4A-A3E1-4D55-B220-8B91711E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Q3 testing: map to sign-off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8B323-A679-4FBD-AF12-48B48EA9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24BE61-CC82-4BF2-B1E1-6204D39E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COBALT HARBOR SYSTEMS · SECURITY / GRC · 4/5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563432-588F-42CC-90FF-A0BA5FA6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88E5FE-C3E1-423B-8410-8B4BB5F7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38E59-C19F-4F5A-A1AE-09FB6D6E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6FD427-E4AE-4A85-A363-7F85D6B6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Week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7319B5-D585-4984-9ED8-83C1A299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71875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Confirm control-to-evidence links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B3E5E9-B4C1-49A2-8923-C30DA288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718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D03668-1D65-48D1-979F-D0B3EB63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955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CEBC90-A290-43F0-9E79-868E3568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Weeks 2–5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1A7975-2F51-49E1-ACA1-5B4246D5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71875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Validate representative records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38A131-4777-4871-9811-F0F1075F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718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7F23F6-2B63-40BB-9B79-486B755F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Sign off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F3650A-F9A0-4A1A-A802-57ADBE78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71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Week 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E4B499-E15B-4E8E-9C1B-B3886757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71875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Escalate remaining exceptions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5B0BA9-6763-49B7-8138-44D9D40F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The escalation gate protects delivery while making unresolved evidence visible.</a:t>
            </a:r>
          </a:p>
        </p:txBody>
      </p:sp>
    </p:spTree>
    <p:extLst>
      <p:ext uri="{BB962C8B-B14F-4D97-AF65-F5344CB8AC3E}">
        <p14:creationId xmlns:p14="http://schemas.microsoft.com/office/powerpoint/2010/main" val="7267643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5E64AE-ADFC-4240-96CF-085D4C23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DECISION / 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A94D1C-FC7C-49ED-ADD9-055B3D23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885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Accept the Q3 test plan and escalate only evidence gaps with owners.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F20054-88DE-4E21-BD13-E29430D2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48125"/>
            <a:ext cx="923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374151"/>
                </a:solidFill>
                <a:latin typeface="Helvetica Neue"/>
                <a:ea typeface="Helvetica Neue"/>
                <a:cs typeface="Helvetica Neue"/>
              </a:rPr>
              <a:t>Next: approve the test calendar and assign the exception-register owner for 29 Aug.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19692C-30C3-4D9F-A83D-864A3060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911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964DAA-0638-448F-B8A2-80C0C65F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Cobalt Harbor Systems · Security / GRC · 5 / 5</a:t>
            </a:r>
          </a:p>
        </p:txBody>
      </p:sp>
    </p:spTree>
    <p:extLst>
      <p:ext uri="{BB962C8B-B14F-4D97-AF65-F5344CB8AC3E}">
        <p14:creationId xmlns:p14="http://schemas.microsoft.com/office/powerpoint/2010/main" val="2969685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2026-08-22T17:56:00.5650000Z</dcterms:created>
  <dcterms:modified xsi:type="dcterms:W3CDTF">2026-08-22T17:56:00.5650000Z</dcterms:modified>
</coreProperties>
</file>