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60362b51944c6" /><Relationship Type="http://schemas.openxmlformats.org/officeDocument/2006/relationships/extended-properties" Target="/docProps/app.xml" Id="R339c9c5b1a8844db" /><Relationship Type="http://schemas.openxmlformats.org/officeDocument/2006/relationships/officeDocument" Target="/ppt/presentation.xml" Id="R94b4262f08d342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91c233dcb4dde"/>
  </p:sldMasterIdLst>
  <p:notesMasterIdLst>
    <p:notesMasterId xmlns:r="http://schemas.openxmlformats.org/officeDocument/2006/relationships" r:id="R4afa2ed1849f4f17"/>
  </p:notesMasterIdLst>
  <p:sldIdLst>
    <p:sldId xmlns:r="http://schemas.openxmlformats.org/officeDocument/2006/relationships" id="256" r:id="R9b33ff5044aa4b70"/>
    <p:sldId xmlns:r="http://schemas.openxmlformats.org/officeDocument/2006/relationships" id="257" r:id="Ra12f22f333494812"/>
    <p:sldId xmlns:r="http://schemas.openxmlformats.org/officeDocument/2006/relationships" id="258" r:id="Rd48a8bb758444e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3716e6327a4d10" /><Relationship Type="http://schemas.openxmlformats.org/officeDocument/2006/relationships/slideMaster" Target="/ppt/slideMasters/slideMaster1.xml" Id="R2ac91c233dcb4dde" /><Relationship Type="http://schemas.openxmlformats.org/officeDocument/2006/relationships/notesMaster" Target="/ppt/notesMasters/notesMaster1.xml" Id="R4afa2ed1849f4f17" /><Relationship Type="http://schemas.openxmlformats.org/officeDocument/2006/relationships/presProps" Target="/ppt/presProps.xml" Id="Rcd02ca270cdc4996" /><Relationship Type="http://schemas.openxmlformats.org/officeDocument/2006/relationships/tableStyles" Target="/ppt/tableStyles.xml" Id="R977ab1d5b2a64ef8" /><Relationship Type="http://schemas.openxmlformats.org/officeDocument/2006/relationships/slide" Target="/ppt/slides/slide1.xml" Id="R9b33ff5044aa4b70" /><Relationship Type="http://schemas.openxmlformats.org/officeDocument/2006/relationships/slide" Target="/ppt/slides/slide2.xml" Id="Ra12f22f333494812" /><Relationship Type="http://schemas.openxmlformats.org/officeDocument/2006/relationships/slide" Target="/ppt/slides/slide3.xml" Id="Rd48a8bb758444e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3a2bb714ca4d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e77e247a14a75" /><Relationship Type="http://schemas.openxmlformats.org/officeDocument/2006/relationships/notesMaster" Target="/ppt/notesMasters/notesMaster1.xml" Id="R76fd6f9c028b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cdc68a58a4b5d" /><Relationship Type="http://schemas.openxmlformats.org/officeDocument/2006/relationships/notesMaster" Target="/ppt/notesMasters/notesMaster1.xml" Id="R1b1ad5dce00447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d70ebdf9794d95" /><Relationship Type="http://schemas.openxmlformats.org/officeDocument/2006/relationships/notesMaster" Target="/ppt/notesMasters/notesMaster1.xml" Id="Rea3243144074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a35be07454b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3362617ee4fd2" /><Relationship Type="http://schemas.openxmlformats.org/officeDocument/2006/relationships/slideLayout" Target="/ppt/slideLayouts/slideLayout1.xml" Id="R909bb9fcd0714e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bb9fcd0714e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d668afd9d4a74" /><Relationship Type="http://schemas.openxmlformats.org/officeDocument/2006/relationships/notesSlide" Target="/ppt/notesSlides/notesSlide1.xml" Id="R38a233eff5f840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acb965e7c453f" /><Relationship Type="http://schemas.openxmlformats.org/officeDocument/2006/relationships/notesSlide" Target="/ppt/notesSlides/notesSlide2.xml" Id="R52b32d8663804f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91b310e174af6" /><Relationship Type="http://schemas.openxmlformats.org/officeDocument/2006/relationships/notesSlide" Target="/ppt/notesSlides/notesSlide3.xml" Id="R3131d3577ec243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A791966-7B14-4BEE-AEC5-190EEE65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188"/>
                </a:solidFill>
              </a:defRPr>
            </a:pPr>
            <a:r>
              <a:rPr sz="1350" b="1">
                <a:solidFill>
                  <a:srgbClr val="2C7188"/>
                </a:solidFill>
              </a:rPr>
              <a:t>FORGELINE | PRODUCT BETA | 2026-08-11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B9304C-EEC1-49A4-B02A-DB0A2649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35"/>
                </a:solidFill>
              </a:defRPr>
            </a:pPr>
            <a:r>
              <a:rPr sz="4050" b="1">
                <a:solidFill>
                  <a:srgbClr val="102A35"/>
                </a:solidFill>
              </a:rPr>
              <a:t>Risk reduction briefing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B69A081-6921-4462-8DD0-60D62A1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5963"/>
                </a:solidFill>
              </a:defRPr>
            </a:pPr>
            <a:r>
              <a:rPr sz="1950" b="0">
                <a:solidFill>
                  <a:srgbClr val="405963"/>
                </a:solidFill>
              </a:rPr>
              <a:t>Design FMEA actions, verification links, and release evidence for a synthetic quality record.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8555295-3522-47BB-9402-56B7A22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1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nchor">
            <a:extLst xmlns:a="http://schemas.openxmlformats.org/drawingml/2006/main">
              <a:ext uri="{FF2B5EF4-FFF2-40B4-BE49-F238E27FC236}">
                <a16:creationId xmlns:a16="http://schemas.microsoft.com/office/drawing/2014/main" id="{F82B4051-D66D-4431-93E2-96E6BD1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A4A"/>
                </a:solidFill>
              </a:defRPr>
            </a:pPr>
            <a:r>
              <a:rPr sz="1800" b="1">
                <a:solidFill>
                  <a:srgbClr val="163A4A"/>
                </a:solidFill>
              </a:rPr>
              <a:t>NCR-026 reference  •  critical interface tolerance ±0.18 mm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21AC0DB-148E-48D7-80A5-F5C00557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A7E86"/>
                </a:solidFill>
              </a:defRPr>
            </a:pPr>
            <a:r>
              <a:rPr sz="1050" b="0">
                <a:solidFill>
                  <a:srgbClr val="6A7E86"/>
                </a:solidFill>
              </a:rPr>
              <a:t>Synthetic training record - no real product, facility, or individual data</a:t>
            </a:r>
          </a:p>
        </p:txBody>
      </p:sp>
    </p:spTree>
    <p:extLst>
      <p:ext uri="{BB962C8B-B14F-4D97-AF65-F5344CB8AC3E}">
        <p14:creationId xmlns:p14="http://schemas.microsoft.com/office/powerpoint/2010/main" val="319312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6E613172-B49F-4432-971B-07189CE2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35"/>
                </a:solidFill>
              </a:defRPr>
            </a:pPr>
            <a:r>
              <a:rPr sz="3000" b="1">
                <a:solidFill>
                  <a:srgbClr val="102A35"/>
                </a:solidFill>
              </a:rPr>
              <a:t>FMEA risk focus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0BEEDE0-5E57-4A0F-90C5-F2819C1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1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Interface fit">
            <a:extLst xmlns:a="http://schemas.openxmlformats.org/drawingml/2006/main">
              <a:ext uri="{FF2B5EF4-FFF2-40B4-BE49-F238E27FC236}">
                <a16:creationId xmlns:a16="http://schemas.microsoft.com/office/drawing/2014/main" id="{F8E8DC56-B35E-4CC2-AA5E-A874F70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9525">
            <a:solidFill>
              <a:srgbClr val="C8D7DB"/>
            </a:solidFill>
            <a:prstDash val="solid"/>
          </a:ln>
        </p:spPr>
      </p:sp>
      <p:sp>
        <p:nvSpPr>
          <p:cNvPr id="4" name="panel-title-Interface fit">
            <a:extLst xmlns:a="http://schemas.openxmlformats.org/drawingml/2006/main">
              <a:ext uri="{FF2B5EF4-FFF2-40B4-BE49-F238E27FC236}">
                <a16:creationId xmlns:a16="http://schemas.microsoft.com/office/drawing/2014/main" id="{FB34B3FE-C6DF-45E6-9645-9971518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A4A"/>
                </a:solidFill>
              </a:defRPr>
            </a:pPr>
            <a:r>
              <a:rPr sz="1800" b="1">
                <a:solidFill>
                  <a:srgbClr val="163A4A"/>
                </a:solidFill>
              </a:rPr>
              <a:t>Interface fit</a:t>
            </a:r>
          </a:p>
        </p:txBody>
      </p:sp>
      <p:sp>
        <p:nvSpPr>
          <p:cNvPr id="5" name="panel-body-Interface fit">
            <a:extLst xmlns:a="http://schemas.openxmlformats.org/drawingml/2006/main">
              <a:ext uri="{FF2B5EF4-FFF2-40B4-BE49-F238E27FC236}">
                <a16:creationId xmlns:a16="http://schemas.microsoft.com/office/drawing/2014/main" id="{26E2CBDB-673B-4FA1-89E1-D568910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F4650"/>
                </a:solidFill>
              </a:defRPr>
            </a:pPr>
            <a:r>
              <a:rPr sz="1350" b="0">
                <a:solidFill>
                  <a:srgbClr val="2F4650"/>
                </a:solidFill>
              </a:rPr>
              <a:t>FM-B-01 addresses the assembly interface. Dimensional verification is tied to the ±0.18 mm requirement.</a:t>
            </a:r>
          </a:p>
        </p:txBody>
      </p:sp>
      <p:sp>
        <p:nvSpPr>
          <p:cNvPr id="6" name="panel-Traceability">
            <a:extLst xmlns:a="http://schemas.openxmlformats.org/drawingml/2006/main">
              <a:ext uri="{FF2B5EF4-FFF2-40B4-BE49-F238E27FC236}">
                <a16:creationId xmlns:a16="http://schemas.microsoft.com/office/drawing/2014/main" id="{BE526C95-E580-4BBE-86D8-C0095C6E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9525">
            <a:solidFill>
              <a:srgbClr val="C8D7DB"/>
            </a:solidFill>
            <a:prstDash val="solid"/>
          </a:ln>
        </p:spPr>
      </p:sp>
      <p:sp>
        <p:nvSpPr>
          <p:cNvPr id="7" name="panel-title-Traceability">
            <a:extLst xmlns:a="http://schemas.openxmlformats.org/drawingml/2006/main">
              <a:ext uri="{FF2B5EF4-FFF2-40B4-BE49-F238E27FC236}">
                <a16:creationId xmlns:a16="http://schemas.microsoft.com/office/drawing/2014/main" id="{C31FF969-A4F7-495C-9A2D-9E34FCC4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57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A4A"/>
                </a:solidFill>
              </a:defRPr>
            </a:pPr>
            <a:r>
              <a:rPr sz="1800" b="1">
                <a:solidFill>
                  <a:srgbClr val="163A4A"/>
                </a:solidFill>
              </a:rPr>
              <a:t>Traceability</a:t>
            </a:r>
          </a:p>
        </p:txBody>
      </p:sp>
      <p:sp>
        <p:nvSpPr>
          <p:cNvPr id="8" name="panel-body-Traceability">
            <a:extLst xmlns:a="http://schemas.openxmlformats.org/drawingml/2006/main">
              <a:ext uri="{FF2B5EF4-FFF2-40B4-BE49-F238E27FC236}">
                <a16:creationId xmlns:a16="http://schemas.microsoft.com/office/drawing/2014/main" id="{39DCDDE7-DEED-4B3D-AC89-F24805DA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2781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F4650"/>
                </a:solidFill>
              </a:defRPr>
            </a:pPr>
            <a:r>
              <a:rPr sz="1350" b="0">
                <a:solidFill>
                  <a:srgbClr val="2F4650"/>
                </a:solidFill>
              </a:rPr>
              <a:t>NCR-026 remains a synthetic containment reference. Closure requires a linked evidence record.</a:t>
            </a:r>
          </a:p>
        </p:txBody>
      </p:sp>
      <p:sp>
        <p:nvSpPr>
          <p:cNvPr id="9" name="panel-Release evidence">
            <a:extLst xmlns:a="http://schemas.openxmlformats.org/drawingml/2006/main">
              <a:ext uri="{FF2B5EF4-FFF2-40B4-BE49-F238E27FC236}">
                <a16:creationId xmlns:a16="http://schemas.microsoft.com/office/drawing/2014/main" id="{F54F5D5F-5FFC-40A6-B23A-E88C8680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288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9525">
            <a:solidFill>
              <a:srgbClr val="C8D7DB"/>
            </a:solidFill>
            <a:prstDash val="solid"/>
          </a:ln>
        </p:spPr>
      </p:sp>
      <p:sp>
        <p:nvSpPr>
          <p:cNvPr id="10" name="panel-title-Release evidence">
            <a:extLst xmlns:a="http://schemas.openxmlformats.org/drawingml/2006/main">
              <a:ext uri="{FF2B5EF4-FFF2-40B4-BE49-F238E27FC236}">
                <a16:creationId xmlns:a16="http://schemas.microsoft.com/office/drawing/2014/main" id="{89C202A5-3DC0-4153-96A8-550D31BD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A4A"/>
                </a:solidFill>
              </a:defRPr>
            </a:pPr>
            <a:r>
              <a:rPr sz="1800" b="1">
                <a:solidFill>
                  <a:srgbClr val="163A4A"/>
                </a:solidFill>
              </a:rPr>
              <a:t>Release evidence</a:t>
            </a:r>
          </a:p>
        </p:txBody>
      </p:sp>
      <p:sp>
        <p:nvSpPr>
          <p:cNvPr id="11" name="panel-body-Release evidence">
            <a:extLst xmlns:a="http://schemas.openxmlformats.org/drawingml/2006/main">
              <a:ext uri="{FF2B5EF4-FFF2-40B4-BE49-F238E27FC236}">
                <a16:creationId xmlns:a16="http://schemas.microsoft.com/office/drawing/2014/main" id="{8B7E33D0-8DD2-4571-814D-3D8A469E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781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F4650"/>
                </a:solidFill>
              </a:defRPr>
            </a:pPr>
            <a:r>
              <a:rPr sz="1350" b="0">
                <a:solidFill>
                  <a:srgbClr val="2F4650"/>
                </a:solidFill>
              </a:rPr>
              <a:t>Actions ECO-B-041 through ECO-B-044 require review before residual-risk acceptance.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5B4B612-9D7F-4B0B-93CB-2634ACD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A7E86"/>
                </a:solidFill>
              </a:defRPr>
            </a:pPr>
            <a:r>
              <a:rPr sz="1050" b="0">
                <a:solidFill>
                  <a:srgbClr val="6A7E86"/>
                </a:solidFill>
              </a:rPr>
              <a:t>ForgeLine Product Beta FMEA - revision B</a:t>
            </a:r>
          </a:p>
        </p:txBody>
      </p:sp>
    </p:spTree>
    <p:extLst>
      <p:ext uri="{BB962C8B-B14F-4D97-AF65-F5344CB8AC3E}">
        <p14:creationId xmlns:p14="http://schemas.microsoft.com/office/powerpoint/2010/main" val="116523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31578C4-DBBC-4343-B4FD-196FCD90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35"/>
                </a:solidFill>
              </a:defRPr>
            </a:pPr>
            <a:r>
              <a:rPr sz="3000" b="1">
                <a:solidFill>
                  <a:srgbClr val="102A35"/>
                </a:solidFill>
              </a:rPr>
              <a:t>Verification path to closure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6A76845-0CFB-4120-B683-1498FBCE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1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ep1">
            <a:extLst xmlns:a="http://schemas.openxmlformats.org/drawingml/2006/main">
              <a:ext uri="{FF2B5EF4-FFF2-40B4-BE49-F238E27FC236}">
                <a16:creationId xmlns:a16="http://schemas.microsoft.com/office/drawing/2014/main" id="{E5857BCC-8432-4F98-B204-056523A4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A4A"/>
                </a:solidFill>
              </a:defRPr>
            </a:pPr>
            <a:r>
              <a:rPr sz="1800" b="1">
                <a:solidFill>
                  <a:srgbClr val="163A4A"/>
                </a:solidFill>
              </a:rPr>
              <a:t>1  Control definition</a:t>
            </a:r>
          </a:p>
        </p:txBody>
      </p:sp>
      <p:sp>
        <p:nvSpPr>
          <p:cNvPr id="4" name="step2">
            <a:extLst xmlns:a="http://schemas.openxmlformats.org/drawingml/2006/main">
              <a:ext uri="{FF2B5EF4-FFF2-40B4-BE49-F238E27FC236}">
                <a16:creationId xmlns:a16="http://schemas.microsoft.com/office/drawing/2014/main" id="{961B37E1-7315-48D2-8C51-824004FE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A4A"/>
                </a:solidFill>
              </a:defRPr>
            </a:pPr>
            <a:r>
              <a:rPr sz="1800" b="1">
                <a:solidFill>
                  <a:srgbClr val="163A4A"/>
                </a:solidFill>
              </a:rPr>
              <a:t>2  Objective verification</a:t>
            </a:r>
          </a:p>
        </p:txBody>
      </p:sp>
      <p:sp>
        <p:nvSpPr>
          <p:cNvPr id="5" name="step3">
            <a:extLst xmlns:a="http://schemas.openxmlformats.org/drawingml/2006/main">
              <a:ext uri="{FF2B5EF4-FFF2-40B4-BE49-F238E27FC236}">
                <a16:creationId xmlns:a16="http://schemas.microsoft.com/office/drawing/2014/main" id="{37BEAD79-D419-4B74-AF66-6E081E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A4A"/>
                </a:solidFill>
              </a:defRPr>
            </a:pPr>
            <a:r>
              <a:rPr sz="1800" b="1">
                <a:solidFill>
                  <a:srgbClr val="163A4A"/>
                </a:solidFill>
              </a:rPr>
              <a:t>3  Closure review</a:t>
            </a:r>
          </a:p>
        </p:txBody>
      </p:sp>
      <p:sp>
        <p:nvSpPr>
          <p:cNvPr id="6" name="detail1">
            <a:extLst xmlns:a="http://schemas.openxmlformats.org/drawingml/2006/main">
              <a:ext uri="{FF2B5EF4-FFF2-40B4-BE49-F238E27FC236}">
                <a16:creationId xmlns:a16="http://schemas.microsoft.com/office/drawing/2014/main" id="{89EAB2FD-996B-4ADE-A499-843C4D99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5963"/>
                </a:solidFill>
              </a:defRPr>
            </a:pPr>
            <a:r>
              <a:rPr sz="1350" b="0">
                <a:solidFill>
                  <a:srgbClr val="405963"/>
                </a:solidFill>
              </a:rPr>
              <a:t>Control plan and FMEA agree on critical features.</a:t>
            </a:r>
          </a:p>
        </p:txBody>
      </p:sp>
      <p:sp>
        <p:nvSpPr>
          <p:cNvPr id="7" name="detail2">
            <a:extLst xmlns:a="http://schemas.openxmlformats.org/drawingml/2006/main">
              <a:ext uri="{FF2B5EF4-FFF2-40B4-BE49-F238E27FC236}">
                <a16:creationId xmlns:a16="http://schemas.microsoft.com/office/drawing/2014/main" id="{56F92E02-9132-4DF3-916B-6FCF551A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5963"/>
                </a:solidFill>
              </a:defRPr>
            </a:pPr>
            <a:r>
              <a:rPr sz="1350" b="0">
                <a:solidFill>
                  <a:srgbClr val="405963"/>
                </a:solidFill>
              </a:rPr>
              <a:t>Dimensional and record checks create linked evidence.</a:t>
            </a:r>
          </a:p>
        </p:txBody>
      </p:sp>
      <p:sp>
        <p:nvSpPr>
          <p:cNvPr id="8" name="detail3">
            <a:extLst xmlns:a="http://schemas.openxmlformats.org/drawingml/2006/main">
              <a:ext uri="{FF2B5EF4-FFF2-40B4-BE49-F238E27FC236}">
                <a16:creationId xmlns:a16="http://schemas.microsoft.com/office/drawing/2014/main" id="{E7CDD398-7E64-4BE9-B0D9-01624665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5963"/>
                </a:solidFill>
              </a:defRPr>
            </a:pPr>
            <a:r>
              <a:rPr sz="1350" b="0">
                <a:solidFill>
                  <a:srgbClr val="405963"/>
                </a:solidFill>
              </a:rPr>
              <a:t>Residual risk is accepted only when evidence is complete.</a:t>
            </a:r>
          </a:p>
        </p:txBody>
      </p:sp>
      <p:sp>
        <p:nvSpPr>
          <p:cNvPr id="9" name="arrow-355">
            <a:extLst xmlns:a="http://schemas.openxmlformats.org/drawingml/2006/main">
              <a:ext uri="{FF2B5EF4-FFF2-40B4-BE49-F238E27FC236}">
                <a16:creationId xmlns:a16="http://schemas.microsoft.com/office/drawing/2014/main" id="{D7B36505-3D7B-4E07-A8F0-5150BE09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809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7188"/>
          </a:solidFill>
          <a:ln xmlns:a="http://schemas.openxmlformats.org/drawingml/2006/main" w="9525">
            <a:solidFill>
              <a:srgbClr val="2C7188"/>
            </a:solidFill>
            <a:prstDash val="solid"/>
          </a:ln>
        </p:spPr>
      </p:sp>
      <p:sp>
        <p:nvSpPr>
          <p:cNvPr id="10" name="arrow-765">
            <a:extLst xmlns:a="http://schemas.openxmlformats.org/drawingml/2006/main">
              <a:ext uri="{FF2B5EF4-FFF2-40B4-BE49-F238E27FC236}">
                <a16:creationId xmlns:a16="http://schemas.microsoft.com/office/drawing/2014/main" id="{F0A75337-A012-434B-B615-855603D0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809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7188"/>
          </a:solidFill>
          <a:ln xmlns:a="http://schemas.openxmlformats.org/drawingml/2006/main" w="9525">
            <a:solidFill>
              <a:srgbClr val="2C7188"/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17486E6-DB23-4894-BAEE-CE2FED55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150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A7E86"/>
                </a:solidFill>
              </a:defRPr>
            </a:pPr>
            <a:r>
              <a:rPr sz="1050" b="0">
                <a:solidFill>
                  <a:srgbClr val="6A7E86"/>
                </a:solidFill>
              </a:rPr>
              <a:t>ForgeLine | 2026-08-11 | NCR-026 | ±0.18 mm</a:t>
            </a:r>
          </a:p>
        </p:txBody>
      </p:sp>
    </p:spTree>
    <p:extLst>
      <p:ext uri="{BB962C8B-B14F-4D97-AF65-F5344CB8AC3E}">
        <p14:creationId xmlns:p14="http://schemas.microsoft.com/office/powerpoint/2010/main" val="92014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2026-08-23T20:37:08.4080000Z</dcterms:created>
  <dcterms:modified xsi:type="dcterms:W3CDTF">2026-08-23T20:37:08.4080000Z</dcterms:modified>
</coreProperties>
</file>