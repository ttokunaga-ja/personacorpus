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e15ed9d6394ce1" /><Relationship Type="http://schemas.openxmlformats.org/officeDocument/2006/relationships/extended-properties" Target="/docProps/app.xml" Id="Rb27275a302634589" /><Relationship Type="http://schemas.openxmlformats.org/officeDocument/2006/relationships/officeDocument" Target="/ppt/presentation.xml" Id="R214b0dd9666e4a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a4ef7111ea43dc"/>
  </p:sldMasterIdLst>
  <p:notesMasterIdLst>
    <p:notesMasterId xmlns:r="http://schemas.openxmlformats.org/officeDocument/2006/relationships" r:id="R0bb2c4ceea284c85"/>
  </p:notesMasterIdLst>
  <p:sldIdLst>
    <p:sldId xmlns:r="http://schemas.openxmlformats.org/officeDocument/2006/relationships" id="256" r:id="R888577027e4b4d10"/>
    <p:sldId xmlns:r="http://schemas.openxmlformats.org/officeDocument/2006/relationships" id="257" r:id="R833f3b601ed54e08"/>
    <p:sldId xmlns:r="http://schemas.openxmlformats.org/officeDocument/2006/relationships" id="258" r:id="Rb3fcb82e84f2483d"/>
    <p:sldId xmlns:r="http://schemas.openxmlformats.org/officeDocument/2006/relationships" id="259" r:id="R167519176a284208"/>
    <p:sldId xmlns:r="http://schemas.openxmlformats.org/officeDocument/2006/relationships" id="260" r:id="Rd5c6ef3b3f2a48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c1b839fc244d5" /><Relationship Type="http://schemas.openxmlformats.org/officeDocument/2006/relationships/slideMaster" Target="/ppt/slideMasters/slideMaster1.xml" Id="R4ba4ef7111ea43dc" /><Relationship Type="http://schemas.openxmlformats.org/officeDocument/2006/relationships/notesMaster" Target="/ppt/notesMasters/notesMaster1.xml" Id="R0bb2c4ceea284c85" /><Relationship Type="http://schemas.openxmlformats.org/officeDocument/2006/relationships/presProps" Target="/ppt/presProps.xml" Id="Rd9dc600f180b4773" /><Relationship Type="http://schemas.openxmlformats.org/officeDocument/2006/relationships/tableStyles" Target="/ppt/tableStyles.xml" Id="Reacb8104553f46a5" /><Relationship Type="http://schemas.openxmlformats.org/officeDocument/2006/relationships/slide" Target="/ppt/slides/slide1.xml" Id="R888577027e4b4d10" /><Relationship Type="http://schemas.openxmlformats.org/officeDocument/2006/relationships/slide" Target="/ppt/slides/slide2.xml" Id="R833f3b601ed54e08" /><Relationship Type="http://schemas.openxmlformats.org/officeDocument/2006/relationships/slide" Target="/ppt/slides/slide3.xml" Id="Rb3fcb82e84f2483d" /><Relationship Type="http://schemas.openxmlformats.org/officeDocument/2006/relationships/slide" Target="/ppt/slides/slide4.xml" Id="R167519176a284208" /><Relationship Type="http://schemas.openxmlformats.org/officeDocument/2006/relationships/slide" Target="/ppt/slides/slide5.xml" Id="Rd5c6ef3b3f2a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456d1a988f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a6851b50bf44b3" /><Relationship Type="http://schemas.openxmlformats.org/officeDocument/2006/relationships/notesMaster" Target="/ppt/notesMasters/notesMaster1.xml" Id="R2c51d2a3e3fc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8f862bd6ca4ae2" /><Relationship Type="http://schemas.openxmlformats.org/officeDocument/2006/relationships/notesMaster" Target="/ppt/notesMasters/notesMaster1.xml" Id="R8d8eb9857cf6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c963c02864231" /><Relationship Type="http://schemas.openxmlformats.org/officeDocument/2006/relationships/notesMaster" Target="/ppt/notesMasters/notesMaster1.xml" Id="R14d202cd55af49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542a32a6324c73" /><Relationship Type="http://schemas.openxmlformats.org/officeDocument/2006/relationships/notesMaster" Target="/ppt/notesMasters/notesMaster1.xml" Id="R19e18eee3b97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6e7a10fd04a52" /><Relationship Type="http://schemas.openxmlformats.org/officeDocument/2006/relationships/notesMaster" Target="/ppt/notesMasters/notesMaster1.xml" Id="Rcf903a61b34f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31b5128ad4c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0a2dad8d6449d" /><Relationship Type="http://schemas.openxmlformats.org/officeDocument/2006/relationships/slideLayout" Target="/ppt/slideLayouts/slideLayout1.xml" Id="R018e328079c342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e328079c342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37c1902714e7a" /><Relationship Type="http://schemas.openxmlformats.org/officeDocument/2006/relationships/notesSlide" Target="/ppt/notesSlides/notesSlide1.xml" Id="Rc9cafc81fa62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1b09cc8094e3b" /><Relationship Type="http://schemas.openxmlformats.org/officeDocument/2006/relationships/image" Target="/ppt/media/image.png" Id="R31bf3b3015e546a2" /><Relationship Type="http://schemas.openxmlformats.org/officeDocument/2006/relationships/notesSlide" Target="/ppt/notesSlides/notesSlide2.xml" Id="R8dc81a36169d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12c2e8acc4fc8" /><Relationship Type="http://schemas.openxmlformats.org/officeDocument/2006/relationships/notesSlide" Target="/ppt/notesSlides/notesSlide3.xml" Id="R041d209a0bad46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df0cddbed4baa" /><Relationship Type="http://schemas.openxmlformats.org/officeDocument/2006/relationships/notesSlide" Target="/ppt/notesSlides/notesSlide4.xml" Id="Rc51514a96dbe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4f2d5df2741fd" /><Relationship Type="http://schemas.openxmlformats.org/officeDocument/2006/relationships/notesSlide" Target="/ppt/notesSlides/notesSlide5.xml" Id="Rd9e961c56573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41077-C0F1-4F17-92F1-6057F75E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WEEKLY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A09B8-E5FF-4246-9A0B-87AE5D3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CF5"/>
                </a:solidFill>
              </a:defRPr>
            </a:pPr>
            <a:r>
              <a:rPr sz="1875" b="0">
                <a:solidFill>
                  <a:srgbClr val="DCECF5"/>
                </a:solidFill>
              </a:rPr>
              <a:t>Reading the linden image across a synthetic working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49234-A89C-4099-826C-663296F4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C7E8"/>
                </a:solidFill>
              </a:defRPr>
            </a:pPr>
            <a:r>
              <a:rPr sz="1500" b="1">
                <a:solidFill>
                  <a:srgbClr val="8FC7E8"/>
                </a:solidFill>
              </a:rPr>
              <a:t>Box 14  •  folio 184  •  citation LA-042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18EE4-0B8B-42B0-89D7-A2E893E0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CF5"/>
                </a:solidFill>
              </a:defRPr>
            </a:pPr>
            <a:r>
              <a:rPr sz="975" b="0">
                <a:solidFill>
                  <a:srgbClr val="DCECF5"/>
                </a:solidFill>
              </a:rPr>
              <a:t>Linden Archive Project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1106866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024A2-CE98-4D6B-BCA3-DADABD8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8CB8"/>
                </a:solidFill>
              </a:defRPr>
            </a:pPr>
            <a:r>
              <a:rPr sz="1050" b="1">
                <a:solidFill>
                  <a:srgbClr val="4C8CB8"/>
                </a:solidFill>
              </a:rPr>
              <a:t>SOURCE TERRAIN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304DA-DD09-4D4F-A75F-69CA32E4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The desk map keeps the comparison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839E-98F7-4443-803D-A35E1AA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LINDEN ARCHIVE PROJECT  •  2026-07-13  •  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813E1-2EA9-4F1A-9CF1-6A6E110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A"/>
          </a:solidFill>
          <a:ln xmlns:a="http://schemas.openxmlformats.org/drawingml/2006/main" w="0">
            <a:solidFill>
              <a:srgbClr val="B8C2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94486-5994-439B-95B4-F350F8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A"/>
                </a:solidFill>
              </a:defRPr>
            </a:pPr>
            <a:r>
              <a:rPr sz="1950" b="1">
                <a:solidFill>
                  <a:srgbClr val="18324A"/>
                </a:solidFill>
              </a:rPr>
              <a:t>Working proposition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779AE-0357-43A6-82B9-0C71868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Folio 184 is useful as a hinge only when the letter, desk note, and handling record remain distinct kinds of evidence.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f3b3015e546a2"/>
          <a:srcRect xmlns:a="http://schemas.openxmlformats.org/drawingml/2006/main" l="0" t="26316" r="0" b="26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771650"/>
            <a:ext cx="5429250" cy="3857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08CF6-611C-48B7-A4C2-07292FC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102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Synthetic working image: relational cues, not a source reproduction.</a:t>
            </a:r>
          </a:p>
        </p:txBody>
      </p:sp>
    </p:spTree>
    <p:extLst>
      <p:ext uri="{BB962C8B-B14F-4D97-AF65-F5344CB8AC3E}">
        <p14:creationId xmlns:p14="http://schemas.microsoft.com/office/powerpoint/2010/main" val="780044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741E6-B1E0-4B9D-8BFF-C15F21B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8CB8"/>
                </a:solidFill>
              </a:defRPr>
            </a:pPr>
            <a:r>
              <a:rPr sz="1050" b="1">
                <a:solidFill>
                  <a:srgbClr val="4C8CB8"/>
                </a:solidFill>
              </a:rPr>
              <a:t>THREE EVIDENCE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BD98C-BD26-44C1-90DB-7F8DCD9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Different documents support different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F69B3-486C-4965-B965-CED74D5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LINDEN ARCHIVE PROJECT  •  2026-07-13  • 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BB01C-5662-4C08-966A-14E38D98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A"/>
          </a:solidFill>
          <a:ln xmlns:a="http://schemas.openxmlformats.org/drawingml/2006/main" w="0">
            <a:solidFill>
              <a:srgbClr val="B8C2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161DB-D7D8-4FA9-983A-EA5C2995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64C5D-E2F9-4C1E-B7A0-B0CA284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8CB8"/>
                </a:solidFill>
              </a:defRPr>
            </a:pPr>
            <a:r>
              <a:rPr sz="1350" b="1">
                <a:solidFill>
                  <a:srgbClr val="4C8CB8"/>
                </a:solidFill>
              </a:rPr>
              <a:t>LETTER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CAFE-9782-433F-81B8-E4992D0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812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Carries provisional civic language; read modality before treating metaphor as stable.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D6E79-4E8B-415D-B92A-4F7F237A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B4872-8534-4DCE-B6B3-B2D7201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8CB8"/>
                </a:solidFill>
              </a:defRPr>
            </a:pPr>
            <a:r>
              <a:rPr sz="1350" b="1">
                <a:solidFill>
                  <a:srgbClr val="4C8CB8"/>
                </a:solidFill>
              </a:rPr>
              <a:t>DESK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550B6-293A-4F62-8993-A6545DA7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765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Compresses retrieval cues; distinguish later annotation from source wording.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D3B29-3FBD-44B9-8BB9-F7C0C32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C44D7-4DA3-43BC-BE7A-377CAD6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8CB8"/>
                </a:solidFill>
              </a:defRPr>
            </a:pPr>
            <a:r>
              <a:rPr sz="1350" b="1">
                <a:solidFill>
                  <a:srgbClr val="4C8CB8"/>
                </a:solidFill>
              </a:rPr>
              <a:t>READER SLIP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5C93D-53CD-4B76-AEE8-76DFB25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719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Records handling context; it does not establish authorial intent.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FF81-9E47-41FF-910B-06F306AC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A"/>
                </a:solidFill>
              </a:defRPr>
            </a:pPr>
            <a:r>
              <a:rPr sz="1500" b="1">
                <a:solidFill>
                  <a:srgbClr val="18324A"/>
                </a:solidFill>
              </a:rPr>
              <a:t>Shared question: Does “shade” name a communal space, an administrative convenience, or a rhetorical afterthought?</a:t>
            </a:r>
          </a:p>
        </p:txBody>
      </p:sp>
    </p:spTree>
    <p:extLst>
      <p:ext uri="{BB962C8B-B14F-4D97-AF65-F5344CB8AC3E}">
        <p14:creationId xmlns:p14="http://schemas.microsoft.com/office/powerpoint/2010/main" val="1544741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FB61A-DA9E-4EBA-8C11-9D34529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8CB8"/>
                </a:solidFill>
              </a:defRPr>
            </a:pPr>
            <a:r>
              <a:rPr sz="1050" b="1">
                <a:solidFill>
                  <a:srgbClr val="4C8CB8"/>
                </a:solidFill>
              </a:rPr>
              <a:t>COUNTER-READING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2514C-7DED-4605-A4DE-6AFBFBE6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The present interpretation needs a visible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6C47E-125F-4029-8B69-702A948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LINDEN ARCHIVE PROJECT  •  2026-07-13  • 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8E80E-2874-4474-9F38-CE140E8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A"/>
          </a:solidFill>
          <a:ln xmlns:a="http://schemas.openxmlformats.org/drawingml/2006/main" w="0">
            <a:solidFill>
              <a:srgbClr val="B8C2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83CDD-7F64-4767-B20A-950CE87A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A"/>
                </a:solidFill>
              </a:defRPr>
            </a:pPr>
            <a:r>
              <a:rPr sz="2025" b="1">
                <a:solidFill>
                  <a:srgbClr val="18324A"/>
                </a:solidFill>
              </a:rPr>
              <a:t>A useful alternative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D80D4-17AB-438D-AEA4-05A6E66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B"/>
                </a:solidFill>
              </a:defRPr>
            </a:pPr>
            <a:r>
              <a:rPr sz="1725" b="0">
                <a:solidFill>
                  <a:srgbClr val="52616B"/>
                </a:solidFill>
              </a:rPr>
              <a:t>The linden image might be procedural rather than communal: a figure for keeping records in circulation, not a claim about shared belonging.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1AC1-3B4A-4532-A86E-2119E87C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14525"/>
            <a:ext cx="4524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B0921-C141-4E51-B5D5-492581B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Test before drafting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C28A4-DF03-43C2-9FAD-70EADE0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• Find a use of the same cluster without civic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• Check whether the document form changes the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• Retain uncertainty in the chapter outline</a:t>
            </a:r>
          </a:p>
        </p:txBody>
      </p:sp>
    </p:spTree>
    <p:extLst>
      <p:ext uri="{BB962C8B-B14F-4D97-AF65-F5344CB8AC3E}">
        <p14:creationId xmlns:p14="http://schemas.microsoft.com/office/powerpoint/2010/main" val="1974264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DDDDE-9C47-481D-AC85-D6E8A2D9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8CB8"/>
                </a:solidFill>
              </a:defRPr>
            </a:pPr>
            <a:r>
              <a:rPr sz="1050" b="1">
                <a:solidFill>
                  <a:srgbClr val="4C8CB8"/>
                </a:solidFill>
              </a:rPr>
              <a:t>DECISION FOR THE NEXT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20A34-84D8-45D3-BE4E-2DACB42E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Move forward with a small, falsifiable work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3841D-1861-496B-8723-A1ADE85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LINDEN ARCHIVE PROJECT  •  2026-07-13  •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E24EC-B162-4598-A379-B5787C9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A"/>
          </a:solidFill>
          <a:ln xmlns:a="http://schemas.openxmlformats.org/drawingml/2006/main" w="0">
            <a:solidFill>
              <a:srgbClr val="B8C2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2FD9F-8C59-4AE6-A4E9-9DCE1B2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This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15BE4-364E-42A3-B3D3-96247A5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1  Re-read folio 184 beside LA-042</a:t>
            </a:r>
          </a:p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2  Log two counterexamples</a:t>
            </a:r>
          </a:p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3  Reduce the corkboard to only defensible links</a:t>
            </a:r>
          </a:p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4  Draft one paragraph with the uncertainty intact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A830-5D92-4BF5-A088-FB74E520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Review standard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53277-60FC-4713-A646-02A1FFF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</a:defRPr>
            </a:pPr>
            <a:r>
              <a:rPr sz="1800" b="0">
                <a:solidFill>
                  <a:srgbClr val="52616B"/>
                </a:solidFill>
              </a:rPr>
              <a:t>The next draft should show what the evidence permits—and what it does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D6BBE-63F6-464B-9B3A-B5547C0B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A"/>
          </a:solidFill>
          <a:ln xmlns:a="http://schemas.openxmlformats.org/drawingml/2006/main" w="0">
            <a:solidFill>
              <a:srgbClr val="B8C2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65A51-7729-41F3-9A7A-F5DA81B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All people, records, citations, images, and interpretations in this deck are wholly synthetic.</a:t>
            </a:r>
          </a:p>
        </p:txBody>
      </p:sp>
    </p:spTree>
    <p:extLst>
      <p:ext uri="{BB962C8B-B14F-4D97-AF65-F5344CB8AC3E}">
        <p14:creationId xmlns:p14="http://schemas.microsoft.com/office/powerpoint/2010/main" val="1074364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2026-08-23T10:40:04.9850000Z</dcterms:created>
  <dcterms:modified xsi:type="dcterms:W3CDTF">2026-08-23T10:40:04.9850000Z</dcterms:modified>
</coreProperties>
</file>