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18be68122c495d" /><Relationship Type="http://schemas.openxmlformats.org/officeDocument/2006/relationships/extended-properties" Target="/docProps/app.xml" Id="R556fe0901d044ee2" /><Relationship Type="http://schemas.openxmlformats.org/officeDocument/2006/relationships/officeDocument" Target="/ppt/presentation.xml" Id="Rf12111a4bd28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20058eeac4c33"/>
  </p:sldMasterIdLst>
  <p:notesMasterIdLst>
    <p:notesMasterId xmlns:r="http://schemas.openxmlformats.org/officeDocument/2006/relationships" r:id="R369aa51518714fa8"/>
  </p:notesMasterIdLst>
  <p:sldIdLst>
    <p:sldId xmlns:r="http://schemas.openxmlformats.org/officeDocument/2006/relationships" id="256" r:id="R9740029ec9dd4112"/>
    <p:sldId xmlns:r="http://schemas.openxmlformats.org/officeDocument/2006/relationships" id="257" r:id="R2065df5d7eea4977"/>
    <p:sldId xmlns:r="http://schemas.openxmlformats.org/officeDocument/2006/relationships" id="258" r:id="R3923ae4fec394aab"/>
    <p:sldId xmlns:r="http://schemas.openxmlformats.org/officeDocument/2006/relationships" id="259" r:id="Rffec10f27c604506"/>
    <p:sldId xmlns:r="http://schemas.openxmlformats.org/officeDocument/2006/relationships" id="260" r:id="Rba79aef169d646cf"/>
    <p:sldId xmlns:r="http://schemas.openxmlformats.org/officeDocument/2006/relationships" id="261" r:id="Re1c408b1e1bc46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6a10f553d4310" /><Relationship Type="http://schemas.openxmlformats.org/officeDocument/2006/relationships/slideMaster" Target="/ppt/slideMasters/slideMaster1.xml" Id="R93c20058eeac4c33" /><Relationship Type="http://schemas.openxmlformats.org/officeDocument/2006/relationships/notesMaster" Target="/ppt/notesMasters/notesMaster1.xml" Id="R369aa51518714fa8" /><Relationship Type="http://schemas.openxmlformats.org/officeDocument/2006/relationships/presProps" Target="/ppt/presProps.xml" Id="R60d6a8d3c6fb43a8" /><Relationship Type="http://schemas.openxmlformats.org/officeDocument/2006/relationships/tableStyles" Target="/ppt/tableStyles.xml" Id="R390cc391712e48a6" /><Relationship Type="http://schemas.openxmlformats.org/officeDocument/2006/relationships/slide" Target="/ppt/slides/slide1.xml" Id="R9740029ec9dd4112" /><Relationship Type="http://schemas.openxmlformats.org/officeDocument/2006/relationships/slide" Target="/ppt/slides/slide2.xml" Id="R2065df5d7eea4977" /><Relationship Type="http://schemas.openxmlformats.org/officeDocument/2006/relationships/slide" Target="/ppt/slides/slide3.xml" Id="R3923ae4fec394aab" /><Relationship Type="http://schemas.openxmlformats.org/officeDocument/2006/relationships/slide" Target="/ppt/slides/slide4.xml" Id="Rffec10f27c604506" /><Relationship Type="http://schemas.openxmlformats.org/officeDocument/2006/relationships/slide" Target="/ppt/slides/slide5.xml" Id="Rba79aef169d646cf" /><Relationship Type="http://schemas.openxmlformats.org/officeDocument/2006/relationships/slide" Target="/ppt/slides/slide6.xml" Id="Re1c408b1e1bc46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a0541068124f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738103e5754863" /><Relationship Type="http://schemas.openxmlformats.org/officeDocument/2006/relationships/notesMaster" Target="/ppt/notesMasters/notesMaster1.xml" Id="R153d476096c9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14585eebb402d" /><Relationship Type="http://schemas.openxmlformats.org/officeDocument/2006/relationships/notesMaster" Target="/ppt/notesMasters/notesMaster1.xml" Id="R0d7de6c02ca7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5f73dc05294d19" /><Relationship Type="http://schemas.openxmlformats.org/officeDocument/2006/relationships/notesMaster" Target="/ppt/notesMasters/notesMaster1.xml" Id="R8aa31e8629c541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f9e5829bcf4d2c" /><Relationship Type="http://schemas.openxmlformats.org/officeDocument/2006/relationships/notesMaster" Target="/ppt/notesMasters/notesMaster1.xml" Id="Rc3a249207c854c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b9c2b94bee4679" /><Relationship Type="http://schemas.openxmlformats.org/officeDocument/2006/relationships/notesMaster" Target="/ppt/notesMasters/notesMaster1.xml" Id="R8c8524cd25c74a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346ee0b9674ed9" /><Relationship Type="http://schemas.openxmlformats.org/officeDocument/2006/relationships/notesMaster" Target="/ppt/notesMasters/notesMaster1.xml" Id="Rc4bcca61f76148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de3221719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46e617ec8e40d0" /><Relationship Type="http://schemas.openxmlformats.org/officeDocument/2006/relationships/slideLayout" Target="/ppt/slideLayouts/slideLayout1.xml" Id="R1285fc65b80f45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5fc65b80f45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780b9765d4915" /><Relationship Type="http://schemas.openxmlformats.org/officeDocument/2006/relationships/notesSlide" Target="/ppt/notesSlides/notesSlide1.xml" Id="R2db7e3369cc749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70b203a15466f" /><Relationship Type="http://schemas.openxmlformats.org/officeDocument/2006/relationships/notesSlide" Target="/ppt/notesSlides/notesSlide2.xml" Id="Re4c57d3b27cf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5c6724d9f432a" /><Relationship Type="http://schemas.openxmlformats.org/officeDocument/2006/relationships/chart" Target="/ppt/slides/charts/chart1.xml" Id="R57f610c22b184791" /><Relationship Type="http://schemas.openxmlformats.org/officeDocument/2006/relationships/notesSlide" Target="/ppt/notesSlides/notesSlide3.xml" Id="R00e4d96499544d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a9df84d65415c" /><Relationship Type="http://schemas.openxmlformats.org/officeDocument/2006/relationships/notesSlide" Target="/ppt/notesSlides/notesSlide4.xml" Id="R42a8903958be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26674e6b24a60" /><Relationship Type="http://schemas.openxmlformats.org/officeDocument/2006/relationships/notesSlide" Target="/ppt/notesSlides/notesSlide5.xml" Id="R948f5f65e7ac4b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2450ff7b64bd5" /><Relationship Type="http://schemas.openxmlformats.org/officeDocument/2006/relationships/notesSlide" Target="/ppt/notesSlides/notesSlide6.xml" Id="R8e1413bf4d4a48c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Engagement index</c:v>
          </c:tx>
          <c:spPr>
            <a:solidFill xmlns:a="http://schemas.openxmlformats.org/drawingml/2006/main">
              <a:srgbClr val="0E7490"/>
            </a:solidFill>
          </c:spPr>
          <c:cat>
            <c:strLit>
              <c:ptCount val="4"/>
              <c:pt idx="0">
                <c:v>Engineering</c:v>
              </c:pt>
              <c:pt idx="1">
                <c:v>Product</c:v>
              </c:pt>
              <c:pt idx="2">
                <c:v>Customer Operations</c:v>
              </c:pt>
              <c:pt idx="3">
                <c:v>G&amp;A</c:v>
              </c:pt>
            </c:strLit>
          </c:cat>
          <c:val>
            <c:numLit>
              <c:formatCode>General</c:formatCode>
              <c:ptCount val="4"/>
              <c:pt idx="0">
                <c:v>77</c:v>
              </c:pt>
              <c:pt idx="1">
                <c:v>78</c:v>
              </c:pt>
              <c:pt idx="2">
                <c:v>74</c:v>
              </c:pt>
              <c:pt idx="3">
                <c:v>75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F4B65-1ACE-4FE9-8358-86EF854B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7490"/>
                </a:solidFill>
              </a:defRPr>
            </a:pPr>
            <a:r>
              <a:rPr sz="1050" b="1">
                <a:solidFill>
                  <a:srgbClr val="0E7490"/>
                </a:solidFill>
              </a:rPr>
              <a:t>ORCHID PEOPLE | ENGAGEMENT PULSE | 2026-08-18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5FEA0-E2B4-4C11-9612-334DD1B4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Listening with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D7CB4-C97F-48D1-A309-BE2A22F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</a:defRPr>
            </a:pPr>
            <a:r>
              <a:rPr sz="2100" b="0">
                <a:solidFill>
                  <a:srgbClr val="17324D"/>
                </a:solidFill>
              </a:rPr>
              <a:t>118 valid responses reveal a solid base and a practical manager-and-growth agenda.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13DA5-A52A-49DB-9A24-6A40BB7C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Synthetic aggregate readout</a:t>
            </a:r>
          </a:p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No individual-level reporting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57250-2377-4E37-B139-CDC71DB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E7490"/>
                </a:solidFill>
              </a:defRPr>
            </a:pPr>
            <a:r>
              <a:rPr sz="3600" b="1">
                <a:solidFill>
                  <a:srgbClr val="0E7490"/>
                </a:solidFill>
              </a:rPr>
              <a:t>76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5766D-FAC2-46FD-A6FD-E12345B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Engagement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C2BA2-A74C-4F3C-BFE8-A283F73B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E7490"/>
                </a:solidFill>
              </a:defRPr>
            </a:pPr>
            <a:r>
              <a:rPr sz="3600" b="1">
                <a:solidFill>
                  <a:srgbClr val="0E7490"/>
                </a:solidFill>
              </a:rPr>
              <a:t>+24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D7352-6FEF-461E-B4C9-8C3FDA5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eNPS</a:t>
            </a:r>
          </a:p>
        </p:txBody>
      </p:sp>
    </p:spTree>
    <p:extLst>
      <p:ext uri="{BB962C8B-B14F-4D97-AF65-F5344CB8AC3E}">
        <p14:creationId xmlns:p14="http://schemas.microsoft.com/office/powerpoint/2010/main" val="882533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8E14A-4B46-4A3C-A36F-7690CA13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7490"/>
                </a:solidFill>
              </a:defRPr>
            </a:pPr>
            <a:r>
              <a:rPr sz="1050" b="1">
                <a:solidFill>
                  <a:srgbClr val="0E7490"/>
                </a:solidFill>
              </a:rPr>
              <a:t>RESPONSE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E8A01-EA5C-454D-8593-B529A1E2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Participation supports an actionable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06F72-2C96-466C-9280-D5FA05A6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Eligible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28D27-603E-4242-9AA3-392FB9F1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7490"/>
                </a:solidFill>
              </a:defRPr>
            </a:pPr>
            <a:r>
              <a:rPr sz="3150" b="1">
                <a:solidFill>
                  <a:srgbClr val="0E7490"/>
                </a:solidFill>
              </a:rPr>
              <a:t>184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89860-2F3A-4770-9D91-817929B2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Invited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9C3E5-842D-4321-BFFB-21D3AAC3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7490"/>
                </a:solidFill>
              </a:defRPr>
            </a:pPr>
            <a:r>
              <a:rPr sz="3150" b="1">
                <a:solidFill>
                  <a:srgbClr val="0E7490"/>
                </a:solidFill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F0AE4-1A65-43DF-A2D3-70CDDAD3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Valid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F56ED-47BB-4207-B34F-62A47C0B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7490"/>
                </a:solidFill>
              </a:defRPr>
            </a:pPr>
            <a:r>
              <a:rPr sz="3150" b="1">
                <a:solidFill>
                  <a:srgbClr val="0E7490"/>
                </a:solidFill>
              </a:rPr>
              <a:t>118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A89E6-D2BD-4D58-AD08-F5B166A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Response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B0130-F6CA-4B2C-9531-2678D947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7490"/>
                </a:solidFill>
              </a:defRPr>
            </a:pPr>
            <a:r>
              <a:rPr sz="3150" b="1">
                <a:solidFill>
                  <a:srgbClr val="0E7490"/>
                </a:solidFill>
              </a:rPr>
              <a:t>80.8%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FE150-B6A9-406D-9E47-ABB2E514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Reporting segments are limited to groups with at least 10 responses.</a:t>
            </a:r>
          </a:p>
        </p:txBody>
      </p:sp>
    </p:spTree>
    <p:extLst>
      <p:ext uri="{BB962C8B-B14F-4D97-AF65-F5344CB8AC3E}">
        <p14:creationId xmlns:p14="http://schemas.microsoft.com/office/powerpoint/2010/main" val="842459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76C51-0657-4A64-868F-609258C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7490"/>
                </a:solidFill>
              </a:defRPr>
            </a:pPr>
            <a:r>
              <a:rPr sz="1050" b="1">
                <a:solidFill>
                  <a:srgbClr val="0E7490"/>
                </a:solidFill>
              </a:rPr>
              <a:t>SEGMENT VIEW | GROUPS n &gt;=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5D648-4E8C-4C09-AF63-8BB3F6A0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Engagement is consistent across reportable groups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f610c22b18479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3DC1A-CBBE-47E9-830E-88ECC8FD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Reading the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5F400-EEC8-4C0B-B912-26CE1B1B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• Product and Engineering set the high 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• Customer Operations merits closer manager and workload follow-through.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• Directional findings only; no small-group reporting.</a:t>
            </a:r>
          </a:p>
        </p:txBody>
      </p:sp>
    </p:spTree>
    <p:extLst>
      <p:ext uri="{BB962C8B-B14F-4D97-AF65-F5344CB8AC3E}">
        <p14:creationId xmlns:p14="http://schemas.microsoft.com/office/powerpoint/2010/main" val="1339064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E0113-868F-4E8F-A207-22F1E0F3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7490"/>
                </a:solidFill>
              </a:defRPr>
            </a:pPr>
            <a:r>
              <a:rPr sz="1050" b="1">
                <a:solidFill>
                  <a:srgbClr val="0E7490"/>
                </a:solidFill>
              </a:rPr>
              <a:t>WHAT WE HEARD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37A7D-ECF0-4B4A-8EAF-14457F22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The story is clear: protect strengths, reduce inconsistency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03827-5BB7-4509-98B9-00ABB6C5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7490"/>
                </a:solidFill>
              </a:defRPr>
            </a:pPr>
            <a:r>
              <a:rPr sz="1950" b="1">
                <a:solidFill>
                  <a:srgbClr val="0E7490"/>
                </a:solidFill>
              </a:rPr>
              <a:t>Strengths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7D9F7-614A-4050-8F80-E6FAEC6D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Clearer priorities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Collaborative peers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Everyday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1E824-32B4-417D-B4A9-FC86954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7490"/>
                </a:solidFill>
              </a:defRPr>
            </a:pPr>
            <a:r>
              <a:rPr sz="1950" b="1">
                <a:solidFill>
                  <a:srgbClr val="0E7490"/>
                </a:solidFill>
              </a:rPr>
              <a:t>Watch areas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759A0-AA30-429E-A16A-9960CCEF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Manager consistency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Growth-path clarity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Wellbeing during delivery peaks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863F9-7A38-473F-A889-CF71878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These themes are plausible aggregate signals from a fully synthetic dataset.</a:t>
            </a:r>
          </a:p>
        </p:txBody>
      </p:sp>
    </p:spTree>
    <p:extLst>
      <p:ext uri="{BB962C8B-B14F-4D97-AF65-F5344CB8AC3E}">
        <p14:creationId xmlns:p14="http://schemas.microsoft.com/office/powerpoint/2010/main" val="2042687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3240F-017F-4DA5-A2F3-458F7A97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7490"/>
                </a:solidFill>
              </a:defRPr>
            </a:pPr>
            <a:r>
              <a:rPr sz="1050" b="1">
                <a:solidFill>
                  <a:srgbClr val="0E7490"/>
                </a:solidFill>
              </a:rPr>
              <a:t>30-DAY 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A4622-BB24-4A7B-B5CC-A4A44F09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Three commitments make the next step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47516-11EB-4A95-9DC8-0D9834E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52E82-D825-41FE-86F2-F763B653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Close the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906CC-A192-46D6-9042-09C3C4D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Share the aggregate readout and commitments.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905AD-C2D4-4A5E-A77F-49B78D3B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39555-BA61-46B7-8CE4-B9EE707D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Equip managers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5DBBF-3A55-43B8-ACAF-713D125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Run listening huddles with a common guide.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6C7C8-653C-4BA4-A4BF-80F31F83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2E8C8-13E3-4031-B9E8-14920FDE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Clarify 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3044C-8DE8-4775-B900-C569E069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Calibrate and publish development language.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F0BBB-B5D8-4936-B1CE-2F20207C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Report progress at day 30: what changed, what needs time, and what is not being pursued.</a:t>
            </a:r>
          </a:p>
        </p:txBody>
      </p:sp>
    </p:spTree>
    <p:extLst>
      <p:ext uri="{BB962C8B-B14F-4D97-AF65-F5344CB8AC3E}">
        <p14:creationId xmlns:p14="http://schemas.microsoft.com/office/powerpoint/2010/main" val="1386930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61541-DD0D-494D-A9CA-4ACAF49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7490"/>
                </a:solidFill>
              </a:defRPr>
            </a:pPr>
            <a:r>
              <a:rPr sz="1050" b="1">
                <a:solidFill>
                  <a:srgbClr val="0E7490"/>
                </a:solidFill>
              </a:rPr>
              <a:t>PRIVACY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49195-CDF3-4E74-96E7-2CE21492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Use the signal responsibly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81AD7-1128-408A-8183-E3BF22B7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7490"/>
                </a:solidFill>
              </a:defRPr>
            </a:pPr>
            <a:r>
              <a:rPr sz="1950" b="1">
                <a:solidFill>
                  <a:srgbClr val="0E7490"/>
                </a:solidFill>
              </a:rPr>
              <a:t>Safeguards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09E88-CBA1-4ADE-9AB4-8CD9715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238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Response IDs only (SUR-001...)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No names, contact details, employee IDs, sensitive demographics, or personal free text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Segments published only when n &gt;=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C9B34-D4CD-492C-8D7D-3ECA7C23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7490"/>
                </a:solidFill>
              </a:defRPr>
            </a:pPr>
            <a:r>
              <a:rPr sz="1950" b="1">
                <a:solidFill>
                  <a:srgbClr val="0E7490"/>
                </a:solidFill>
              </a:rPr>
              <a:t>Decision posture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396A0-05D3-450D-B0FA-174E6804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3619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Use aggregated trends to guide team-level action. Do not infer individual views or use synthetic results for real employment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C312E-DA2F-49E2-8AD7-558E7399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Source: Orchid People synthetic engagement survey, as of 2026-08-18.</a:t>
            </a:r>
          </a:p>
        </p:txBody>
      </p:sp>
    </p:spTree>
    <p:extLst>
      <p:ext uri="{BB962C8B-B14F-4D97-AF65-F5344CB8AC3E}">
        <p14:creationId xmlns:p14="http://schemas.microsoft.com/office/powerpoint/2010/main" val="1649519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2026-08-23T18:51:51.2770000Z</dcterms:created>
  <dcterms:modified xsi:type="dcterms:W3CDTF">2026-08-23T18:51:51.2770000Z</dcterms:modified>
</coreProperties>
</file>