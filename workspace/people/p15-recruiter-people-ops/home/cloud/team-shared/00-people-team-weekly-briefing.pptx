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f03088de041d0" /><Relationship Type="http://schemas.openxmlformats.org/officeDocument/2006/relationships/extended-properties" Target="/docProps/app.xml" Id="R18a35c6be8d74426" /><Relationship Type="http://schemas.openxmlformats.org/officeDocument/2006/relationships/officeDocument" Target="/ppt/presentation.xml" Id="R38d71eedfc8c42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578b7100743ad"/>
  </p:sldMasterIdLst>
  <p:notesMasterIdLst>
    <p:notesMasterId xmlns:r="http://schemas.openxmlformats.org/officeDocument/2006/relationships" r:id="R9313a36e808744ec"/>
  </p:notesMasterIdLst>
  <p:sldIdLst>
    <p:sldId xmlns:r="http://schemas.openxmlformats.org/officeDocument/2006/relationships" id="256" r:id="R993ed12bbff74f56"/>
    <p:sldId xmlns:r="http://schemas.openxmlformats.org/officeDocument/2006/relationships" id="257" r:id="R7c319791f120490e"/>
    <p:sldId xmlns:r="http://schemas.openxmlformats.org/officeDocument/2006/relationships" id="258" r:id="R75885cb6999a4225"/>
    <p:sldId xmlns:r="http://schemas.openxmlformats.org/officeDocument/2006/relationships" id="259" r:id="Rb90dc8751ef94e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6f86157a5644a4" /><Relationship Type="http://schemas.openxmlformats.org/officeDocument/2006/relationships/slideMaster" Target="/ppt/slideMasters/slideMaster1.xml" Id="Rbfb578b7100743ad" /><Relationship Type="http://schemas.openxmlformats.org/officeDocument/2006/relationships/notesMaster" Target="/ppt/notesMasters/notesMaster1.xml" Id="R9313a36e808744ec" /><Relationship Type="http://schemas.openxmlformats.org/officeDocument/2006/relationships/presProps" Target="/ppt/presProps.xml" Id="Rb9d241a98bad4d99" /><Relationship Type="http://schemas.openxmlformats.org/officeDocument/2006/relationships/tableStyles" Target="/ppt/tableStyles.xml" Id="R4f7cbe94dff44141" /><Relationship Type="http://schemas.openxmlformats.org/officeDocument/2006/relationships/slide" Target="/ppt/slides/slide1.xml" Id="R993ed12bbff74f56" /><Relationship Type="http://schemas.openxmlformats.org/officeDocument/2006/relationships/slide" Target="/ppt/slides/slide2.xml" Id="R7c319791f120490e" /><Relationship Type="http://schemas.openxmlformats.org/officeDocument/2006/relationships/slide" Target="/ppt/slides/slide3.xml" Id="R75885cb6999a4225" /><Relationship Type="http://schemas.openxmlformats.org/officeDocument/2006/relationships/slide" Target="/ppt/slides/slide4.xml" Id="Rb90dc8751ef94e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448cc25701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f9df1f393b4571" /><Relationship Type="http://schemas.openxmlformats.org/officeDocument/2006/relationships/notesMaster" Target="/ppt/notesMasters/notesMaster1.xml" Id="R46ce368d9d664f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3dd2c19f5e4eb4" /><Relationship Type="http://schemas.openxmlformats.org/officeDocument/2006/relationships/notesMaster" Target="/ppt/notesMasters/notesMaster1.xml" Id="R99bc0e92100d48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8a515bc4da4a79" /><Relationship Type="http://schemas.openxmlformats.org/officeDocument/2006/relationships/notesMaster" Target="/ppt/notesMasters/notesMaster1.xml" Id="R243c24a3ec114d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4b944215c844ba" /><Relationship Type="http://schemas.openxmlformats.org/officeDocument/2006/relationships/notesMaster" Target="/ppt/notesMasters/notesMaster1.xml" Id="Rbee424cb193043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98d81e1c64c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2d351145e4ee1" /><Relationship Type="http://schemas.openxmlformats.org/officeDocument/2006/relationships/slideLayout" Target="/ppt/slideLayouts/slideLayout1.xml" Id="R1946c2b8bed646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46c2b8bed646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698bd8c194487" /><Relationship Type="http://schemas.openxmlformats.org/officeDocument/2006/relationships/image" Target="/ppt/media/image.png" Id="R7ace795065084061" /><Relationship Type="http://schemas.openxmlformats.org/officeDocument/2006/relationships/notesSlide" Target="/ppt/notesSlides/notesSlide1.xml" Id="Rcdd858547e144a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117124cbf4051" /><Relationship Type="http://schemas.openxmlformats.org/officeDocument/2006/relationships/notesSlide" Target="/ppt/notesSlides/notesSlide2.xml" Id="R662ef635496147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3442a8f204f8a" /><Relationship Type="http://schemas.openxmlformats.org/officeDocument/2006/relationships/notesSlide" Target="/ppt/notesSlides/notesSlide3.xml" Id="Rbcac75d7037541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35e805aa14aaf" /><Relationship Type="http://schemas.openxmlformats.org/officeDocument/2006/relationships/notesSlide" Target="/ppt/notesSlides/notesSlide4.xml" Id="R57bdd29dda704a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BDD01-1787-4752-81FF-393B1F0B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62B5"/>
                </a:solidFill>
              </a:defRPr>
            </a:pPr>
            <a:r>
              <a:rPr sz="900" b="1">
                <a:solidFill>
                  <a:srgbClr val="8D62B5"/>
                </a:solidFill>
              </a:rPr>
              <a:t>ORCHID PEOPLE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AB073-2FC1-4543-BC35-101DBEB3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3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Weekly workforce briefing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DF422-B9E6-45CE-B9CD-67383BAC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674"/>
                </a:solidFill>
              </a:defRPr>
            </a:pPr>
            <a:r>
              <a:rPr sz="1650" b="0">
                <a:solidFill>
                  <a:srgbClr val="5D6674"/>
                </a:solidFill>
              </a:rPr>
              <a:t>A focused view of the 2026 headcount plan and approved hiring capacity.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e795065084061"/>
          <a:srcRect xmlns:a="http://schemas.openxmlformats.org/drawingml/2006/main" l="21347" t="0" r="21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23900"/>
            <a:ext cx="5314950" cy="5219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1299E-1B2E-4C39-8536-A2F7EAD0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674"/>
                </a:solidFill>
              </a:defRPr>
            </a:pPr>
            <a:r>
              <a:rPr sz="900" b="1">
                <a:solidFill>
                  <a:srgbClr val="5D6674"/>
                </a:solidFill>
              </a:rPr>
              <a:t>18 AUG 2026  ·  SYNTHETIC 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A1BC2-A5DF-452F-84CC-E1946A7B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4F272-BB4D-4AA1-A0D7-1804ABD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674"/>
                </a:solidFill>
              </a:defRPr>
            </a:pPr>
            <a:r>
              <a:rPr sz="750" b="1">
                <a:solidFill>
                  <a:srgbClr val="5D6674"/>
                </a:solidFill>
              </a:rPr>
              <a:t>ORCHID PEOPLE  /  SYNTHETIC PLANNING SNAPSHOT  /  18 AUG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AB5E8-82BB-490C-A293-36C206AE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674"/>
                </a:solidFill>
              </a:defRPr>
            </a:pPr>
            <a:r>
              <a:rPr sz="750" b="1">
                <a:solidFill>
                  <a:srgbClr val="5D667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9427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5DA117-63F5-48AF-8F0A-7E4A5C57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62B5"/>
                </a:solidFill>
              </a:defRPr>
            </a:pPr>
            <a:r>
              <a:rPr sz="900" b="1">
                <a:solidFill>
                  <a:srgbClr val="8D62B5"/>
                </a:solidFill>
              </a:rPr>
              <a:t>HEADCOUNT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94F15-C50D-4918-B7CA-0FDBF7EE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The year-end plan adds 12 roles to the current workforce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F6C0D-5BD5-4717-9549-62B5103E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20BA4-B761-46D7-B088-4E33A1F0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674"/>
                </a:solidFill>
              </a:defRPr>
            </a:pPr>
            <a:r>
              <a:rPr sz="750" b="1">
                <a:solidFill>
                  <a:srgbClr val="5D6674"/>
                </a:solidFill>
              </a:rPr>
              <a:t>ORCHID PEOPLE  /  SYNTHETIC PLANNING SNAPSHOT  /  18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A978-3C89-42B9-AF59-93EBEF6D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674"/>
                </a:solidFill>
              </a:defRPr>
            </a:pPr>
            <a:r>
              <a:rPr sz="750" b="1">
                <a:solidFill>
                  <a:srgbClr val="5D667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1DD76-1F3D-49D3-945E-6B2DA3A5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11827"/>
                </a:solidFill>
              </a:defRPr>
            </a:pPr>
            <a:r>
              <a:rPr sz="5250" b="1">
                <a:solidFill>
                  <a:srgbClr val="111827"/>
                </a:solidFill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8EC5E-A363-4223-B99A-FDA67AF6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674"/>
                </a:solidFill>
              </a:defRPr>
            </a:pPr>
            <a:r>
              <a:rPr sz="1500" b="0">
                <a:solidFill>
                  <a:srgbClr val="5D6674"/>
                </a:solidFill>
              </a:rPr>
              <a:t>current headcount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923F5-33DA-4478-910C-7D078216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D8DFF"/>
                </a:solidFill>
              </a:defRPr>
            </a:pPr>
            <a:r>
              <a:rPr sz="5250" b="1">
                <a:solidFill>
                  <a:srgbClr val="3D8DFF"/>
                </a:solidFill>
              </a:rPr>
              <a:t>196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B5358-4571-4808-AC02-7237AD61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674"/>
                </a:solidFill>
              </a:defRPr>
            </a:pPr>
            <a:r>
              <a:rPr sz="1500" b="0">
                <a:solidFill>
                  <a:srgbClr val="5D6674"/>
                </a:solidFill>
              </a:rPr>
              <a:t>year-end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CD604-373B-4BA7-8A89-A7EF5C9B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61779-449D-451E-B074-F264E3E6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8D62B5"/>
                </a:solidFill>
              </a:defRPr>
            </a:pPr>
            <a:r>
              <a:rPr sz="3450" b="1">
                <a:solidFill>
                  <a:srgbClr val="8D62B5"/>
                </a:solidFill>
              </a:rPr>
              <a:t>+12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AE91B-8592-41EA-BC60-E061D041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674"/>
                </a:solidFill>
              </a:defRPr>
            </a:pPr>
            <a:r>
              <a:rPr sz="1500" b="0">
                <a:solidFill>
                  <a:srgbClr val="5D6674"/>
                </a:solidFill>
              </a:rPr>
              <a:t>planned net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22FE9-BB15-4CF4-8E28-49F52B69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95725"/>
            <a:ext cx="723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39840-F58D-4DAD-B179-FE888C3B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99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69182-5DFC-44D8-A6B0-92130E79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4"/>
                </a:solidFill>
              </a:defRPr>
            </a:pPr>
            <a:r>
              <a:rPr sz="975" b="0">
                <a:solidFill>
                  <a:srgbClr val="5D6674"/>
                </a:solidFill>
              </a:rPr>
              <a:t>Current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60F10-60AF-46B1-806D-2AEA6F5A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38525"/>
            <a:ext cx="723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F5FB6-55DC-410B-8A64-39446000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527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188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CBA16-7406-4B57-9077-016BDDE3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29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4"/>
                </a:solidFill>
              </a:defRPr>
            </a:pPr>
            <a:r>
              <a:rPr sz="975" b="0">
                <a:solidFill>
                  <a:srgbClr val="5D6674"/>
                </a:solidFill>
              </a:rPr>
              <a:t>Q3 intake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E4E72-789F-462F-A8E4-553C78F7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81325"/>
            <a:ext cx="723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035D3-516E-4A05-8DC4-06902AB5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955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192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EFAC8-7470-43CA-AEDD-4F4B56F9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29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4"/>
                </a:solidFill>
              </a:defRPr>
            </a:pPr>
            <a:r>
              <a:rPr sz="975" b="0">
                <a:solidFill>
                  <a:srgbClr val="5D6674"/>
                </a:solidFill>
              </a:rPr>
              <a:t>Q4 intake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A1CBF-F727-40BD-AE23-21C7D7CE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24125"/>
            <a:ext cx="723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E5531-2AD4-44B8-923B-6A045FDB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196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1A75B-9AD6-48A6-BBE5-E895B75F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29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D6674"/>
                </a:solidFill>
              </a:defRPr>
            </a:pPr>
            <a:r>
              <a:rPr sz="975" b="0">
                <a:solidFill>
                  <a:srgbClr val="5D6674"/>
                </a:solidFill>
              </a:rPr>
              <a:t>Year 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B27276-1EF2-4110-97EE-A68342A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674"/>
                </a:solidFill>
              </a:defRPr>
            </a:pPr>
            <a:r>
              <a:rPr sz="1200" b="0">
                <a:solidFill>
                  <a:srgbClr val="5D6674"/>
                </a:solidFill>
              </a:rPr>
              <a:t>Capacity path is a planning view, not a candidate or employee roster.</a:t>
            </a:r>
          </a:p>
        </p:txBody>
      </p:sp>
    </p:spTree>
    <p:extLst>
      <p:ext uri="{BB962C8B-B14F-4D97-AF65-F5344CB8AC3E}">
        <p14:creationId xmlns:p14="http://schemas.microsoft.com/office/powerpoint/2010/main" val="127331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D0D5D-3502-40D7-AC1F-82E967E3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62B5"/>
                </a:solidFill>
              </a:defRPr>
            </a:pPr>
            <a:r>
              <a:rPr sz="900" b="1">
                <a:solidFill>
                  <a:srgbClr val="8D62B5"/>
                </a:solidFill>
              </a:rPr>
              <a:t>APPROVED REQUISITIONS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2D140-76CC-4BCA-AB81-D23ED43E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Two roles translate the plan into five approved openings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9526F-7ABA-4221-AC17-ABD7711B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10FD2-8CDB-4693-918E-592619AC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674"/>
                </a:solidFill>
              </a:defRPr>
            </a:pPr>
            <a:r>
              <a:rPr sz="750" b="1">
                <a:solidFill>
                  <a:srgbClr val="5D6674"/>
                </a:solidFill>
              </a:rPr>
              <a:t>ORCHID PEOPLE  /  SYNTHETIC PLANNING SNAPSHOT  /  18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85A6F-1A40-4C3D-8D18-2D2BFA15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674"/>
                </a:solidFill>
              </a:defRPr>
            </a:pPr>
            <a:r>
              <a:rPr sz="750" b="1">
                <a:solidFill>
                  <a:srgbClr val="5D6674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2E19D-6EFC-47EB-B4D6-17904CBC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95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E9393-0841-4B82-B3A9-2C16C04D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REQUISITION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FD969-C713-40DA-999C-2FD04E2C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57375"/>
            <a:ext cx="274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6C903-365F-47C9-BECD-97D00EB9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3F822-4F2D-4DDE-B955-0936794C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57375"/>
            <a:ext cx="1609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0954D-1371-4BA6-9E3F-A6AAB098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526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OPENINGS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EFA75-5BB8-4F48-9AEB-0D2F483A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5737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CDB77-591B-45F1-A4B2-84F08DC8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526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1D578-F021-4801-A965-B6863DF0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57375"/>
            <a:ext cx="1647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18BA1-2FD4-411E-9F2B-C9E13347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952625"/>
            <a:ext cx="1419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READINESS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648D4-59A6-4937-B7A3-791F88BE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9"/>
          </a:solidFill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ABDE9-6557-4056-8551-87D5A7A3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D62B5"/>
                </a:solidFill>
              </a:defRPr>
            </a:pPr>
            <a:r>
              <a:rPr sz="1800" b="1">
                <a:solidFill>
                  <a:srgbClr val="8D62B5"/>
                </a:solidFill>
              </a:rPr>
              <a:t>Alpha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956FA-C590-4C70-AE02-8830DFFC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People Analytics Partner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45797-F130-4A6D-88F9-7ED9EBD8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241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6A9E6-1883-41ED-84FD-DB9780D2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JPY 7.2–8.4M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419B2-F0B8-47BA-9D4E-B34E9898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52412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51070-C101-4535-83F0-5BE3F42A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0D120-09E0-4C8A-B8FB-72B2EB52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D62B5"/>
                </a:solidFill>
              </a:defRPr>
            </a:pPr>
            <a:r>
              <a:rPr sz="1800" b="1">
                <a:solidFill>
                  <a:srgbClr val="8D62B5"/>
                </a:solidFill>
              </a:rPr>
              <a:t>Beta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D8907-0529-446F-8CEC-2248515A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04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Talent Operations Specialist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DB9D7-71E3-4B81-8AF9-3A46026F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0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A3DFA-3DA2-495E-90EE-09DE082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0042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JPY 5.8–6.8M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C9672A-AADB-4CA4-8AC5-3F11A7A6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40042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3723D5-3F94-4D4D-AF7D-4F37F498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674"/>
                </a:solidFill>
              </a:defRPr>
            </a:pPr>
            <a:r>
              <a:rPr sz="1500" b="0">
                <a:solidFill>
                  <a:srgbClr val="5D6674"/>
                </a:solidFill>
              </a:rPr>
              <a:t>Shared sequencing focus: intake rhythm, capacity planning, and ATS integration readiness.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7514BD-EAA2-41FD-A4F1-B7699DB8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924FC-DB69-4C24-82D9-F2262DD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4"/>
                </a:solidFill>
              </a:defRPr>
            </a:pPr>
            <a:r>
              <a:rPr sz="1350" b="0">
                <a:solidFill>
                  <a:srgbClr val="5D6674"/>
                </a:solidFill>
              </a:rPr>
              <a:t>approved openings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BDFD17-C03D-42F3-9B8E-8DE5365B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D62B5"/>
                </a:solidFill>
              </a:defRPr>
            </a:pPr>
            <a:r>
              <a:rPr sz="4050" b="1">
                <a:solidFill>
                  <a:srgbClr val="8D62B5"/>
                </a:solidFill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94D655-5075-4E8F-9660-75555CCD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48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4"/>
                </a:solidFill>
              </a:defRPr>
            </a:pPr>
            <a:r>
              <a:rPr sz="1350" b="0">
                <a:solidFill>
                  <a:srgbClr val="5D6674"/>
                </a:solidFill>
              </a:rPr>
              <a:t>requisitions</a:t>
            </a:r>
          </a:p>
        </p:txBody>
      </p:sp>
    </p:spTree>
    <p:extLst>
      <p:ext uri="{BB962C8B-B14F-4D97-AF65-F5344CB8AC3E}">
        <p14:creationId xmlns:p14="http://schemas.microsoft.com/office/powerpoint/2010/main" val="30026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2142E-AD71-4D04-A761-F297A972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D62B5"/>
                </a:solidFill>
              </a:defRPr>
            </a:pPr>
            <a:r>
              <a:rPr sz="900" b="1">
                <a:solidFill>
                  <a:srgbClr val="8D62B5"/>
                </a:solidFill>
              </a:rPr>
              <a:t>THIS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A146F-5B70-4E03-94B7-A4E78396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Align the operating rhythm before intake begins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B2C2B-96C0-4BC1-89BA-C56E4A14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8C81B-2848-4647-AC08-06D4AB8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62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674"/>
                </a:solidFill>
              </a:defRPr>
            </a:pPr>
            <a:r>
              <a:rPr sz="750" b="1">
                <a:solidFill>
                  <a:srgbClr val="5D6674"/>
                </a:solidFill>
              </a:rPr>
              <a:t>ORCHID PEOPLE  /  SYNTHETIC PLANNING SNAPSHOT  /  18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E64D0-17F3-444D-977A-4AA0B64E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674"/>
                </a:solidFill>
              </a:defRPr>
            </a:pPr>
            <a:r>
              <a:rPr sz="750" b="1">
                <a:solidFill>
                  <a:srgbClr val="5D6674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1272B-1087-4F45-9CDC-9AD4103F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61120-7A2D-4D81-B5E3-F9C72C94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69DB5-F8C0-4B6E-AB9C-55BA930C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Confirm capacity owners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EBDFB-6CFC-438A-A342-CD4B8F92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4"/>
                </a:solidFill>
              </a:defRPr>
            </a:pPr>
            <a:r>
              <a:rPr sz="1350" b="0">
                <a:solidFill>
                  <a:srgbClr val="5D6674"/>
                </a:solidFill>
              </a:rPr>
              <a:t>Reaffirm the 12-role path against the 196 year-end plan.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C1D00-E6F4-4B09-826D-D79A234D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97539-F2CB-40D8-920E-33A04CBD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6DE5C-4D13-41B9-BDDE-916FA940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Open intake windows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C030B-1EF2-4E9C-BE07-D5AE780B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4"/>
                </a:solidFill>
              </a:defRPr>
            </a:pPr>
            <a:r>
              <a:rPr sz="1350" b="0">
                <a:solidFill>
                  <a:srgbClr val="5D6674"/>
                </a:solidFill>
              </a:rPr>
              <a:t>Sequence Alpha (3) and Beta (2) without candidate detail in shared space.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1F5E1-5697-4A0B-B9CE-942B783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345AD-DBE0-42C6-8C72-1F6BE4FF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A0592-C84D-4AB8-AE82-A82B4FF3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Validate ATS handoff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10EBF-D5AE-4FAA-9330-1354923F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100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674"/>
                </a:solidFill>
              </a:defRPr>
            </a:pPr>
            <a:r>
              <a:rPr sz="1350" b="0">
                <a:solidFill>
                  <a:srgbClr val="5D6674"/>
                </a:solidFill>
              </a:rPr>
              <a:t>Use the synthetic capture as a non-production integration reference.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D1C25-15BC-44F1-989F-4DF1CD7F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D62B5"/>
                </a:solidFill>
              </a:defRPr>
            </a:pPr>
            <a:r>
              <a:rPr sz="1950" b="1">
                <a:solidFill>
                  <a:srgbClr val="8D62B5"/>
                </a:solidFill>
              </a:rPr>
              <a:t>Outcome: a single, privacy-safe planning view for the People team.</a:t>
            </a:r>
          </a:p>
        </p:txBody>
      </p:sp>
    </p:spTree>
    <p:extLst>
      <p:ext uri="{BB962C8B-B14F-4D97-AF65-F5344CB8AC3E}">
        <p14:creationId xmlns:p14="http://schemas.microsoft.com/office/powerpoint/2010/main" val="1694184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2026-08-23T18:54:56.5550000Z</dcterms:created>
  <dcterms:modified xsi:type="dcterms:W3CDTF">2026-08-23T18:54:56.5550000Z</dcterms:modified>
</coreProperties>
</file>