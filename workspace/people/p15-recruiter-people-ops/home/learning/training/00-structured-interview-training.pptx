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203c616e1c43b7" /><Relationship Type="http://schemas.openxmlformats.org/officeDocument/2006/relationships/extended-properties" Target="/docProps/app.xml" Id="R4b4b0742163d4fed" /><Relationship Type="http://schemas.openxmlformats.org/officeDocument/2006/relationships/officeDocument" Target="/ppt/presentation.xml" Id="Re99bfcda144545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ce95e93c334572"/>
  </p:sldMasterIdLst>
  <p:notesMasterIdLst>
    <p:notesMasterId xmlns:r="http://schemas.openxmlformats.org/officeDocument/2006/relationships" r:id="R010401d58d95488a"/>
  </p:notesMasterIdLst>
  <p:sldIdLst>
    <p:sldId xmlns:r="http://schemas.openxmlformats.org/officeDocument/2006/relationships" id="256" r:id="R4d494f13f9ec4047"/>
    <p:sldId xmlns:r="http://schemas.openxmlformats.org/officeDocument/2006/relationships" id="257" r:id="R531a5fd451124bc1"/>
    <p:sldId xmlns:r="http://schemas.openxmlformats.org/officeDocument/2006/relationships" id="258" r:id="R3792c2ead1a14451"/>
    <p:sldId xmlns:r="http://schemas.openxmlformats.org/officeDocument/2006/relationships" id="259" r:id="Raf33df433aa244b3"/>
    <p:sldId xmlns:r="http://schemas.openxmlformats.org/officeDocument/2006/relationships" id="260" r:id="R8d8783f419fc4466"/>
    <p:sldId xmlns:r="http://schemas.openxmlformats.org/officeDocument/2006/relationships" id="261" r:id="R5b8ba252debc4dc6"/>
    <p:sldId xmlns:r="http://schemas.openxmlformats.org/officeDocument/2006/relationships" id="262" r:id="R1a43bc38c55a47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0a756497e742c5" /><Relationship Type="http://schemas.openxmlformats.org/officeDocument/2006/relationships/slideMaster" Target="/ppt/slideMasters/slideMaster1.xml" Id="R0cce95e93c334572" /><Relationship Type="http://schemas.openxmlformats.org/officeDocument/2006/relationships/notesMaster" Target="/ppt/notesMasters/notesMaster1.xml" Id="R010401d58d95488a" /><Relationship Type="http://schemas.openxmlformats.org/officeDocument/2006/relationships/presProps" Target="/ppt/presProps.xml" Id="Rb7f679ef16a74521" /><Relationship Type="http://schemas.openxmlformats.org/officeDocument/2006/relationships/tableStyles" Target="/ppt/tableStyles.xml" Id="R5660fc77e7ca4787" /><Relationship Type="http://schemas.openxmlformats.org/officeDocument/2006/relationships/slide" Target="/ppt/slides/slide1.xml" Id="R4d494f13f9ec4047" /><Relationship Type="http://schemas.openxmlformats.org/officeDocument/2006/relationships/slide" Target="/ppt/slides/slide2.xml" Id="R531a5fd451124bc1" /><Relationship Type="http://schemas.openxmlformats.org/officeDocument/2006/relationships/slide" Target="/ppt/slides/slide3.xml" Id="R3792c2ead1a14451" /><Relationship Type="http://schemas.openxmlformats.org/officeDocument/2006/relationships/slide" Target="/ppt/slides/slide4.xml" Id="Raf33df433aa244b3" /><Relationship Type="http://schemas.openxmlformats.org/officeDocument/2006/relationships/slide" Target="/ppt/slides/slide5.xml" Id="R8d8783f419fc4466" /><Relationship Type="http://schemas.openxmlformats.org/officeDocument/2006/relationships/slide" Target="/ppt/slides/slide6.xml" Id="R5b8ba252debc4dc6" /><Relationship Type="http://schemas.openxmlformats.org/officeDocument/2006/relationships/slide" Target="/ppt/slides/slide7.xml" Id="R1a43bc38c55a47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8b800a28364a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cd1afa454140c3" /><Relationship Type="http://schemas.openxmlformats.org/officeDocument/2006/relationships/notesMaster" Target="/ppt/notesMasters/notesMaster1.xml" Id="R44f932fcb7c149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2f64db78f64a73" /><Relationship Type="http://schemas.openxmlformats.org/officeDocument/2006/relationships/notesMaster" Target="/ppt/notesMasters/notesMaster1.xml" Id="Ra68059aa27b74d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f6fa38264149ff" /><Relationship Type="http://schemas.openxmlformats.org/officeDocument/2006/relationships/notesMaster" Target="/ppt/notesMasters/notesMaster1.xml" Id="R671b71ac22fa4e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cb5eac65f64064" /><Relationship Type="http://schemas.openxmlformats.org/officeDocument/2006/relationships/notesMaster" Target="/ppt/notesMasters/notesMaster1.xml" Id="Reefc7dde1def44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0d3a9ffbb24878" /><Relationship Type="http://schemas.openxmlformats.org/officeDocument/2006/relationships/notesMaster" Target="/ppt/notesMasters/notesMaster1.xml" Id="Rd992858d30af41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6a65ebde024b76" /><Relationship Type="http://schemas.openxmlformats.org/officeDocument/2006/relationships/notesMaster" Target="/ppt/notesMasters/notesMaster1.xml" Id="R807c2d4ec83043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910ffa10b440dd" /><Relationship Type="http://schemas.openxmlformats.org/officeDocument/2006/relationships/notesMaster" Target="/ppt/notesMasters/notesMaster1.xml" Id="Rb7bd86a222294f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d739caaab741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fc2971b49e4ed8" /><Relationship Type="http://schemas.openxmlformats.org/officeDocument/2006/relationships/slideLayout" Target="/ppt/slideLayouts/slideLayout1.xml" Id="R18c4371beff04e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c4371beff04e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4a705dc3e4bd2" /><Relationship Type="http://schemas.openxmlformats.org/officeDocument/2006/relationships/notesSlide" Target="/ppt/notesSlides/notesSlide1.xml" Id="Rb04e250fc89b47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41855774c439c" /><Relationship Type="http://schemas.openxmlformats.org/officeDocument/2006/relationships/notesSlide" Target="/ppt/notesSlides/notesSlide2.xml" Id="R414b800759244b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f3e5d50a74629" /><Relationship Type="http://schemas.openxmlformats.org/officeDocument/2006/relationships/notesSlide" Target="/ppt/notesSlides/notesSlide3.xml" Id="R694294e0c52545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73e6164f74134" /><Relationship Type="http://schemas.openxmlformats.org/officeDocument/2006/relationships/notesSlide" Target="/ppt/notesSlides/notesSlide4.xml" Id="R6036f4d046ed41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1c231073b4a2c" /><Relationship Type="http://schemas.openxmlformats.org/officeDocument/2006/relationships/notesSlide" Target="/ppt/notesSlides/notesSlide5.xml" Id="R1bfddfe8bf224c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f5dfd36ee42d3" /><Relationship Type="http://schemas.openxmlformats.org/officeDocument/2006/relationships/notesSlide" Target="/ppt/notesSlides/notesSlide6.xml" Id="Re59b480b8ffc44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64b85a1004477" /><Relationship Type="http://schemas.openxmlformats.org/officeDocument/2006/relationships/notesSlide" Target="/ppt/notesSlides/notesSlide7.xml" Id="R4c0e993326214a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0CD21-4BD2-4193-A9E0-A6FE1BF9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2F80"/>
          </a:solidFill>
          <a:ln xmlns:a="http://schemas.openxmlformats.org/drawingml/2006/main" w="0">
            <a:solidFill>
              <a:srgbClr val="722F8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DB90D-E054-4E05-8A25-CC891D39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22F80"/>
                </a:solidFill>
              </a:defRPr>
            </a:pPr>
            <a:r>
              <a:rPr sz="975" b="1">
                <a:solidFill>
                  <a:srgbClr val="722F80"/>
                </a:solidFill>
              </a:rPr>
              <a:t>ORCHID PEOPLE | REQUISITION ALPHA | 18 AUG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F7C7F-E94A-422C-A38F-3D98C805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697C7-BF99-4EF2-A814-BC597B1F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Structured Interview Training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C5F85-241E-498F-A541-1839A4FE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F7"/>
          </a:solidFill>
          <a:ln xmlns:a="http://schemas.openxmlformats.org/drawingml/2006/main" w="0">
            <a:solidFill>
              <a:srgbClr val="F5EEF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75099-619C-4DF6-9F1A-61AE4DA9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19250"/>
            <a:ext cx="828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B1830"/>
                </a:solidFill>
              </a:defRPr>
            </a:pPr>
            <a:r>
              <a:rPr sz="4050" b="1">
                <a:solidFill>
                  <a:srgbClr val="0B1830"/>
                </a:solidFill>
              </a:rPr>
              <a:t>Structured interviews make comparable evidence possible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D08AF-A189-4220-BFA2-BB570C33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9562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22F80"/>
                </a:solidFill>
              </a:defRPr>
            </a:pPr>
            <a:r>
              <a:rPr sz="1800" b="1">
                <a:solidFill>
                  <a:srgbClr val="722F80"/>
                </a:solidFill>
              </a:rPr>
              <a:t>People Analytics Partner | 3 openings | JPY 7.2-8.4M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4135F-D78F-48AC-B1E9-AC00EAE4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57625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44054"/>
                </a:solidFill>
              </a:defRPr>
            </a:pPr>
            <a:r>
              <a:rPr sz="1800" b="0">
                <a:solidFill>
                  <a:srgbClr val="344054"/>
                </a:solidFill>
              </a:rPr>
              <a:t>Train interviewers to collect job-relevant evidence, score against anchors, and leave candidates with clarity.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2E4771-40F6-481A-9729-F91E85E1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428750"/>
            <a:ext cx="1238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2F80"/>
          </a:solidFill>
          <a:ln xmlns:a="http://schemas.openxmlformats.org/drawingml/2006/main" w="0">
            <a:solidFill>
              <a:srgbClr val="722F8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49875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1FB87-4D77-4E0A-8669-B442C65F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2F80"/>
          </a:solidFill>
          <a:ln xmlns:a="http://schemas.openxmlformats.org/drawingml/2006/main" w="0">
            <a:solidFill>
              <a:srgbClr val="722F8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6D936-E040-415D-A3AF-6A97B578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22F80"/>
                </a:solidFill>
              </a:defRPr>
            </a:pPr>
            <a:r>
              <a:rPr sz="975" b="1">
                <a:solidFill>
                  <a:srgbClr val="722F80"/>
                </a:solidFill>
              </a:rPr>
              <a:t>ORCHID PEOPLE | REQUISITION ALPHA | 18 AUG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DAD95-8D62-46A6-8CB8-82C5ECB6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C85A7-2BC4-40D1-B01A-B4AFEEDF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Structured Interview Training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E3609-1B98-4254-A0C3-F33925F1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830"/>
                </a:solidFill>
              </a:defRPr>
            </a:pPr>
            <a:r>
              <a:rPr sz="2925" b="1">
                <a:solidFill>
                  <a:srgbClr val="0B1830"/>
                </a:solidFill>
              </a:rPr>
              <a:t>Start with the role, then define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7A808-39BF-4AFC-BA48-CF5D50CA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857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35DF74-473D-4763-81C7-2B8A4EBA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4095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830"/>
                </a:solidFill>
              </a:defRPr>
            </a:pPr>
            <a:r>
              <a:rPr sz="1875" b="1">
                <a:solidFill>
                  <a:srgbClr val="0B1830"/>
                </a:solidFill>
              </a:rPr>
              <a:t>Competencies</a:t>
            </a:r>
          </a:p>
          <a:p xmlns:a="http://schemas.openxmlformats.org/drawingml/2006/main">
            <a:pPr>
              <a:defRPr sz="1875" b="1">
                <a:solidFill>
                  <a:srgbClr val="0B1830"/>
                </a:solidFill>
              </a:defRPr>
            </a:pPr>
            <a:r>
              <a:rPr sz="1875" b="1">
                <a:solidFill>
                  <a:srgbClr val="0B1830"/>
                </a:solidFill>
              </a:rPr>
              <a:t>1. Analytics judgment</a:t>
            </a:r>
          </a:p>
          <a:p xmlns:a="http://schemas.openxmlformats.org/drawingml/2006/main">
            <a:pPr>
              <a:defRPr sz="1875" b="1">
                <a:solidFill>
                  <a:srgbClr val="0B1830"/>
                </a:solidFill>
              </a:defRPr>
            </a:pPr>
            <a:r>
              <a:rPr sz="1875" b="1">
                <a:solidFill>
                  <a:srgbClr val="0B1830"/>
                </a:solidFill>
              </a:rPr>
              <a:t>2. Stakeholder partnership</a:t>
            </a:r>
          </a:p>
          <a:p xmlns:a="http://schemas.openxmlformats.org/drawingml/2006/main">
            <a:pPr>
              <a:defRPr sz="1875" b="1">
                <a:solidFill>
                  <a:srgbClr val="0B1830"/>
                </a:solidFill>
              </a:defRPr>
            </a:pPr>
            <a:r>
              <a:rPr sz="1875" b="1">
                <a:solidFill>
                  <a:srgbClr val="0B1830"/>
                </a:solidFill>
              </a:rPr>
              <a:t>3. Practical delivery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75F3B-E5B1-4C4D-8109-6F017B13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95500"/>
            <a:ext cx="4762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44054"/>
                </a:solidFill>
              </a:defRPr>
            </a:pPr>
            <a:r>
              <a:rPr sz="1950" b="0">
                <a:solidFill>
                  <a:srgbClr val="344054"/>
                </a:solidFill>
              </a:rPr>
              <a:t>For each competency: ask one planned question, probe for context and action, capture observable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08AC13-BA46-4B16-B774-B6F7E1B0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33875"/>
            <a:ext cx="390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46635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BCB379-A519-421B-8C03-72B54847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2F80"/>
          </a:solidFill>
          <a:ln xmlns:a="http://schemas.openxmlformats.org/drawingml/2006/main" w="0">
            <a:solidFill>
              <a:srgbClr val="722F8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3AD30-B4F7-4D62-86B7-6BAF14CC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22F80"/>
                </a:solidFill>
              </a:defRPr>
            </a:pPr>
            <a:r>
              <a:rPr sz="975" b="1">
                <a:solidFill>
                  <a:srgbClr val="722F80"/>
                </a:solidFill>
              </a:rPr>
              <a:t>ORCHID PEOPLE | REQUISITION ALPHA | 18 AUG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2F93F-B799-45E3-90E0-45455FED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E34237-E173-4731-92E1-084E4B0A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Structured Interview Training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77854-FC3B-408B-8F49-3E439B0D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830"/>
                </a:solidFill>
              </a:defRPr>
            </a:pPr>
            <a:r>
              <a:rPr sz="2925" b="1">
                <a:solidFill>
                  <a:srgbClr val="0B1830"/>
                </a:solidFill>
              </a:rPr>
              <a:t>Anchors reduce “gut feel” variance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591B8-D47F-41EB-AE14-F0A21433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857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658B9-03E2-4373-BD81-F6DE6948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4095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830"/>
                </a:solidFill>
              </a:defRPr>
            </a:pPr>
            <a:r>
              <a:rPr sz="1875" b="1">
                <a:solidFill>
                  <a:srgbClr val="0B1830"/>
                </a:solidFill>
              </a:rPr>
              <a:t>1 — limited evidence</a:t>
            </a:r>
          </a:p>
          <a:p xmlns:a="http://schemas.openxmlformats.org/drawingml/2006/main">
            <a:pPr>
              <a:defRPr sz="1875" b="1">
                <a:solidFill>
                  <a:srgbClr val="0B1830"/>
                </a:solidFill>
              </a:defRPr>
            </a:pPr>
            <a:r>
              <a:rPr sz="1875" b="1">
                <a:solidFill>
                  <a:srgbClr val="0B1830"/>
                </a:solidFill>
              </a:rPr>
              <a:t>2 — emerging evidence</a:t>
            </a:r>
          </a:p>
          <a:p xmlns:a="http://schemas.openxmlformats.org/drawingml/2006/main">
            <a:pPr>
              <a:defRPr sz="1875" b="1">
                <a:solidFill>
                  <a:srgbClr val="0B1830"/>
                </a:solidFill>
              </a:defRPr>
            </a:pPr>
            <a:r>
              <a:rPr sz="1875" b="1">
                <a:solidFill>
                  <a:srgbClr val="0B1830"/>
                </a:solidFill>
              </a:rPr>
              <a:t>3 — demonstrated evidence</a:t>
            </a:r>
          </a:p>
          <a:p xmlns:a="http://schemas.openxmlformats.org/drawingml/2006/main">
            <a:pPr>
              <a:defRPr sz="1875" b="1">
                <a:solidFill>
                  <a:srgbClr val="0B1830"/>
                </a:solidFill>
              </a:defRPr>
            </a:pPr>
            <a:r>
              <a:rPr sz="1875" b="1">
                <a:solidFill>
                  <a:srgbClr val="0B1830"/>
                </a:solidFill>
              </a:rPr>
              <a:t>4 — strong, repeatable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B9CF7B-AFFA-4A3F-B94F-521C6C91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95500"/>
            <a:ext cx="4762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44054"/>
                </a:solidFill>
              </a:defRPr>
            </a:pPr>
            <a:r>
              <a:rPr sz="1950" b="0">
                <a:solidFill>
                  <a:srgbClr val="344054"/>
                </a:solidFill>
              </a:rPr>
              <a:t>Score the evidence, not confidence, style, pedigree, or similarity to the interviewer.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E079D-1A7E-48D1-A7C1-C43019E0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33875"/>
            <a:ext cx="390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576071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A883D-A2C8-45BF-AA2D-19E2AD7D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2F80"/>
          </a:solidFill>
          <a:ln xmlns:a="http://schemas.openxmlformats.org/drawingml/2006/main" w="0">
            <a:solidFill>
              <a:srgbClr val="722F8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61347-BB48-43BD-93AB-001C86F4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22F80"/>
                </a:solidFill>
              </a:defRPr>
            </a:pPr>
            <a:r>
              <a:rPr sz="975" b="1">
                <a:solidFill>
                  <a:srgbClr val="722F80"/>
                </a:solidFill>
              </a:rPr>
              <a:t>ORCHID PEOPLE | REQUISITION ALPHA | 18 AUG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FA0A9-992E-4193-9C10-87E19E2B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AB8D2E-2BC5-48A6-B237-7151C97F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Structured Interview Training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AA01F-1916-4770-AF75-F88FA60B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830"/>
                </a:solidFill>
              </a:defRPr>
            </a:pPr>
            <a:r>
              <a:rPr sz="2925" b="1">
                <a:solidFill>
                  <a:srgbClr val="0B1830"/>
                </a:solidFill>
              </a:rPr>
              <a:t>Ask fairly; redirect when the question is not job-related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1BE9DA-EFC0-4576-B17E-73244A4D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857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3D73F-37F2-4C73-9069-7231CB10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4095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830"/>
                </a:solidFill>
              </a:defRPr>
            </a:pPr>
            <a:r>
              <a:rPr sz="1875" b="1">
                <a:solidFill>
                  <a:srgbClr val="0B1830"/>
                </a:solidFill>
              </a:rPr>
              <a:t>Use: “Tell me about a time you…”</a:t>
            </a:r>
          </a:p>
          <a:p xmlns:a="http://schemas.openxmlformats.org/drawingml/2006/main">
            <a:pPr>
              <a:defRPr sz="1875" b="1">
                <a:solidFill>
                  <a:srgbClr val="0B1830"/>
                </a:solidFill>
              </a:defRPr>
            </a:pPr>
            <a:r>
              <a:rPr sz="1875" b="1">
                <a:solidFill>
                  <a:srgbClr val="0B1830"/>
                </a:solidFill>
              </a:rPr>
              <a:t>Avoid: questions about family, health, age, nationality, beliefs, or other personal attributes.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6924F-16E6-49CA-9CC4-11B8E3F0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95500"/>
            <a:ext cx="4762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44054"/>
                </a:solidFill>
              </a:defRPr>
            </a:pPr>
            <a:r>
              <a:rPr sz="1950" b="0">
                <a:solidFill>
                  <a:srgbClr val="344054"/>
                </a:solidFill>
              </a:rPr>
              <a:t>If a conversation drifts, return to the competency and give every candidate a consistent opportunity to respond.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9C4E5-502B-4838-863F-D3AC3A4A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33875"/>
            <a:ext cx="390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695035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8F986-AB2E-4229-8C7A-8C70EB08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2F80"/>
          </a:solidFill>
          <a:ln xmlns:a="http://schemas.openxmlformats.org/drawingml/2006/main" w="0">
            <a:solidFill>
              <a:srgbClr val="722F8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033E6-C49E-4A3D-9E1A-2385DB63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22F80"/>
                </a:solidFill>
              </a:defRPr>
            </a:pPr>
            <a:r>
              <a:rPr sz="975" b="1">
                <a:solidFill>
                  <a:srgbClr val="722F80"/>
                </a:solidFill>
              </a:rPr>
              <a:t>ORCHID PEOPLE | REQUISITION ALPHA | 18 AUG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80EAD-6D31-4666-95B7-CB86AF6B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20FC9-34C7-4D73-9AC0-4C3AB7F5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Structured Interview Training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63CB29-CA0B-4D20-9B5C-39DA42EA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830"/>
                </a:solidFill>
              </a:defRPr>
            </a:pPr>
            <a:r>
              <a:rPr sz="2925" b="1">
                <a:solidFill>
                  <a:srgbClr val="0B1830"/>
                </a:solidFill>
              </a:rPr>
              <a:t>Bias interruption is a visible team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5071C-74E8-4BBA-AD0B-211F8111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857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F43DF-7D6C-4FAD-BF31-389D4CCB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4095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830"/>
                </a:solidFill>
              </a:defRPr>
            </a:pPr>
            <a:r>
              <a:rPr sz="1875" b="1">
                <a:solidFill>
                  <a:srgbClr val="0B1830"/>
                </a:solidFill>
              </a:rPr>
              <a:t>PAUSE: What evidence supports this?</a:t>
            </a:r>
          </a:p>
          <a:p xmlns:a="http://schemas.openxmlformats.org/drawingml/2006/main">
            <a:pPr>
              <a:defRPr sz="1875" b="1">
                <a:solidFill>
                  <a:srgbClr val="0B1830"/>
                </a:solidFill>
              </a:defRPr>
            </a:pPr>
            <a:r>
              <a:rPr sz="1875" b="1">
                <a:solidFill>
                  <a:srgbClr val="0B1830"/>
                </a:solidFill>
              </a:rPr>
              <a:t>COMPARE: Did we ask a comparable question?</a:t>
            </a:r>
          </a:p>
          <a:p xmlns:a="http://schemas.openxmlformats.org/drawingml/2006/main">
            <a:pPr>
              <a:defRPr sz="1875" b="1">
                <a:solidFill>
                  <a:srgbClr val="0B1830"/>
                </a:solidFill>
              </a:defRPr>
            </a:pPr>
            <a:r>
              <a:rPr sz="1875" b="1">
                <a:solidFill>
                  <a:srgbClr val="0B1830"/>
                </a:solidFill>
              </a:rPr>
              <a:t>CHECK: Are we adding assumptions?</a:t>
            </a:r>
          </a:p>
          <a:p xmlns:a="http://schemas.openxmlformats.org/drawingml/2006/main">
            <a:pPr>
              <a:defRPr sz="1875" b="1">
                <a:solidFill>
                  <a:srgbClr val="0B1830"/>
                </a:solidFill>
              </a:defRPr>
            </a:pPr>
            <a:r>
              <a:rPr sz="1875" b="1">
                <a:solidFill>
                  <a:srgbClr val="0B1830"/>
                </a:solidFill>
              </a:rPr>
              <a:t>RESET: Re-read the anchor.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2A268-A262-4972-BA5E-6C0D518F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95500"/>
            <a:ext cx="4762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44054"/>
                </a:solidFill>
              </a:defRPr>
            </a:pPr>
            <a:r>
              <a:rPr sz="1950" b="0">
                <a:solidFill>
                  <a:srgbClr val="344054"/>
                </a:solidFill>
              </a:rPr>
              <a:t>Name the interruption without blame; the aim is a better decision, not a debate win.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DFA1D9-2B00-4620-B576-E75E8D15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33875"/>
            <a:ext cx="390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491953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4ACAA-7008-4C88-BCF7-89BB3ABC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2F80"/>
          </a:solidFill>
          <a:ln xmlns:a="http://schemas.openxmlformats.org/drawingml/2006/main" w="0">
            <a:solidFill>
              <a:srgbClr val="722F8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53B2A-4AF9-40EB-B657-703DD51E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22F80"/>
                </a:solidFill>
              </a:defRPr>
            </a:pPr>
            <a:r>
              <a:rPr sz="975" b="1">
                <a:solidFill>
                  <a:srgbClr val="722F80"/>
                </a:solidFill>
              </a:rPr>
              <a:t>ORCHID PEOPLE | REQUISITION ALPHA | 18 AUG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6AED0-FEF2-45E6-B535-91D9814F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851EB-290E-427E-8913-7969E038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Structured Interview Training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D2CE3-2B90-4DD5-8E52-778307A9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830"/>
                </a:solidFill>
              </a:defRPr>
            </a:pPr>
            <a:r>
              <a:rPr sz="2925" b="1">
                <a:solidFill>
                  <a:srgbClr val="0B1830"/>
                </a:solidFill>
              </a:rPr>
              <a:t>Evidence notes make calibration possible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59D27-AEA3-43ED-A715-476DCB4B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857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B019F5-797D-40C8-AE18-042C3CE0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4095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830"/>
                </a:solidFill>
              </a:defRPr>
            </a:pPr>
            <a:r>
              <a:rPr sz="1875" b="1">
                <a:solidFill>
                  <a:srgbClr val="0B1830"/>
                </a:solidFill>
              </a:rPr>
              <a:t>Write: situation, action, result, and direct observable details.</a:t>
            </a:r>
          </a:p>
          <a:p xmlns:a="http://schemas.openxmlformats.org/drawingml/2006/main">
            <a:pPr>
              <a:defRPr sz="1875" b="1">
                <a:solidFill>
                  <a:srgbClr val="0B1830"/>
                </a:solidFill>
              </a:defRPr>
            </a:pPr>
            <a:r>
              <a:rPr sz="1875" b="1">
                <a:solidFill>
                  <a:srgbClr val="0B1830"/>
                </a:solidFill>
              </a:rPr>
              <a:t>Do not write: personality labels, guesses, or facts outside the interview.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F6639-14F0-4013-A186-945F4D0C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95500"/>
            <a:ext cx="4762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44054"/>
                </a:solidFill>
              </a:defRPr>
            </a:pPr>
            <a:r>
              <a:rPr sz="1950" b="0">
                <a:solidFill>
                  <a:srgbClr val="344054"/>
                </a:solidFill>
              </a:rPr>
              <a:t>Complete notes before discussion. Separate evidence capture from the final recommendation.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F9324B-4A4A-4C10-B3C0-20348E83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33875"/>
            <a:ext cx="390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756098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FB53C-6E8A-4BAE-A3F2-E900FEC6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2F80"/>
          </a:solidFill>
          <a:ln xmlns:a="http://schemas.openxmlformats.org/drawingml/2006/main" w="0">
            <a:solidFill>
              <a:srgbClr val="722F8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67734-8942-4849-904C-8BFC8F54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22F80"/>
                </a:solidFill>
              </a:defRPr>
            </a:pPr>
            <a:r>
              <a:rPr sz="975" b="1">
                <a:solidFill>
                  <a:srgbClr val="722F80"/>
                </a:solidFill>
              </a:rPr>
              <a:t>ORCHID PEOPLE | REQUISITION ALPHA | 18 AUG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90DDE-CFBC-400A-912B-343620D5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F13FA-1342-4747-BFE3-6331B321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Structured Interview Training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4D539-D592-45E3-8D74-DE6644D9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830"/>
                </a:solidFill>
              </a:defRPr>
            </a:pPr>
            <a:r>
              <a:rPr sz="2925" b="1">
                <a:solidFill>
                  <a:srgbClr val="0B1830"/>
                </a:solidFill>
              </a:rPr>
              <a:t>Calibrate the decision, not the person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33E36-45DD-4284-BC42-89EFE0B2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857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60E7B-D897-4464-9A59-CE51A682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4095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830"/>
                </a:solidFill>
              </a:defRPr>
            </a:pPr>
            <a:r>
              <a:rPr sz="1875" b="1">
                <a:solidFill>
                  <a:srgbClr val="0B1830"/>
                </a:solidFill>
              </a:rPr>
              <a:t>1. Silent scoring</a:t>
            </a:r>
          </a:p>
          <a:p xmlns:a="http://schemas.openxmlformats.org/drawingml/2006/main">
            <a:pPr>
              <a:defRPr sz="1875" b="1">
                <a:solidFill>
                  <a:srgbClr val="0B1830"/>
                </a:solidFill>
              </a:defRPr>
            </a:pPr>
            <a:r>
              <a:rPr sz="1875" b="1">
                <a:solidFill>
                  <a:srgbClr val="0B1830"/>
                </a:solidFill>
              </a:rPr>
              <a:t>2. Evidence round</a:t>
            </a:r>
          </a:p>
          <a:p xmlns:a="http://schemas.openxmlformats.org/drawingml/2006/main">
            <a:pPr>
              <a:defRPr sz="1875" b="1">
                <a:solidFill>
                  <a:srgbClr val="0B1830"/>
                </a:solidFill>
              </a:defRPr>
            </a:pPr>
            <a:r>
              <a:rPr sz="1875" b="1">
                <a:solidFill>
                  <a:srgbClr val="0B1830"/>
                </a:solidFill>
              </a:rPr>
              <a:t>3. Anchor check</a:t>
            </a:r>
          </a:p>
          <a:p xmlns:a="http://schemas.openxmlformats.org/drawingml/2006/main">
            <a:pPr>
              <a:defRPr sz="1875" b="1">
                <a:solidFill>
                  <a:srgbClr val="0B1830"/>
                </a:solidFill>
              </a:defRPr>
            </a:pPr>
            <a:r>
              <a:rPr sz="1875" b="1">
                <a:solidFill>
                  <a:srgbClr val="0B1830"/>
                </a:solidFill>
              </a:rPr>
              <a:t>4. Decision rationale</a:t>
            </a:r>
          </a:p>
          <a:p xmlns:a="http://schemas.openxmlformats.org/drawingml/2006/main">
            <a:pPr>
              <a:defRPr sz="1875" b="1">
                <a:solidFill>
                  <a:srgbClr val="0B1830"/>
                </a:solidFill>
              </a:defRPr>
            </a:pPr>
            <a:r>
              <a:rPr sz="1875" b="1">
                <a:solidFill>
                  <a:srgbClr val="0B1830"/>
                </a:solidFill>
              </a:rPr>
              <a:t>5. Candidate follow-through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FE704-9C34-4936-BD88-9ED07D65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95500"/>
            <a:ext cx="4762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44054"/>
                </a:solidFill>
              </a:defRPr>
            </a:pPr>
            <a:r>
              <a:rPr sz="1950" b="0">
                <a:solidFill>
                  <a:srgbClr val="344054"/>
                </a:solidFill>
              </a:rPr>
              <a:t>Outcome options: advance, hold for a defined evidence gap, or decline with a role-relevant rationale.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DFCEB4-7B7D-4DB0-88CA-DE382A44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33875"/>
            <a:ext cx="390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554434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2026-08-23T18:50:44.0210000Z</dcterms:created>
  <dcterms:modified xsi:type="dcterms:W3CDTF">2026-08-23T18:50:44.0220000Z</dcterms:modified>
</coreProperties>
</file>